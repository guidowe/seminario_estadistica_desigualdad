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98" r:id="rId3"/>
    <p:sldId id="294" r:id="rId4"/>
    <p:sldId id="295" r:id="rId5"/>
    <p:sldId id="296" r:id="rId6"/>
    <p:sldId id="297" r:id="rId7"/>
    <p:sldId id="259" r:id="rId8"/>
    <p:sldId id="258" r:id="rId9"/>
    <p:sldId id="261" r:id="rId10"/>
    <p:sldId id="26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93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90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7DD1E-6B2F-4EAE-BF49-52997692FA27}" v="1" dt="2026-10-02T19:43:52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73" y="7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Poy" userId="c629a70e61f86741" providerId="LiveId" clId="{0E0A4EF9-6310-48EB-BBC0-34FA475EA3FB}"/>
    <pc:docChg chg="custSel addSld delSld modSld">
      <pc:chgData name="Santiago Poy" userId="c629a70e61f86741" providerId="LiveId" clId="{0E0A4EF9-6310-48EB-BBC0-34FA475EA3FB}" dt="2026-10-02T19:44:50.509" v="32" actId="47"/>
      <pc:docMkLst>
        <pc:docMk/>
      </pc:docMkLst>
      <pc:sldChg chg="modSp mod">
        <pc:chgData name="Santiago Poy" userId="c629a70e61f86741" providerId="LiveId" clId="{0E0A4EF9-6310-48EB-BBC0-34FA475EA3FB}" dt="2026-10-02T19:43:49.134" v="0" actId="20577"/>
        <pc:sldMkLst>
          <pc:docMk/>
          <pc:sldMk cId="0" sldId="259"/>
        </pc:sldMkLst>
        <pc:spChg chg="mod">
          <ac:chgData name="Santiago Poy" userId="c629a70e61f86741" providerId="LiveId" clId="{0E0A4EF9-6310-48EB-BBC0-34FA475EA3FB}" dt="2026-10-02T19:43:49.134" v="0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antiago Poy" userId="c629a70e61f86741" providerId="LiveId" clId="{0E0A4EF9-6310-48EB-BBC0-34FA475EA3FB}" dt="2026-10-02T19:44:08.367" v="23" actId="20577"/>
        <pc:sldMkLst>
          <pc:docMk/>
          <pc:sldMk cId="0" sldId="262"/>
        </pc:sldMkLst>
        <pc:spChg chg="mod">
          <ac:chgData name="Santiago Poy" userId="c629a70e61f86741" providerId="LiveId" clId="{0E0A4EF9-6310-48EB-BBC0-34FA475EA3FB}" dt="2026-10-02T19:44:08.367" v="23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antiago Poy" userId="c629a70e61f86741" providerId="LiveId" clId="{0E0A4EF9-6310-48EB-BBC0-34FA475EA3FB}" dt="2026-10-02T19:44:14.096" v="24" actId="20577"/>
        <pc:sldMkLst>
          <pc:docMk/>
          <pc:sldMk cId="0" sldId="271"/>
        </pc:sldMkLst>
        <pc:spChg chg="mod">
          <ac:chgData name="Santiago Poy" userId="c629a70e61f86741" providerId="LiveId" clId="{0E0A4EF9-6310-48EB-BBC0-34FA475EA3FB}" dt="2026-10-02T19:44:14.096" v="24" actId="20577"/>
          <ac:spMkLst>
            <pc:docMk/>
            <pc:sldMk cId="0" sldId="271"/>
            <ac:spMk id="10" creationId="{F2E8170A-E792-C51E-8061-850A2C654E06}"/>
          </ac:spMkLst>
        </pc:spChg>
      </pc:sldChg>
      <pc:sldChg chg="delSp modSp mod">
        <pc:chgData name="Santiago Poy" userId="c629a70e61f86741" providerId="LiveId" clId="{0E0A4EF9-6310-48EB-BBC0-34FA475EA3FB}" dt="2026-10-02T19:44:28.126" v="29" actId="1076"/>
        <pc:sldMkLst>
          <pc:docMk/>
          <pc:sldMk cId="0" sldId="283"/>
        </pc:sldMkLst>
        <pc:spChg chg="mod">
          <ac:chgData name="Santiago Poy" userId="c629a70e61f86741" providerId="LiveId" clId="{0E0A4EF9-6310-48EB-BBC0-34FA475EA3FB}" dt="2026-10-02T19:44:28.126" v="29" actId="1076"/>
          <ac:spMkLst>
            <pc:docMk/>
            <pc:sldMk cId="0" sldId="283"/>
            <ac:spMk id="3" creationId="{00000000-0000-0000-0000-000000000000}"/>
          </ac:spMkLst>
        </pc:spChg>
        <pc:spChg chg="mod">
          <ac:chgData name="Santiago Poy" userId="c629a70e61f86741" providerId="LiveId" clId="{0E0A4EF9-6310-48EB-BBC0-34FA475EA3FB}" dt="2026-10-02T19:44:28.126" v="29" actId="1076"/>
          <ac:spMkLst>
            <pc:docMk/>
            <pc:sldMk cId="0" sldId="283"/>
            <ac:spMk id="4" creationId="{00000000-0000-0000-0000-000000000000}"/>
          </ac:spMkLst>
        </pc:spChg>
        <pc:spChg chg="del">
          <ac:chgData name="Santiago Poy" userId="c629a70e61f86741" providerId="LiveId" clId="{0E0A4EF9-6310-48EB-BBC0-34FA475EA3FB}" dt="2026-10-02T19:44:22.715" v="26" actId="478"/>
          <ac:spMkLst>
            <pc:docMk/>
            <pc:sldMk cId="0" sldId="283"/>
            <ac:spMk id="5" creationId="{00000000-0000-0000-0000-000000000000}"/>
          </ac:spMkLst>
        </pc:spChg>
        <pc:spChg chg="del">
          <ac:chgData name="Santiago Poy" userId="c629a70e61f86741" providerId="LiveId" clId="{0E0A4EF9-6310-48EB-BBC0-34FA475EA3FB}" dt="2026-10-02T19:44:23.846" v="28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Santiago Poy" userId="c629a70e61f86741" providerId="LiveId" clId="{0E0A4EF9-6310-48EB-BBC0-34FA475EA3FB}" dt="2026-10-02T19:44:23.327" v="27" actId="478"/>
          <ac:spMkLst>
            <pc:docMk/>
            <pc:sldMk cId="0" sldId="283"/>
            <ac:spMk id="7" creationId="{00000000-0000-0000-0000-000000000000}"/>
          </ac:spMkLst>
        </pc:spChg>
      </pc:sldChg>
      <pc:sldChg chg="del">
        <pc:chgData name="Santiago Poy" userId="c629a70e61f86741" providerId="LiveId" clId="{0E0A4EF9-6310-48EB-BBC0-34FA475EA3FB}" dt="2026-10-02T19:44:34.946" v="30" actId="47"/>
        <pc:sldMkLst>
          <pc:docMk/>
          <pc:sldMk cId="0" sldId="289"/>
        </pc:sldMkLst>
      </pc:sldChg>
      <pc:sldChg chg="del">
        <pc:chgData name="Santiago Poy" userId="c629a70e61f86741" providerId="LiveId" clId="{0E0A4EF9-6310-48EB-BBC0-34FA475EA3FB}" dt="2026-10-02T19:44:49.105" v="31" actId="47"/>
        <pc:sldMkLst>
          <pc:docMk/>
          <pc:sldMk cId="0" sldId="291"/>
        </pc:sldMkLst>
      </pc:sldChg>
      <pc:sldChg chg="del">
        <pc:chgData name="Santiago Poy" userId="c629a70e61f86741" providerId="LiveId" clId="{0E0A4EF9-6310-48EB-BBC0-34FA475EA3FB}" dt="2026-10-02T19:44:50.509" v="32" actId="47"/>
        <pc:sldMkLst>
          <pc:docMk/>
          <pc:sldMk cId="0" sldId="292"/>
        </pc:sldMkLst>
      </pc:sldChg>
      <pc:sldChg chg="modSp add mod setBg">
        <pc:chgData name="Santiago Poy" userId="c629a70e61f86741" providerId="LiveId" clId="{0E0A4EF9-6310-48EB-BBC0-34FA475EA3FB}" dt="2026-10-02T19:44:01.241" v="22" actId="20577"/>
        <pc:sldMkLst>
          <pc:docMk/>
          <pc:sldMk cId="392829553" sldId="298"/>
        </pc:sldMkLst>
        <pc:spChg chg="mod">
          <ac:chgData name="Santiago Poy" userId="c629a70e61f86741" providerId="LiveId" clId="{0E0A4EF9-6310-48EB-BBC0-34FA475EA3FB}" dt="2026-10-02T19:43:54.638" v="2" actId="20577"/>
          <ac:spMkLst>
            <pc:docMk/>
            <pc:sldMk cId="392829553" sldId="298"/>
            <ac:spMk id="3" creationId="{30B92F40-26AD-0439-2017-AD42E33F16E0}"/>
          </ac:spMkLst>
        </pc:spChg>
        <pc:spChg chg="mod">
          <ac:chgData name="Santiago Poy" userId="c629a70e61f86741" providerId="LiveId" clId="{0E0A4EF9-6310-48EB-BBC0-34FA475EA3FB}" dt="2026-10-02T19:44:01.241" v="22" actId="20577"/>
          <ac:spMkLst>
            <pc:docMk/>
            <pc:sldMk cId="392829553" sldId="298"/>
            <ac:spMk id="4" creationId="{61E4382C-52E0-0FBD-71AF-3B1F0B0561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43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0E6E7-92F9-0672-7B64-4B04E96C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1C7A5-B869-C0F2-5FE4-70FDD4955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FA82A-A30D-B409-0701-0B59E9D69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77C2-2DB4-3898-A0EC-F93AFF83F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0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2DE2-4C95-8890-C061-CEDA63F5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F79E6-7CBD-C957-26F0-754F0F74B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9A36E-DA06-72A5-A195-3F7B3D451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2B0B1-96E5-7A5D-8625-873352838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73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331720" cy="5120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492240"/>
            <a:ext cx="11064240" cy="0"/>
          </a:xfrm>
          <a:prstGeom prst="line">
            <a:avLst/>
          </a:prstGeom>
          <a:noFill/>
          <a:ln w="1143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566928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58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Seminario de Doctorado · UBA Sociales ·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12133"/>
            <a:ext cx="4206240" cy="9313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075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Seminario Doctorado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68680" y="2487168"/>
            <a:ext cx="9646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Estadística y programación para estudios del trabajo, desigualdad y pobreza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86968" y="352958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 · Análisis bivariado: tablas de contingencia y asociación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270248"/>
            <a:ext cx="1005840" cy="146304"/>
          </a:xfrm>
          <a:prstGeom prst="roundRect">
            <a:avLst>
              <a:gd name="adj" fmla="val 37500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1901952" y="4343400"/>
            <a:ext cx="8138160" cy="0"/>
          </a:xfrm>
          <a:prstGeom prst="line">
            <a:avLst/>
          </a:prstGeom>
          <a:noFill/>
          <a:ln w="1397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7543800" y="47365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Santiago Poy  ·  Guido Weksler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01000" y="5413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Octubre de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CA44-52AB-8B0A-886D-5AB374D1C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>
            <a:extLst>
              <a:ext uri="{FF2B5EF4-FFF2-40B4-BE49-F238E27FC236}">
                <a16:creationId xmlns:a16="http://schemas.microsoft.com/office/drawing/2014/main" id="{488B1A66-0F08-49D6-21ED-88719EEFD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9837"/>
            <a:ext cx="2926080" cy="64791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0B92F40-26AD-0439-2017-AD42E33F16E0}"/>
              </a:ext>
            </a:extLst>
          </p:cNvPr>
          <p:cNvSpPr/>
          <p:nvPr/>
        </p:nvSpPr>
        <p:spPr>
          <a:xfrm>
            <a:off x="619125" y="2820647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3BD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1E4382C-52E0-0FBD-71AF-3B1F0B056152}"/>
              </a:ext>
            </a:extLst>
          </p:cNvPr>
          <p:cNvSpPr/>
          <p:nvPr/>
        </p:nvSpPr>
        <p:spPr>
          <a:xfrm>
            <a:off x="1455420" y="2919880"/>
            <a:ext cx="9281160" cy="70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Construcción</a:t>
            </a: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medidas</a:t>
            </a: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sintéticas</a:t>
            </a:r>
            <a:endParaRPr lang="en-US" sz="3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5B6420A-14E6-2469-C641-3AA0C5C5D8F1}"/>
              </a:ext>
            </a:extLst>
          </p:cNvPr>
          <p:cNvSpPr/>
          <p:nvPr/>
        </p:nvSpPr>
        <p:spPr>
          <a:xfrm>
            <a:off x="658368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 y programación para estudios del trabajo, desigualdad y pobreza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282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3BDB4"/>
                </a:solidFill>
                <a:latin typeface="Aptos"/>
              </a:rPr>
              <a:t>ÍNDICES Y TIPOLOGÍAS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8469AD"/>
                </a:solidFill>
                <a:latin typeface="Aptos Display"/>
              </a:rPr>
              <a:t>Del concepto a una medida sintética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82496"/>
            <a:ext cx="868680" cy="100584"/>
          </a:xfrm>
          <a:prstGeom prst="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499616" y="1737360"/>
            <a:ext cx="978408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93852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Aptos"/>
              </a:rPr>
              <a:t>Índices y tipologías aparecen al final del proceso de operacionalización: permiten sintetizar varios indicadores en una medida analítica manejable.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80766"/>
            <a:ext cx="2057400" cy="1325880"/>
          </a:xfrm>
          <a:prstGeom prst="roundRect">
            <a:avLst/>
          </a:prstGeom>
          <a:solidFill>
            <a:srgbClr val="F2EEF7"/>
          </a:solidFill>
          <a:ln w="1270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254502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469AD"/>
                </a:solidFill>
                <a:latin typeface="Aptos"/>
              </a:rPr>
              <a:t>CONCEPTO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683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62666D"/>
                </a:solidFill>
                <a:latin typeface="Aptos"/>
              </a:rPr>
              <a:t>Definición nominal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3739134"/>
            <a:ext cx="438912" cy="0"/>
          </a:xfrm>
          <a:prstGeom prst="line">
            <a:avLst/>
          </a:prstGeom>
          <a:ln w="1905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3080766"/>
            <a:ext cx="2057400" cy="1325880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2A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3254502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2A8F88"/>
                </a:solidFill>
                <a:latin typeface="Aptos"/>
              </a:rPr>
              <a:t>DIMENSIONES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5683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62666D"/>
                </a:solidFill>
                <a:latin typeface="Aptos"/>
              </a:rPr>
              <a:t>Definición real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3739134"/>
            <a:ext cx="438911" cy="0"/>
          </a:xfrm>
          <a:prstGeom prst="line">
            <a:avLst/>
          </a:prstGeom>
          <a:ln w="1905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3080766"/>
            <a:ext cx="2057400" cy="1325880"/>
          </a:xfrm>
          <a:prstGeom prst="roundRect">
            <a:avLst/>
          </a:prstGeom>
          <a:solidFill>
            <a:srgbClr val="F0F1F5"/>
          </a:solidFill>
          <a:ln w="12700">
            <a:solidFill>
              <a:srgbClr val="23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254502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232858"/>
                </a:solidFill>
                <a:latin typeface="Aptos"/>
              </a:rPr>
              <a:t>INDICADORES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5683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62666D"/>
                </a:solidFill>
                <a:latin typeface="Aptos"/>
              </a:rPr>
              <a:t>Definición operacional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21039" y="3739134"/>
            <a:ext cx="438913" cy="0"/>
          </a:xfrm>
          <a:prstGeom prst="line">
            <a:avLst/>
          </a:prstGeom>
          <a:ln w="1905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69680" y="3080766"/>
            <a:ext cx="2057400" cy="1325880"/>
          </a:xfrm>
          <a:prstGeom prst="roundRect">
            <a:avLst/>
          </a:prstGeom>
          <a:solidFill>
            <a:srgbClr val="F2EEF7"/>
          </a:solidFill>
          <a:ln w="1270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3254502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469AD"/>
                </a:solidFill>
                <a:latin typeface="Aptos"/>
              </a:rPr>
              <a:t>ÍNDICE / TIPOLOGÍA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65683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62666D"/>
                </a:solidFill>
                <a:latin typeface="Aptos"/>
              </a:rPr>
              <a:t>Síntesis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35246"/>
            <a:ext cx="205740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8469AD"/>
                </a:solidFill>
                <a:latin typeface="Aptos"/>
              </a:rPr>
              <a:t>Pobreza infantil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635246"/>
            <a:ext cx="205740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2A8F88"/>
                </a:solidFill>
                <a:latin typeface="Aptos"/>
              </a:rPr>
              <a:t>Alimentación · vivienda · educación…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35246"/>
            <a:ext cx="205740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232858"/>
                </a:solidFill>
                <a:latin typeface="Aptos"/>
              </a:rPr>
              <a:t>Acceso a agua · asistencia escolar · hacinamiento…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635246"/>
            <a:ext cx="205740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8469AD"/>
                </a:solidFill>
                <a:latin typeface="Aptos"/>
              </a:rPr>
              <a:t>Privaciones acumuladas / perfiles de déficit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51052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2666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3BDB4"/>
                </a:solidFill>
                <a:latin typeface="Aptos"/>
              </a:rPr>
              <a:t>ÍNDICES Y TIPOLOGÍAS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8469AD"/>
                </a:solidFill>
                <a:latin typeface="Aptos Display"/>
              </a:rPr>
              <a:t>Reducir el espacio de propiedades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82496"/>
            <a:ext cx="868680" cy="100584"/>
          </a:xfrm>
          <a:prstGeom prst="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499616" y="1737360"/>
            <a:ext cx="978408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65960"/>
            <a:ext cx="38862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32858"/>
                </a:solidFill>
                <a:latin typeface="Aptos"/>
              </a:rPr>
              <a:t>¿Qué es el espacio de propiedades?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96896"/>
            <a:ext cx="340156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0">
                <a:solidFill>
                  <a:srgbClr val="202124"/>
                </a:solidFill>
                <a:latin typeface="Aptos"/>
              </a:rPr>
              <a:t>Es el conjunto de posiciones que pueden ocupar las unidades de análisis en un sistema de una o más variables.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3703320"/>
            <a:ext cx="1078992" cy="603504"/>
          </a:xfrm>
          <a:prstGeom prst="rect">
            <a:avLst/>
          </a:prstGeom>
          <a:solidFill>
            <a:srgbClr val="E8F6F4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3703320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2666D"/>
                </a:solidFill>
                <a:latin typeface="Aptos"/>
              </a:rPr>
              <a:t>Posición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2" y="3703320"/>
            <a:ext cx="1078992" cy="603504"/>
          </a:xfrm>
          <a:prstGeom prst="rect">
            <a:avLst/>
          </a:prstGeom>
          <a:solidFill>
            <a:srgbClr val="F2EEF7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6312" y="3703320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2666D"/>
                </a:solidFill>
                <a:latin typeface="Aptos"/>
              </a:rPr>
              <a:t>Posición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4306824"/>
            <a:ext cx="1078992" cy="603504"/>
          </a:xfrm>
          <a:prstGeom prst="rect">
            <a:avLst/>
          </a:prstGeom>
          <a:solidFill>
            <a:srgbClr val="F2EEF7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4306824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2666D"/>
                </a:solidFill>
                <a:latin typeface="Aptos"/>
              </a:rPr>
              <a:t>Posición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96312" y="4306824"/>
            <a:ext cx="1078992" cy="603504"/>
          </a:xfrm>
          <a:prstGeom prst="rect">
            <a:avLst/>
          </a:prstGeom>
          <a:solidFill>
            <a:srgbClr val="E8F6F4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6312" y="4306824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2666D"/>
                </a:solidFill>
                <a:latin typeface="Aptos"/>
              </a:rPr>
              <a:t>Posición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01091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0" b="0">
                <a:solidFill>
                  <a:srgbClr val="62666D"/>
                </a:solidFill>
                <a:latin typeface="Aptos"/>
              </a:rPr>
              <a:t>2 indicadores dicotómicos → 4 posiciones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1993392"/>
            <a:ext cx="1965960" cy="3520440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2A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20055" y="2148840"/>
            <a:ext cx="384048" cy="384048"/>
          </a:xfrm>
          <a:prstGeom prst="ellipse">
            <a:avLst/>
          </a:prstGeom>
          <a:solidFill>
            <a:srgbClr val="2A8F88"/>
          </a:solidFill>
          <a:ln>
            <a:solidFill>
              <a:srgbClr val="2A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0055" y="2148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265926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2A8F88"/>
                </a:solidFill>
                <a:latin typeface="Aptos"/>
              </a:rPr>
              <a:t>SIMPLIFICACIÓN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65176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2666D"/>
                </a:solidFill>
                <a:latin typeface="Aptos"/>
              </a:rPr>
              <a:t>Una variable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090672"/>
            <a:ext cx="1600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0" b="0">
                <a:solidFill>
                  <a:srgbClr val="202124"/>
                </a:solidFill>
                <a:latin typeface="Aptos"/>
              </a:rPr>
              <a:t>Reunir categorías en un número menor de categorías.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315968"/>
            <a:ext cx="1600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A8F88"/>
                </a:solidFill>
                <a:latin typeface="Aptos"/>
              </a:rPr>
              <a:t>Ej.: personas por cuarto → sin hacinamiento / moderado / crítico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1993392"/>
            <a:ext cx="1965960" cy="3520440"/>
          </a:xfrm>
          <a:prstGeom prst="roundRect">
            <a:avLst/>
          </a:prstGeom>
          <a:solidFill>
            <a:srgbClr val="F2EEF7"/>
          </a:solidFill>
          <a:ln w="1270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87183" y="2148840"/>
            <a:ext cx="384048" cy="384048"/>
          </a:xfrm>
          <a:prstGeom prst="ellipse">
            <a:avLst/>
          </a:prstGeom>
          <a:solidFill>
            <a:srgbClr val="8469AD"/>
          </a:solidFill>
          <a:ln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87183" y="2148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7" y="2243959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8469AD"/>
                </a:solidFill>
                <a:latin typeface="Aptos"/>
              </a:rPr>
              <a:t>ÍNDICE / ESCALA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265176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2666D"/>
                </a:solidFill>
                <a:latin typeface="Aptos"/>
              </a:rPr>
              <a:t>Reducción numérica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090672"/>
            <a:ext cx="1600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0" b="0">
                <a:solidFill>
                  <a:srgbClr val="202124"/>
                </a:solidFill>
                <a:latin typeface="Aptos"/>
              </a:rPr>
              <a:t>Asignar puntajes y combinar varios indicadores en una variable resumen.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315968"/>
            <a:ext cx="1600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469AD"/>
                </a:solidFill>
                <a:latin typeface="Aptos"/>
              </a:rPr>
              <a:t>Ej.: sumar privaciones de información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26296" y="1993392"/>
            <a:ext cx="1965960" cy="3520440"/>
          </a:xfrm>
          <a:prstGeom prst="roundRect">
            <a:avLst/>
          </a:prstGeom>
          <a:solidFill>
            <a:srgbClr val="F9EDEF"/>
          </a:solidFill>
          <a:ln w="12700">
            <a:solidFill>
              <a:srgbClr val="C8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54312" y="2148840"/>
            <a:ext cx="384048" cy="384048"/>
          </a:xfrm>
          <a:prstGeom prst="ellipse">
            <a:avLst/>
          </a:prstGeom>
          <a:solidFill>
            <a:srgbClr val="C85F73"/>
          </a:solidFill>
          <a:ln>
            <a:solidFill>
              <a:srgbClr val="C8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54312" y="2148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088" y="2243959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C85F73"/>
                </a:solidFill>
                <a:latin typeface="Aptos"/>
              </a:rPr>
              <a:t>TIPOLOGÍA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265176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2666D"/>
                </a:solidFill>
                <a:latin typeface="Aptos"/>
              </a:rPr>
              <a:t>Reducción pragmática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3090672"/>
            <a:ext cx="1600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0" b="0">
                <a:solidFill>
                  <a:srgbClr val="202124"/>
                </a:solidFill>
                <a:latin typeface="Aptos"/>
              </a:rPr>
              <a:t>Combinar posiciones para producir categorías con significado teórico nuevo.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4315968"/>
            <a:ext cx="1600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85F73"/>
                </a:solidFill>
                <a:latin typeface="Aptos"/>
              </a:rPr>
              <a:t>Ej.: perfiles de saneamiento o movilidad social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5992" y="651052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2666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3BDB4"/>
                </a:solidFill>
                <a:latin typeface="Aptos"/>
              </a:rPr>
              <a:t>ÍNDICES NUMÉRICOS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8469AD"/>
                </a:solidFill>
                <a:latin typeface="Aptos Display"/>
              </a:rPr>
              <a:t>Combinar indicadores en una variable 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82496"/>
            <a:ext cx="868680" cy="100584"/>
          </a:xfrm>
          <a:prstGeom prst="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499616" y="1737360"/>
            <a:ext cx="978408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920240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Aptos"/>
              </a:rPr>
              <a:t>Ejemplo del material: un índice de privaciones en la dimensión de información.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32858"/>
                </a:solidFill>
                <a:latin typeface="Aptos"/>
              </a:rPr>
              <a:t>Seis indicadores dicotómicos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43784"/>
            <a:ext cx="164592" cy="164592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16352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0">
                <a:solidFill>
                  <a:srgbClr val="202124"/>
                </a:solidFill>
                <a:latin typeface="Aptos"/>
              </a:rPr>
              <a:t>Teléfono fijo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816352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80" b="0">
                <a:solidFill>
                  <a:srgbClr val="62666D"/>
                </a:solidFill>
                <a:latin typeface="Aptos"/>
              </a:rPr>
              <a:t>0 = no privación   1 = privación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273551"/>
            <a:ext cx="164592" cy="164592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0">
                <a:solidFill>
                  <a:srgbClr val="202124"/>
                </a:solidFill>
                <a:latin typeface="Aptos"/>
              </a:rPr>
              <a:t>Teléfono celular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3246120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80" b="0">
                <a:solidFill>
                  <a:srgbClr val="62666D"/>
                </a:solidFill>
                <a:latin typeface="Aptos"/>
              </a:rPr>
              <a:t>0 = no privación   1 = privación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703320"/>
            <a:ext cx="164592" cy="164592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675887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0">
                <a:solidFill>
                  <a:srgbClr val="202124"/>
                </a:solidFill>
                <a:latin typeface="Aptos"/>
              </a:rPr>
              <a:t>Acceso a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3675887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80" b="0">
                <a:solidFill>
                  <a:srgbClr val="62666D"/>
                </a:solidFill>
                <a:latin typeface="Aptos"/>
              </a:rPr>
              <a:t>0 = no privación   1 = privación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133088"/>
            <a:ext cx="164592" cy="164592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105656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0">
                <a:solidFill>
                  <a:srgbClr val="202124"/>
                </a:solidFill>
                <a:latin typeface="Aptos"/>
              </a:rPr>
              <a:t>Biblioteca en el hogar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4105656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80" b="0">
                <a:solidFill>
                  <a:srgbClr val="62666D"/>
                </a:solidFill>
                <a:latin typeface="Aptos"/>
              </a:rPr>
              <a:t>0 = no privación   1 = privación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562856"/>
            <a:ext cx="164592" cy="164592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535424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0">
                <a:solidFill>
                  <a:srgbClr val="202124"/>
                </a:solidFill>
                <a:latin typeface="Aptos"/>
              </a:rPr>
              <a:t>Libros infantiles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4535424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80" b="0">
                <a:solidFill>
                  <a:srgbClr val="62666D"/>
                </a:solidFill>
                <a:latin typeface="Aptos"/>
              </a:rPr>
              <a:t>0 = no privación   1 = privación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4992624"/>
            <a:ext cx="164592" cy="164592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965192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0">
                <a:solidFill>
                  <a:srgbClr val="202124"/>
                </a:solidFill>
                <a:latin typeface="Aptos"/>
              </a:rPr>
              <a:t>Computadora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4965192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80" b="0">
                <a:solidFill>
                  <a:srgbClr val="62666D"/>
                </a:solidFill>
                <a:latin typeface="Aptos"/>
              </a:rPr>
              <a:t>0 = no privación   1 = privación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182112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600" b="1">
                <a:solidFill>
                  <a:srgbClr val="8469AD"/>
                </a:solidFill>
                <a:latin typeface="Aptos"/>
              </a:rPr>
              <a:t>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8039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2666D"/>
                </a:solidFill>
                <a:latin typeface="Aptos"/>
              </a:rPr>
              <a:t>sumar puntajes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62272" y="3657600"/>
            <a:ext cx="274320" cy="0"/>
          </a:xfrm>
          <a:prstGeom prst="line">
            <a:avLst/>
          </a:prstGeom>
          <a:ln w="1905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06440" y="3657600"/>
            <a:ext cx="365760" cy="0"/>
          </a:xfrm>
          <a:prstGeom prst="line">
            <a:avLst/>
          </a:prstGeom>
          <a:ln w="1905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99632" y="2404872"/>
            <a:ext cx="4617720" cy="2331720"/>
          </a:xfrm>
          <a:prstGeom prst="roundRect">
            <a:avLst/>
          </a:prstGeom>
          <a:solidFill>
            <a:srgbClr val="F2EEF7"/>
          </a:solidFill>
          <a:ln w="1270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2633472"/>
            <a:ext cx="41788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469AD"/>
                </a:solidFill>
                <a:latin typeface="Aptos"/>
              </a:rPr>
              <a:t>Índice de privaciones de información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054096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232858"/>
                </a:solidFill>
                <a:latin typeface="Aptos"/>
              </a:rPr>
              <a:t>Rango: 0 a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47104" y="3593592"/>
            <a:ext cx="475488" cy="475488"/>
          </a:xfrm>
          <a:prstGeom prst="rect">
            <a:avLst/>
          </a:prstGeom>
          <a:solidFill>
            <a:srgbClr val="E8F6F4"/>
          </a:solidFill>
          <a:ln w="12700">
            <a:solidFill>
              <a:srgbClr val="2A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47104" y="35935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A8F88"/>
                </a:solidFill>
                <a:latin typeface="Apto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3593592"/>
            <a:ext cx="475488" cy="475488"/>
          </a:xfrm>
          <a:prstGeom prst="rect">
            <a:avLst/>
          </a:prstGeom>
          <a:solidFill>
            <a:srgbClr val="E8F6F4"/>
          </a:solidFill>
          <a:ln w="12700">
            <a:solidFill>
              <a:srgbClr val="2A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86600" y="35935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A8F88"/>
                </a:solidFill>
                <a:latin typeface="Aptos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6096" y="3593592"/>
            <a:ext cx="475488" cy="475488"/>
          </a:xfrm>
          <a:prstGeom prst="rect">
            <a:avLst/>
          </a:prstGeom>
          <a:solidFill>
            <a:srgbClr val="F0F1F5"/>
          </a:solidFill>
          <a:ln w="12700">
            <a:solidFill>
              <a:srgbClr val="626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26096" y="35935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62666D"/>
                </a:solidFill>
                <a:latin typeface="Aptos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65592" y="3593592"/>
            <a:ext cx="475488" cy="475488"/>
          </a:xfrm>
          <a:prstGeom prst="rect">
            <a:avLst/>
          </a:prstGeom>
          <a:solidFill>
            <a:srgbClr val="F0F1F5"/>
          </a:solidFill>
          <a:ln w="12700">
            <a:solidFill>
              <a:srgbClr val="626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65592" y="35935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62666D"/>
                </a:solidFill>
                <a:latin typeface="Apto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05088" y="3593592"/>
            <a:ext cx="475488" cy="475488"/>
          </a:xfrm>
          <a:prstGeom prst="rect">
            <a:avLst/>
          </a:prstGeom>
          <a:solidFill>
            <a:srgbClr val="F2EEF7"/>
          </a:solidFill>
          <a:ln w="1270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05088" y="35935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8469AD"/>
                </a:solidFill>
                <a:latin typeface="Aptos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44584" y="3593592"/>
            <a:ext cx="475488" cy="475488"/>
          </a:xfrm>
          <a:prstGeom prst="rect">
            <a:avLst/>
          </a:prstGeom>
          <a:solidFill>
            <a:srgbClr val="F2EEF7"/>
          </a:solidFill>
          <a:ln w="1270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44584" y="35935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8469AD"/>
                </a:solidFill>
                <a:latin typeface="Aptos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3593592"/>
            <a:ext cx="475488" cy="475488"/>
          </a:xfrm>
          <a:prstGeom prst="rect">
            <a:avLst/>
          </a:prstGeom>
          <a:solidFill>
            <a:srgbClr val="F2EEF7"/>
          </a:solidFill>
          <a:ln w="1270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84080" y="35935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8469AD"/>
                </a:solidFill>
                <a:latin typeface="Apto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206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2A8F88"/>
                </a:solidFill>
                <a:latin typeface="Aptos"/>
              </a:rPr>
              <a:t>ninguna privación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42062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80" b="0">
                <a:solidFill>
                  <a:srgbClr val="8469AD"/>
                </a:solidFill>
                <a:latin typeface="Aptos"/>
              </a:rPr>
              <a:t>máxima privación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07492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232858"/>
                </a:solidFill>
                <a:latin typeface="Aptos"/>
              </a:rPr>
              <a:t>Etapas de construcción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8" y="5449824"/>
            <a:ext cx="23957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7824" y="55229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2" name="Oval 51"/>
          <p:cNvSpPr/>
          <p:nvPr/>
        </p:nvSpPr>
        <p:spPr>
          <a:xfrm>
            <a:off x="859536" y="5504688"/>
            <a:ext cx="365760" cy="365760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9536" y="5504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16736" y="5504688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70" b="1">
                <a:solidFill>
                  <a:srgbClr val="202124"/>
                </a:solidFill>
                <a:latin typeface="Aptos"/>
              </a:rPr>
              <a:t>Seleccionar indicadores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47288" y="5449824"/>
            <a:ext cx="23957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75304" y="55229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7" name="Oval 56"/>
          <p:cNvSpPr/>
          <p:nvPr/>
        </p:nvSpPr>
        <p:spPr>
          <a:xfrm>
            <a:off x="3557016" y="5504688"/>
            <a:ext cx="365760" cy="365760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57016" y="5504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14215" y="5504688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70" b="1">
                <a:solidFill>
                  <a:srgbClr val="202124"/>
                </a:solidFill>
                <a:latin typeface="Aptos"/>
              </a:rPr>
              <a:t>Examinar relaciones empíricas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44768" y="5449824"/>
            <a:ext cx="23957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72784" y="55229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62" name="Oval 61"/>
          <p:cNvSpPr/>
          <p:nvPr/>
        </p:nvSpPr>
        <p:spPr>
          <a:xfrm>
            <a:off x="6254496" y="5504688"/>
            <a:ext cx="365760" cy="365760"/>
          </a:xfrm>
          <a:prstGeom prst="ellipse">
            <a:avLst/>
          </a:prstGeom>
          <a:solidFill>
            <a:srgbClr val="8469AD"/>
          </a:solidFill>
          <a:ln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54496" y="5504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11696" y="5504688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70" b="1">
                <a:solidFill>
                  <a:srgbClr val="202124"/>
                </a:solidFill>
                <a:latin typeface="Aptos"/>
              </a:rPr>
              <a:t>Definir puntuaciones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42248" y="5449824"/>
            <a:ext cx="23957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70264" y="55229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7" name="Oval 66"/>
          <p:cNvSpPr/>
          <p:nvPr/>
        </p:nvSpPr>
        <p:spPr>
          <a:xfrm>
            <a:off x="8951976" y="5504688"/>
            <a:ext cx="365760" cy="365760"/>
          </a:xfrm>
          <a:prstGeom prst="ellipse">
            <a:avLst/>
          </a:prstGeom>
          <a:solidFill>
            <a:srgbClr val="8469AD"/>
          </a:solidFill>
          <a:ln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51976" y="5504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9176" y="5504688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70" b="1">
                <a:solidFill>
                  <a:srgbClr val="202124"/>
                </a:solidFill>
                <a:latin typeface="Aptos"/>
              </a:rPr>
              <a:t>Validar el índice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65992" y="651052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2666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3BDB4"/>
                </a:solidFill>
                <a:latin typeface="Aptos"/>
              </a:rPr>
              <a:t>TIPOLOGÍAS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8469AD"/>
                </a:solidFill>
                <a:latin typeface="Aptos Display"/>
              </a:rPr>
              <a:t>Combinar posiciones con significado teórico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82496"/>
            <a:ext cx="868680" cy="100584"/>
          </a:xfrm>
          <a:prstGeom prst="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499616" y="1737360"/>
            <a:ext cx="978408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92024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202124"/>
                </a:solidFill>
                <a:latin typeface="Aptos"/>
              </a:rPr>
              <a:t>La reducción pragmática combina más de una variable para construir categorías nuevas. El criterio de agrupamiento es sustantivo, no sólo numérico.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32858"/>
                </a:solidFill>
                <a:latin typeface="Aptos"/>
              </a:rPr>
              <a:t>Ejemplo: tipología de déficit en saneamiento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926080"/>
            <a:ext cx="2057400" cy="502920"/>
          </a:xfrm>
          <a:prstGeom prst="rect">
            <a:avLst/>
          </a:prstGeom>
          <a:solidFill>
            <a:srgbClr val="232858"/>
          </a:solidFill>
          <a:ln w="12700">
            <a:solidFill>
              <a:srgbClr val="23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292608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Con acceso al agua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926080"/>
            <a:ext cx="2057400" cy="502920"/>
          </a:xfrm>
          <a:prstGeom prst="rect">
            <a:avLst/>
          </a:prstGeom>
          <a:solidFill>
            <a:srgbClr val="232858"/>
          </a:solidFill>
          <a:ln w="12700">
            <a:solidFill>
              <a:srgbClr val="23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292608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Sin acceso al agua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2331720" cy="960120"/>
          </a:xfrm>
          <a:prstGeom prst="rect">
            <a:avLst/>
          </a:prstGeom>
          <a:solidFill>
            <a:srgbClr val="F0F1F5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210312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80" b="1">
                <a:solidFill>
                  <a:srgbClr val="202124"/>
                </a:solidFill>
                <a:latin typeface="Aptos"/>
              </a:rPr>
              <a:t>Servicio sanitario adecuado
(inodoro con descarga)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89120"/>
            <a:ext cx="2331720" cy="960120"/>
          </a:xfrm>
          <a:prstGeom prst="rect">
            <a:avLst/>
          </a:prstGeom>
          <a:solidFill>
            <a:srgbClr val="F0F1F5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4507992"/>
            <a:ext cx="210312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80" b="1">
                <a:solidFill>
                  <a:srgbClr val="202124"/>
                </a:solidFill>
                <a:latin typeface="Aptos"/>
              </a:rPr>
              <a:t>Servicio sanitario inadecuado
(sin descarga o sin inodoro)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429000"/>
            <a:ext cx="2057400" cy="960120"/>
          </a:xfrm>
          <a:prstGeom prst="rect">
            <a:avLst/>
          </a:prstGeom>
          <a:solidFill>
            <a:srgbClr val="E8F6F4"/>
          </a:solidFill>
          <a:ln w="12700">
            <a:solidFill>
              <a:srgbClr val="2A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353872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A8F88"/>
                </a:solidFill>
                <a:latin typeface="Aptos"/>
              </a:rPr>
              <a:t>Sin déficit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3429000"/>
            <a:ext cx="2057400" cy="960120"/>
          </a:xfrm>
          <a:prstGeom prst="rect">
            <a:avLst/>
          </a:prstGeom>
          <a:solidFill>
            <a:srgbClr val="FBF4E5"/>
          </a:solidFill>
          <a:ln w="127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59" y="353872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D69E2E"/>
                </a:solidFill>
                <a:latin typeface="Aptos"/>
              </a:rPr>
              <a:t>Déficit
moderado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389120"/>
            <a:ext cx="2057400" cy="960120"/>
          </a:xfrm>
          <a:prstGeom prst="rect">
            <a:avLst/>
          </a:prstGeom>
          <a:solidFill>
            <a:srgbClr val="FBF4E5"/>
          </a:solidFill>
          <a:ln w="127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449884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D69E2E"/>
                </a:solidFill>
                <a:latin typeface="Aptos"/>
              </a:rPr>
              <a:t>Déficit
moderado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4389120"/>
            <a:ext cx="2057400" cy="960120"/>
          </a:xfrm>
          <a:prstGeom prst="rect">
            <a:avLst/>
          </a:prstGeom>
          <a:solidFill>
            <a:srgbClr val="F9EDEF"/>
          </a:solidFill>
          <a:ln w="12700">
            <a:solidFill>
              <a:srgbClr val="C8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59" y="449884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85F73"/>
                </a:solidFill>
                <a:latin typeface="Aptos"/>
              </a:rPr>
              <a:t>Déficit
severo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487168"/>
            <a:ext cx="3401568" cy="1353312"/>
          </a:xfrm>
          <a:prstGeom prst="roundRect">
            <a:avLst/>
          </a:prstGeom>
          <a:solidFill>
            <a:srgbClr val="F2EEF7"/>
          </a:solidFill>
          <a:ln w="1270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2688336"/>
            <a:ext cx="29077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8469AD"/>
                </a:solidFill>
                <a:latin typeface="Aptos"/>
              </a:rPr>
              <a:t>Índice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026664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20" b="0">
                <a:solidFill>
                  <a:srgbClr val="202124"/>
                </a:solidFill>
                <a:latin typeface="Aptos"/>
              </a:rPr>
              <a:t>Resume posiciones mediante un puntaje o una suma.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4014215"/>
            <a:ext cx="3401568" cy="1353312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2A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73568" y="4215384"/>
            <a:ext cx="29077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A8F88"/>
                </a:solidFill>
                <a:latin typeface="Aptos"/>
              </a:rPr>
              <a:t>Tipología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553712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20" b="0">
                <a:solidFill>
                  <a:srgbClr val="202124"/>
                </a:solidFill>
                <a:latin typeface="Aptos"/>
              </a:rPr>
              <a:t>Agrupa combinaciones en perfiles cualitativamente distintos.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596128"/>
            <a:ext cx="10378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5669280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0" b="1">
                <a:solidFill>
                  <a:srgbClr val="232858"/>
                </a:solidFill>
                <a:latin typeface="Aptos"/>
              </a:rPr>
              <a:t>Pregunta de diseño: ¿queremos medir cuánto acumula una unidad o distinguir qué configuración de atributos presenta?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51052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2666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9837"/>
            <a:ext cx="2926080" cy="6479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125" y="2820647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3BD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455420" y="2919880"/>
            <a:ext cx="9281160" cy="70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Hipótesis bivariadas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 y programación para estudios del trabajo, desigualdad y pobreza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ANÁLISIS DE TABLAS BIVARIADAS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análisis univariado al análisis bivariado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DBD1562-5E71-8423-B54C-6532CC0872C7}"/>
              </a:ext>
            </a:extLst>
          </p:cNvPr>
          <p:cNvGrpSpPr/>
          <p:nvPr/>
        </p:nvGrpSpPr>
        <p:grpSpPr>
          <a:xfrm>
            <a:off x="777240" y="2103120"/>
            <a:ext cx="4736592" cy="2423160"/>
            <a:chOff x="777240" y="2103120"/>
            <a:chExt cx="5074920" cy="2423160"/>
          </a:xfrm>
        </p:grpSpPr>
        <p:sp>
          <p:nvSpPr>
            <p:cNvPr id="6" name="Shape 4"/>
            <p:cNvSpPr/>
            <p:nvPr/>
          </p:nvSpPr>
          <p:spPr>
            <a:xfrm>
              <a:off x="777240" y="2103120"/>
              <a:ext cx="5074920" cy="2423160"/>
            </a:xfrm>
            <a:prstGeom prst="roundRect">
              <a:avLst>
                <a:gd name="adj" fmla="val 3019"/>
              </a:avLst>
            </a:prstGeom>
            <a:solidFill>
              <a:srgbClr val="EAF7F5"/>
            </a:solidFill>
            <a:ln w="11430">
              <a:solidFill>
                <a:srgbClr val="E3E4E8"/>
              </a:solidFill>
              <a:prstDash val="solid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Shape 5"/>
            <p:cNvSpPr/>
            <p:nvPr/>
          </p:nvSpPr>
          <p:spPr>
            <a:xfrm>
              <a:off x="923544" y="2286000"/>
              <a:ext cx="100584" cy="2057400"/>
            </a:xfrm>
            <a:prstGeom prst="roundRect">
              <a:avLst>
                <a:gd name="adj" fmla="val 36364"/>
              </a:avLst>
            </a:prstGeom>
            <a:solidFill>
              <a:srgbClr val="53BDB4"/>
            </a:solidFill>
            <a:ln w="12700">
              <a:solidFill>
                <a:srgbClr val="53BDB4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Text 6"/>
            <p:cNvSpPr/>
            <p:nvPr/>
          </p:nvSpPr>
          <p:spPr>
            <a:xfrm>
              <a:off x="1161288" y="2286000"/>
              <a:ext cx="45079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23285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Una variable</a:t>
              </a:r>
              <a:endParaRPr lang="en-US" sz="17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161288" y="2724912"/>
              <a:ext cx="4489704" cy="161848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Describimos su distribución: frecuencias, tendencia central, posición, dispersión y forma.</a:t>
              </a:r>
              <a:endParaRPr lang="en-US" sz="1350" dirty="0"/>
            </a:p>
            <a:p>
              <a:pPr marL="0" indent="0">
                <a:buNone/>
              </a:pPr>
              <a:endParaRPr lang="en-US" sz="1350" dirty="0"/>
            </a:p>
            <a:p>
              <a:pPr marL="0" indent="0">
                <a:buNone/>
              </a:pPr>
              <a:r>
                <a:rPr lang="en-US" sz="135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Pregunta típica: ¿cómo se distribuye el ingreso?</a:t>
              </a:r>
              <a:endParaRPr lang="en-US" sz="135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6263640" y="2103120"/>
            <a:ext cx="5074920" cy="2423160"/>
          </a:xfrm>
          <a:prstGeom prst="roundRect">
            <a:avLst>
              <a:gd name="adj" fmla="val 3019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6409944" y="2286000"/>
            <a:ext cx="100584" cy="2057400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647688" y="228600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variables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7688" y="2724912"/>
            <a:ext cx="4489704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Preguntamos si la distribución de una variable cambia entre categorías de otra.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típica: ¿cambia la </a:t>
            </a:r>
            <a:r>
              <a:rPr lang="en-US" sz="135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laboral</a:t>
            </a: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</a:t>
            </a:r>
            <a:r>
              <a:rPr lang="en-US" sz="135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formalidad</a:t>
            </a: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según nivel educativo?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15000" y="2971800"/>
            <a:ext cx="438912" cy="438912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1051560" y="5074920"/>
            <a:ext cx="10012680" cy="603504"/>
          </a:xfrm>
          <a:prstGeom prst="roundRect">
            <a:avLst>
              <a:gd name="adj" fmla="val 9091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1252728" y="5184648"/>
            <a:ext cx="9610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de contingencia es una herramienta para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entre variables.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variable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la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funciones posibles de las variables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13232" y="21031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859536" y="2286000"/>
            <a:ext cx="100584" cy="201168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independiente (X)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724912"/>
            <a:ext cx="279806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cuya variación usamos para explicar o comparar el comportamiento de otra variable.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07408" y="21031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4553712" y="2286000"/>
            <a:ext cx="100584" cy="2011680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791456" y="228600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dependiente (Y)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91456" y="2724912"/>
            <a:ext cx="279806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 comportamiento cuya distribución queremos explicar.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21031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EEF0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247888" y="2286000"/>
            <a:ext cx="100584" cy="2011680"/>
          </a:xfrm>
          <a:prstGeom prst="roundRect">
            <a:avLst>
              <a:gd name="adj" fmla="val 36364"/>
            </a:avLst>
          </a:prstGeom>
          <a:solidFill>
            <a:srgbClr val="232858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485632" y="228600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de control (T)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85632" y="2724912"/>
            <a:ext cx="279806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que mantenemos constante para evaluar si la relación X–Y cambia al considerar una tercera variable.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60120" y="4992624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AF7F5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1161288" y="5102352"/>
            <a:ext cx="9747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Convención del curso: X en columnas y Y en filas. Esto facilita leer porcentajes “en dirección de X”.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contiene una hipótesis bivariada?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r>
              <a:rPr lang="en-US" sz="14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6332" y="1922526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mayor nivel educativo, mayor probabilidad de tener un empleo asalariado registrado.”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793873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y nivel de medición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34537" y="2747010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educativo (ordinal) y registración laboral (nominal dicotómica).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369945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4537" y="3323082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como X; registración como 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946017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análisis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4537" y="3899154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asalariadas ocupadas.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522089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 esperada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4537" y="4475226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más altos de X → mayor presencia de Y = “registrado”.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5098161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 observacional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34537" y="5051298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porcentaje de empleo registrado debería aumentar con el nivel educativo.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9837"/>
            <a:ext cx="2926080" cy="6479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1559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3BD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455420" y="2863596"/>
            <a:ext cx="928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Tablas de contingencia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 y programación para estudios del trabajo, desigualdad y pobreza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CRUZADAS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una tabla de contingencia?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distribución de frecuencias conjuntas de dos variables categóricas.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2578608"/>
            <a:ext cx="2011680" cy="40233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95528" y="26243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 laboral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2761488" y="2578608"/>
            <a:ext cx="2148840" cy="40233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4910328" y="2578608"/>
            <a:ext cx="1965960" cy="40233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956048" y="26243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876288" y="2578608"/>
            <a:ext cx="2057400" cy="40233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922008" y="26243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8933688" y="2578608"/>
            <a:ext cx="1097280" cy="40233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979408" y="26243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49808" y="2980944"/>
            <a:ext cx="201168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95528" y="30266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2761488" y="2980944"/>
            <a:ext cx="214884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2807208" y="30266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secundario incompleto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4910328" y="298094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956048" y="30266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Secundario completo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6876288" y="2980944"/>
            <a:ext cx="205740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6922008" y="302666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que secundario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8933688" y="2980944"/>
            <a:ext cx="109728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8979408" y="30266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749808" y="3547872"/>
            <a:ext cx="2011680" cy="50292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795528" y="35935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registrado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2761488" y="3547872"/>
            <a:ext cx="214884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2807208" y="35935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4910328" y="3547872"/>
            <a:ext cx="196596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956048" y="35935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6876288" y="3547872"/>
            <a:ext cx="205740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6922008" y="35935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8933688" y="3547872"/>
            <a:ext cx="109728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8979408" y="35935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280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749808" y="4050792"/>
            <a:ext cx="2011680" cy="50292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795528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Registrado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2761488" y="4050792"/>
            <a:ext cx="214884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2807208" y="40965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1160" dirty="0"/>
          </a:p>
        </p:txBody>
      </p:sp>
      <p:sp>
        <p:nvSpPr>
          <p:cNvPr id="41" name="Shape 39"/>
          <p:cNvSpPr/>
          <p:nvPr/>
        </p:nvSpPr>
        <p:spPr>
          <a:xfrm>
            <a:off x="4910328" y="4050792"/>
            <a:ext cx="196596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4956048" y="4096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1160" dirty="0"/>
          </a:p>
        </p:txBody>
      </p:sp>
      <p:sp>
        <p:nvSpPr>
          <p:cNvPr id="43" name="Shape 41"/>
          <p:cNvSpPr/>
          <p:nvPr/>
        </p:nvSpPr>
        <p:spPr>
          <a:xfrm>
            <a:off x="6876288" y="4050792"/>
            <a:ext cx="205740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4" name="Text 42"/>
          <p:cNvSpPr/>
          <p:nvPr/>
        </p:nvSpPr>
        <p:spPr>
          <a:xfrm>
            <a:off x="6922008" y="40965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8933688" y="4050792"/>
            <a:ext cx="10972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6" name="Text 44"/>
          <p:cNvSpPr/>
          <p:nvPr/>
        </p:nvSpPr>
        <p:spPr>
          <a:xfrm>
            <a:off x="8979408" y="40965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749808" y="4553712"/>
            <a:ext cx="2011680" cy="50292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795528" y="45994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2761488" y="4553712"/>
            <a:ext cx="214884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0" name="Text 48"/>
          <p:cNvSpPr/>
          <p:nvPr/>
        </p:nvSpPr>
        <p:spPr>
          <a:xfrm>
            <a:off x="2807208" y="45994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4910328" y="4553712"/>
            <a:ext cx="196596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2" name="Text 50"/>
          <p:cNvSpPr/>
          <p:nvPr/>
        </p:nvSpPr>
        <p:spPr>
          <a:xfrm>
            <a:off x="4956048" y="4599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6876288" y="4553712"/>
            <a:ext cx="205740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6922008" y="45994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1160" dirty="0"/>
          </a:p>
        </p:txBody>
      </p:sp>
      <p:sp>
        <p:nvSpPr>
          <p:cNvPr id="55" name="Shape 53"/>
          <p:cNvSpPr/>
          <p:nvPr/>
        </p:nvSpPr>
        <p:spPr>
          <a:xfrm>
            <a:off x="8933688" y="4553712"/>
            <a:ext cx="109728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6" name="Text 54"/>
          <p:cNvSpPr/>
          <p:nvPr/>
        </p:nvSpPr>
        <p:spPr>
          <a:xfrm>
            <a:off x="8979408" y="4599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600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1051560" y="534924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2EEF7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8" name="Text 56"/>
          <p:cNvSpPr/>
          <p:nvPr/>
        </p:nvSpPr>
        <p:spPr>
          <a:xfrm>
            <a:off x="1252728" y="5458968"/>
            <a:ext cx="9610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de propiedades: 2 categorías de Y × 3 categorías de X = 6 combinaciones posibles.</a:t>
            </a:r>
            <a:endParaRPr lang="en-US" sz="147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B8D76119-CC68-361B-C8CE-82C2D0F1C2D4}"/>
              </a:ext>
            </a:extLst>
          </p:cNvPr>
          <p:cNvSpPr/>
          <p:nvPr/>
        </p:nvSpPr>
        <p:spPr>
          <a:xfrm>
            <a:off x="4841748" y="26334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educativo</a:t>
            </a:r>
            <a:endParaRPr lang="en-US" sz="11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CRUZADAS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presentar un cuadro para que “se lea solo”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41248" y="20848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Cuadro 1. Registración laboral según nivel educativo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41401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asalariadas </a:t>
            </a:r>
            <a:r>
              <a:rPr lang="en-US" sz="1250" i="1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ocupadas</a:t>
            </a:r>
            <a:r>
              <a:rPr lang="en-US" sz="1250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En porcentajes.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" y="2843784"/>
            <a:ext cx="169164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86968" y="28895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2532888" y="2843784"/>
            <a:ext cx="160020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2578608" y="28895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sec. inc.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133088" y="2843784"/>
            <a:ext cx="160020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178808" y="28895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Sec. completo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733288" y="2843784"/>
            <a:ext cx="160020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779008" y="28895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que sec.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333488" y="2843784"/>
            <a:ext cx="77724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7379208" y="28895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41248" y="3300984"/>
            <a:ext cx="1691640" cy="50292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886968" y="334670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2532888" y="3300984"/>
            <a:ext cx="160020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2578608" y="334670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70,0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133088" y="3300984"/>
            <a:ext cx="160020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178808" y="334670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45,0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733288" y="3300984"/>
            <a:ext cx="160020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779008" y="334670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25,0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333488" y="3300984"/>
            <a:ext cx="77724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7379208" y="334670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46,7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841248" y="3803904"/>
            <a:ext cx="1691640" cy="50292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886968" y="384962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2532888" y="3803904"/>
            <a:ext cx="160020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2578608" y="384962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30,0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4133088" y="3803904"/>
            <a:ext cx="160020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4178808" y="384962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55,0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5733288" y="3803904"/>
            <a:ext cx="160020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5779008" y="384962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75,0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7333488" y="3803904"/>
            <a:ext cx="777240" cy="50292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7379208" y="38496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53,3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841248" y="4306824"/>
            <a:ext cx="1691640" cy="50292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886968" y="43525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2532888" y="4306824"/>
            <a:ext cx="160020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2578608" y="435254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4133088" y="4306824"/>
            <a:ext cx="160020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4178808" y="435254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5733288" y="4306824"/>
            <a:ext cx="160020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5779008" y="435254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180" dirty="0"/>
          </a:p>
        </p:txBody>
      </p:sp>
      <p:sp>
        <p:nvSpPr>
          <p:cNvPr id="46" name="Shape 44"/>
          <p:cNvSpPr/>
          <p:nvPr/>
        </p:nvSpPr>
        <p:spPr>
          <a:xfrm>
            <a:off x="7333488" y="4306824"/>
            <a:ext cx="77724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7379208" y="435254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180" dirty="0"/>
          </a:p>
        </p:txBody>
      </p:sp>
      <p:sp>
        <p:nvSpPr>
          <p:cNvPr id="48" name="Text 46"/>
          <p:cNvSpPr/>
          <p:nvPr/>
        </p:nvSpPr>
        <p:spPr>
          <a:xfrm>
            <a:off x="841248" y="49651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fines didácticos.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732520" y="2057400"/>
            <a:ext cx="2514600" cy="3154680"/>
          </a:xfrm>
          <a:prstGeom prst="roundRect">
            <a:avLst>
              <a:gd name="adj" fmla="val 2909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0" name="Shape 48"/>
          <p:cNvSpPr/>
          <p:nvPr/>
        </p:nvSpPr>
        <p:spPr>
          <a:xfrm>
            <a:off x="8878824" y="2240280"/>
            <a:ext cx="100584" cy="278892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9116568" y="2240280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9116568" y="2679192"/>
            <a:ext cx="1929384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Número del cuadro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Título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Universo y unidad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Nota superior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Notas al pie, si hacen falta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Fuente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1051560" y="5440680"/>
            <a:ext cx="10012680" cy="54864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1252728" y="5550408"/>
            <a:ext cx="961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título: primero Y, luego X → “Registración laboral según nivel educativo”.</a:t>
            </a:r>
            <a:endParaRPr lang="en-US" sz="147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distintas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923544" y="2286000"/>
            <a:ext cx="100584" cy="205740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161288" y="228600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columna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61288" y="2724912"/>
            <a:ext cx="2752344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cambia Y entre categorías de X?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lectura principal para evaluar una hipótesis X → 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4581144" y="2286000"/>
            <a:ext cx="100584" cy="2057400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818888" y="228600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fila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18888" y="2724912"/>
            <a:ext cx="2752344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compone cada categoría de Y en términos de X?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lectura de composición.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2440" y="21031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FBF1E8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238744" y="2286000"/>
            <a:ext cx="100584" cy="2057400"/>
          </a:xfrm>
          <a:prstGeom prst="roundRect">
            <a:avLst>
              <a:gd name="adj" fmla="val 36364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476488" y="228600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el total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76488" y="2724912"/>
            <a:ext cx="2752344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peso tiene cada combinación X–Y en el universo total?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útil para tipologías o perfiles conjuntos.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371600" y="5074920"/>
            <a:ext cx="9418320" cy="585216"/>
          </a:xfrm>
          <a:prstGeom prst="roundRect">
            <a:avLst>
              <a:gd name="adj" fmla="val 9375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19" name="Text 17"/>
          <p:cNvSpPr/>
          <p:nvPr/>
        </p:nvSpPr>
        <p:spPr>
          <a:xfrm>
            <a:off x="1572768" y="5184648"/>
            <a:ext cx="9015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denominador define la afirmación que la tabla permite hacer.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PRINCIPAL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Porcentajes por columna: selectividad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192024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sec. inc.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70916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Sec. completo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que sec.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0" y="2240280"/>
            <a:ext cx="118872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64108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2715768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22960" y="27614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9748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274320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70,0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70916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45,0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67512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95360" y="2715768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8641080" y="27614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46,7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3282696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822960" y="33284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697480" y="3282696"/>
            <a:ext cx="1965960" cy="566928"/>
          </a:xfrm>
          <a:prstGeom prst="rect">
            <a:avLst/>
          </a:prstGeom>
          <a:solidFill>
            <a:srgbClr val="DFF4F1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274320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3282696"/>
            <a:ext cx="1965960" cy="566928"/>
          </a:xfrm>
          <a:prstGeom prst="rect">
            <a:avLst/>
          </a:prstGeom>
          <a:solidFill>
            <a:srgbClr val="EEE8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70916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55,0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29400" y="3282696"/>
            <a:ext cx="1965960" cy="566928"/>
          </a:xfrm>
          <a:prstGeom prst="rect">
            <a:avLst/>
          </a:prstGeom>
          <a:solidFill>
            <a:srgbClr val="DFF4F1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667512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75,0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95360" y="3282696"/>
            <a:ext cx="1188720" cy="56692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8641080" y="332841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53,3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3849624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822960" y="38953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9748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274320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6344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470916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2940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667512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595360" y="3849624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8641080" y="38953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8680" y="4645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Lectura: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737360" y="4617720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proporción de empleo registrado aumenta de 30% a 75% al pasar del nivel educativo más bajo al más alto.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1005840" y="5321808"/>
            <a:ext cx="10058400" cy="548640"/>
          </a:xfrm>
          <a:prstGeom prst="roundRect">
            <a:avLst>
              <a:gd name="adj" fmla="val 10000"/>
            </a:avLst>
          </a:prstGeom>
          <a:solidFill>
            <a:srgbClr val="EAF7F5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/>
          <p:nvPr/>
        </p:nvSpPr>
        <p:spPr>
          <a:xfrm>
            <a:off x="1207008" y="5431536"/>
            <a:ext cx="965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X está en columnas, cada columna suma 100%. Comparamos porcentajes horizontalmente.</a:t>
            </a:r>
            <a:endParaRPr lang="en-US" sz="147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PREGUNTA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Porcentajes por fila: composición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192024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sec. inc.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70916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Sec. completo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que sec.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0" y="2240280"/>
            <a:ext cx="118872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64108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2715768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22960" y="27614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9748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274320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70916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67512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17,9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95360" y="2715768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8641080" y="27614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3282696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822960" y="33284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697480" y="3282696"/>
            <a:ext cx="1965960" cy="56692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274320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18,8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3282696"/>
            <a:ext cx="1965960" cy="56692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70916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34,4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29400" y="3282696"/>
            <a:ext cx="1965960" cy="566928"/>
          </a:xfrm>
          <a:prstGeom prst="rect">
            <a:avLst/>
          </a:prstGeom>
          <a:solidFill>
            <a:srgbClr val="EEE8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667512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46,9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95360" y="3282696"/>
            <a:ext cx="1188720" cy="56692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8641080" y="332841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3849624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822960" y="38953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9748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274320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33,3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6344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470916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33,3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2940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667512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33,3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595360" y="3849624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8641080" y="38953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8680" y="4645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Lectura: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828800" y="45537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quienes tienen empleo registrado, 46,9% posee más que secundario completo.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1005840" y="5321808"/>
            <a:ext cx="10058400" cy="548640"/>
          </a:xfrm>
          <a:prstGeom prst="roundRect">
            <a:avLst>
              <a:gd name="adj" fmla="val 10000"/>
            </a:avLst>
          </a:prstGeom>
          <a:solidFill>
            <a:srgbClr val="F2EEF7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/>
          <p:nvPr/>
        </p:nvSpPr>
        <p:spPr>
          <a:xfrm>
            <a:off x="1207008" y="5431536"/>
            <a:ext cx="965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lectura no responde directamente si “a mayor educación, mayor registración”. Cambió el denominador.</a:t>
            </a:r>
            <a:endParaRPr lang="en-US" sz="147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CONJUNTO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Porcentajes sobre el total: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tipologías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192024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sec. inc.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70916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Sec. completo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0" y="2240280"/>
            <a:ext cx="196596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que sec.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0" y="2240280"/>
            <a:ext cx="118872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64108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2715768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22960" y="27614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9748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274320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23,3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70916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2715768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675120" y="27614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8,3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95360" y="2715768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8641080" y="27614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46,7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3282696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822960" y="33284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697480" y="3282696"/>
            <a:ext cx="1965960" cy="56692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274320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3282696"/>
            <a:ext cx="1965960" cy="56692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70916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18,3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29400" y="3282696"/>
            <a:ext cx="1965960" cy="566928"/>
          </a:xfrm>
          <a:prstGeom prst="rect">
            <a:avLst/>
          </a:prstGeom>
          <a:solidFill>
            <a:srgbClr val="FBF1E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6675120" y="33284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8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95360" y="3282696"/>
            <a:ext cx="1188720" cy="56692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8641080" y="332841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53,3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3849624"/>
            <a:ext cx="192024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822960" y="38953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9748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274320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33,3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6344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470916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33,3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29400" y="3849624"/>
            <a:ext cx="1965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667512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33,3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595360" y="3849624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8641080" y="38953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8680" y="4645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Lectura: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828800" y="45537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25% del total combina educación superior al secundario y empleo registrado.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1005840" y="5321808"/>
            <a:ext cx="10058400" cy="548640"/>
          </a:xfrm>
          <a:prstGeom prst="roundRect">
            <a:avLst>
              <a:gd name="adj" fmla="val 10000"/>
            </a:avLst>
          </a:prstGeom>
          <a:solidFill>
            <a:srgbClr val="FBF1E8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/>
          <p:nvPr/>
        </p:nvSpPr>
        <p:spPr>
          <a:xfrm>
            <a:off x="1207008" y="5431536"/>
            <a:ext cx="965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E88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construir perfiles o tipologías: cada celda expresa una fracción del universo total.</a:t>
            </a:r>
            <a:endParaRPr lang="en-US" sz="147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errores frecuentes al leer tablas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49808" y="2084832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9EEEE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896112" y="2267712"/>
            <a:ext cx="100584" cy="2240280"/>
          </a:xfrm>
          <a:prstGeom prst="roundRect">
            <a:avLst>
              <a:gd name="adj" fmla="val 36364"/>
            </a:avLst>
          </a:prstGeom>
          <a:solidFill>
            <a:srgbClr val="C45A5A"/>
          </a:solidFill>
          <a:ln w="12700">
            <a:solidFill>
              <a:srgbClr val="C45A5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133856" y="2267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Comparar “cantidades”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33856" y="2706624"/>
            <a:ext cx="281635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Decir “hay más personas” cuando la tabla muestra porcentajes.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Correcto: hablar de proporciones, porcentajes o incidencia.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07408" y="2084832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BF1E8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4553712" y="2267712"/>
            <a:ext cx="100584" cy="2240280"/>
          </a:xfrm>
          <a:prstGeom prst="roundRect">
            <a:avLst>
              <a:gd name="adj" fmla="val 36364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791456" y="2267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Cambiar el denominador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91456" y="2706624"/>
            <a:ext cx="281635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una lectura de composición con porcentajes por columna —o una lectura de selectividad con porcentajes por fila.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65008" y="2084832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211312" y="2267712"/>
            <a:ext cx="100584" cy="2240280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449056" y="2267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</a:t>
            </a:r>
            <a:r>
              <a:rPr lang="en-US" sz="17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</a:t>
            </a: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toda la tabla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49056" y="2706624"/>
            <a:ext cx="281635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cada celda a palabras.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elegir contrastes que respondan la hipótesis o la pregunta sustantiva.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34440" y="5166360"/>
            <a:ext cx="9738360" cy="585216"/>
          </a:xfrm>
          <a:prstGeom prst="roundRect">
            <a:avLst>
              <a:gd name="adj" fmla="val 9375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1435608" y="5276088"/>
            <a:ext cx="9336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contingencia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tener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</a:t>
            </a: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hipótesis </a:t>
            </a:r>
            <a:r>
              <a:rPr lang="en-US" sz="147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detrás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rápido: ¿qué porcentaje necesito?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868680" y="2157984"/>
            <a:ext cx="411480" cy="41148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“Las personas con mayor educación tienen más empleo registrado.”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236976"/>
            <a:ext cx="411480" cy="411480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68680" y="33101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316382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“Entre los trabajadores registrados predominan quienes tienen educación alta.”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4315968"/>
            <a:ext cx="411480" cy="4114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24281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“Una cuarta parte del universo tiene educación alta y empleo registrado.”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1AED-48B4-DAAF-C24E-791239BA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50E615-006A-8B4B-370C-A9E6EB36D9A8}"/>
              </a:ext>
            </a:extLst>
          </p:cNvPr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17237F-AD20-D62A-0453-A141C64F94E5}"/>
              </a:ext>
            </a:extLst>
          </p:cNvPr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rápido: ¿qué porcentaje necesito?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7C4448-D137-7582-AD0E-BADEE5951135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0E08B68-8E49-FDD1-EB58-20987A150B16}"/>
              </a:ext>
            </a:extLst>
          </p:cNvPr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479A9F-60B1-DFF5-62A2-8805DD9DFC1F}"/>
              </a:ext>
            </a:extLst>
          </p:cNvPr>
          <p:cNvSpPr/>
          <p:nvPr/>
        </p:nvSpPr>
        <p:spPr>
          <a:xfrm>
            <a:off x="868680" y="2157984"/>
            <a:ext cx="411480" cy="41148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DFD3D9-7F32-EB04-EBD0-364FF72D30F4}"/>
              </a:ext>
            </a:extLst>
          </p:cNvPr>
          <p:cNvSpPr/>
          <p:nvPr/>
        </p:nvSpPr>
        <p:spPr>
          <a:xfrm>
            <a:off x="868680" y="22311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91E53F-A45A-F6BE-2937-213FCFA7A1F3}"/>
              </a:ext>
            </a:extLst>
          </p:cNvPr>
          <p:cNvSpPr/>
          <p:nvPr/>
        </p:nvSpPr>
        <p:spPr>
          <a:xfrm>
            <a:off x="1508760" y="20848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“Las personas con mayor educación tienen más empleo registrado.”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5CEDAC8-AB10-F485-E28C-79417A376AD8}"/>
              </a:ext>
            </a:extLst>
          </p:cNvPr>
          <p:cNvSpPr/>
          <p:nvPr/>
        </p:nvSpPr>
        <p:spPr>
          <a:xfrm>
            <a:off x="9464040" y="2112264"/>
            <a:ext cx="1600200" cy="438912"/>
          </a:xfrm>
          <a:prstGeom prst="roundRect">
            <a:avLst>
              <a:gd name="adj" fmla="val 8333"/>
            </a:avLst>
          </a:prstGeom>
          <a:solidFill>
            <a:srgbClr val="EAF7F5"/>
          </a:solidFill>
          <a:ln w="1143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DF6762E-B41B-2CD2-8398-94863A8CBCA5}"/>
              </a:ext>
            </a:extLst>
          </p:cNvPr>
          <p:cNvSpPr/>
          <p:nvPr/>
        </p:nvSpPr>
        <p:spPr>
          <a:xfrm>
            <a:off x="9573768" y="2221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columna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58C0064-EE49-B2E1-AD46-7B010A9F48F3}"/>
              </a:ext>
            </a:extLst>
          </p:cNvPr>
          <p:cNvSpPr/>
          <p:nvPr/>
        </p:nvSpPr>
        <p:spPr>
          <a:xfrm>
            <a:off x="868680" y="3236976"/>
            <a:ext cx="411480" cy="411480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45EC74-9DE4-0D11-7444-838095C50497}"/>
              </a:ext>
            </a:extLst>
          </p:cNvPr>
          <p:cNvSpPr/>
          <p:nvPr/>
        </p:nvSpPr>
        <p:spPr>
          <a:xfrm>
            <a:off x="868680" y="33101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626911-3E70-33F1-FB3B-71E2C4942332}"/>
              </a:ext>
            </a:extLst>
          </p:cNvPr>
          <p:cNvSpPr/>
          <p:nvPr/>
        </p:nvSpPr>
        <p:spPr>
          <a:xfrm>
            <a:off x="1508760" y="316382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“Entre los trabajadores registrados predominan quienes tienen educación alta.”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A0F4A54-3C52-0221-CEAF-684C9033AEAD}"/>
              </a:ext>
            </a:extLst>
          </p:cNvPr>
          <p:cNvSpPr/>
          <p:nvPr/>
        </p:nvSpPr>
        <p:spPr>
          <a:xfrm>
            <a:off x="9464040" y="3191256"/>
            <a:ext cx="1600200" cy="438912"/>
          </a:xfrm>
          <a:prstGeom prst="roundRect">
            <a:avLst>
              <a:gd name="adj" fmla="val 8333"/>
            </a:avLst>
          </a:prstGeom>
          <a:solidFill>
            <a:srgbClr val="F2EEF7"/>
          </a:solidFill>
          <a:ln w="1143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09B5D74-D20A-075F-EAFC-A352A987E5D8}"/>
              </a:ext>
            </a:extLst>
          </p:cNvPr>
          <p:cNvSpPr/>
          <p:nvPr/>
        </p:nvSpPr>
        <p:spPr>
          <a:xfrm>
            <a:off x="9573768" y="3300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fila</a:t>
            </a:r>
            <a:endParaRPr lang="en-US" sz="11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2B1EE9D-7925-2A8F-50F8-02EA4E1814FB}"/>
              </a:ext>
            </a:extLst>
          </p:cNvPr>
          <p:cNvSpPr/>
          <p:nvPr/>
        </p:nvSpPr>
        <p:spPr>
          <a:xfrm>
            <a:off x="868680" y="4315968"/>
            <a:ext cx="411480" cy="4114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0F544F-1A83-863D-9BA3-71B692788503}"/>
              </a:ext>
            </a:extLst>
          </p:cNvPr>
          <p:cNvSpPr/>
          <p:nvPr/>
        </p:nvSpPr>
        <p:spPr>
          <a:xfrm>
            <a:off x="868680" y="43891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ABC10DC-A618-3714-5CFA-D79F75172C21}"/>
              </a:ext>
            </a:extLst>
          </p:cNvPr>
          <p:cNvSpPr/>
          <p:nvPr/>
        </p:nvSpPr>
        <p:spPr>
          <a:xfrm>
            <a:off x="1508760" y="424281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“Una cuarta parte del universo tiene educación alta y empleo registrado.”</a:t>
            </a:r>
            <a:endParaRPr lang="en-US" sz="16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8C71625-F817-F57B-FC0B-92C0ED07572F}"/>
              </a:ext>
            </a:extLst>
          </p:cNvPr>
          <p:cNvSpPr/>
          <p:nvPr/>
        </p:nvSpPr>
        <p:spPr>
          <a:xfrm>
            <a:off x="9464040" y="4270248"/>
            <a:ext cx="1600200" cy="438912"/>
          </a:xfrm>
          <a:prstGeom prst="roundRect">
            <a:avLst>
              <a:gd name="adj" fmla="val 8333"/>
            </a:avLst>
          </a:prstGeom>
          <a:solidFill>
            <a:srgbClr val="FBF1E8"/>
          </a:solidFill>
          <a:ln w="1143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E1C8D76-B51A-E526-DA67-8FC3855C1099}"/>
              </a:ext>
            </a:extLst>
          </p:cNvPr>
          <p:cNvSpPr/>
          <p:nvPr/>
        </p:nvSpPr>
        <p:spPr>
          <a:xfrm>
            <a:off x="9573768" y="43799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8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el total</a:t>
            </a:r>
            <a:endParaRPr lang="en-US" sz="11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19F5A99-559F-F8C7-5162-0A9D501A59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7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9837"/>
            <a:ext cx="2926080" cy="6479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 y programación para estudios del trabajo, desigualdad y pobreza</a:t>
            </a:r>
            <a:endParaRPr lang="en-US" sz="11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F2E8170A-E792-C51E-8061-850A2C654E06}"/>
              </a:ext>
            </a:extLst>
          </p:cNvPr>
          <p:cNvSpPr/>
          <p:nvPr/>
        </p:nvSpPr>
        <p:spPr>
          <a:xfrm>
            <a:off x="640080" y="281559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3BD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48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845083F-5C62-9218-8955-64FFD6CC0E16}"/>
              </a:ext>
            </a:extLst>
          </p:cNvPr>
          <p:cNvSpPr/>
          <p:nvPr/>
        </p:nvSpPr>
        <p:spPr>
          <a:xfrm>
            <a:off x="1455420" y="2863596"/>
            <a:ext cx="928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Asociación</a:t>
            </a: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entre variables </a:t>
            </a:r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categóricas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características de una asociación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58368" y="21945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804672" y="237744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42416" y="2377440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Existencia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42416" y="2816352"/>
            <a:ext cx="192938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¿Las distribuciones condicionales difieren o son iguales?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47288" y="21945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593592" y="237744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831336" y="2377440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Fuerza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31336" y="2816352"/>
            <a:ext cx="192938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 grandes son esas diferencias?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6208" y="21945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EF0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6382512" y="237744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232858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620256" y="2377440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20256" y="2816352"/>
            <a:ext cx="192938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variables ordinales: ¿positiva o negativa?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025128" y="21945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BF1E8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9171432" y="237744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409176" y="2377440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Naturaleza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409176" y="2816352"/>
            <a:ext cx="192938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organiza el patrón: monotónico, curvilíneo, rinconal?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EXISTENCIA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independencia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estadística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asociación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46520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asociación (independencia)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1508760" cy="438912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2514600"/>
            <a:ext cx="1417320" cy="438912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2468880" y="25603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Educ. baja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2514600"/>
            <a:ext cx="1417320" cy="438912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3886200" y="25603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Educ. alta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953512"/>
            <a:ext cx="1508760" cy="53035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960120" y="299923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2953512"/>
            <a:ext cx="14173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2468880" y="299923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2953512"/>
            <a:ext cx="14173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3886200" y="299923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483864"/>
            <a:ext cx="1508760" cy="53035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960120" y="352958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3160" y="3483864"/>
            <a:ext cx="1417320" cy="53035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2468880" y="352958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0" y="3483864"/>
            <a:ext cx="1417320" cy="53035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886200" y="352958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4014216"/>
            <a:ext cx="1508760" cy="53035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960120" y="40599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23160" y="4014216"/>
            <a:ext cx="14173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2468880" y="405993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0" y="4014216"/>
            <a:ext cx="14173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3886200" y="405993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2514600"/>
            <a:ext cx="1508760" cy="438912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6446520" y="2560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09560" y="2514600"/>
            <a:ext cx="1417320" cy="438912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7955280" y="25603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Educ. baja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26880" y="2514600"/>
            <a:ext cx="1417320" cy="438912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9372600" y="25603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Educ. alta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2953512"/>
            <a:ext cx="1508760" cy="53035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6446520" y="299923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09560" y="2953512"/>
            <a:ext cx="14173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7955280" y="299923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326880" y="2953512"/>
            <a:ext cx="14173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9372600" y="299923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3483864"/>
            <a:ext cx="1508760" cy="53035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6446520" y="352958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909560" y="3483864"/>
            <a:ext cx="1417320" cy="53035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7955280" y="352958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53,3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326880" y="3483864"/>
            <a:ext cx="1417320" cy="53035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/>
          <p:nvPr/>
        </p:nvSpPr>
        <p:spPr>
          <a:xfrm>
            <a:off x="9372600" y="352958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53,3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0" y="4014216"/>
            <a:ext cx="1508760" cy="53035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6446520" y="40599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909560" y="4014216"/>
            <a:ext cx="14173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3" name="Text 51"/>
          <p:cNvSpPr/>
          <p:nvPr/>
        </p:nvSpPr>
        <p:spPr>
          <a:xfrm>
            <a:off x="7955280" y="405993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326880" y="4014216"/>
            <a:ext cx="14173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5" name="Text 53"/>
          <p:cNvSpPr/>
          <p:nvPr/>
        </p:nvSpPr>
        <p:spPr>
          <a:xfrm>
            <a:off x="9372600" y="405993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14400" y="47548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columnas difieren.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6400800" y="47548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columnas repiten la misma distribución.</a:t>
            </a:r>
            <a:endParaRPr lang="en-US" sz="1450" dirty="0"/>
          </a:p>
        </p:txBody>
      </p:sp>
      <p:sp>
        <p:nvSpPr>
          <p:cNvPr id="58" name="Shape 56"/>
          <p:cNvSpPr/>
          <p:nvPr/>
        </p:nvSpPr>
        <p:spPr>
          <a:xfrm>
            <a:off x="1325880" y="5440680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9" name="Text 57"/>
          <p:cNvSpPr/>
          <p:nvPr/>
        </p:nvSpPr>
        <p:spPr>
          <a:xfrm>
            <a:off x="1527048" y="5550408"/>
            <a:ext cx="9198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Independencia significa que conocer X no aporta información sobre la distribución de Y.</a:t>
            </a:r>
            <a:endParaRPr lang="en-US" sz="147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EXISTENCIA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Épsilon: la diferencia porcentual como idea intuitiva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205740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2148840"/>
            <a:ext cx="205740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971800" y="2194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baja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83480" y="2148840"/>
            <a:ext cx="205740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alta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624328"/>
            <a:ext cx="205740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2624328"/>
            <a:ext cx="205740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2971800" y="2670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70,0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2624328"/>
            <a:ext cx="205740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029200" y="2670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3191256"/>
            <a:ext cx="205740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914400" y="3236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26080" y="3191256"/>
            <a:ext cx="2057400" cy="566928"/>
          </a:xfrm>
          <a:prstGeom prst="rect">
            <a:avLst/>
          </a:prstGeom>
          <a:solidFill>
            <a:srgbClr val="DFF4F1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2971800" y="3236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3191256"/>
            <a:ext cx="2057400" cy="566928"/>
          </a:xfrm>
          <a:prstGeom prst="rect">
            <a:avLst/>
          </a:prstGeom>
          <a:solidFill>
            <a:srgbClr val="EEE8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5029200" y="3236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75,0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3758184"/>
            <a:ext cx="2057400" cy="56692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914400" y="380390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6080" y="3758184"/>
            <a:ext cx="205740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2971800" y="380390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3758184"/>
            <a:ext cx="205740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5029200" y="380390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178040" y="2423160"/>
            <a:ext cx="3886200" cy="960120"/>
          </a:xfrm>
          <a:prstGeom prst="roundRect">
            <a:avLst>
              <a:gd name="adj" fmla="val 4762"/>
            </a:avLst>
          </a:prstGeom>
          <a:solidFill>
            <a:srgbClr val="EAF7F5"/>
          </a:solidFill>
          <a:ln w="1397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7315200" y="2542032"/>
            <a:ext cx="3611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 = 75,0 − 30,0 = 45 puntos porcentuales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08522" y="4047744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7391402" y="3956304"/>
            <a:ext cx="4160520" cy="505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calcula en sentido contrario al de los porcentajes: comparamos categorías de X dentro de una misma categoría de Y.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7208522" y="4581144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7391402" y="4489704"/>
            <a:ext cx="4160520" cy="505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2×2, su valor absoluto da una lectura inmediata de cuánto difieren las proporciones.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7208522" y="5114544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7391402" y="5023104"/>
            <a:ext cx="4160520" cy="505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medida didáctica: no reemplaza una prueba inferencial ni los coeficientes estandarizados.</a:t>
            </a:r>
            <a:endParaRPr lang="en-US" sz="128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EXISTENCIA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diferencia observada a la población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44651" y="2106929"/>
            <a:ext cx="109663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una muestra, una diferencia porcentual puede aparecer por azar </a:t>
            </a:r>
            <a:r>
              <a:rPr lang="en-US" sz="19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muestral</a:t>
            </a:r>
            <a:r>
              <a:rPr lang="en-US" sz="19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¿</a:t>
            </a:r>
            <a:r>
              <a:rPr lang="en-US" sz="19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</a:t>
            </a:r>
            <a:r>
              <a:rPr lang="en-US" sz="19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sabemos</a:t>
            </a:r>
            <a:r>
              <a:rPr lang="en-US" sz="19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</a:t>
            </a:r>
            <a:r>
              <a:rPr lang="en-US" sz="19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19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</a:t>
            </a:r>
            <a:r>
              <a:rPr lang="en-US" sz="19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</a:t>
            </a:r>
            <a:r>
              <a:rPr lang="en-US" sz="19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" y="2947035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22960" y="3221355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51123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Observamos diferencias entre columnas.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3182112" y="3541395"/>
            <a:ext cx="320040" cy="320040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447288" y="2947035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611880" y="3221355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nula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651123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Suponemos que X e Y son independientes en la población.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971032" y="3541395"/>
            <a:ext cx="320040" cy="320040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6236208" y="2947035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400800" y="3221355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651123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Preguntamos cuán compatible es lo observado con esa hipótesis.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8759952" y="3541395"/>
            <a:ext cx="320040" cy="320040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9025128" y="2947035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189720" y="3221355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3651123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Evaluamos evidencia estadística, no “certeza”.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EXISTENCIA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Chi-cuadrado: comparar lo observado con lo esperado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X e Y fueran independientes, ¿qué frecuencias esperaríamos en cada celda?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4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Observadas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2404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Esperadas bajo independencia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169164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14600" y="2788920"/>
            <a:ext cx="96012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256032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0" y="2788920"/>
            <a:ext cx="96012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52044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2788920"/>
            <a:ext cx="96012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48056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246120"/>
            <a:ext cx="1691640" cy="65836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14600" y="3246120"/>
            <a:ext cx="96012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2560320" y="329184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0" y="3246120"/>
            <a:ext cx="96012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3520440" y="329184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34840" y="3246120"/>
            <a:ext cx="96012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480560" y="329184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3904488"/>
            <a:ext cx="1691640" cy="65836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868680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514600" y="3904488"/>
            <a:ext cx="960120" cy="65836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2560320" y="39502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474720" y="3904488"/>
            <a:ext cx="960120" cy="65836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3520440" y="39502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434840" y="3904488"/>
            <a:ext cx="960120" cy="65836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480560" y="39502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2788920"/>
            <a:ext cx="1691640" cy="457200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635508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01000" y="2788920"/>
            <a:ext cx="960120" cy="457200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804672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961120" y="2788920"/>
            <a:ext cx="960120" cy="457200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900684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921240" y="2788920"/>
            <a:ext cx="960120" cy="457200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996696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09360" y="3246120"/>
            <a:ext cx="1691640" cy="65836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6355080" y="32918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001000" y="3246120"/>
            <a:ext cx="96012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4" name="Text 42"/>
          <p:cNvSpPr/>
          <p:nvPr/>
        </p:nvSpPr>
        <p:spPr>
          <a:xfrm>
            <a:off x="8046720" y="329184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93,3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961120" y="3246120"/>
            <a:ext cx="96012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6" name="Text 44"/>
          <p:cNvSpPr/>
          <p:nvPr/>
        </p:nvSpPr>
        <p:spPr>
          <a:xfrm>
            <a:off x="9006840" y="329184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93,3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921240" y="3246120"/>
            <a:ext cx="96012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9966960" y="329184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93,3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309360" y="3904488"/>
            <a:ext cx="1691640" cy="658368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0" name="Text 48"/>
          <p:cNvSpPr/>
          <p:nvPr/>
        </p:nvSpPr>
        <p:spPr>
          <a:xfrm>
            <a:off x="6355080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001000" y="3904488"/>
            <a:ext cx="960120" cy="65836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2" name="Text 50"/>
          <p:cNvSpPr/>
          <p:nvPr/>
        </p:nvSpPr>
        <p:spPr>
          <a:xfrm>
            <a:off x="8046720" y="39502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106,7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961120" y="3904488"/>
            <a:ext cx="960120" cy="65836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9006840" y="39502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106,7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921240" y="3904488"/>
            <a:ext cx="960120" cy="658368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6" name="Text 54"/>
          <p:cNvSpPr/>
          <p:nvPr/>
        </p:nvSpPr>
        <p:spPr>
          <a:xfrm>
            <a:off x="9966960" y="39502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106,7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3337560" y="4828032"/>
            <a:ext cx="5532120" cy="658368"/>
          </a:xfrm>
          <a:prstGeom prst="roundRect">
            <a:avLst>
              <a:gd name="adj" fmla="val 6944"/>
            </a:avLst>
          </a:prstGeom>
          <a:solidFill>
            <a:srgbClr val="EEF0F7"/>
          </a:solidFill>
          <a:ln w="1397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56"/>
              <p:cNvSpPr/>
              <p:nvPr/>
            </p:nvSpPr>
            <p:spPr>
              <a:xfrm>
                <a:off x="3474720" y="4946904"/>
                <a:ext cx="525780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23285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𝑬</m:t>
                    </m:r>
                    <m:r>
                      <a:rPr lang="en-US" sz="1600" b="1" i="1" dirty="0" smtClean="0">
                        <a:solidFill>
                          <a:srgbClr val="23285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ᵢⱼ</m:t>
                    </m:r>
                  </m:oMath>
                </a14:m>
                <a:r>
                  <a:rPr lang="en-US" sz="1600" b="1" dirty="0">
                    <a:solidFill>
                      <a:srgbClr val="23285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= (total de fila × total de columna) / N</a:t>
                </a:r>
                <a:endParaRPr lang="en-US" sz="1600" dirty="0"/>
              </a:p>
            </p:txBody>
          </p:sp>
        </mc:Choice>
        <mc:Fallback xmlns="">
          <p:sp>
            <p:nvSpPr>
              <p:cNvPr id="58" name="Text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20" y="4946904"/>
                <a:ext cx="5257800" cy="438912"/>
              </a:xfrm>
              <a:prstGeom prst="rect">
                <a:avLst/>
              </a:prstGeom>
              <a:blipFill>
                <a:blip r:embed="rId3"/>
                <a:stretch>
                  <a:fillRect b="-6944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Shape 57"/>
          <p:cNvSpPr/>
          <p:nvPr/>
        </p:nvSpPr>
        <p:spPr>
          <a:xfrm>
            <a:off x="914400" y="562356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F2EEF7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0" name="Text 58"/>
          <p:cNvSpPr/>
          <p:nvPr/>
        </p:nvSpPr>
        <p:spPr>
          <a:xfrm>
            <a:off x="1115568" y="5733288"/>
            <a:ext cx="9930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Cuanto mayores son las diferencias O − E, mayor será χ² y menor la compatibilidad con la independencia.</a:t>
            </a:r>
            <a:endParaRPr lang="en-US" sz="147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EXISTENCIA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 de independencia como test de hipótesis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868680" y="2084832"/>
            <a:ext cx="3931920" cy="1051560"/>
          </a:xfrm>
          <a:prstGeom prst="roundRect">
            <a:avLst>
              <a:gd name="adj" fmla="val 4348"/>
            </a:avLst>
          </a:prstGeom>
          <a:solidFill>
            <a:srgbClr val="F2EEF7"/>
          </a:solidFill>
          <a:ln w="1397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1005840" y="2203704"/>
                <a:ext cx="3657600" cy="8321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85000" lnSpcReduction="10000"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AR" alt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s-AR" altLang="es-AR" sz="24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203704"/>
                <a:ext cx="3657600" cy="832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5257800" y="1993392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5404104" y="2176272"/>
            <a:ext cx="100584" cy="868680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641848" y="2176272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41848" y="2615184"/>
            <a:ext cx="22037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e Y son independientes en la población.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366760" y="1993392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8513064" y="2176272"/>
            <a:ext cx="100584" cy="86868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750808" y="2176272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750808" y="2615184"/>
            <a:ext cx="22037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e Y no son independientes: existe asociación.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3794760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10012680" cy="3726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Calculamos χ² a partir de las diferencias entre frecuencias observadas y esperadas.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914400" y="4194810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1097280" y="4103370"/>
            <a:ext cx="10012680" cy="3726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distribución de χ² y los grados de libertad permiten obtener un p-valor.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914400" y="4594860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1097280" y="4503420"/>
            <a:ext cx="10012680" cy="3726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convencional: si p &lt; 0,05, rechazamos H₀ de independencia.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914400" y="4994910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1097280" y="4903470"/>
            <a:ext cx="10012680" cy="3726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p-valor no indica cuán fuerte es la relación: solo informa sobre evidencia contra H₀.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EXISTENCIA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Ejemplo: educación y registración laboral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92024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2148840"/>
            <a:ext cx="141732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743200" y="2194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Educ. baja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148840"/>
            <a:ext cx="141732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160520" y="2194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Educ. media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2148840"/>
            <a:ext cx="141732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577840" y="2194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Educ. alta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624328"/>
            <a:ext cx="1920240" cy="64008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22960" y="2670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97480" y="2624328"/>
            <a:ext cx="1417320" cy="6400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2743200" y="26700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2624328"/>
            <a:ext cx="1417320" cy="6400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160520" y="26700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32120" y="2624328"/>
            <a:ext cx="1417320" cy="6400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577840" y="26700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3264408"/>
            <a:ext cx="1920240" cy="64008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97480" y="3264408"/>
            <a:ext cx="1417320" cy="64008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2743200" y="33101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0" y="3264408"/>
            <a:ext cx="1417320" cy="64008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4160520" y="33101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32120" y="3264408"/>
            <a:ext cx="1417320" cy="64008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5577840" y="33101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0" y="2121408"/>
            <a:ext cx="3840480" cy="1965960"/>
          </a:xfrm>
          <a:prstGeom prst="roundRect">
            <a:avLst>
              <a:gd name="adj" fmla="val 3721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7461504" y="2304288"/>
            <a:ext cx="100584" cy="160020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7699248" y="230428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del test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699248" y="2743200"/>
            <a:ext cx="3255264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χ²(2) = 81,70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&lt; 0,001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600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68680" y="4498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48840" y="44074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distribución de la registración laboral difiere según el nivel educativo. En este ejemplo, la evidencia es incompatible con la hipótesis de independencia.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371600" y="5440680"/>
            <a:ext cx="9372600" cy="530352"/>
          </a:xfrm>
          <a:prstGeom prst="roundRect">
            <a:avLst>
              <a:gd name="adj" fmla="val 10345"/>
            </a:avLst>
          </a:prstGeom>
          <a:solidFill>
            <a:srgbClr val="F2EEF7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1572768" y="5550408"/>
            <a:ext cx="8970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falta una pregunta: ¿qué tan fuerte es la asociación?</a:t>
            </a:r>
            <a:endParaRPr lang="en-US" sz="147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FUERZA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Fuerza: diferencias pequeñas y grandes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dirección; distinta intensidad.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 más débil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2816352"/>
            <a:ext cx="182880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60120" y="2862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743200" y="2816352"/>
            <a:ext cx="128016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2788920" y="2862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4023360" y="2816352"/>
            <a:ext cx="1280160" cy="457200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069080" y="2862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914400" y="3273552"/>
            <a:ext cx="1828800" cy="59436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960120" y="33192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2743200" y="3273552"/>
            <a:ext cx="12801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2788920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4023360" y="3273552"/>
            <a:ext cx="12801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069080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914400" y="3867912"/>
            <a:ext cx="1828800" cy="59436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960120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2743200" y="3867912"/>
            <a:ext cx="1280160" cy="59436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2788920" y="39136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4023360" y="3867912"/>
            <a:ext cx="1280160" cy="59436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4069080" y="39136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Diferencia: 10 pp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 más fuerte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400800" y="2816352"/>
            <a:ext cx="1828800" cy="457200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6446520" y="2862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Registración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8229600" y="2816352"/>
            <a:ext cx="1280160" cy="457200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8275320" y="2862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9509760" y="2816352"/>
            <a:ext cx="1280160" cy="457200"/>
          </a:xfrm>
          <a:prstGeom prst="rect">
            <a:avLst/>
          </a:prstGeom>
          <a:solidFill>
            <a:srgbClr val="8469AD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9555480" y="2862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6400800" y="3273552"/>
            <a:ext cx="1828800" cy="59436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6446520" y="33192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8229600" y="3273552"/>
            <a:ext cx="12801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8275320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9509760" y="3273552"/>
            <a:ext cx="12801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9555480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280" dirty="0"/>
          </a:p>
        </p:txBody>
      </p:sp>
      <p:sp>
        <p:nvSpPr>
          <p:cNvPr id="40" name="Shape 38"/>
          <p:cNvSpPr/>
          <p:nvPr/>
        </p:nvSpPr>
        <p:spPr>
          <a:xfrm>
            <a:off x="6400800" y="3867912"/>
            <a:ext cx="1828800" cy="594360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6446520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8229600" y="3867912"/>
            <a:ext cx="1280160" cy="59436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8275320" y="39136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280" dirty="0"/>
          </a:p>
        </p:txBody>
      </p:sp>
      <p:sp>
        <p:nvSpPr>
          <p:cNvPr id="44" name="Shape 42"/>
          <p:cNvSpPr/>
          <p:nvPr/>
        </p:nvSpPr>
        <p:spPr>
          <a:xfrm>
            <a:off x="9509760" y="3867912"/>
            <a:ext cx="1280160" cy="594360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9555480" y="39136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80" dirty="0"/>
          </a:p>
        </p:txBody>
      </p:sp>
      <p:sp>
        <p:nvSpPr>
          <p:cNvPr id="46" name="Text 44"/>
          <p:cNvSpPr/>
          <p:nvPr/>
        </p:nvSpPr>
        <p:spPr>
          <a:xfrm>
            <a:off x="640080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Diferencia: 60 pp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14400" y="5367528"/>
            <a:ext cx="10332720" cy="54864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1115568" y="5477256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fuerza necesita una escala común para comparar relaciones: ahí entran los coeficientes estandarizados.</a:t>
            </a:r>
            <a:endParaRPr lang="en-US" sz="147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DIRECCIÓN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Dirección: positiva o negativa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21792" y="1943100"/>
            <a:ext cx="1062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de dirección requiere que las categorías tengan un </a:t>
            </a:r>
            <a:r>
              <a:rPr lang="en-US" sz="175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</a:t>
            </a:r>
            <a:r>
              <a:rPr lang="en-US" sz="17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r>
              <a:rPr lang="en-US" sz="175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</a:t>
            </a:r>
            <a:r>
              <a:rPr lang="en-US" sz="17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la hipótesis (y de </a:t>
            </a:r>
            <a:r>
              <a:rPr lang="en-US" sz="175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</a:t>
            </a:r>
            <a:r>
              <a:rPr lang="en-US" sz="17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5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r>
              <a:rPr lang="en-US" sz="17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234440" y="280035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 positiva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4440" y="3147822"/>
            <a:ext cx="566928" cy="566928"/>
          </a:xfrm>
          <a:prstGeom prst="rect">
            <a:avLst/>
          </a:prstGeom>
          <a:solidFill>
            <a:srgbClr val="53BD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1801368" y="3147822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2368296" y="3147822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1234440" y="371475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1801368" y="3714750"/>
            <a:ext cx="566928" cy="566928"/>
          </a:xfrm>
          <a:prstGeom prst="rect">
            <a:avLst/>
          </a:prstGeom>
          <a:solidFill>
            <a:srgbClr val="53BD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2368296" y="371475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1234440" y="428167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1801368" y="428167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2368296" y="4281678"/>
            <a:ext cx="566928" cy="566928"/>
          </a:xfrm>
          <a:prstGeom prst="rect">
            <a:avLst/>
          </a:prstGeom>
          <a:solidFill>
            <a:srgbClr val="53BD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800600" y="280035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 negativa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00600" y="3147822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5367528" y="3147822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5934456" y="3147822"/>
            <a:ext cx="566928" cy="566928"/>
          </a:xfrm>
          <a:prstGeom prst="rect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800600" y="371475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5367528" y="3714750"/>
            <a:ext cx="566928" cy="566928"/>
          </a:xfrm>
          <a:prstGeom prst="rect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5934456" y="371475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4800600" y="4281678"/>
            <a:ext cx="566928" cy="566928"/>
          </a:xfrm>
          <a:prstGeom prst="rect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5367528" y="428167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5934456" y="428167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8366760" y="280035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dirección ordinal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66760" y="3147822"/>
            <a:ext cx="566928" cy="566928"/>
          </a:xfrm>
          <a:prstGeom prst="rect">
            <a:avLst/>
          </a:prstGeom>
          <a:solidFill>
            <a:srgbClr val="DDE0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8933688" y="3147822"/>
            <a:ext cx="566928" cy="566928"/>
          </a:xfrm>
          <a:prstGeom prst="rect">
            <a:avLst/>
          </a:prstGeom>
          <a:solidFill>
            <a:srgbClr val="E883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9500616" y="3147822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8366760" y="3714750"/>
            <a:ext cx="566928" cy="566928"/>
          </a:xfrm>
          <a:prstGeom prst="rect">
            <a:avLst/>
          </a:prstGeom>
          <a:solidFill>
            <a:srgbClr val="E883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8933688" y="371475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9500616" y="3714750"/>
            <a:ext cx="566928" cy="566928"/>
          </a:xfrm>
          <a:prstGeom prst="rect">
            <a:avLst/>
          </a:prstGeom>
          <a:solidFill>
            <a:srgbClr val="DDE0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8366760" y="428167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8933688" y="4281678"/>
            <a:ext cx="566928" cy="566928"/>
          </a:xfrm>
          <a:prstGeom prst="rect">
            <a:avLst/>
          </a:prstGeom>
          <a:solidFill>
            <a:srgbClr val="DDE0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9500616" y="4281678"/>
            <a:ext cx="566928" cy="566928"/>
          </a:xfrm>
          <a:prstGeom prst="rect">
            <a:avLst/>
          </a:prstGeom>
          <a:solidFill>
            <a:srgbClr val="E883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868680" y="509549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con alto; bajo con bajo.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34840" y="509549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con bajo; bajo con alto.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01000" y="509549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haber asociación nominal sin signo +/−.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DIRECCIÓN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ordinal: origen y destino socioeconómico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2057400" cy="49377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  Origen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2148840"/>
            <a:ext cx="1508760" cy="49377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017520" y="21945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1508760" cy="49377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2148840"/>
            <a:ext cx="1508760" cy="493776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642616"/>
            <a:ext cx="2057400" cy="585216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960120" y="2688336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642616"/>
            <a:ext cx="1508760" cy="585216"/>
          </a:xfrm>
          <a:prstGeom prst="rect">
            <a:avLst/>
          </a:prstGeom>
          <a:solidFill>
            <a:srgbClr val="DFF4F1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017520" y="268833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63,4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2642616"/>
            <a:ext cx="1508760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526280" y="268833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2642616"/>
            <a:ext cx="1508760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035040" y="268833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227832"/>
            <a:ext cx="2057400" cy="585216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960120" y="3273552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71800" y="3227832"/>
            <a:ext cx="1508760" cy="585216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017520" y="327355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23,6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3227832"/>
            <a:ext cx="1508760" cy="585216"/>
          </a:xfrm>
          <a:prstGeom prst="rect">
            <a:avLst/>
          </a:prstGeom>
          <a:solidFill>
            <a:srgbClr val="DFF4F1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4526280" y="327355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65,6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89320" y="3227832"/>
            <a:ext cx="1508760" cy="585216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6035040" y="327355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813048"/>
            <a:ext cx="2057400" cy="585216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960120" y="385876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971800" y="3813048"/>
            <a:ext cx="1508760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3017520" y="385876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80560" y="3813048"/>
            <a:ext cx="1508760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4526280" y="385876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89320" y="3813048"/>
            <a:ext cx="1508760" cy="585216"/>
          </a:xfrm>
          <a:prstGeom prst="rect">
            <a:avLst/>
          </a:prstGeom>
          <a:solidFill>
            <a:srgbClr val="DFF4F1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6035040" y="385876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61,6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" y="4398264"/>
            <a:ext cx="2057400" cy="585216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960120" y="4443984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4398264"/>
            <a:ext cx="1508760" cy="585216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3017520" y="444398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480560" y="4398264"/>
            <a:ext cx="1508760" cy="585216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4526280" y="444398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89320" y="4398264"/>
            <a:ext cx="1508760" cy="585216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6035040" y="444398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92440" y="224028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7" name="Shape 45"/>
          <p:cNvSpPr/>
          <p:nvPr/>
        </p:nvSpPr>
        <p:spPr>
          <a:xfrm>
            <a:off x="8238744" y="242316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8476488" y="242316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8476488" y="2862072"/>
            <a:ext cx="252374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porcentajes altos se concentran en la diagonal principal: origen alto ↔ destino alto y origen bajo ↔ destino bajo.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1143000" y="5303520"/>
            <a:ext cx="9829800" cy="566928"/>
          </a:xfrm>
          <a:prstGeom prst="roundRect">
            <a:avLst>
              <a:gd name="adj" fmla="val 9677"/>
            </a:avLst>
          </a:prstGeom>
          <a:solidFill>
            <a:srgbClr val="EAF7F5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1344168" y="5413248"/>
            <a:ext cx="9427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A8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patrón es compatible con una asociación ordinal positiva.</a:t>
            </a:r>
            <a:endParaRPr lang="en-US" sz="147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ASOCIACIÓN: NATURALEZA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Naturaleza: distintas formas de asociación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14300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Monotónica / diagonal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2651760"/>
            <a:ext cx="566928" cy="566928"/>
          </a:xfrm>
          <a:prstGeom prst="rect">
            <a:avLst/>
          </a:prstGeom>
          <a:solidFill>
            <a:srgbClr val="53BD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1709928" y="265176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276856" y="265176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1143000" y="321868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1709928" y="3218688"/>
            <a:ext cx="566928" cy="566928"/>
          </a:xfrm>
          <a:prstGeom prst="rect">
            <a:avLst/>
          </a:prstGeom>
          <a:solidFill>
            <a:srgbClr val="53BD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2276856" y="321868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1143000" y="3785616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1709928" y="3785616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2276856" y="3785616"/>
            <a:ext cx="566928" cy="566928"/>
          </a:xfrm>
          <a:prstGeom prst="rect">
            <a:avLst/>
          </a:prstGeom>
          <a:solidFill>
            <a:srgbClr val="53BD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80060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Curvilínea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00600" y="2651760"/>
            <a:ext cx="566928" cy="566928"/>
          </a:xfrm>
          <a:prstGeom prst="rect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5367528" y="265176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5934456" y="2651760"/>
            <a:ext cx="566928" cy="566928"/>
          </a:xfrm>
          <a:prstGeom prst="rect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800600" y="321868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5367528" y="3218688"/>
            <a:ext cx="566928" cy="566928"/>
          </a:xfrm>
          <a:prstGeom prst="rect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5934456" y="321868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4800600" y="3785616"/>
            <a:ext cx="566928" cy="566928"/>
          </a:xfrm>
          <a:prstGeom prst="rect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5367528" y="3785616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5934456" y="3785616"/>
            <a:ext cx="566928" cy="566928"/>
          </a:xfrm>
          <a:prstGeom prst="rect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845820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Rinconal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58200" y="265176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9025128" y="265176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9592056" y="2651760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8458200" y="321868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9025128" y="321868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9592056" y="3218688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8458200" y="3785616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9025128" y="3785616"/>
            <a:ext cx="566928" cy="566928"/>
          </a:xfrm>
          <a:prstGeom prst="rect">
            <a:avLst/>
          </a:prstGeom>
          <a:solidFill>
            <a:srgbClr val="F7F7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9592056" y="3785616"/>
            <a:ext cx="566928" cy="566928"/>
          </a:xfrm>
          <a:prstGeom prst="rect">
            <a:avLst/>
          </a:prstGeom>
          <a:solidFill>
            <a:srgbClr val="E883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868680" y="4617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Ej.: a mayor X, mayor Y.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4297680" y="44988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Ej.: valores medios se comportan distinto de los extremos.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8028432" y="44988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Ej.: una combinación específica concentra el patrón.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960120" y="5413248"/>
            <a:ext cx="10241280" cy="54864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1161288" y="5522976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única medida global puede ocultar la forma concreta del patrón. Por eso primero miramos la tabla.</a:t>
            </a:r>
            <a:endParaRPr lang="en-US" sz="147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9837"/>
            <a:ext cx="2926080" cy="6479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346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3BD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783080" y="2825496"/>
            <a:ext cx="928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Coeficientes de asociación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 y programación para estudios del trabajo, desigualdad y pobreza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no alcanza con χ²?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923544" y="228600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161288" y="228600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χ²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61288" y="2724912"/>
            <a:ext cx="448970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contrastar independencia, pero su magnitud depende del tamaño muestral y de la dimensión de la tabla. No es una escala directa de fuerza comparable.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6409944" y="228600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647688" y="228600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 estandarizado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7688" y="2724912"/>
            <a:ext cx="448970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 la información de la tabla a una escala interpretable. Según el coeficiente, puede resumir fuerza y, en variables ordinales, también dirección.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97280" y="5074920"/>
            <a:ext cx="9966960" cy="603504"/>
          </a:xfrm>
          <a:prstGeom prst="roundRect">
            <a:avLst>
              <a:gd name="adj" fmla="val 9091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1298448" y="5184648"/>
            <a:ext cx="9564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Primero: ¿existe evidencia de asociación? Luego: ¿qué tan fuerte es y qué signo tiene?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Elegir el coeficiente según el nivel de medición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320040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04088" y="2130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Situación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3858768" y="2084832"/>
            <a:ext cx="292608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904488" y="2130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 sugerido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784848" y="2084832"/>
            <a:ext cx="132588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830568" y="21305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110728" y="2084832"/>
            <a:ext cx="283464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8156448" y="2130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resume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58368" y="2560320"/>
            <a:ext cx="3200400" cy="62179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704088" y="26060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2×2, variables nominales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3858768" y="2560320"/>
            <a:ext cx="29260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904488" y="260604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 (φ)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784848" y="2560320"/>
            <a:ext cx="13258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6830568" y="26060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a 1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8110728" y="2560320"/>
            <a:ext cx="28346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156448" y="26060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Fuerza global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58368" y="3182112"/>
            <a:ext cx="3200400" cy="62179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704088" y="322783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nominal mayor que 2×2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3858768" y="3182112"/>
            <a:ext cx="292608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904488" y="32278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de Cramér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784848" y="3182112"/>
            <a:ext cx="132588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830568" y="322783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a 1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8110728" y="3182112"/>
            <a:ext cx="283464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8156448" y="32278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Fuerza global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58368" y="3803904"/>
            <a:ext cx="3200400" cy="62179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704088" y="384962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2×2, variables ordinales dicotómicas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3858768" y="3803904"/>
            <a:ext cx="29260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3904488" y="384962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de Yule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6784848" y="3803904"/>
            <a:ext cx="13258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6830568" y="384962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 a +1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8110728" y="3803904"/>
            <a:ext cx="28346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8156448" y="38496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Fuerza + dirección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658368" y="4425696"/>
            <a:ext cx="3200400" cy="62179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704088" y="447141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ordinal mayor que 2×2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3858768" y="4425696"/>
            <a:ext cx="292608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3904488" y="44714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(γ)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6784848" y="4425696"/>
            <a:ext cx="132588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6830568" y="447141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 a +1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8110728" y="4425696"/>
            <a:ext cx="283464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8156448" y="44714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Fuerza + dirección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868680" y="5513832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2EEF7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1069848" y="5623560"/>
            <a:ext cx="10021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práctica: si una variable es nominal y la otra ordinal, el nivel más bajo limita el tipo de coeficiente que podemos usar.</a:t>
            </a:r>
            <a:endParaRPr lang="en-US" sz="147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COEFICIENTES BASADOS EN Χ²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 y V de Cramér: asociación nominal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868680" y="2121408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EAF7F5"/>
          </a:solidFill>
          <a:ln w="1397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960120" y="2240280"/>
                <a:ext cx="2606040" cy="6492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sz="3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s-AR" sz="3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altLang="es-AR" sz="3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AR" altLang="es-AR" sz="3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altLang="es-AR" sz="3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s-AR" altLang="es-AR" sz="34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AR" sz="3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2240280"/>
                <a:ext cx="2606040" cy="649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4069080" y="2121408"/>
            <a:ext cx="4800600" cy="868680"/>
          </a:xfrm>
          <a:prstGeom prst="roundRect">
            <a:avLst>
              <a:gd name="adj" fmla="val 5263"/>
            </a:avLst>
          </a:prstGeom>
          <a:solidFill>
            <a:srgbClr val="F2EEF7"/>
          </a:solidFill>
          <a:ln w="1397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206240" y="2288286"/>
                <a:ext cx="2289810" cy="6492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70000" lnSpcReduction="20000"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AR" sz="20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AR" sz="20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altLang="es-A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AR" altLang="es-A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altLang="es-A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s-AR" altLang="es-AR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A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A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∙(</m:t>
                              </m:r>
                              <m:r>
                                <a:rPr lang="es-A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/>
              </a:p>
              <a:p>
                <a:pPr algn="ctr"/>
                <a:endParaRPr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2288286"/>
                <a:ext cx="2289810" cy="649224"/>
              </a:xfrm>
              <a:prstGeom prst="rect">
                <a:avLst/>
              </a:prstGeom>
              <a:blipFill>
                <a:blip r:embed="rId4"/>
                <a:stretch>
                  <a:fillRect t="-7477" b="-28972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9189720" y="20574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EF0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9336024" y="2240280"/>
            <a:ext cx="100584" cy="685800"/>
          </a:xfrm>
          <a:prstGeom prst="roundRect">
            <a:avLst>
              <a:gd name="adj" fmla="val 36364"/>
            </a:avLst>
          </a:prstGeom>
          <a:solidFill>
            <a:srgbClr val="232858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573768" y="2240280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573768" y="2679192"/>
            <a:ext cx="14721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sin asociación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asociación perfecta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429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de educación × registración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χ² = 81,70 · N = 600 · tabla 2×3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315968"/>
            <a:ext cx="2423160" cy="804672"/>
          </a:xfrm>
          <a:prstGeom prst="roundRect">
            <a:avLst>
              <a:gd name="adj" fmla="val 5682"/>
            </a:avLst>
          </a:prstGeom>
          <a:solidFill>
            <a:srgbClr val="EAF7F5"/>
          </a:solidFill>
          <a:ln w="1397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= 0,369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920615" y="3648455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5103495" y="3557015"/>
            <a:ext cx="6858000" cy="536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no tiene signo: no informa dirección.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4920615" y="4212335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103495" y="4120895"/>
            <a:ext cx="6858000" cy="536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interpretación sustantiva depende del fenómeno, diseño y campo de estudio.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4920615" y="4776215"/>
            <a:ext cx="91440" cy="9144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5103495" y="4684775"/>
            <a:ext cx="6858000" cy="536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conviene convertir puntos de corte universales en etiquetas automáticas de “débil/moderada/fuerte”.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98D0768F-F613-32B4-A122-B6A6DCC9C5E3}"/>
              </a:ext>
            </a:extLst>
          </p:cNvPr>
          <p:cNvSpPr/>
          <p:nvPr/>
        </p:nvSpPr>
        <p:spPr>
          <a:xfrm>
            <a:off x="6391656" y="2317818"/>
            <a:ext cx="2400300" cy="536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ES" sz="11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k es es el valor más pequeño entre filas o columnas en la tabla de contingencia.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COEFICIENTES ORDINALES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de Yule y Gamma: asociación ordinal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13232" y="2057400"/>
            <a:ext cx="5394960" cy="2697480"/>
          </a:xfrm>
          <a:prstGeom prst="roundRect">
            <a:avLst>
              <a:gd name="adj" fmla="val 2712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859536" y="2240280"/>
            <a:ext cx="100584" cy="2331720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de Yule · tablas 2×2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679192"/>
            <a:ext cx="4809744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una tabla: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a     b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c     d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= (ad − bc) / (ad + bc)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signo indica dirección y el valor absoluto, intensidad.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82512" y="2057400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6528816" y="2240280"/>
            <a:ext cx="100584" cy="2331720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766560" y="224028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· tablas ordinales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66560" y="2679192"/>
            <a:ext cx="4489704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pares concordantes (C) y discordantes (D):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γ = (C − D) / (C + D)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 = asociación inversa perfecta · 0 = balance · +1 = asociación positiva perfecta.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166360"/>
            <a:ext cx="10424160" cy="640080"/>
          </a:xfrm>
          <a:prstGeom prst="roundRect">
            <a:avLst>
              <a:gd name="adj" fmla="val 8571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1069848" y="5276088"/>
            <a:ext cx="1002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ignora los pares empatados en alguna de las variables: es importante recordar qué información queda fuera de su denominador.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ORDINAL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Gamma: pares concordantes y discordantes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192024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  Educación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2606040" y="2103120"/>
            <a:ext cx="132588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651760" y="2148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3931920" y="2103120"/>
            <a:ext cx="132588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977640" y="2148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257800" y="2103120"/>
            <a:ext cx="1325880" cy="475488"/>
          </a:xfrm>
          <a:prstGeom prst="rect">
            <a:avLst/>
          </a:prstGeom>
          <a:solidFill>
            <a:srgbClr val="232858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303520" y="2148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85800" y="2578608"/>
            <a:ext cx="1920240" cy="62179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731520" y="26243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2606040" y="2578608"/>
            <a:ext cx="13258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2651760" y="262432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3931920" y="2578608"/>
            <a:ext cx="13258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3977640" y="262432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257800" y="2578608"/>
            <a:ext cx="13258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303520" y="262432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85800" y="3200400"/>
            <a:ext cx="1920240" cy="62179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731520" y="32461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2606040" y="3200400"/>
            <a:ext cx="132588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2651760" y="32461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3931920" y="3200400"/>
            <a:ext cx="132588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3977640" y="32461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5257800" y="3200400"/>
            <a:ext cx="1325880" cy="621792"/>
          </a:xfrm>
          <a:prstGeom prst="rect">
            <a:avLst/>
          </a:prstGeom>
          <a:solidFill>
            <a:srgbClr val="FAFAFB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5303520" y="32461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85800" y="3822192"/>
            <a:ext cx="1920240" cy="621792"/>
          </a:xfrm>
          <a:prstGeom prst="rect">
            <a:avLst/>
          </a:prstGeom>
          <a:solidFill>
            <a:srgbClr val="F0F1F5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731520" y="38679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2606040" y="3822192"/>
            <a:ext cx="13258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2651760" y="386791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3931920" y="3822192"/>
            <a:ext cx="13258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3977640" y="386791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5257800" y="3822192"/>
            <a:ext cx="132588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A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5303520" y="386791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6903720" y="2048256"/>
            <a:ext cx="434340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7050024" y="2231136"/>
            <a:ext cx="100584" cy="804672"/>
          </a:xfrm>
          <a:prstGeom prst="roundRect">
            <a:avLst>
              <a:gd name="adj" fmla="val 36364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7287768" y="2231136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Pares concordantes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287768" y="2670048"/>
            <a:ext cx="37581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observación está más alta en educación y también más alta en ingreso —o más baja en ambas.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903720" y="3401568"/>
            <a:ext cx="4343400" cy="1170432"/>
          </a:xfrm>
          <a:prstGeom prst="roundRect">
            <a:avLst>
              <a:gd name="adj" fmla="val 6250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3" name="Shape 41"/>
          <p:cNvSpPr/>
          <p:nvPr/>
        </p:nvSpPr>
        <p:spPr>
          <a:xfrm>
            <a:off x="7050024" y="3584448"/>
            <a:ext cx="100584" cy="804672"/>
          </a:xfrm>
          <a:prstGeom prst="roundRect">
            <a:avLst>
              <a:gd name="adj" fmla="val 36364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4" name="Text 42"/>
          <p:cNvSpPr/>
          <p:nvPr/>
        </p:nvSpPr>
        <p:spPr>
          <a:xfrm>
            <a:off x="7287768" y="358444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Pares discordantes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287768" y="4023360"/>
            <a:ext cx="37581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observación está más alta en una variable pero más baja en la otra.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68680" y="4773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Sumando los pares comparables de toda la tabla: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1005840" y="5074920"/>
            <a:ext cx="10149840" cy="749808"/>
          </a:xfrm>
          <a:prstGeom prst="roundRect">
            <a:avLst>
              <a:gd name="adj" fmla="val 6098"/>
            </a:avLst>
          </a:prstGeom>
          <a:solidFill>
            <a:srgbClr val="FBF1E8"/>
          </a:solidFill>
          <a:ln w="1397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1143000" y="5193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= 4.950     D = 1.075     γ = (4.950 − 1.075)/(4.950 + 1.075) = 0,643</a:t>
            </a:r>
            <a:endParaRPr lang="en-US" sz="16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secuencia de lectura para el análisis bivariado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530352" y="2423160"/>
            <a:ext cx="1691640" cy="2286000"/>
          </a:xfrm>
          <a:prstGeom prst="roundRect">
            <a:avLst>
              <a:gd name="adj" fmla="val 3784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1124712" y="2633472"/>
            <a:ext cx="502920" cy="50292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124712" y="2761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192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" y="376732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X, Y, unidad y sentido esperado.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67712" y="3246120"/>
            <a:ext cx="292608" cy="292608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2432304" y="2423160"/>
            <a:ext cx="1691640" cy="2286000"/>
          </a:xfrm>
          <a:prstGeom prst="roundRect">
            <a:avLst>
              <a:gd name="adj" fmla="val 3784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026664" y="2633472"/>
            <a:ext cx="502920" cy="502920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026664" y="2761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33192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560320" y="376732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frecuencias y categorías.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9664" y="3246120"/>
            <a:ext cx="292608" cy="292608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4334256" y="2423160"/>
            <a:ext cx="1691640" cy="2286000"/>
          </a:xfrm>
          <a:prstGeom prst="roundRect">
            <a:avLst>
              <a:gd name="adj" fmla="val 3784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4928616" y="2633472"/>
            <a:ext cx="502920" cy="50292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4928616" y="2761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43984" y="33192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462272" y="376732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el denominador según la pregunta.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71616" y="3246120"/>
            <a:ext cx="292608" cy="292608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6236208" y="2423160"/>
            <a:ext cx="1691640" cy="2286000"/>
          </a:xfrm>
          <a:prstGeom prst="roundRect">
            <a:avLst>
              <a:gd name="adj" fmla="val 3784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6830568" y="2633472"/>
            <a:ext cx="502920" cy="502920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6830568" y="2761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45936" y="33192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364224" y="376732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Examinar existencia, fuerza, dirección y forma.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73568" y="3246120"/>
            <a:ext cx="292608" cy="292608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8138160" y="2423160"/>
            <a:ext cx="1691640" cy="2286000"/>
          </a:xfrm>
          <a:prstGeom prst="roundRect">
            <a:avLst>
              <a:gd name="adj" fmla="val 3784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8732520" y="2633472"/>
            <a:ext cx="502920" cy="50292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8732520" y="2761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47888" y="33192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Inferencia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66176" y="376732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χ² para evaluar independencia.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875520" y="3246120"/>
            <a:ext cx="292608" cy="292608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10040112" y="2423160"/>
            <a:ext cx="1691640" cy="2286000"/>
          </a:xfrm>
          <a:prstGeom prst="roundRect">
            <a:avLst>
              <a:gd name="adj" fmla="val 3784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Shape 35"/>
          <p:cNvSpPr/>
          <p:nvPr/>
        </p:nvSpPr>
        <p:spPr>
          <a:xfrm>
            <a:off x="10634472" y="2633472"/>
            <a:ext cx="502920" cy="502920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10634472" y="2761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149840" y="33192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0168128" y="376732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una medida acorde al nivel de medición.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14400" y="5376672"/>
            <a:ext cx="10378440" cy="585216"/>
          </a:xfrm>
          <a:prstGeom prst="roundRect">
            <a:avLst>
              <a:gd name="adj" fmla="val 9375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1115568" y="5486400"/>
            <a:ext cx="9976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paso conceptual: incorporar una tercera variable de control y preguntar si la relación X–Y se mantiene, cambia o desaparece.</a:t>
            </a:r>
            <a:endParaRPr lang="en-US" sz="147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2930</Words>
  <Application>Microsoft Office PowerPoint</Application>
  <PresentationFormat>Panorámica</PresentationFormat>
  <Paragraphs>709</Paragraphs>
  <Slides>39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Facultad de Ciencias Sociales - Universidad de Buenos Aires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· Análisis bivariado: tablas de contingencia y coeficientes de asociación</dc:title>
  <dc:subject>Clase 2 - Tablas de contingencia y asociación</dc:subject>
  <dc:creator>Santiago Poy / Guido Weksler</dc:creator>
  <cp:lastModifiedBy>Santiago Poy</cp:lastModifiedBy>
  <cp:revision>3</cp:revision>
  <dcterms:created xsi:type="dcterms:W3CDTF">2026-10-02T18:11:36Z</dcterms:created>
  <dcterms:modified xsi:type="dcterms:W3CDTF">2026-10-08T16:11:00Z</dcterms:modified>
</cp:coreProperties>
</file>