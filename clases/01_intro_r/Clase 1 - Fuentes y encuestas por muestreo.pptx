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92" r:id="rId3"/>
    <p:sldId id="293" r:id="rId4"/>
    <p:sldId id="257" r:id="rId5"/>
    <p:sldId id="259" r:id="rId6"/>
    <p:sldId id="260" r:id="rId7"/>
    <p:sldId id="261" r:id="rId8"/>
    <p:sldId id="262" r:id="rId9"/>
    <p:sldId id="294" r:id="rId10"/>
    <p:sldId id="263" r:id="rId11"/>
    <p:sldId id="264" r:id="rId12"/>
    <p:sldId id="265" r:id="rId13"/>
    <p:sldId id="266" r:id="rId14"/>
    <p:sldId id="267" r:id="rId15"/>
    <p:sldId id="296" r:id="rId16"/>
    <p:sldId id="297" r:id="rId17"/>
    <p:sldId id="295" r:id="rId18"/>
    <p:sldId id="268" r:id="rId19"/>
    <p:sldId id="269" r:id="rId20"/>
    <p:sldId id="270" r:id="rId21"/>
    <p:sldId id="271" r:id="rId22"/>
    <p:sldId id="272" r:id="rId23"/>
    <p:sldId id="276" r:id="rId24"/>
    <p:sldId id="278" r:id="rId25"/>
    <p:sldId id="279" r:id="rId26"/>
    <p:sldId id="280" r:id="rId27"/>
    <p:sldId id="282" r:id="rId28"/>
    <p:sldId id="283" r:id="rId29"/>
    <p:sldId id="299" r:id="rId30"/>
    <p:sldId id="284" r:id="rId31"/>
    <p:sldId id="298" r:id="rId32"/>
    <p:sldId id="285" r:id="rId33"/>
    <p:sldId id="300" r:id="rId34"/>
    <p:sldId id="286" r:id="rId35"/>
    <p:sldId id="287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9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682" y="72"/>
      </p:cViewPr>
      <p:guideLst>
        <p:guide orient="horz" pos="2160"/>
        <p:guide pos="3840"/>
        <p:guide pos="5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3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5884F-D80D-9C85-B44B-A32E686E9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41329-99D6-8CDC-6F57-C22087A87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92AED-F34F-B398-2CC9-2A6DFD4DE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AFB17-C259-A325-D22C-6C1B7D2B1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65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D0759-7417-B3B1-7DAD-8D4EB7D6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407C9-31BB-2B44-FDBC-E651BB98B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F2C46-B065-EF7C-9941-41BE5ED2F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4E827-404F-B6C1-53E9-BE8833BEC5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2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EF3A9-0412-C130-6D99-994F6B71C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4D4D4A-F762-8F99-3814-B84808C3B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27D6F-65C7-BE16-611B-1EF038B07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368AD-46AB-7D49-3996-AD90DB7B6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37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7307B-02F6-353A-070B-B520DBB49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9C1B9-2AF4-B7CA-9807-F35B1EBE0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5BCF8-11CC-05F7-E7F6-16721DE58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7BB38-1E26-B789-9E70-37845395F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22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E48D0-8C71-ECE0-D5D3-E5937D26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41254-42D2-B804-B1EE-EAA8850FB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90849-78C7-5A0D-6B04-6409A6585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A97C7-B631-1953-AAA3-1E39B7060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75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D6FE1-BAA9-8C62-1839-2A7894F0D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BF187-5DB4-0100-55DB-D4EE14EF2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B071C-68DC-3482-4144-2FF21025C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F2BBA-BFF2-1F54-3C40-AC86E95F9C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554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DE16D-7DCD-A64E-C553-C171E5848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B3C82-7270-4065-7814-A8039CD93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28A1B-A599-51D3-9F59-78C69E335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546A1-5991-57A7-B099-2481D59AD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153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ba_sociales_logo_cr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331720" cy="5120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492240"/>
            <a:ext cx="11064240" cy="0"/>
          </a:xfrm>
          <a:prstGeom prst="line">
            <a:avLst/>
          </a:prstGeom>
          <a:noFill/>
          <a:ln w="1143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s-AR" sz="1800"/>
          </a:p>
        </p:txBody>
      </p:sp>
      <p:sp>
        <p:nvSpPr>
          <p:cNvPr id="4" name="Text 1"/>
          <p:cNvSpPr/>
          <p:nvPr/>
        </p:nvSpPr>
        <p:spPr>
          <a:xfrm>
            <a:off x="566928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1" dirty="0">
                <a:solidFill>
                  <a:srgbClr val="8585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Seminario de Doctorado · UBA Sociales · 2026</a:t>
            </a:r>
            <a:endParaRPr lang="en-US" sz="85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ba_sociales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12134"/>
            <a:ext cx="4206240" cy="9313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075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i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Seminario Doctorado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868680" y="2487168"/>
            <a:ext cx="9646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Estadística y programación para estudios del trabajo, desigualdad y pobreza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86968" y="3529584"/>
            <a:ext cx="9372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5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 · Fuentes de </a:t>
            </a:r>
            <a:r>
              <a:rPr lang="en-US" sz="175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</a:t>
            </a:r>
            <a:r>
              <a:rPr lang="en-US" sz="175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75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</a:t>
            </a:r>
            <a:r>
              <a:rPr lang="en-US" sz="175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variables</a:t>
            </a:r>
            <a:endParaRPr lang="en-US" sz="1751" dirty="0"/>
          </a:p>
        </p:txBody>
      </p:sp>
      <p:sp>
        <p:nvSpPr>
          <p:cNvPr id="6" name="Shape 3"/>
          <p:cNvSpPr/>
          <p:nvPr/>
        </p:nvSpPr>
        <p:spPr>
          <a:xfrm>
            <a:off x="822960" y="4270248"/>
            <a:ext cx="1005840" cy="146304"/>
          </a:xfrm>
          <a:prstGeom prst="roundRect">
            <a:avLst>
              <a:gd name="adj" fmla="val 37500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4"/>
          <p:cNvSpPr/>
          <p:nvPr/>
        </p:nvSpPr>
        <p:spPr>
          <a:xfrm>
            <a:off x="1828799" y="4343400"/>
            <a:ext cx="9058275" cy="0"/>
          </a:xfrm>
          <a:prstGeom prst="line">
            <a:avLst/>
          </a:prstGeom>
          <a:noFill/>
          <a:ln w="1397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7823834" y="48051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55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Santiago Poy  ·  Guido Weksler</a:t>
            </a:r>
            <a:endParaRPr lang="en-US" sz="1551" dirty="0"/>
          </a:p>
        </p:txBody>
      </p:sp>
      <p:sp>
        <p:nvSpPr>
          <p:cNvPr id="9" name="Text 6"/>
          <p:cNvSpPr/>
          <p:nvPr/>
        </p:nvSpPr>
        <p:spPr>
          <a:xfrm>
            <a:off x="8001000" y="54132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5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de octubre de 2026</a:t>
            </a:r>
            <a:endParaRPr lang="en-US" sz="145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B909-089C-5287-B33F-6B53533CE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B6251E-C23D-2D5E-C54E-D1FBAB1AA3BE}"/>
              </a:ext>
            </a:extLst>
          </p:cNvPr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</a:rPr>
              <a:t>PRESENTACIÓN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45C024-ABCC-E99C-7773-643EB157F904}"/>
              </a:ext>
            </a:extLst>
          </p:cNvPr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organizamos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el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seminario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0B1192-7D96-2AA1-6C3D-827F5C2DAB69}"/>
              </a:ext>
            </a:extLst>
          </p:cNvPr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C69EE26-F650-FB1D-E933-1207599DEC07}"/>
              </a:ext>
            </a:extLst>
          </p:cNvPr>
          <p:cNvSpPr/>
          <p:nvPr/>
        </p:nvSpPr>
        <p:spPr>
          <a:xfrm>
            <a:off x="1435608" y="1732788"/>
            <a:ext cx="10168128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26D545D2-8F19-776D-39D9-42F0AAFBCF07}"/>
              </a:ext>
            </a:extLst>
          </p:cNvPr>
          <p:cNvGrpSpPr/>
          <p:nvPr/>
        </p:nvGrpSpPr>
        <p:grpSpPr>
          <a:xfrm>
            <a:off x="2761488" y="2802634"/>
            <a:ext cx="2889504" cy="1536193"/>
            <a:chOff x="795528" y="2802634"/>
            <a:chExt cx="2889504" cy="1536193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E0723F8C-E89E-3347-C162-54582C970B00}"/>
                </a:ext>
              </a:extLst>
            </p:cNvPr>
            <p:cNvSpPr/>
            <p:nvPr/>
          </p:nvSpPr>
          <p:spPr>
            <a:xfrm>
              <a:off x="795528" y="2802634"/>
              <a:ext cx="2889504" cy="1536193"/>
            </a:xfrm>
            <a:prstGeom prst="roundRect">
              <a:avLst>
                <a:gd name="adj" fmla="val 3556"/>
              </a:avLst>
            </a:prstGeom>
            <a:solidFill>
              <a:srgbClr val="EAF7F5"/>
            </a:solidFill>
            <a:ln w="11430">
              <a:solidFill>
                <a:srgbClr val="E3E4E8"/>
              </a:solidFill>
              <a:prstDash val="solid"/>
            </a:ln>
            <a:effectLst>
              <a:outerShdw blurRad="19050" dist="762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67639839-C574-58F8-8754-345E6A1DF47B}"/>
                </a:ext>
              </a:extLst>
            </p:cNvPr>
            <p:cNvSpPr/>
            <p:nvPr/>
          </p:nvSpPr>
          <p:spPr>
            <a:xfrm>
              <a:off x="960120" y="3003802"/>
              <a:ext cx="109728" cy="1175006"/>
            </a:xfrm>
            <a:prstGeom prst="roundRect">
              <a:avLst>
                <a:gd name="adj" fmla="val 33333"/>
              </a:avLst>
            </a:prstGeom>
            <a:solidFill>
              <a:srgbClr val="53BDB4"/>
            </a:solidFill>
            <a:ln w="12700">
              <a:solidFill>
                <a:srgbClr val="53BDB4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8" name="Text 6">
            <a:extLst>
              <a:ext uri="{FF2B5EF4-FFF2-40B4-BE49-F238E27FC236}">
                <a16:creationId xmlns:a16="http://schemas.microsoft.com/office/drawing/2014/main" id="{265C6BC3-86DC-8C5D-6680-10CA405DC38B}"/>
              </a:ext>
            </a:extLst>
          </p:cNvPr>
          <p:cNvSpPr/>
          <p:nvPr/>
        </p:nvSpPr>
        <p:spPr>
          <a:xfrm>
            <a:off x="3182112" y="300380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</a:t>
            </a:r>
            <a:r>
              <a:rPr lang="en-US" sz="17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Estadística</a:t>
            </a:r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básica</a:t>
            </a:r>
            <a:endParaRPr lang="en-US" sz="1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62041DA-EBCA-DE75-3DDA-1689E8B18114}"/>
              </a:ext>
            </a:extLst>
          </p:cNvPr>
          <p:cNvSpPr/>
          <p:nvPr/>
        </p:nvSpPr>
        <p:spPr>
          <a:xfrm>
            <a:off x="3182112" y="3424426"/>
            <a:ext cx="2395728" cy="672086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t">
            <a:normAutofit/>
          </a:bodyPr>
          <a:lstStyle/>
          <a:p>
            <a:r>
              <a:rPr lang="en-US" sz="142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</a:t>
            </a:r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2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fundamentales</a:t>
            </a:r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2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</a:t>
            </a:r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2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</a:t>
            </a:r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variables y </a:t>
            </a:r>
            <a:r>
              <a:rPr lang="en-US" sz="142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</a:t>
            </a:r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2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estadístico</a:t>
            </a:r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general.</a:t>
            </a:r>
            <a:endParaRPr lang="en-US" sz="1420" dirty="0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B861C367-BF2B-FD2F-0487-6707DD060F5C}"/>
              </a:ext>
            </a:extLst>
          </p:cNvPr>
          <p:cNvGrpSpPr/>
          <p:nvPr/>
        </p:nvGrpSpPr>
        <p:grpSpPr>
          <a:xfrm>
            <a:off x="2761488" y="4475985"/>
            <a:ext cx="2889504" cy="1536193"/>
            <a:chOff x="795528" y="4988050"/>
            <a:chExt cx="2889504" cy="2057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7D169111-5B99-CA43-21C4-389E3DFFFE7A}"/>
                </a:ext>
              </a:extLst>
            </p:cNvPr>
            <p:cNvSpPr/>
            <p:nvPr/>
          </p:nvSpPr>
          <p:spPr>
            <a:xfrm>
              <a:off x="795528" y="4988050"/>
              <a:ext cx="2889504" cy="2057400"/>
            </a:xfrm>
            <a:prstGeom prst="roundRect">
              <a:avLst>
                <a:gd name="adj" fmla="val 3556"/>
              </a:avLst>
            </a:prstGeom>
            <a:solidFill>
              <a:srgbClr val="EEF0F7"/>
            </a:solidFill>
            <a:ln w="11430">
              <a:solidFill>
                <a:srgbClr val="E3E4E8"/>
              </a:solidFill>
              <a:prstDash val="solid"/>
            </a:ln>
            <a:effectLst>
              <a:outerShdw blurRad="241935000" dist="96774000" algn="bl" rotWithShape="0">
                <a:srgbClr val="000000">
                  <a:alpha val="0"/>
                </a:srgbClr>
              </a:outerShdw>
            </a:effectLst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F5F9739A-201D-194F-D915-29A33C10DC9C}"/>
                </a:ext>
              </a:extLst>
            </p:cNvPr>
            <p:cNvSpPr/>
            <p:nvPr/>
          </p:nvSpPr>
          <p:spPr>
            <a:xfrm>
              <a:off x="960120" y="5189218"/>
              <a:ext cx="109728" cy="1655064"/>
            </a:xfrm>
            <a:prstGeom prst="roundRect">
              <a:avLst>
                <a:gd name="adj" fmla="val 33333"/>
              </a:avLst>
            </a:prstGeom>
            <a:solidFill>
              <a:srgbClr val="232858"/>
            </a:solidFill>
            <a:ln w="12700">
              <a:solidFill>
                <a:srgbClr val="232858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71B67B64-F10F-033E-3748-CB3FFDC7FD0D}"/>
                </a:ext>
              </a:extLst>
            </p:cNvPr>
            <p:cNvSpPr/>
            <p:nvPr/>
          </p:nvSpPr>
          <p:spPr>
            <a:xfrm>
              <a:off x="1216152" y="5189218"/>
              <a:ext cx="222199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700" b="1" dirty="0">
                  <a:solidFill>
                    <a:srgbClr val="23285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2. </a:t>
              </a:r>
              <a:r>
                <a:rPr lang="en-US" sz="1700" b="1" dirty="0" err="1">
                  <a:solidFill>
                    <a:srgbClr val="23285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Estadística</a:t>
              </a:r>
              <a:r>
                <a:rPr lang="en-US" sz="1700" b="1" dirty="0">
                  <a:solidFill>
                    <a:srgbClr val="23285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700" b="1" dirty="0" err="1">
                  <a:solidFill>
                    <a:srgbClr val="23285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aplicada</a:t>
              </a:r>
              <a:endParaRPr lang="en-US" sz="17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B7A03FB1-DA09-0775-7286-7A579454654F}"/>
                </a:ext>
              </a:extLst>
            </p:cNvPr>
            <p:cNvSpPr/>
            <p:nvPr/>
          </p:nvSpPr>
          <p:spPr>
            <a:xfrm>
              <a:off x="1216152" y="5609842"/>
              <a:ext cx="2395728" cy="1252728"/>
            </a:xfrm>
            <a:prstGeom prst="rect">
              <a:avLst/>
            </a:prstGeom>
            <a:noFill/>
            <a:ln/>
          </p:spPr>
          <p:txBody>
            <a:bodyPr wrap="square" lIns="255" tIns="255" rIns="255" bIns="255" rtlCol="0" anchor="t">
              <a:normAutofit/>
            </a:bodyPr>
            <a:lstStyle/>
            <a:p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Herramientas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estadísticas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e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indicadores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para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estudiar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el mercado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laboral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, la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desigualdad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y la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pobreza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. </a:t>
              </a:r>
              <a:endParaRPr lang="en-US" sz="1420" dirty="0"/>
            </a:p>
          </p:txBody>
        </p:sp>
      </p:grp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E4AA7A8-05F8-4DC8-F07A-CF77904E79D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D90E05C2-601A-D5CE-3B2F-0B45CB4C821F}"/>
              </a:ext>
            </a:extLst>
          </p:cNvPr>
          <p:cNvSpPr/>
          <p:nvPr/>
        </p:nvSpPr>
        <p:spPr>
          <a:xfrm>
            <a:off x="576072" y="1952243"/>
            <a:ext cx="10991088" cy="713232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ctr"/>
          <a:lstStyle/>
          <a:p>
            <a:pPr algn="just"/>
            <a:r>
              <a:rPr lang="en-US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</a:t>
            </a:r>
            <a:r>
              <a:rPr lang="en-US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</a:t>
            </a:r>
            <a:r>
              <a:rPr lang="en-US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</a:t>
            </a:r>
            <a:r>
              <a:rPr lang="en-US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organizado</a:t>
            </a:r>
            <a:r>
              <a:rPr lang="en-US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</a:t>
            </a:r>
            <a:r>
              <a:rPr lang="en-US" b="1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grandes</a:t>
            </a:r>
            <a:r>
              <a:rPr lang="en-US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b="1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bloques</a:t>
            </a:r>
            <a:r>
              <a:rPr lang="en-US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y, a </a:t>
            </a:r>
            <a:r>
              <a:rPr lang="en-US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</a:t>
            </a:r>
            <a:r>
              <a:rPr lang="en-US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vez</a:t>
            </a:r>
            <a:r>
              <a:rPr lang="en-US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separado</a:t>
            </a:r>
            <a:r>
              <a:rPr lang="en-US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</a:t>
            </a:r>
            <a:r>
              <a:rPr lang="en-US" b="1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</a:t>
            </a:r>
            <a:r>
              <a:rPr lang="en-US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b="1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espacios</a:t>
            </a:r>
            <a:r>
              <a:rPr lang="en-US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b="1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aprendizaje</a:t>
            </a:r>
            <a:r>
              <a:rPr lang="en-US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r>
              <a:rPr lang="en-US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dirty="0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FA646549-49D1-E564-1F4F-706803D370AF}"/>
              </a:ext>
            </a:extLst>
          </p:cNvPr>
          <p:cNvGrpSpPr/>
          <p:nvPr/>
        </p:nvGrpSpPr>
        <p:grpSpPr>
          <a:xfrm>
            <a:off x="6501385" y="2802634"/>
            <a:ext cx="3044952" cy="1536193"/>
            <a:chOff x="4727448" y="2800927"/>
            <a:chExt cx="2746238" cy="2057400"/>
          </a:xfrm>
        </p:grpSpPr>
        <p:sp>
          <p:nvSpPr>
            <p:cNvPr id="30" name="Shape 12">
              <a:extLst>
                <a:ext uri="{FF2B5EF4-FFF2-40B4-BE49-F238E27FC236}">
                  <a16:creationId xmlns:a16="http://schemas.microsoft.com/office/drawing/2014/main" id="{1995CE55-4C63-E884-185A-2C759DC9B2FF}"/>
                </a:ext>
              </a:extLst>
            </p:cNvPr>
            <p:cNvSpPr/>
            <p:nvPr/>
          </p:nvSpPr>
          <p:spPr>
            <a:xfrm>
              <a:off x="4727448" y="2800927"/>
              <a:ext cx="2606040" cy="2057400"/>
            </a:xfrm>
            <a:prstGeom prst="roundRect">
              <a:avLst>
                <a:gd name="adj" fmla="val 3556"/>
              </a:avLst>
            </a:prstGeom>
            <a:solidFill>
              <a:srgbClr val="F2EEF7"/>
            </a:solidFill>
            <a:ln w="11430">
              <a:solidFill>
                <a:srgbClr val="E3E4E8"/>
              </a:solidFill>
              <a:prstDash val="solid"/>
            </a:ln>
            <a:effectLst>
              <a:outerShdw algn="bl" rotWithShape="0">
                <a:srgbClr val="000000">
                  <a:alpha val="0"/>
                </a:srgbClr>
              </a:outerShdw>
            </a:effectLst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Shape 13">
              <a:extLst>
                <a:ext uri="{FF2B5EF4-FFF2-40B4-BE49-F238E27FC236}">
                  <a16:creationId xmlns:a16="http://schemas.microsoft.com/office/drawing/2014/main" id="{7809C80E-B269-BC62-04B7-11A3A798443A}"/>
                </a:ext>
              </a:extLst>
            </p:cNvPr>
            <p:cNvSpPr/>
            <p:nvPr/>
          </p:nvSpPr>
          <p:spPr>
            <a:xfrm>
              <a:off x="4892040" y="3002095"/>
              <a:ext cx="109728" cy="1655064"/>
            </a:xfrm>
            <a:prstGeom prst="roundRect">
              <a:avLst>
                <a:gd name="adj" fmla="val 33333"/>
              </a:avLst>
            </a:prstGeom>
            <a:solidFill>
              <a:srgbClr val="8469AD"/>
            </a:solidFill>
            <a:ln w="12700">
              <a:solidFill>
                <a:srgbClr val="8469AD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5659E035-2E4B-3D02-B3B8-653E978F7410}"/>
                </a:ext>
              </a:extLst>
            </p:cNvPr>
            <p:cNvSpPr/>
            <p:nvPr/>
          </p:nvSpPr>
          <p:spPr>
            <a:xfrm>
              <a:off x="5148072" y="3002096"/>
              <a:ext cx="232561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700" b="1" dirty="0">
                  <a:solidFill>
                    <a:srgbClr val="23285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1. Presentación general</a:t>
              </a:r>
              <a:endParaRPr lang="en-US" sz="1700" dirty="0"/>
            </a:p>
          </p:txBody>
        </p:sp>
        <p:sp>
          <p:nvSpPr>
            <p:cNvPr id="36" name="Text 15">
              <a:extLst>
                <a:ext uri="{FF2B5EF4-FFF2-40B4-BE49-F238E27FC236}">
                  <a16:creationId xmlns:a16="http://schemas.microsoft.com/office/drawing/2014/main" id="{DA451E69-E02A-E2F6-0745-5450DE6B3761}"/>
                </a:ext>
              </a:extLst>
            </p:cNvPr>
            <p:cNvSpPr/>
            <p:nvPr/>
          </p:nvSpPr>
          <p:spPr>
            <a:xfrm>
              <a:off x="5148072" y="3422719"/>
              <a:ext cx="1984248" cy="1252728"/>
            </a:xfrm>
            <a:prstGeom prst="rect">
              <a:avLst/>
            </a:prstGeom>
            <a:noFill/>
            <a:ln/>
          </p:spPr>
          <p:txBody>
            <a:bodyPr wrap="square" lIns="255" tIns="255" rIns="255" bIns="255" rtlCol="0" anchor="t">
              <a:normAutofit/>
            </a:bodyPr>
            <a:lstStyle/>
            <a:p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Principales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enfoques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,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conceptos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y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operacionalización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de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indicadores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.</a:t>
              </a:r>
              <a:endParaRPr lang="en-US" sz="1420" dirty="0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CA29163-0852-AD7A-EE6B-E54C76AEF643}"/>
              </a:ext>
            </a:extLst>
          </p:cNvPr>
          <p:cNvGrpSpPr/>
          <p:nvPr/>
        </p:nvGrpSpPr>
        <p:grpSpPr>
          <a:xfrm>
            <a:off x="6501385" y="4475985"/>
            <a:ext cx="2889504" cy="1536193"/>
            <a:chOff x="7507224" y="2800927"/>
            <a:chExt cx="2532888" cy="2057400"/>
          </a:xfrm>
        </p:grpSpPr>
        <p:sp>
          <p:nvSpPr>
            <p:cNvPr id="38" name="Shape 16">
              <a:extLst>
                <a:ext uri="{FF2B5EF4-FFF2-40B4-BE49-F238E27FC236}">
                  <a16:creationId xmlns:a16="http://schemas.microsoft.com/office/drawing/2014/main" id="{B4AD1EA4-3626-2106-DD7B-DCC11AA2C78E}"/>
                </a:ext>
              </a:extLst>
            </p:cNvPr>
            <p:cNvSpPr/>
            <p:nvPr/>
          </p:nvSpPr>
          <p:spPr>
            <a:xfrm>
              <a:off x="7507224" y="2800927"/>
              <a:ext cx="2532888" cy="2057400"/>
            </a:xfrm>
            <a:prstGeom prst="roundRect">
              <a:avLst>
                <a:gd name="adj" fmla="val 3556"/>
              </a:avLst>
            </a:prstGeom>
            <a:solidFill>
              <a:srgbClr val="F7F7F7"/>
            </a:solidFill>
            <a:ln w="11430">
              <a:solidFill>
                <a:srgbClr val="E3E4E8"/>
              </a:solidFill>
              <a:prstDash val="solid"/>
            </a:ln>
            <a:effectLst>
              <a:outerShdw algn="bl" rotWithShape="0">
                <a:srgbClr val="000000">
                  <a:alpha val="0"/>
                </a:srgbClr>
              </a:outerShdw>
            </a:effectLst>
          </p:spPr>
          <p:txBody>
            <a:bodyPr/>
            <a:lstStyle/>
            <a:p>
              <a:endParaRPr lang="es-AR"/>
            </a:p>
          </p:txBody>
        </p:sp>
        <p:sp>
          <p:nvSpPr>
            <p:cNvPr id="40" name="Shape 17">
              <a:extLst>
                <a:ext uri="{FF2B5EF4-FFF2-40B4-BE49-F238E27FC236}">
                  <a16:creationId xmlns:a16="http://schemas.microsoft.com/office/drawing/2014/main" id="{7E83AB9C-478B-7D7E-FDEB-9E4D6F0393F9}"/>
                </a:ext>
              </a:extLst>
            </p:cNvPr>
            <p:cNvSpPr/>
            <p:nvPr/>
          </p:nvSpPr>
          <p:spPr>
            <a:xfrm>
              <a:off x="7671816" y="3002095"/>
              <a:ext cx="109728" cy="1655064"/>
            </a:xfrm>
            <a:prstGeom prst="roundRect">
              <a:avLst>
                <a:gd name="adj" fmla="val 33333"/>
              </a:avLst>
            </a:prstGeom>
            <a:solidFill>
              <a:srgbClr val="AFAFAF"/>
            </a:solidFill>
            <a:ln w="12700">
              <a:solidFill>
                <a:srgbClr val="AFAFA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2" name="Text 18">
              <a:extLst>
                <a:ext uri="{FF2B5EF4-FFF2-40B4-BE49-F238E27FC236}">
                  <a16:creationId xmlns:a16="http://schemas.microsoft.com/office/drawing/2014/main" id="{B02286A9-1421-BDF4-3711-F03BF71A5ED2}"/>
                </a:ext>
              </a:extLst>
            </p:cNvPr>
            <p:cNvSpPr/>
            <p:nvPr/>
          </p:nvSpPr>
          <p:spPr>
            <a:xfrm>
              <a:off x="7927848" y="3002095"/>
              <a:ext cx="192938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700" b="1" dirty="0">
                  <a:solidFill>
                    <a:srgbClr val="232858"/>
                  </a:solidFill>
                  <a:latin typeface="Aptos" pitchFamily="34" charset="0"/>
                </a:rPr>
                <a:t>2. </a:t>
              </a:r>
              <a:r>
                <a:rPr lang="en-US" sz="1700" b="1" dirty="0" err="1">
                  <a:solidFill>
                    <a:srgbClr val="232858"/>
                  </a:solidFill>
                  <a:latin typeface="Aptos" pitchFamily="34" charset="0"/>
                </a:rPr>
                <a:t>Aplicación</a:t>
              </a:r>
              <a:endParaRPr lang="en-US" sz="1700" dirty="0"/>
            </a:p>
          </p:txBody>
        </p:sp>
        <p:sp>
          <p:nvSpPr>
            <p:cNvPr id="44" name="Text 19">
              <a:extLst>
                <a:ext uri="{FF2B5EF4-FFF2-40B4-BE49-F238E27FC236}">
                  <a16:creationId xmlns:a16="http://schemas.microsoft.com/office/drawing/2014/main" id="{552CE181-E99B-2DC4-C08A-420AFE403E78}"/>
                </a:ext>
              </a:extLst>
            </p:cNvPr>
            <p:cNvSpPr/>
            <p:nvPr/>
          </p:nvSpPr>
          <p:spPr>
            <a:xfrm>
              <a:off x="7927848" y="3422719"/>
              <a:ext cx="1911096" cy="1252728"/>
            </a:xfrm>
            <a:prstGeom prst="rect">
              <a:avLst/>
            </a:prstGeom>
            <a:noFill/>
            <a:ln/>
          </p:spPr>
          <p:txBody>
            <a:bodyPr wrap="square" lIns="255" tIns="255" rIns="255" bIns="255" rtlCol="0" anchor="t">
              <a:normAutofit/>
            </a:bodyPr>
            <a:lstStyle/>
            <a:p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Implementación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en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R de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ejercicios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y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análisis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de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resultados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.</a:t>
              </a:r>
              <a:endParaRPr lang="en-US" sz="1420" dirty="0"/>
            </a:p>
          </p:txBody>
        </p:sp>
      </p:grpSp>
    </p:spTree>
    <p:extLst>
      <p:ext uri="{BB962C8B-B14F-4D97-AF65-F5344CB8AC3E}">
        <p14:creationId xmlns:p14="http://schemas.microsoft.com/office/powerpoint/2010/main" val="3182645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E6672-8F73-4854-5514-D0DF03003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12B20F-E018-DC63-ECA5-FA67553781CD}"/>
              </a:ext>
            </a:extLst>
          </p:cNvPr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</a:rPr>
              <a:t>PRESENTACIÓN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E59EC3-3B29-0C12-E017-07A7F91E676F}"/>
              </a:ext>
            </a:extLst>
          </p:cNvPr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organizamos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el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seminario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8710B71-D444-C94F-7788-9A6457931FAB}"/>
              </a:ext>
            </a:extLst>
          </p:cNvPr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D95AA9B-E1A8-D157-9888-C6819BD09A5B}"/>
              </a:ext>
            </a:extLst>
          </p:cNvPr>
          <p:cNvSpPr/>
          <p:nvPr/>
        </p:nvSpPr>
        <p:spPr>
          <a:xfrm>
            <a:off x="1435608" y="1732788"/>
            <a:ext cx="10168128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5F27856-0A13-D8E9-C2E1-C6A8EBE56C6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E2A86F7A-16FA-740B-1316-74141E4B1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810080"/>
              </p:ext>
            </p:extLst>
          </p:nvPr>
        </p:nvGraphicFramePr>
        <p:xfrm>
          <a:off x="704850" y="1883664"/>
          <a:ext cx="10591800" cy="44668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6416">
                  <a:extLst>
                    <a:ext uri="{9D8B030D-6E8A-4147-A177-3AD203B41FA5}">
                      <a16:colId xmlns:a16="http://schemas.microsoft.com/office/drawing/2014/main" val="1845532288"/>
                    </a:ext>
                  </a:extLst>
                </a:gridCol>
                <a:gridCol w="797920">
                  <a:extLst>
                    <a:ext uri="{9D8B030D-6E8A-4147-A177-3AD203B41FA5}">
                      <a16:colId xmlns:a16="http://schemas.microsoft.com/office/drawing/2014/main" val="2630605267"/>
                    </a:ext>
                  </a:extLst>
                </a:gridCol>
                <a:gridCol w="4107438">
                  <a:extLst>
                    <a:ext uri="{9D8B030D-6E8A-4147-A177-3AD203B41FA5}">
                      <a16:colId xmlns:a16="http://schemas.microsoft.com/office/drawing/2014/main" val="555883485"/>
                    </a:ext>
                  </a:extLst>
                </a:gridCol>
                <a:gridCol w="5040026">
                  <a:extLst>
                    <a:ext uri="{9D8B030D-6E8A-4147-A177-3AD203B41FA5}">
                      <a16:colId xmlns:a16="http://schemas.microsoft.com/office/drawing/2014/main" val="3061496872"/>
                    </a:ext>
                  </a:extLst>
                </a:gridCol>
              </a:tblGrid>
              <a:tr h="140859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b="1" u="none" strike="noStrike" dirty="0">
                          <a:effectLst/>
                          <a:latin typeface="+mj-lt"/>
                        </a:rPr>
                        <a:t>Semana</a:t>
                      </a:r>
                      <a:endParaRPr lang="es-A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b="1" u="none" strike="noStrike" dirty="0">
                          <a:effectLst/>
                          <a:latin typeface="+mj-lt"/>
                        </a:rPr>
                        <a:t>Fecha</a:t>
                      </a:r>
                      <a:endParaRPr lang="es-A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b="1" u="none" strike="noStrike" dirty="0">
                          <a:effectLst/>
                          <a:latin typeface="+mj-lt"/>
                        </a:rPr>
                        <a:t>Primera parte</a:t>
                      </a:r>
                      <a:endParaRPr lang="es-A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b="1" u="none" strike="noStrike" dirty="0">
                          <a:effectLst/>
                          <a:latin typeface="+mj-lt"/>
                        </a:rPr>
                        <a:t>Segunda Parte</a:t>
                      </a:r>
                      <a:endParaRPr lang="es-A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solidFill>
                      <a:srgbClr val="EA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094221"/>
                  </a:ext>
                </a:extLst>
              </a:tr>
              <a:tr h="64837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b="1" i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es-A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8/10/2026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Fuentes de información primarias y secundarias. Nociones básicas de encuestas por muestreo. Ponderación y calibración en una encuesta.</a:t>
                      </a:r>
                      <a:br>
                        <a:rPr lang="es-AR" sz="900" u="none" strike="noStrike" dirty="0">
                          <a:effectLst/>
                          <a:latin typeface="+mj-lt"/>
                        </a:rPr>
                      </a:b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Tipos de variables. Caracterización de una distribución (tendencia central, posición, dispersión y forma)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Presentación de Encuesta Permanente de Hogares (EPH): Diseño de registro, utilización de ponderadores y tratamiento de datos faltantes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27254"/>
                  </a:ext>
                </a:extLst>
              </a:tr>
              <a:tr h="650590"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b="1" i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es-A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>
                          <a:effectLst/>
                          <a:latin typeface="+mj-lt"/>
                        </a:rPr>
                        <a:t>15/10/2026</a:t>
                      </a:r>
                      <a:endParaRPr lang="es-A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Construcción de medidas resumen: índices y tipologías. Análisis bivariado de variables cualitativas. Cálculo de porcentajes e interpretación. Introducción al análisis de asociación bivariado. Test de chi cuadrado y coeficientes estandarizados (Phi y V de Cramer)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Introducción a programación en R. Importación de bases de datos, renombrado y creación de nuevas variables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018690"/>
                  </a:ext>
                </a:extLst>
              </a:tr>
              <a:tr h="548611"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b="1" i="1" u="none" strike="noStrike" dirty="0">
                          <a:effectLst/>
                          <a:latin typeface="+mj-lt"/>
                        </a:rPr>
                        <a:t>3</a:t>
                      </a:r>
                      <a:endParaRPr lang="es-A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22/10/2026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El análisis multivariado de tablas de contingencia: modelos de elaboración de una relación </a:t>
                      </a:r>
                      <a:r>
                        <a:rPr lang="es-AR" sz="900" u="none" strike="noStrike" dirty="0" err="1">
                          <a:effectLst/>
                          <a:latin typeface="+mj-lt"/>
                        </a:rPr>
                        <a:t>bivariada</a:t>
                      </a: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.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Tabulados y medidas de resumen de la información. Flujo de trabajo y exportación de resultados. 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948791"/>
                  </a:ext>
                </a:extLst>
              </a:tr>
              <a:tr h="585351"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b="1" i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es-A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>
                          <a:effectLst/>
                          <a:latin typeface="+mj-lt"/>
                        </a:rPr>
                        <a:t>29/10/2026</a:t>
                      </a:r>
                      <a:endParaRPr lang="es-A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>
                          <a:effectLst/>
                          <a:latin typeface="+mj-lt"/>
                        </a:rPr>
                        <a:t>Enfoques teóricos sobre informalidad (visión productiva y visión legal) Perspectivas analíticas sobre la calidad del trabajo.</a:t>
                      </a:r>
                      <a:endParaRPr lang="es-A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Construcción de variables de informalidad, análisis </a:t>
                      </a:r>
                      <a:r>
                        <a:rPr lang="es-AR" sz="900" u="none" strike="noStrike" dirty="0" err="1">
                          <a:effectLst/>
                          <a:latin typeface="+mj-lt"/>
                        </a:rPr>
                        <a:t>univariado</a:t>
                      </a: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 y bivariado: distribuciones de frecuencias y descripción de los datos. </a:t>
                      </a:r>
                      <a:br>
                        <a:rPr lang="es-AR" sz="900" u="none" strike="noStrike" dirty="0">
                          <a:effectLst/>
                          <a:latin typeface="+mj-lt"/>
                        </a:rPr>
                      </a:b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Construcción de variables complejas (índices sumatorios simples y ponderados). 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522507"/>
                  </a:ext>
                </a:extLst>
              </a:tr>
              <a:tr h="82950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b="1" i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es-A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5/11/2026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La desigualdad vista a partir de los ingresos. Caracterización de la distribución: tendencia central, posición, dispersión y forma. Coeficiente de variabilidad. Medidas sintéticas de desigualdad:  propiedades deseables. Curva de Lorenz y Gini. Brechas de ingresos. Correlación y Correlación parcial 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Agregación de variables (ingreso total familiar) y distintas medidas de ingreso. Visualización de una distribución. Aplicación de medidas sintéticas (Gini y Brechas) y análisis de correlación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954316"/>
                  </a:ext>
                </a:extLst>
              </a:tr>
              <a:tr h="51949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b="1" i="1" u="none" strike="noStrike" dirty="0">
                          <a:effectLst/>
                          <a:latin typeface="+mj-lt"/>
                        </a:rPr>
                        <a:t>6</a:t>
                      </a:r>
                      <a:endParaRPr lang="es-A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12/11/2026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Debates conceptuales acerca de la pobreza y su medición. Parte I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Construcción de medidas de pobreza a nivel de hogar. Utilización de Joins con tablas de equivalencias y canastas regionales. Eliminación de hogares repetidos en la muestra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003315"/>
                  </a:ext>
                </a:extLst>
              </a:tr>
              <a:tr h="27717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b="1" i="1" u="none" strike="noStrike" dirty="0">
                          <a:effectLst/>
                          <a:latin typeface="+mj-lt"/>
                        </a:rPr>
                        <a:t>7</a:t>
                      </a:r>
                      <a:endParaRPr lang="es-A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19/11/2026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>
                          <a:effectLst/>
                          <a:latin typeface="+mj-lt"/>
                        </a:rPr>
                        <a:t>Debates conceptuales acerca de la pobreza y su medición. Parte II</a:t>
                      </a:r>
                      <a:endParaRPr lang="es-A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Ejercicio con datos de panel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477286"/>
                  </a:ext>
                </a:extLst>
              </a:tr>
              <a:tr h="266892"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b="1" i="1" u="none" strike="noStrike" dirty="0">
                          <a:effectLst/>
                          <a:latin typeface="+mj-lt"/>
                        </a:rPr>
                        <a:t>8</a:t>
                      </a:r>
                      <a:endParaRPr lang="es-A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26/11/2026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Taller sobre trabajo final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AR" sz="900" u="none" strike="noStrike" dirty="0">
                          <a:effectLst/>
                          <a:latin typeface="+mj-lt"/>
                        </a:rPr>
                        <a:t>Taller sobre trabajo final</a:t>
                      </a:r>
                      <a:endParaRPr lang="es-A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56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483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de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información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,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encuestas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univariado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básico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0743" y="2638425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775335" y="2839593"/>
            <a:ext cx="109728" cy="1655064"/>
          </a:xfrm>
          <a:prstGeom prst="roundRect">
            <a:avLst>
              <a:gd name="adj" fmla="val 33333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031367" y="2839593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Fuentes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31367" y="3260217"/>
            <a:ext cx="1984248" cy="1252728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t">
            <a:normAutofit/>
          </a:bodyPr>
          <a:lstStyle/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hace a una fuente primaria o secundaria y cómo evaluar su pertinencia.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3390519" y="2638425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EEF0F7"/>
          </a:solidFill>
          <a:ln w="11430">
            <a:solidFill>
              <a:srgbClr val="E3E4E8"/>
            </a:solidFill>
            <a:prstDash val="solid"/>
          </a:ln>
          <a:effectLst>
            <a:outerShdw blurRad="241935000" dist="96774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3555111" y="2839593"/>
            <a:ext cx="109728" cy="1655064"/>
          </a:xfrm>
          <a:prstGeom prst="roundRect">
            <a:avLst>
              <a:gd name="adj" fmla="val 33333"/>
            </a:avLst>
          </a:prstGeom>
          <a:solidFill>
            <a:srgbClr val="232858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811143" y="2839593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Encuestas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11143" y="3260217"/>
            <a:ext cx="1984248" cy="1252728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t">
            <a:normAutofit/>
          </a:bodyPr>
          <a:lstStyle/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Población, muestra, diseños probabilísticos y fuentes de error.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170295" y="2638425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6334887" y="2839593"/>
            <a:ext cx="109728" cy="1655064"/>
          </a:xfrm>
          <a:prstGeom prst="roundRect">
            <a:avLst>
              <a:gd name="adj" fmla="val 33333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6590919" y="2839593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Ponderación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90919" y="3260217"/>
            <a:ext cx="1984248" cy="1252728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t">
            <a:normAutofit/>
          </a:bodyPr>
          <a:lstStyle/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Probabilidad de selección, no respuesta y calibración.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8950071" y="2638425"/>
            <a:ext cx="2532888" cy="2057400"/>
          </a:xfrm>
          <a:prstGeom prst="roundRect">
            <a:avLst>
              <a:gd name="adj" fmla="val 3556"/>
            </a:avLst>
          </a:prstGeom>
          <a:solidFill>
            <a:srgbClr val="F7F7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9114663" y="2839593"/>
            <a:ext cx="109728" cy="1655064"/>
          </a:xfrm>
          <a:prstGeom prst="roundRect">
            <a:avLst>
              <a:gd name="adj" fmla="val 33333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9370695" y="2839593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Distribuciones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370695" y="3260217"/>
            <a:ext cx="1911096" cy="1252728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t">
            <a:normAutofit/>
          </a:bodyPr>
          <a:lstStyle/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de variables y medidas de centro, posición, dispersión y forma.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1B9F559F-43A5-B945-8084-C67B2361F227}"/>
              </a:ext>
            </a:extLst>
          </p:cNvPr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AA38FE56-FCA6-1979-9829-5EDDC1B83381}"/>
              </a:ext>
            </a:extLst>
          </p:cNvPr>
          <p:cNvSpPr/>
          <p:nvPr/>
        </p:nvSpPr>
        <p:spPr>
          <a:xfrm>
            <a:off x="1435608" y="1732788"/>
            <a:ext cx="10168128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ba_sociales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9838"/>
            <a:ext cx="2926080" cy="6479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9788" y="281559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53BD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828800" y="2836926"/>
            <a:ext cx="928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de información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0" y="5989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Estadística y programación para estudios del trabajo, desigualdad y pobreza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primarias y secundarias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2084832"/>
            <a:ext cx="5138928" cy="2514600"/>
          </a:xfrm>
          <a:prstGeom prst="roundRect">
            <a:avLst>
              <a:gd name="adj" fmla="val 2909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941832" y="2286000"/>
            <a:ext cx="109728" cy="2112264"/>
          </a:xfrm>
          <a:prstGeom prst="roundRect">
            <a:avLst>
              <a:gd name="adj" fmla="val 33333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197864" y="228600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primaria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97864" y="2706624"/>
            <a:ext cx="4517136" cy="1709928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t">
            <a:normAutofit/>
          </a:bodyPr>
          <a:lstStyle/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producidos por el propio equipo para responder el problema de investigación. Ejemplos: encuesta propia, experimento, observación, registro construido ad hoc.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272784" y="2084832"/>
            <a:ext cx="5138928" cy="2514600"/>
          </a:xfrm>
          <a:prstGeom prst="roundRect">
            <a:avLst>
              <a:gd name="adj" fmla="val 2909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6437376" y="2286000"/>
            <a:ext cx="109728" cy="2112264"/>
          </a:xfrm>
          <a:prstGeom prst="roundRect">
            <a:avLst>
              <a:gd name="adj" fmla="val 33333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693408" y="228600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secundaria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93408" y="2706624"/>
            <a:ext cx="4517136" cy="1709928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t">
            <a:normAutofit/>
          </a:bodyPr>
          <a:lstStyle/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producidos previamente por otra institución o con otro propósito, que se reutilizan para un nuevo análisis. Ejemplos: EPH, Censo, registros administrativos, encuestas internacionales.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familias de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58368" y="2057400"/>
            <a:ext cx="2514600" cy="28803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859536" y="2313432"/>
            <a:ext cx="475488" cy="475488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859536" y="24048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" y="290779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9536" y="3520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estandarizadas a una muestra o censo.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59536" y="4361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Percepciones, empleo, ingresos, condiciones de vida</a:t>
            </a:r>
            <a:endParaRPr lang="en-US" sz="1151" dirty="0"/>
          </a:p>
        </p:txBody>
      </p:sp>
      <p:sp>
        <p:nvSpPr>
          <p:cNvPr id="12" name="Shape 10"/>
          <p:cNvSpPr/>
          <p:nvPr/>
        </p:nvSpPr>
        <p:spPr>
          <a:xfrm>
            <a:off x="3447288" y="2057400"/>
            <a:ext cx="2514600" cy="28803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3648456" y="2313432"/>
            <a:ext cx="475488" cy="475488"/>
          </a:xfrm>
          <a:prstGeom prst="ellipse">
            <a:avLst/>
          </a:prstGeom>
          <a:solidFill>
            <a:srgbClr val="232858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3648456" y="24048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48456" y="290779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Censos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48456" y="3520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exhaustiva de una población en un momento dado.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648456" y="4361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demográfica, vivienda, territorio</a:t>
            </a:r>
            <a:endParaRPr lang="en-US" sz="1151" dirty="0"/>
          </a:p>
        </p:txBody>
      </p:sp>
      <p:sp>
        <p:nvSpPr>
          <p:cNvPr id="18" name="Shape 16"/>
          <p:cNvSpPr/>
          <p:nvPr/>
        </p:nvSpPr>
        <p:spPr>
          <a:xfrm>
            <a:off x="6236208" y="2057400"/>
            <a:ext cx="2514600" cy="28803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6437376" y="2313432"/>
            <a:ext cx="475488" cy="475488"/>
          </a:xfrm>
          <a:prstGeom prst="ellipse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437376" y="24048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37376" y="290779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administrativos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37376" y="3520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generados por la gestión de políticas, trámites o sistemas.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437376" y="4361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Aportes, prestaciones, matrículas, salud</a:t>
            </a:r>
            <a:endParaRPr lang="en-US" sz="1151" dirty="0"/>
          </a:p>
        </p:txBody>
      </p:sp>
      <p:sp>
        <p:nvSpPr>
          <p:cNvPr id="24" name="Shape 22"/>
          <p:cNvSpPr/>
          <p:nvPr/>
        </p:nvSpPr>
        <p:spPr>
          <a:xfrm>
            <a:off x="9025128" y="2057400"/>
            <a:ext cx="2514600" cy="288036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9226296" y="2313432"/>
            <a:ext cx="475488" cy="475488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9226296" y="240487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26296" y="290779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digitales / trazas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226296" y="3520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producida por plataformas, transacciones o dispositivos.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9226296" y="4361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5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Movilidad, consumo, redes, comportamiento</a:t>
            </a:r>
            <a:endParaRPr lang="en-US" sz="1151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evaluar si una fuente sirve para mi pregunta?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49808" y="2011680"/>
            <a:ext cx="5148072" cy="850392"/>
          </a:xfrm>
          <a:prstGeom prst="roundRect">
            <a:avLst>
              <a:gd name="adj" fmla="val 5376"/>
            </a:avLst>
          </a:prstGeom>
          <a:solidFill>
            <a:srgbClr val="FAFAFB"/>
          </a:solidFill>
          <a:ln w="12700">
            <a:solidFill>
              <a:srgbClr val="E4E5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932688" y="21579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1" b="1" dirty="0" err="1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</a:t>
            </a:r>
            <a:endParaRPr lang="en-US" sz="1451" dirty="0"/>
          </a:p>
        </p:txBody>
      </p:sp>
      <p:sp>
        <p:nvSpPr>
          <p:cNvPr id="8" name="Text 6"/>
          <p:cNvSpPr/>
          <p:nvPr/>
        </p:nvSpPr>
        <p:spPr>
          <a:xfrm>
            <a:off x="2624328" y="21396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 quiénes incluye y a quiénes deja afuera?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327648" y="2011680"/>
            <a:ext cx="5148072" cy="850392"/>
          </a:xfrm>
          <a:prstGeom prst="roundRect">
            <a:avLst>
              <a:gd name="adj" fmla="val 5376"/>
            </a:avLst>
          </a:prstGeom>
          <a:solidFill>
            <a:srgbClr val="FAFAFB"/>
          </a:solidFill>
          <a:ln w="12700">
            <a:solidFill>
              <a:srgbClr val="E4E5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6510528" y="21579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de análisis</a:t>
            </a:r>
            <a:endParaRPr lang="en-US" sz="1451" dirty="0"/>
          </a:p>
        </p:txBody>
      </p:sp>
      <p:sp>
        <p:nvSpPr>
          <p:cNvPr id="11" name="Text 9"/>
          <p:cNvSpPr/>
          <p:nvPr/>
        </p:nvSpPr>
        <p:spPr>
          <a:xfrm>
            <a:off x="8202168" y="21396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¿Personas, hogares, empleos, empresas, territorios?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749808" y="3072384"/>
            <a:ext cx="5148072" cy="850392"/>
          </a:xfrm>
          <a:prstGeom prst="roundRect">
            <a:avLst>
              <a:gd name="adj" fmla="val 5376"/>
            </a:avLst>
          </a:prstGeom>
          <a:solidFill>
            <a:srgbClr val="EEF0F7"/>
          </a:solidFill>
          <a:ln w="12700">
            <a:solidFill>
              <a:srgbClr val="E4E5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32688" y="3218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y medición</a:t>
            </a:r>
            <a:endParaRPr lang="en-US" sz="1451" dirty="0"/>
          </a:p>
        </p:txBody>
      </p:sp>
      <p:sp>
        <p:nvSpPr>
          <p:cNvPr id="14" name="Text 12"/>
          <p:cNvSpPr/>
          <p:nvPr/>
        </p:nvSpPr>
        <p:spPr>
          <a:xfrm>
            <a:off x="2624328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¿Las variables disponibles representan el concepto que necesito?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6327648" y="3072384"/>
            <a:ext cx="5148072" cy="850392"/>
          </a:xfrm>
          <a:prstGeom prst="roundRect">
            <a:avLst>
              <a:gd name="adj" fmla="val 5376"/>
            </a:avLst>
          </a:prstGeom>
          <a:solidFill>
            <a:srgbClr val="EEF0F7"/>
          </a:solidFill>
          <a:ln w="12700">
            <a:solidFill>
              <a:srgbClr val="E4E5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6510528" y="3218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Periodicidad y comparabilidad</a:t>
            </a:r>
            <a:endParaRPr lang="en-US" sz="1451" dirty="0"/>
          </a:p>
        </p:txBody>
      </p:sp>
      <p:sp>
        <p:nvSpPr>
          <p:cNvPr id="17" name="Text 15"/>
          <p:cNvSpPr/>
          <p:nvPr/>
        </p:nvSpPr>
        <p:spPr>
          <a:xfrm>
            <a:off x="8202168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¿Permite analizar cambios en el tiempo o entre grupos?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749808" y="4133088"/>
            <a:ext cx="5148072" cy="850392"/>
          </a:xfrm>
          <a:prstGeom prst="roundRect">
            <a:avLst>
              <a:gd name="adj" fmla="val 5376"/>
            </a:avLst>
          </a:prstGeom>
          <a:solidFill>
            <a:srgbClr val="FAFAFB"/>
          </a:solidFill>
          <a:ln w="12700">
            <a:solidFill>
              <a:srgbClr val="E4E5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932688" y="4279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y </a:t>
            </a:r>
            <a:r>
              <a:rPr lang="en-US" sz="1451" b="1" dirty="0" err="1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faltantes</a:t>
            </a:r>
            <a:r>
              <a:rPr lang="en-US" sz="145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</a:t>
            </a:r>
            <a:r>
              <a:rPr lang="en-US" sz="1451" b="1" dirty="0" err="1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cabalidad</a:t>
            </a:r>
            <a:r>
              <a:rPr lang="en-US" sz="145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451" dirty="0"/>
          </a:p>
        </p:txBody>
      </p:sp>
      <p:sp>
        <p:nvSpPr>
          <p:cNvPr id="20" name="Text 18"/>
          <p:cNvSpPr/>
          <p:nvPr/>
        </p:nvSpPr>
        <p:spPr>
          <a:xfrm>
            <a:off x="2624328" y="42611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errores, no respuesta o problemas de registro existen?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6327648" y="4133088"/>
            <a:ext cx="5148072" cy="850392"/>
          </a:xfrm>
          <a:prstGeom prst="roundRect">
            <a:avLst>
              <a:gd name="adj" fmla="val 5376"/>
            </a:avLst>
          </a:prstGeom>
          <a:solidFill>
            <a:srgbClr val="FAFAFB"/>
          </a:solidFill>
          <a:ln w="12700">
            <a:solidFill>
              <a:srgbClr val="E4E5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6510528" y="4279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y reproducibilidad</a:t>
            </a:r>
            <a:endParaRPr lang="en-US" sz="1451" dirty="0"/>
          </a:p>
        </p:txBody>
      </p:sp>
      <p:sp>
        <p:nvSpPr>
          <p:cNvPr id="23" name="Text 21"/>
          <p:cNvSpPr/>
          <p:nvPr/>
        </p:nvSpPr>
        <p:spPr>
          <a:xfrm>
            <a:off x="8202168" y="42611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¿Puedo documentar y replicar el procedimiento?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1051560" y="544068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2EEF7"/>
          </a:solidFill>
          <a:ln w="1397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1261872" y="5559552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fuente puede ser excelente para estimar niveles y mala para identificar </a:t>
            </a:r>
            <a:r>
              <a:rPr lang="en-US" sz="152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mecanismos</a:t>
            </a:r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2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causales</a:t>
            </a:r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9BCC-1379-F523-EAB3-9B36EDC43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FCE76A-C66A-5956-6A1E-60D0D3068DB4}"/>
              </a:ext>
            </a:extLst>
          </p:cNvPr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817C8D-0E94-9DE1-DD13-0D95DFF21C38}"/>
              </a:ext>
            </a:extLst>
          </p:cNvPr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familias de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disponibles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hoy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Argentina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29B0E3-50CF-DDD7-F9FA-9C631E9EA27B}"/>
              </a:ext>
            </a:extLst>
          </p:cNvPr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50930C4-7750-2216-6B73-34F14DD96E7E}"/>
              </a:ext>
            </a:extLst>
          </p:cNvPr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lide Number Placeholder 0">
            <a:extLst>
              <a:ext uri="{FF2B5EF4-FFF2-40B4-BE49-F238E27FC236}">
                <a16:creationId xmlns:a16="http://schemas.microsoft.com/office/drawing/2014/main" id="{E6D5D78D-BC58-6B4A-D490-02148CDF35E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2" name="Rounded Rectangle 5">
            <a:extLst>
              <a:ext uri="{FF2B5EF4-FFF2-40B4-BE49-F238E27FC236}">
                <a16:creationId xmlns:a16="http://schemas.microsoft.com/office/drawing/2014/main" id="{67E196EB-6D72-0E9A-2839-8EF71D6B59FA}"/>
              </a:ext>
            </a:extLst>
          </p:cNvPr>
          <p:cNvSpPr/>
          <p:nvPr/>
        </p:nvSpPr>
        <p:spPr>
          <a:xfrm>
            <a:off x="705992" y="2188600"/>
            <a:ext cx="5220000" cy="16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87A08856-46D2-323E-62F1-77E3D8A3D260}"/>
              </a:ext>
            </a:extLst>
          </p:cNvPr>
          <p:cNvSpPr/>
          <p:nvPr/>
        </p:nvSpPr>
        <p:spPr>
          <a:xfrm>
            <a:off x="705992" y="2188600"/>
            <a:ext cx="5220000" cy="50800"/>
          </a:xfrm>
          <a:prstGeom prst="rect">
            <a:avLst/>
          </a:prstGeom>
          <a:solidFill>
            <a:srgbClr val="53B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7">
            <a:extLst>
              <a:ext uri="{FF2B5EF4-FFF2-40B4-BE49-F238E27FC236}">
                <a16:creationId xmlns:a16="http://schemas.microsoft.com/office/drawing/2014/main" id="{0457CFAC-F26B-83C8-98A6-B7ED38265B96}"/>
              </a:ext>
            </a:extLst>
          </p:cNvPr>
          <p:cNvSpPr/>
          <p:nvPr/>
        </p:nvSpPr>
        <p:spPr>
          <a:xfrm>
            <a:off x="858392" y="2366400"/>
            <a:ext cx="317500" cy="317500"/>
          </a:xfrm>
          <a:prstGeom prst="ellipse">
            <a:avLst/>
          </a:prstGeom>
          <a:solidFill>
            <a:srgbClr val="53B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47EB3022-6A92-A3A0-ECF5-0281DD88DBE7}"/>
              </a:ext>
            </a:extLst>
          </p:cNvPr>
          <p:cNvSpPr txBox="1"/>
          <p:nvPr/>
        </p:nvSpPr>
        <p:spPr>
          <a:xfrm>
            <a:off x="858392" y="2417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618C077B-5818-CD24-66D4-CC000457CC1E}"/>
              </a:ext>
            </a:extLst>
          </p:cNvPr>
          <p:cNvSpPr txBox="1"/>
          <p:nvPr/>
        </p:nvSpPr>
        <p:spPr>
          <a:xfrm>
            <a:off x="1315592" y="2353700"/>
            <a:ext cx="44326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39" b="1" dirty="0">
                <a:solidFill>
                  <a:srgbClr val="232858"/>
                </a:solidFill>
                <a:latin typeface="Aptos"/>
              </a:rPr>
              <a:t>EPH · INDEC</a:t>
            </a:r>
          </a:p>
        </p:txBody>
      </p:sp>
      <p:sp>
        <p:nvSpPr>
          <p:cNvPr id="42" name="Rounded Rectangle 10">
            <a:extLst>
              <a:ext uri="{FF2B5EF4-FFF2-40B4-BE49-F238E27FC236}">
                <a16:creationId xmlns:a16="http://schemas.microsoft.com/office/drawing/2014/main" id="{248CB500-2DFE-24F7-EBC8-1A57CDD91EEE}"/>
              </a:ext>
            </a:extLst>
          </p:cNvPr>
          <p:cNvSpPr/>
          <p:nvPr/>
        </p:nvSpPr>
        <p:spPr>
          <a:xfrm>
            <a:off x="1315592" y="2734700"/>
            <a:ext cx="2108200" cy="279400"/>
          </a:xfrm>
          <a:prstGeom prst="roundRect">
            <a:avLst/>
          </a:prstGeom>
          <a:solidFill>
            <a:srgbClr val="ED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11">
            <a:extLst>
              <a:ext uri="{FF2B5EF4-FFF2-40B4-BE49-F238E27FC236}">
                <a16:creationId xmlns:a16="http://schemas.microsoft.com/office/drawing/2014/main" id="{93E1A719-0359-ABBC-90CD-16CA6ADF4206}"/>
              </a:ext>
            </a:extLst>
          </p:cNvPr>
          <p:cNvSpPr txBox="1"/>
          <p:nvPr/>
        </p:nvSpPr>
        <p:spPr>
          <a:xfrm>
            <a:off x="1417192" y="2785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90" b="1">
                <a:solidFill>
                  <a:srgbClr val="53BDB4"/>
                </a:solidFill>
                <a:latin typeface="Aptos"/>
              </a:rPr>
              <a:t>Encuesta por muestreo</a:t>
            </a:r>
          </a:p>
        </p:txBody>
      </p:sp>
      <p:sp>
        <p:nvSpPr>
          <p:cNvPr id="46" name="TextBox 12">
            <a:extLst>
              <a:ext uri="{FF2B5EF4-FFF2-40B4-BE49-F238E27FC236}">
                <a16:creationId xmlns:a16="http://schemas.microsoft.com/office/drawing/2014/main" id="{6E29A6D1-6D72-E968-AD32-8B3C69126F0C}"/>
              </a:ext>
            </a:extLst>
          </p:cNvPr>
          <p:cNvSpPr txBox="1"/>
          <p:nvPr/>
        </p:nvSpPr>
        <p:spPr>
          <a:xfrm>
            <a:off x="909192" y="3115700"/>
            <a:ext cx="4813600" cy="368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  <a:spcAft>
                <a:spcPts val="150"/>
              </a:spcAft>
            </a:pPr>
            <a:r>
              <a:rPr sz="950">
                <a:solidFill>
                  <a:srgbClr val="202124"/>
                </a:solidFill>
                <a:latin typeface="Aptos"/>
              </a:rPr>
              <a:t>• Trabajo, ingresos y condiciones de vida; microdatos trimestrales.</a:t>
            </a:r>
          </a:p>
          <a:p>
            <a:pPr>
              <a:lnSpc>
                <a:spcPct val="90000"/>
              </a:lnSpc>
              <a:spcAft>
                <a:spcPts val="150"/>
              </a:spcAft>
            </a:pPr>
            <a:r>
              <a:rPr sz="950">
                <a:solidFill>
                  <a:srgbClr val="202124"/>
                </a:solidFill>
                <a:latin typeface="Aptos"/>
              </a:rPr>
              <a:t>• Ponderadores + esquema 2-2-2: paneles cortos.</a:t>
            </a:r>
          </a:p>
        </p:txBody>
      </p:sp>
      <p:sp>
        <p:nvSpPr>
          <p:cNvPr id="48" name="Rounded Rectangle 13">
            <a:extLst>
              <a:ext uri="{FF2B5EF4-FFF2-40B4-BE49-F238E27FC236}">
                <a16:creationId xmlns:a16="http://schemas.microsoft.com/office/drawing/2014/main" id="{044F2DFE-6905-0962-A62E-E52AC839C8E6}"/>
              </a:ext>
            </a:extLst>
          </p:cNvPr>
          <p:cNvSpPr/>
          <p:nvPr/>
        </p:nvSpPr>
        <p:spPr>
          <a:xfrm>
            <a:off x="883792" y="3493000"/>
            <a:ext cx="4864400" cy="254000"/>
          </a:xfrm>
          <a:prstGeom prst="roundRect">
            <a:avLst/>
          </a:prstGeom>
          <a:solidFill>
            <a:srgbClr val="ED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14">
            <a:extLst>
              <a:ext uri="{FF2B5EF4-FFF2-40B4-BE49-F238E27FC236}">
                <a16:creationId xmlns:a16="http://schemas.microsoft.com/office/drawing/2014/main" id="{F407CF26-F4C9-CE35-CA84-2075CF4E83EB}"/>
              </a:ext>
            </a:extLst>
          </p:cNvPr>
          <p:cNvSpPr txBox="1"/>
          <p:nvPr/>
        </p:nvSpPr>
        <p:spPr>
          <a:xfrm>
            <a:off x="985392" y="3531100"/>
            <a:ext cx="46612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62666D"/>
                </a:solidFill>
                <a:latin typeface="Aptos"/>
              </a:rPr>
              <a:t>Atención: error muestral y límites para áreas pequeñas.</a:t>
            </a:r>
          </a:p>
        </p:txBody>
      </p:sp>
      <p:sp>
        <p:nvSpPr>
          <p:cNvPr id="52" name="Rounded Rectangle 15">
            <a:extLst>
              <a:ext uri="{FF2B5EF4-FFF2-40B4-BE49-F238E27FC236}">
                <a16:creationId xmlns:a16="http://schemas.microsoft.com/office/drawing/2014/main" id="{607BA224-0D08-B3E6-852C-BBD371D56999}"/>
              </a:ext>
            </a:extLst>
          </p:cNvPr>
          <p:cNvSpPr/>
          <p:nvPr/>
        </p:nvSpPr>
        <p:spPr>
          <a:xfrm>
            <a:off x="6145992" y="2188600"/>
            <a:ext cx="5220000" cy="16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16">
            <a:extLst>
              <a:ext uri="{FF2B5EF4-FFF2-40B4-BE49-F238E27FC236}">
                <a16:creationId xmlns:a16="http://schemas.microsoft.com/office/drawing/2014/main" id="{A911C901-14E2-6A43-C4AC-14B1D37A3344}"/>
              </a:ext>
            </a:extLst>
          </p:cNvPr>
          <p:cNvSpPr/>
          <p:nvPr/>
        </p:nvSpPr>
        <p:spPr>
          <a:xfrm>
            <a:off x="6145992" y="2188600"/>
            <a:ext cx="5220000" cy="50800"/>
          </a:xfrm>
          <a:prstGeom prst="rect">
            <a:avLst/>
          </a:prstGeom>
          <a:solidFill>
            <a:srgbClr val="23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17">
            <a:extLst>
              <a:ext uri="{FF2B5EF4-FFF2-40B4-BE49-F238E27FC236}">
                <a16:creationId xmlns:a16="http://schemas.microsoft.com/office/drawing/2014/main" id="{9AAEE873-B56B-B440-2348-8560A0B2F4C2}"/>
              </a:ext>
            </a:extLst>
          </p:cNvPr>
          <p:cNvSpPr/>
          <p:nvPr/>
        </p:nvSpPr>
        <p:spPr>
          <a:xfrm>
            <a:off x="6298392" y="2366400"/>
            <a:ext cx="317500" cy="317500"/>
          </a:xfrm>
          <a:prstGeom prst="ellipse">
            <a:avLst/>
          </a:prstGeom>
          <a:solidFill>
            <a:srgbClr val="23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8">
            <a:extLst>
              <a:ext uri="{FF2B5EF4-FFF2-40B4-BE49-F238E27FC236}">
                <a16:creationId xmlns:a16="http://schemas.microsoft.com/office/drawing/2014/main" id="{DF250782-A133-E199-BA6C-D81FB93785B1}"/>
              </a:ext>
            </a:extLst>
          </p:cNvPr>
          <p:cNvSpPr txBox="1"/>
          <p:nvPr/>
        </p:nvSpPr>
        <p:spPr>
          <a:xfrm>
            <a:off x="6298392" y="2417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60" name="TextBox 19">
            <a:extLst>
              <a:ext uri="{FF2B5EF4-FFF2-40B4-BE49-F238E27FC236}">
                <a16:creationId xmlns:a16="http://schemas.microsoft.com/office/drawing/2014/main" id="{CCE4E1B7-BA4F-C071-58CE-830FA3AAD5A1}"/>
              </a:ext>
            </a:extLst>
          </p:cNvPr>
          <p:cNvSpPr txBox="1"/>
          <p:nvPr/>
        </p:nvSpPr>
        <p:spPr>
          <a:xfrm>
            <a:off x="6755592" y="2353700"/>
            <a:ext cx="44326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39" b="1">
                <a:solidFill>
                  <a:srgbClr val="232858"/>
                </a:solidFill>
                <a:latin typeface="Aptos"/>
              </a:rPr>
              <a:t>Censo 2022 + REDATAM · INDEC</a:t>
            </a:r>
          </a:p>
        </p:txBody>
      </p:sp>
      <p:sp>
        <p:nvSpPr>
          <p:cNvPr id="62" name="Rounded Rectangle 20">
            <a:extLst>
              <a:ext uri="{FF2B5EF4-FFF2-40B4-BE49-F238E27FC236}">
                <a16:creationId xmlns:a16="http://schemas.microsoft.com/office/drawing/2014/main" id="{1C07CCC7-AE15-6BF7-C160-7042CF9190A7}"/>
              </a:ext>
            </a:extLst>
          </p:cNvPr>
          <p:cNvSpPr/>
          <p:nvPr/>
        </p:nvSpPr>
        <p:spPr>
          <a:xfrm>
            <a:off x="6755592" y="2734700"/>
            <a:ext cx="2108200" cy="279400"/>
          </a:xfrm>
          <a:prstGeom prst="roundRect">
            <a:avLst/>
          </a:prstGeom>
          <a:solidFill>
            <a:srgbClr val="E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21">
            <a:extLst>
              <a:ext uri="{FF2B5EF4-FFF2-40B4-BE49-F238E27FC236}">
                <a16:creationId xmlns:a16="http://schemas.microsoft.com/office/drawing/2014/main" id="{0F1B07FD-4859-A735-B3C9-092849449D84}"/>
              </a:ext>
            </a:extLst>
          </p:cNvPr>
          <p:cNvSpPr txBox="1"/>
          <p:nvPr/>
        </p:nvSpPr>
        <p:spPr>
          <a:xfrm>
            <a:off x="6857192" y="2785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90" b="1">
                <a:solidFill>
                  <a:srgbClr val="232858"/>
                </a:solidFill>
                <a:latin typeface="Aptos"/>
              </a:rPr>
              <a:t>Censo / procesamiento web</a:t>
            </a:r>
          </a:p>
        </p:txBody>
      </p:sp>
      <p:sp>
        <p:nvSpPr>
          <p:cNvPr id="66" name="TextBox 22">
            <a:extLst>
              <a:ext uri="{FF2B5EF4-FFF2-40B4-BE49-F238E27FC236}">
                <a16:creationId xmlns:a16="http://schemas.microsoft.com/office/drawing/2014/main" id="{DB48EE4C-B447-093B-007E-4E75B1ACAD61}"/>
              </a:ext>
            </a:extLst>
          </p:cNvPr>
          <p:cNvSpPr txBox="1"/>
          <p:nvPr/>
        </p:nvSpPr>
        <p:spPr>
          <a:xfrm>
            <a:off x="6349192" y="3115700"/>
            <a:ext cx="2810065" cy="2896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  <a:spcAft>
                <a:spcPts val="150"/>
              </a:spcAft>
            </a:pPr>
            <a:r>
              <a:rPr sz="950" dirty="0">
                <a:solidFill>
                  <a:srgbClr val="202124"/>
                </a:solidFill>
                <a:latin typeface="Aptos"/>
              </a:rPr>
              <a:t>• Personas, </a:t>
            </a:r>
            <a:r>
              <a:rPr sz="950" dirty="0" err="1">
                <a:solidFill>
                  <a:srgbClr val="202124"/>
                </a:solidFill>
                <a:latin typeface="Aptos"/>
              </a:rPr>
              <a:t>hogares</a:t>
            </a:r>
            <a:r>
              <a:rPr sz="950" dirty="0">
                <a:solidFill>
                  <a:srgbClr val="202124"/>
                </a:solidFill>
                <a:latin typeface="Aptos"/>
              </a:rPr>
              <a:t> y </a:t>
            </a:r>
            <a:r>
              <a:rPr sz="950" dirty="0" err="1">
                <a:solidFill>
                  <a:srgbClr val="202124"/>
                </a:solidFill>
                <a:latin typeface="Aptos"/>
              </a:rPr>
              <a:t>viviendas</a:t>
            </a:r>
            <a:r>
              <a:rPr sz="950" dirty="0">
                <a:solidFill>
                  <a:srgbClr val="202124"/>
                </a:solidFill>
                <a:latin typeface="Aptos"/>
              </a:rPr>
              <a:t> con </a:t>
            </a:r>
            <a:r>
              <a:rPr sz="950" dirty="0" err="1">
                <a:solidFill>
                  <a:srgbClr val="202124"/>
                </a:solidFill>
                <a:latin typeface="Aptos"/>
              </a:rPr>
              <a:t>detalle</a:t>
            </a:r>
            <a:r>
              <a:rPr sz="950" dirty="0">
                <a:solidFill>
                  <a:srgbClr val="202124"/>
                </a:solidFill>
                <a:latin typeface="Aptos"/>
              </a:rPr>
              <a:t> territorial.</a:t>
            </a:r>
          </a:p>
          <a:p>
            <a:pPr>
              <a:lnSpc>
                <a:spcPct val="90000"/>
              </a:lnSpc>
              <a:spcAft>
                <a:spcPts val="150"/>
              </a:spcAft>
            </a:pPr>
            <a:r>
              <a:rPr sz="950" dirty="0">
                <a:solidFill>
                  <a:srgbClr val="202124"/>
                </a:solidFill>
                <a:latin typeface="Aptos"/>
              </a:rPr>
              <a:t>• REDATAM: </a:t>
            </a:r>
            <a:r>
              <a:rPr sz="950" dirty="0" err="1">
                <a:solidFill>
                  <a:srgbClr val="202124"/>
                </a:solidFill>
                <a:latin typeface="Aptos"/>
              </a:rPr>
              <a:t>frecuencias</a:t>
            </a:r>
            <a:r>
              <a:rPr sz="950" dirty="0">
                <a:solidFill>
                  <a:srgbClr val="202124"/>
                </a:solidFill>
                <a:latin typeface="Aptos"/>
              </a:rPr>
              <a:t> y cruces </a:t>
            </a:r>
            <a:r>
              <a:rPr sz="950" dirty="0" err="1">
                <a:solidFill>
                  <a:srgbClr val="202124"/>
                </a:solidFill>
                <a:latin typeface="Aptos"/>
              </a:rPr>
              <a:t>por</a:t>
            </a:r>
            <a:r>
              <a:rPr sz="950" dirty="0">
                <a:solidFill>
                  <a:srgbClr val="202124"/>
                </a:solidFill>
                <a:latin typeface="Aptos"/>
              </a:rPr>
              <a:t> </a:t>
            </a:r>
            <a:r>
              <a:rPr sz="950" dirty="0" err="1">
                <a:solidFill>
                  <a:srgbClr val="202124"/>
                </a:solidFill>
                <a:latin typeface="Aptos"/>
              </a:rPr>
              <a:t>área</a:t>
            </a:r>
            <a:r>
              <a:rPr sz="950" dirty="0">
                <a:solidFill>
                  <a:srgbClr val="202124"/>
                </a:solidFill>
                <a:latin typeface="Aptos"/>
              </a:rPr>
              <a:t> </a:t>
            </a:r>
            <a:r>
              <a:rPr sz="950" dirty="0" err="1">
                <a:solidFill>
                  <a:srgbClr val="202124"/>
                </a:solidFill>
                <a:latin typeface="Aptos"/>
              </a:rPr>
              <a:t>geográfica</a:t>
            </a:r>
            <a:r>
              <a:rPr sz="950" dirty="0">
                <a:solidFill>
                  <a:srgbClr val="202124"/>
                </a:solidFill>
                <a:latin typeface="Aptos"/>
              </a:rPr>
              <a:t>.</a:t>
            </a:r>
          </a:p>
        </p:txBody>
      </p:sp>
      <p:sp>
        <p:nvSpPr>
          <p:cNvPr id="68" name="Rounded Rectangle 23">
            <a:extLst>
              <a:ext uri="{FF2B5EF4-FFF2-40B4-BE49-F238E27FC236}">
                <a16:creationId xmlns:a16="http://schemas.microsoft.com/office/drawing/2014/main" id="{010A4412-00F8-A7AF-64C6-07BEF54491FD}"/>
              </a:ext>
            </a:extLst>
          </p:cNvPr>
          <p:cNvSpPr/>
          <p:nvPr/>
        </p:nvSpPr>
        <p:spPr>
          <a:xfrm>
            <a:off x="6323792" y="3493000"/>
            <a:ext cx="4864400" cy="254000"/>
          </a:xfrm>
          <a:prstGeom prst="roundRect">
            <a:avLst/>
          </a:prstGeom>
          <a:solidFill>
            <a:srgbClr val="E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24">
            <a:extLst>
              <a:ext uri="{FF2B5EF4-FFF2-40B4-BE49-F238E27FC236}">
                <a16:creationId xmlns:a16="http://schemas.microsoft.com/office/drawing/2014/main" id="{73DBE262-C847-38CE-4035-F1714091E445}"/>
              </a:ext>
            </a:extLst>
          </p:cNvPr>
          <p:cNvSpPr txBox="1"/>
          <p:nvPr/>
        </p:nvSpPr>
        <p:spPr>
          <a:xfrm>
            <a:off x="6425392" y="3531100"/>
            <a:ext cx="46612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62666D"/>
                </a:solidFill>
                <a:latin typeface="Aptos"/>
              </a:rPr>
              <a:t>Atención: “foto” estructural; menor frecuencia que una encuesta.</a:t>
            </a:r>
          </a:p>
        </p:txBody>
      </p:sp>
      <p:sp>
        <p:nvSpPr>
          <p:cNvPr id="72" name="Rounded Rectangle 25">
            <a:extLst>
              <a:ext uri="{FF2B5EF4-FFF2-40B4-BE49-F238E27FC236}">
                <a16:creationId xmlns:a16="http://schemas.microsoft.com/office/drawing/2014/main" id="{00DC0AE2-47E7-CF48-BEF1-7C413321E9E0}"/>
              </a:ext>
            </a:extLst>
          </p:cNvPr>
          <p:cNvSpPr/>
          <p:nvPr/>
        </p:nvSpPr>
        <p:spPr>
          <a:xfrm>
            <a:off x="705992" y="4048600"/>
            <a:ext cx="5220000" cy="16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26">
            <a:extLst>
              <a:ext uri="{FF2B5EF4-FFF2-40B4-BE49-F238E27FC236}">
                <a16:creationId xmlns:a16="http://schemas.microsoft.com/office/drawing/2014/main" id="{599D481F-20D6-0C45-C778-63CCCA72D3A6}"/>
              </a:ext>
            </a:extLst>
          </p:cNvPr>
          <p:cNvSpPr/>
          <p:nvPr/>
        </p:nvSpPr>
        <p:spPr>
          <a:xfrm>
            <a:off x="705992" y="4048600"/>
            <a:ext cx="5220000" cy="50800"/>
          </a:xfrm>
          <a:prstGeom prst="rect">
            <a:avLst/>
          </a:prstGeom>
          <a:solidFill>
            <a:srgbClr val="8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27">
            <a:extLst>
              <a:ext uri="{FF2B5EF4-FFF2-40B4-BE49-F238E27FC236}">
                <a16:creationId xmlns:a16="http://schemas.microsoft.com/office/drawing/2014/main" id="{217D643F-A48A-0857-7B3B-4FFA4B3466B8}"/>
              </a:ext>
            </a:extLst>
          </p:cNvPr>
          <p:cNvSpPr/>
          <p:nvPr/>
        </p:nvSpPr>
        <p:spPr>
          <a:xfrm>
            <a:off x="858392" y="4226400"/>
            <a:ext cx="317500" cy="317500"/>
          </a:xfrm>
          <a:prstGeom prst="ellipse">
            <a:avLst/>
          </a:prstGeom>
          <a:solidFill>
            <a:srgbClr val="84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28">
            <a:extLst>
              <a:ext uri="{FF2B5EF4-FFF2-40B4-BE49-F238E27FC236}">
                <a16:creationId xmlns:a16="http://schemas.microsoft.com/office/drawing/2014/main" id="{D5D3757E-38CA-60FC-B57A-982063E4D781}"/>
              </a:ext>
            </a:extLst>
          </p:cNvPr>
          <p:cNvSpPr txBox="1"/>
          <p:nvPr/>
        </p:nvSpPr>
        <p:spPr>
          <a:xfrm>
            <a:off x="858392" y="4277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80" name="TextBox 29">
            <a:extLst>
              <a:ext uri="{FF2B5EF4-FFF2-40B4-BE49-F238E27FC236}">
                <a16:creationId xmlns:a16="http://schemas.microsoft.com/office/drawing/2014/main" id="{0A9AE50E-4CF2-6EF1-AED3-90E9F3A45BBE}"/>
              </a:ext>
            </a:extLst>
          </p:cNvPr>
          <p:cNvSpPr txBox="1"/>
          <p:nvPr/>
        </p:nvSpPr>
        <p:spPr>
          <a:xfrm>
            <a:off x="1315592" y="4213700"/>
            <a:ext cx="44326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39" b="1">
                <a:solidFill>
                  <a:srgbClr val="232858"/>
                </a:solidFill>
                <a:latin typeface="Aptos"/>
              </a:rPr>
              <a:t>MLER (SIPA) · Secretaría de Trabajo</a:t>
            </a:r>
          </a:p>
        </p:txBody>
      </p:sp>
      <p:sp>
        <p:nvSpPr>
          <p:cNvPr id="82" name="Rounded Rectangle 30">
            <a:extLst>
              <a:ext uri="{FF2B5EF4-FFF2-40B4-BE49-F238E27FC236}">
                <a16:creationId xmlns:a16="http://schemas.microsoft.com/office/drawing/2014/main" id="{720C4D38-C292-6646-F429-92F3F33BC415}"/>
              </a:ext>
            </a:extLst>
          </p:cNvPr>
          <p:cNvSpPr/>
          <p:nvPr/>
        </p:nvSpPr>
        <p:spPr>
          <a:xfrm>
            <a:off x="1315592" y="4594700"/>
            <a:ext cx="2108200" cy="279400"/>
          </a:xfrm>
          <a:prstGeom prst="roundRect">
            <a:avLst/>
          </a:prstGeom>
          <a:solidFill>
            <a:srgbClr val="F4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31">
            <a:extLst>
              <a:ext uri="{FF2B5EF4-FFF2-40B4-BE49-F238E27FC236}">
                <a16:creationId xmlns:a16="http://schemas.microsoft.com/office/drawing/2014/main" id="{770C3CAB-BB4E-C0C7-B4F0-780B6E3A70CB}"/>
              </a:ext>
            </a:extLst>
          </p:cNvPr>
          <p:cNvSpPr txBox="1"/>
          <p:nvPr/>
        </p:nvSpPr>
        <p:spPr>
          <a:xfrm>
            <a:off x="1417192" y="4645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90" b="1">
                <a:solidFill>
                  <a:srgbClr val="8469AD"/>
                </a:solidFill>
                <a:latin typeface="Aptos"/>
              </a:rPr>
              <a:t>Registro longitudinal</a:t>
            </a:r>
          </a:p>
        </p:txBody>
      </p:sp>
      <p:sp>
        <p:nvSpPr>
          <p:cNvPr id="86" name="TextBox 32">
            <a:extLst>
              <a:ext uri="{FF2B5EF4-FFF2-40B4-BE49-F238E27FC236}">
                <a16:creationId xmlns:a16="http://schemas.microsoft.com/office/drawing/2014/main" id="{E61C6F51-4FB2-D554-A762-C23DBEE9283D}"/>
              </a:ext>
            </a:extLst>
          </p:cNvPr>
          <p:cNvSpPr txBox="1"/>
          <p:nvPr/>
        </p:nvSpPr>
        <p:spPr>
          <a:xfrm>
            <a:off x="909192" y="4975700"/>
            <a:ext cx="4813600" cy="368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  <a:spcAft>
                <a:spcPts val="150"/>
              </a:spcAft>
            </a:pPr>
            <a:r>
              <a:rPr sz="950">
                <a:solidFill>
                  <a:srgbClr val="202124"/>
                </a:solidFill>
                <a:latin typeface="Aptos"/>
              </a:rPr>
              <a:t>• Empleo asalariado privado registrado; versión pública 1996–2021.</a:t>
            </a:r>
          </a:p>
          <a:p>
            <a:pPr>
              <a:lnSpc>
                <a:spcPct val="90000"/>
              </a:lnSpc>
              <a:spcAft>
                <a:spcPts val="150"/>
              </a:spcAft>
            </a:pPr>
            <a:r>
              <a:rPr sz="950">
                <a:solidFill>
                  <a:srgbClr val="202124"/>
                </a:solidFill>
                <a:latin typeface="Aptos"/>
              </a:rPr>
              <a:t>• Trayectorias, movilidad, duración y remuneraciones.</a:t>
            </a:r>
          </a:p>
        </p:txBody>
      </p:sp>
      <p:sp>
        <p:nvSpPr>
          <p:cNvPr id="88" name="Rounded Rectangle 33">
            <a:extLst>
              <a:ext uri="{FF2B5EF4-FFF2-40B4-BE49-F238E27FC236}">
                <a16:creationId xmlns:a16="http://schemas.microsoft.com/office/drawing/2014/main" id="{61A861DB-59EA-8980-0FA1-FCEC6DEFAC8F}"/>
              </a:ext>
            </a:extLst>
          </p:cNvPr>
          <p:cNvSpPr/>
          <p:nvPr/>
        </p:nvSpPr>
        <p:spPr>
          <a:xfrm>
            <a:off x="883792" y="5353000"/>
            <a:ext cx="4864400" cy="254000"/>
          </a:xfrm>
          <a:prstGeom prst="roundRect">
            <a:avLst/>
          </a:prstGeom>
          <a:solidFill>
            <a:srgbClr val="F4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34">
            <a:extLst>
              <a:ext uri="{FF2B5EF4-FFF2-40B4-BE49-F238E27FC236}">
                <a16:creationId xmlns:a16="http://schemas.microsoft.com/office/drawing/2014/main" id="{55CFC41E-9B3A-F9CE-B8B2-BB29A9602309}"/>
              </a:ext>
            </a:extLst>
          </p:cNvPr>
          <p:cNvSpPr txBox="1"/>
          <p:nvPr/>
        </p:nvSpPr>
        <p:spPr>
          <a:xfrm>
            <a:off x="985392" y="5391100"/>
            <a:ext cx="46612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62666D"/>
                </a:solidFill>
                <a:latin typeface="Aptos"/>
              </a:rPr>
              <a:t>Atención: excluye informalidad, cuentapropismo y empleo público.</a:t>
            </a:r>
          </a:p>
        </p:txBody>
      </p:sp>
      <p:sp>
        <p:nvSpPr>
          <p:cNvPr id="92" name="Rounded Rectangle 35">
            <a:extLst>
              <a:ext uri="{FF2B5EF4-FFF2-40B4-BE49-F238E27FC236}">
                <a16:creationId xmlns:a16="http://schemas.microsoft.com/office/drawing/2014/main" id="{ED641CF1-799D-373E-21EE-061AD4B82B2F}"/>
              </a:ext>
            </a:extLst>
          </p:cNvPr>
          <p:cNvSpPr/>
          <p:nvPr/>
        </p:nvSpPr>
        <p:spPr>
          <a:xfrm>
            <a:off x="6145992" y="4048600"/>
            <a:ext cx="5220000" cy="16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36">
            <a:extLst>
              <a:ext uri="{FF2B5EF4-FFF2-40B4-BE49-F238E27FC236}">
                <a16:creationId xmlns:a16="http://schemas.microsoft.com/office/drawing/2014/main" id="{42CAFEAB-DC78-089E-FCCE-8C9916BCECE4}"/>
              </a:ext>
            </a:extLst>
          </p:cNvPr>
          <p:cNvSpPr/>
          <p:nvPr/>
        </p:nvSpPr>
        <p:spPr>
          <a:xfrm>
            <a:off x="6145992" y="4048600"/>
            <a:ext cx="5220000" cy="50800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37">
            <a:extLst>
              <a:ext uri="{FF2B5EF4-FFF2-40B4-BE49-F238E27FC236}">
                <a16:creationId xmlns:a16="http://schemas.microsoft.com/office/drawing/2014/main" id="{B7B3FC1A-9718-9B7D-071C-583C868D5B02}"/>
              </a:ext>
            </a:extLst>
          </p:cNvPr>
          <p:cNvSpPr/>
          <p:nvPr/>
        </p:nvSpPr>
        <p:spPr>
          <a:xfrm>
            <a:off x="6298392" y="4226400"/>
            <a:ext cx="317500" cy="317500"/>
          </a:xfrm>
          <a:prstGeom prst="ellipse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38">
            <a:extLst>
              <a:ext uri="{FF2B5EF4-FFF2-40B4-BE49-F238E27FC236}">
                <a16:creationId xmlns:a16="http://schemas.microsoft.com/office/drawing/2014/main" id="{071991F1-4F96-DDA7-1C77-1A0FAFD3861C}"/>
              </a:ext>
            </a:extLst>
          </p:cNvPr>
          <p:cNvSpPr txBox="1"/>
          <p:nvPr/>
        </p:nvSpPr>
        <p:spPr>
          <a:xfrm>
            <a:off x="6298392" y="4277200"/>
            <a:ext cx="317500" cy="20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00" name="TextBox 39">
            <a:extLst>
              <a:ext uri="{FF2B5EF4-FFF2-40B4-BE49-F238E27FC236}">
                <a16:creationId xmlns:a16="http://schemas.microsoft.com/office/drawing/2014/main" id="{B55675D6-4717-2A3A-7E92-84B53A2F5F22}"/>
              </a:ext>
            </a:extLst>
          </p:cNvPr>
          <p:cNvSpPr txBox="1"/>
          <p:nvPr/>
        </p:nvSpPr>
        <p:spPr>
          <a:xfrm>
            <a:off x="6755592" y="4213700"/>
            <a:ext cx="44326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39" b="1">
                <a:solidFill>
                  <a:srgbClr val="232858"/>
                </a:solidFill>
                <a:latin typeface="Aptos"/>
              </a:rPr>
              <a:t>Google Trends</a:t>
            </a:r>
          </a:p>
        </p:txBody>
      </p:sp>
      <p:sp>
        <p:nvSpPr>
          <p:cNvPr id="102" name="Rounded Rectangle 40">
            <a:extLst>
              <a:ext uri="{FF2B5EF4-FFF2-40B4-BE49-F238E27FC236}">
                <a16:creationId xmlns:a16="http://schemas.microsoft.com/office/drawing/2014/main" id="{F95CBCBB-A261-205D-E368-480FBE4734A7}"/>
              </a:ext>
            </a:extLst>
          </p:cNvPr>
          <p:cNvSpPr/>
          <p:nvPr/>
        </p:nvSpPr>
        <p:spPr>
          <a:xfrm>
            <a:off x="6755592" y="4594700"/>
            <a:ext cx="2108200" cy="2794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41">
            <a:extLst>
              <a:ext uri="{FF2B5EF4-FFF2-40B4-BE49-F238E27FC236}">
                <a16:creationId xmlns:a16="http://schemas.microsoft.com/office/drawing/2014/main" id="{C741FAE1-0712-E1A4-68D0-B8AF1C24294F}"/>
              </a:ext>
            </a:extLst>
          </p:cNvPr>
          <p:cNvSpPr txBox="1"/>
          <p:nvPr/>
        </p:nvSpPr>
        <p:spPr>
          <a:xfrm>
            <a:off x="6857192" y="4645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90" b="1">
                <a:solidFill>
                  <a:srgbClr val="AFAFAF"/>
                </a:solidFill>
                <a:latin typeface="Aptos"/>
              </a:rPr>
              <a:t>Traza digital</a:t>
            </a:r>
          </a:p>
        </p:txBody>
      </p:sp>
      <p:sp>
        <p:nvSpPr>
          <p:cNvPr id="106" name="TextBox 42">
            <a:extLst>
              <a:ext uri="{FF2B5EF4-FFF2-40B4-BE49-F238E27FC236}">
                <a16:creationId xmlns:a16="http://schemas.microsoft.com/office/drawing/2014/main" id="{628C87D4-5C51-6FFD-5E95-C3666EA1E4C9}"/>
              </a:ext>
            </a:extLst>
          </p:cNvPr>
          <p:cNvSpPr txBox="1"/>
          <p:nvPr/>
        </p:nvSpPr>
        <p:spPr>
          <a:xfrm>
            <a:off x="6349192" y="4975700"/>
            <a:ext cx="4813600" cy="368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  <a:spcAft>
                <a:spcPts val="150"/>
              </a:spcAft>
            </a:pPr>
            <a:r>
              <a:rPr sz="950">
                <a:solidFill>
                  <a:srgbClr val="202124"/>
                </a:solidFill>
                <a:latin typeface="Aptos"/>
              </a:rPr>
              <a:t>• Búsquedas agregadas y anónimas; filtro por Argentina y período.</a:t>
            </a:r>
          </a:p>
          <a:p>
            <a:pPr>
              <a:lnSpc>
                <a:spcPct val="90000"/>
              </a:lnSpc>
              <a:spcAft>
                <a:spcPts val="150"/>
              </a:spcAft>
            </a:pPr>
            <a:r>
              <a:rPr sz="950">
                <a:solidFill>
                  <a:srgbClr val="202124"/>
                </a:solidFill>
                <a:latin typeface="Aptos"/>
              </a:rPr>
              <a:t>• Alta frecuencia: señales de interés o atención social.</a:t>
            </a:r>
          </a:p>
        </p:txBody>
      </p:sp>
      <p:sp>
        <p:nvSpPr>
          <p:cNvPr id="108" name="Rounded Rectangle 43">
            <a:extLst>
              <a:ext uri="{FF2B5EF4-FFF2-40B4-BE49-F238E27FC236}">
                <a16:creationId xmlns:a16="http://schemas.microsoft.com/office/drawing/2014/main" id="{AD525179-F110-8B8C-55ED-F12302428471}"/>
              </a:ext>
            </a:extLst>
          </p:cNvPr>
          <p:cNvSpPr/>
          <p:nvPr/>
        </p:nvSpPr>
        <p:spPr>
          <a:xfrm>
            <a:off x="6323792" y="5353000"/>
            <a:ext cx="4864400" cy="254000"/>
          </a:xfrm>
          <a:prstGeom prst="round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44">
            <a:extLst>
              <a:ext uri="{FF2B5EF4-FFF2-40B4-BE49-F238E27FC236}">
                <a16:creationId xmlns:a16="http://schemas.microsoft.com/office/drawing/2014/main" id="{BAD25F21-A9D8-39B8-781A-2354A6C05105}"/>
              </a:ext>
            </a:extLst>
          </p:cNvPr>
          <p:cNvSpPr txBox="1"/>
          <p:nvPr/>
        </p:nvSpPr>
        <p:spPr>
          <a:xfrm>
            <a:off x="6425392" y="5391100"/>
            <a:ext cx="4661200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62666D"/>
                </a:solidFill>
                <a:latin typeface="Aptos"/>
              </a:rPr>
              <a:t>Atención: índice 0–100; no es encuesta ni representa a toda la población.</a:t>
            </a:r>
          </a:p>
        </p:txBody>
      </p:sp>
    </p:spTree>
    <p:extLst>
      <p:ext uri="{BB962C8B-B14F-4D97-AF65-F5344CB8AC3E}">
        <p14:creationId xmlns:p14="http://schemas.microsoft.com/office/powerpoint/2010/main" val="4268973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Ejemplo: “¿Cómo cambió la pobreza laboral?”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658368" y="2423160"/>
            <a:ext cx="2011680" cy="438912"/>
          </a:xfrm>
          <a:prstGeom prst="rect">
            <a:avLst/>
          </a:prstGeom>
          <a:solidFill>
            <a:srgbClr val="23285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731520" y="253288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670048" y="2423160"/>
            <a:ext cx="2880360" cy="438912"/>
          </a:xfrm>
          <a:prstGeom prst="rect">
            <a:avLst/>
          </a:prstGeom>
          <a:solidFill>
            <a:srgbClr val="23285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2743200" y="2532888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observa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550408" y="2423160"/>
            <a:ext cx="2880360" cy="438912"/>
          </a:xfrm>
          <a:prstGeom prst="rect">
            <a:avLst/>
          </a:prstGeom>
          <a:solidFill>
            <a:srgbClr val="23285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5623560" y="2532888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Fortaleza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430768" y="2423160"/>
            <a:ext cx="3566160" cy="438912"/>
          </a:xfrm>
          <a:prstGeom prst="rect">
            <a:avLst/>
          </a:prstGeom>
          <a:solidFill>
            <a:srgbClr val="23285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8503920" y="2532888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58368" y="2862072"/>
            <a:ext cx="2011680" cy="850392"/>
          </a:xfrm>
          <a:prstGeom prst="rect">
            <a:avLst/>
          </a:prstGeom>
          <a:solidFill>
            <a:srgbClr val="F7F8FA"/>
          </a:solidFill>
          <a:ln w="762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749808" y="296265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2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2670048" y="2862072"/>
            <a:ext cx="2880360" cy="850392"/>
          </a:xfrm>
          <a:prstGeom prst="rect">
            <a:avLst/>
          </a:prstGeom>
          <a:solidFill>
            <a:srgbClr val="F7F8FA"/>
          </a:solidFill>
          <a:ln w="762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2761488" y="2962656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Ingresos, empleo, hogar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5550408" y="2862072"/>
            <a:ext cx="2880360" cy="850392"/>
          </a:xfrm>
          <a:prstGeom prst="rect">
            <a:avLst/>
          </a:prstGeom>
          <a:solidFill>
            <a:srgbClr val="F7F8FA"/>
          </a:solidFill>
          <a:ln w="762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5641848" y="2962656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incidencia y perfiles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8430768" y="2862072"/>
            <a:ext cx="3566160" cy="850392"/>
          </a:xfrm>
          <a:prstGeom prst="rect">
            <a:avLst/>
          </a:prstGeom>
          <a:solidFill>
            <a:srgbClr val="F7F8FA"/>
          </a:solidFill>
          <a:ln w="762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8522208" y="296265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cubre todo el territorio; error muestral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58368" y="3712464"/>
            <a:ext cx="2011680" cy="850392"/>
          </a:xfrm>
          <a:prstGeom prst="rect">
            <a:avLst/>
          </a:prstGeom>
          <a:solidFill>
            <a:srgbClr val="FFFFFF"/>
          </a:solidFill>
          <a:ln w="762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749808" y="38130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20" b="1" dirty="0" err="1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</a:t>
            </a:r>
            <a:r>
              <a:rPr lang="en-US" sz="132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20" b="1" dirty="0" err="1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laborales</a:t>
            </a:r>
            <a:r>
              <a:rPr lang="en-US" sz="132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(o MLER)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2670048" y="3712464"/>
            <a:ext cx="2880360" cy="850392"/>
          </a:xfrm>
          <a:prstGeom prst="rect">
            <a:avLst/>
          </a:prstGeom>
          <a:solidFill>
            <a:srgbClr val="FFFFFF"/>
          </a:solidFill>
          <a:ln w="762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2761488" y="381304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Empleo formal, salarios registrados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5550408" y="3712464"/>
            <a:ext cx="2880360" cy="850392"/>
          </a:xfrm>
          <a:prstGeom prst="rect">
            <a:avLst/>
          </a:prstGeom>
          <a:solidFill>
            <a:srgbClr val="FFFFFF"/>
          </a:solidFill>
          <a:ln w="762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5641848" y="381304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Seguir vínculos formales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8430768" y="3712464"/>
            <a:ext cx="3566160" cy="850392"/>
          </a:xfrm>
          <a:prstGeom prst="rect">
            <a:avLst/>
          </a:prstGeom>
          <a:solidFill>
            <a:srgbClr val="FFFFFF"/>
          </a:solidFill>
          <a:ln w="762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8522208" y="38130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observa informalidad ni ingreso total del hogar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658368" y="4562856"/>
            <a:ext cx="2011680" cy="850392"/>
          </a:xfrm>
          <a:prstGeom prst="rect">
            <a:avLst/>
          </a:prstGeom>
          <a:solidFill>
            <a:srgbClr val="F7F8FA"/>
          </a:solidFill>
          <a:ln w="762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749808" y="46634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2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Censo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2670048" y="4562856"/>
            <a:ext cx="2880360" cy="850392"/>
          </a:xfrm>
          <a:prstGeom prst="rect">
            <a:avLst/>
          </a:prstGeom>
          <a:solidFill>
            <a:srgbClr val="F7F8FA"/>
          </a:solidFill>
          <a:ln w="762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2761488" y="466344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territorial fina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5550408" y="4562856"/>
            <a:ext cx="2880360" cy="850392"/>
          </a:xfrm>
          <a:prstGeom prst="rect">
            <a:avLst/>
          </a:prstGeom>
          <a:solidFill>
            <a:srgbClr val="F7F8FA"/>
          </a:solidFill>
          <a:ln w="762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5641848" y="466344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Contextualizar estructura social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8430768" y="4562856"/>
            <a:ext cx="3566160" cy="850392"/>
          </a:xfrm>
          <a:prstGeom prst="rect">
            <a:avLst/>
          </a:prstGeom>
          <a:solidFill>
            <a:srgbClr val="F7F8FA"/>
          </a:solidFill>
          <a:ln w="762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8522208" y="466344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 frecuencia y sin </a:t>
            </a:r>
            <a:r>
              <a:rPr lang="en-US" sz="114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detalle</a:t>
            </a:r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14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ingresos</a:t>
            </a:r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(require </a:t>
            </a:r>
            <a:r>
              <a:rPr lang="en-US" sz="114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</a:t>
            </a:r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no </a:t>
            </a:r>
            <a:r>
              <a:rPr lang="en-US" sz="1140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monetaria</a:t>
            </a:r>
            <a:r>
              <a:rPr lang="en-US" sz="11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14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ba_sociales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9838"/>
            <a:ext cx="2926080" cy="6479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9788" y="28346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53BD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982788" y="2882265"/>
            <a:ext cx="928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Encuestas por muestreo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0" y="5989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Estadística y programación para estudios del trabajo, desigualdad y pobreza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Conceptos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básicos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las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encuestas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muestreo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58368" y="2084832"/>
            <a:ext cx="3401568" cy="1243584"/>
          </a:xfrm>
          <a:prstGeom prst="roundRect">
            <a:avLst>
              <a:gd name="adj" fmla="val 4412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1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Población objetivo</a:t>
            </a:r>
            <a:endParaRPr lang="en-US" sz="1551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Conjunto sobre el que queremos decir algo.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4480560" y="2084832"/>
            <a:ext cx="3401568" cy="1243584"/>
          </a:xfrm>
          <a:prstGeom prst="roundRect">
            <a:avLst>
              <a:gd name="adj" fmla="val 4412"/>
            </a:avLst>
          </a:prstGeom>
          <a:solidFill>
            <a:srgbClr val="F2EEF7"/>
          </a:solidFill>
          <a:ln w="1016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645152" y="22677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1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muestral</a:t>
            </a:r>
            <a:endParaRPr lang="en-US" sz="1551" dirty="0"/>
          </a:p>
        </p:txBody>
      </p:sp>
      <p:sp>
        <p:nvSpPr>
          <p:cNvPr id="11" name="Text 9"/>
          <p:cNvSpPr/>
          <p:nvPr/>
        </p:nvSpPr>
        <p:spPr>
          <a:xfrm>
            <a:off x="4645152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Listado o dispositivo que hace posible seleccionar unidades.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8302752" y="2084832"/>
            <a:ext cx="3401568" cy="1243584"/>
          </a:xfrm>
          <a:prstGeom prst="roundRect">
            <a:avLst>
              <a:gd name="adj" fmla="val 4412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8467344" y="22677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1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de muestreo</a:t>
            </a:r>
            <a:endParaRPr lang="en-US" sz="1551" dirty="0"/>
          </a:p>
        </p:txBody>
      </p:sp>
      <p:sp>
        <p:nvSpPr>
          <p:cNvPr id="14" name="Text 12"/>
          <p:cNvSpPr/>
          <p:nvPr/>
        </p:nvSpPr>
        <p:spPr>
          <a:xfrm>
            <a:off x="8467344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que puede ser seleccionada en cada etapa.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2578608" y="3931920"/>
            <a:ext cx="3401568" cy="1243584"/>
          </a:xfrm>
          <a:prstGeom prst="roundRect">
            <a:avLst>
              <a:gd name="adj" fmla="val 4412"/>
            </a:avLst>
          </a:prstGeom>
          <a:solidFill>
            <a:srgbClr val="F2EEF7"/>
          </a:solidFill>
          <a:ln w="1016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2743200" y="41148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1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</a:t>
            </a:r>
            <a:endParaRPr lang="en-US" sz="1551" dirty="0"/>
          </a:p>
        </p:txBody>
      </p:sp>
      <p:sp>
        <p:nvSpPr>
          <p:cNvPr id="17" name="Text 15"/>
          <p:cNvSpPr/>
          <p:nvPr/>
        </p:nvSpPr>
        <p:spPr>
          <a:xfrm>
            <a:off x="2743200" y="4498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Conjunto efectivamente seleccionado y observado.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6464808" y="3931920"/>
            <a:ext cx="3401568" cy="1243584"/>
          </a:xfrm>
          <a:prstGeom prst="roundRect">
            <a:avLst>
              <a:gd name="adj" fmla="val 4412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6629400" y="41148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1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Estimador</a:t>
            </a:r>
            <a:endParaRPr lang="en-US" sz="1551" dirty="0"/>
          </a:p>
        </p:txBody>
      </p:sp>
      <p:sp>
        <p:nvSpPr>
          <p:cNvPr id="20" name="Text 18"/>
          <p:cNvSpPr/>
          <p:nvPr/>
        </p:nvSpPr>
        <p:spPr>
          <a:xfrm>
            <a:off x="6629400" y="4498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que usa la muestra para aproximar un parámetro poblacional.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</a:rPr>
              <a:t>Muestreo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</a:rPr>
              <a:t>probabilístico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16102" y="2034540"/>
            <a:ext cx="104675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unidad de la población tiene una probabilidad de selección conocida y no </a:t>
            </a:r>
            <a:r>
              <a:rPr lang="en-US" sz="20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nula</a:t>
            </a:r>
            <a:r>
              <a:rPr lang="en-US" sz="20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</a:t>
            </a:r>
            <a:r>
              <a:rPr lang="en-US" sz="20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distinta</a:t>
            </a:r>
            <a:r>
              <a:rPr lang="en-US" sz="20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cero)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3212211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1307592" y="3212211"/>
            <a:ext cx="173736" cy="173736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1655064" y="3212211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2002536" y="3212211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2350008" y="3212211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2697480" y="3212211"/>
            <a:ext cx="173736" cy="173736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3044952" y="3212211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3392424" y="3212211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960120" y="3605403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1307592" y="3605403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1655064" y="3605403"/>
            <a:ext cx="173736" cy="173736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2002536" y="3605403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2350008" y="3605403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2697480" y="3605403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3044952" y="3605403"/>
            <a:ext cx="173736" cy="173736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3392424" y="3605403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960120" y="3998595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1307592" y="3998595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1655064" y="3998595"/>
            <a:ext cx="173736" cy="173736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2002536" y="3998595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2350008" y="3998595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Shape 26"/>
          <p:cNvSpPr/>
          <p:nvPr/>
        </p:nvSpPr>
        <p:spPr>
          <a:xfrm>
            <a:off x="2697480" y="3998595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3044952" y="3998595"/>
            <a:ext cx="173736" cy="173736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3392424" y="3998595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Shape 29"/>
          <p:cNvSpPr/>
          <p:nvPr/>
        </p:nvSpPr>
        <p:spPr>
          <a:xfrm>
            <a:off x="960120" y="4391787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Shape 30"/>
          <p:cNvSpPr/>
          <p:nvPr/>
        </p:nvSpPr>
        <p:spPr>
          <a:xfrm>
            <a:off x="1307592" y="4391787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1655064" y="4391787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Shape 32"/>
          <p:cNvSpPr/>
          <p:nvPr/>
        </p:nvSpPr>
        <p:spPr>
          <a:xfrm>
            <a:off x="2002536" y="4391787"/>
            <a:ext cx="173736" cy="173736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Shape 33"/>
          <p:cNvSpPr/>
          <p:nvPr/>
        </p:nvSpPr>
        <p:spPr>
          <a:xfrm>
            <a:off x="2350008" y="4391787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Shape 34"/>
          <p:cNvSpPr/>
          <p:nvPr/>
        </p:nvSpPr>
        <p:spPr>
          <a:xfrm>
            <a:off x="2697480" y="4391787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Shape 35"/>
          <p:cNvSpPr/>
          <p:nvPr/>
        </p:nvSpPr>
        <p:spPr>
          <a:xfrm>
            <a:off x="3044952" y="4391787"/>
            <a:ext cx="173736" cy="173736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Shape 36"/>
          <p:cNvSpPr/>
          <p:nvPr/>
        </p:nvSpPr>
        <p:spPr>
          <a:xfrm>
            <a:off x="3392424" y="4391787"/>
            <a:ext cx="173736" cy="173736"/>
          </a:xfrm>
          <a:prstGeom prst="ellipse">
            <a:avLst/>
          </a:prstGeom>
          <a:solidFill>
            <a:srgbClr val="DADCE1"/>
          </a:solidFill>
          <a:ln w="12700">
            <a:solidFill>
              <a:srgbClr val="DADC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914400" y="490385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Población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931920" y="3623691"/>
            <a:ext cx="594360" cy="594360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Shape 39"/>
          <p:cNvSpPr/>
          <p:nvPr/>
        </p:nvSpPr>
        <p:spPr>
          <a:xfrm>
            <a:off x="4937760" y="3436239"/>
            <a:ext cx="301752" cy="301752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Shape 40"/>
          <p:cNvSpPr/>
          <p:nvPr/>
        </p:nvSpPr>
        <p:spPr>
          <a:xfrm>
            <a:off x="5504688" y="3436239"/>
            <a:ext cx="301752" cy="301752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Shape 41"/>
          <p:cNvSpPr/>
          <p:nvPr/>
        </p:nvSpPr>
        <p:spPr>
          <a:xfrm>
            <a:off x="6071616" y="3436239"/>
            <a:ext cx="301752" cy="301752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4" name="Shape 42"/>
          <p:cNvSpPr/>
          <p:nvPr/>
        </p:nvSpPr>
        <p:spPr>
          <a:xfrm>
            <a:off x="6638544" y="3436239"/>
            <a:ext cx="301752" cy="301752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Shape 43"/>
          <p:cNvSpPr/>
          <p:nvPr/>
        </p:nvSpPr>
        <p:spPr>
          <a:xfrm>
            <a:off x="4937760" y="4094607"/>
            <a:ext cx="301752" cy="301752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6" name="Shape 44"/>
          <p:cNvSpPr/>
          <p:nvPr/>
        </p:nvSpPr>
        <p:spPr>
          <a:xfrm>
            <a:off x="5504688" y="4094607"/>
            <a:ext cx="301752" cy="301752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7" name="Shape 45"/>
          <p:cNvSpPr/>
          <p:nvPr/>
        </p:nvSpPr>
        <p:spPr>
          <a:xfrm>
            <a:off x="6071616" y="4094607"/>
            <a:ext cx="301752" cy="301752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Shape 46"/>
          <p:cNvSpPr/>
          <p:nvPr/>
        </p:nvSpPr>
        <p:spPr>
          <a:xfrm>
            <a:off x="6638544" y="4094607"/>
            <a:ext cx="301752" cy="301752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9" name="Text 47"/>
          <p:cNvSpPr/>
          <p:nvPr/>
        </p:nvSpPr>
        <p:spPr>
          <a:xfrm>
            <a:off x="4800600" y="4903851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406640" y="3623691"/>
            <a:ext cx="594360" cy="594360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1" name="Shape 49"/>
          <p:cNvSpPr/>
          <p:nvPr/>
        </p:nvSpPr>
        <p:spPr>
          <a:xfrm>
            <a:off x="8275320" y="3011043"/>
            <a:ext cx="2926080" cy="1691640"/>
          </a:xfrm>
          <a:prstGeom prst="roundRect">
            <a:avLst>
              <a:gd name="adj" fmla="val 3784"/>
            </a:avLst>
          </a:prstGeom>
          <a:solidFill>
            <a:srgbClr val="F2EEF7"/>
          </a:solidFill>
          <a:ln w="1524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2" name="Text 50"/>
          <p:cNvSpPr/>
          <p:nvPr/>
        </p:nvSpPr>
        <p:spPr>
          <a:xfrm>
            <a:off x="8595360" y="3257931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Inferencia</a:t>
            </a:r>
            <a:endParaRPr lang="en-US" sz="1900" dirty="0"/>
          </a:p>
        </p:txBody>
      </p:sp>
      <p:sp>
        <p:nvSpPr>
          <p:cNvPr id="53" name="Text 51"/>
          <p:cNvSpPr/>
          <p:nvPr/>
        </p:nvSpPr>
        <p:spPr>
          <a:xfrm>
            <a:off x="8503920" y="3733419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Estimaciones + incertidumbre</a:t>
            </a:r>
            <a:endParaRPr lang="en-US" sz="1351" dirty="0"/>
          </a:p>
          <a:p>
            <a:pPr algn="ctr"/>
            <a:r>
              <a:rPr lang="en-US" sz="135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la población objetivo</a:t>
            </a:r>
            <a:endParaRPr lang="en-US" sz="1351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Diseños básicos de muestreo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58368" y="2029968"/>
            <a:ext cx="5166360" cy="1353312"/>
          </a:xfrm>
          <a:prstGeom prst="roundRect">
            <a:avLst>
              <a:gd name="adj" fmla="val 4054"/>
            </a:avLst>
          </a:prstGeom>
          <a:solidFill>
            <a:srgbClr val="FAFAFB"/>
          </a:solidFill>
          <a:ln w="12700">
            <a:solidFill>
              <a:srgbClr val="D9DB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1" b="1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Aleatorio simple</a:t>
            </a:r>
            <a:endParaRPr lang="en-US" sz="1651" dirty="0"/>
          </a:p>
        </p:txBody>
      </p:sp>
      <p:sp>
        <p:nvSpPr>
          <p:cNvPr id="8" name="Text 6"/>
          <p:cNvSpPr/>
          <p:nvPr/>
        </p:nvSpPr>
        <p:spPr>
          <a:xfrm>
            <a:off x="2871216" y="217627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Todas las unidades tienen igual probabilidad.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2871216" y="27614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como referencia teórica.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281928" y="2029968"/>
            <a:ext cx="5166360" cy="1353312"/>
          </a:xfrm>
          <a:prstGeom prst="roundRect">
            <a:avLst>
              <a:gd name="adj" fmla="val 4054"/>
            </a:avLst>
          </a:prstGeom>
          <a:solidFill>
            <a:srgbClr val="EEF0F7"/>
          </a:solidFill>
          <a:ln w="12700">
            <a:solidFill>
              <a:srgbClr val="D9DB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1" b="1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Estratificado</a:t>
            </a:r>
            <a:endParaRPr lang="en-US" sz="1651" dirty="0"/>
          </a:p>
        </p:txBody>
      </p:sp>
      <p:sp>
        <p:nvSpPr>
          <p:cNvPr id="12" name="Text 10"/>
          <p:cNvSpPr/>
          <p:nvPr/>
        </p:nvSpPr>
        <p:spPr>
          <a:xfrm>
            <a:off x="8494776" y="217627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población se divide en estratos y se selecciona dentro de cada uno.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494776" y="27614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 precisión y asegura cobertura de subgrupos.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3657600"/>
            <a:ext cx="5166360" cy="1353312"/>
          </a:xfrm>
          <a:prstGeom prst="roundRect">
            <a:avLst>
              <a:gd name="adj" fmla="val 4054"/>
            </a:avLst>
          </a:prstGeom>
          <a:solidFill>
            <a:srgbClr val="FAFAFB"/>
          </a:solidFill>
          <a:ln w="12700">
            <a:solidFill>
              <a:srgbClr val="D9DB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68680" y="38221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Conglomerados</a:t>
            </a:r>
            <a:endParaRPr lang="en-US" sz="1651" dirty="0"/>
          </a:p>
        </p:txBody>
      </p:sp>
      <p:sp>
        <p:nvSpPr>
          <p:cNvPr id="16" name="Text 14"/>
          <p:cNvSpPr/>
          <p:nvPr/>
        </p:nvSpPr>
        <p:spPr>
          <a:xfrm>
            <a:off x="2871216" y="38039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seleccionan grupos naturales de unidades.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2871216" y="43891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costos, pero aumenta dependencia interna.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81928" y="3657600"/>
            <a:ext cx="5166360" cy="1353312"/>
          </a:xfrm>
          <a:prstGeom prst="roundRect">
            <a:avLst>
              <a:gd name="adj" fmla="val 4054"/>
            </a:avLst>
          </a:prstGeom>
          <a:solidFill>
            <a:srgbClr val="EEF0F7"/>
          </a:solidFill>
          <a:ln w="12700">
            <a:solidFill>
              <a:srgbClr val="D9DB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6492240" y="382219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Multietápico</a:t>
            </a:r>
            <a:endParaRPr lang="en-US" sz="1651" dirty="0"/>
          </a:p>
        </p:txBody>
      </p:sp>
      <p:sp>
        <p:nvSpPr>
          <p:cNvPr id="20" name="Text 18"/>
          <p:cNvSpPr/>
          <p:nvPr/>
        </p:nvSpPr>
        <p:spPr>
          <a:xfrm>
            <a:off x="8494776" y="38039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selección ocurre en varias etapas.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8494776" y="43891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0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Común en grandes encuestas de hogares.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1005840" y="5394960"/>
            <a:ext cx="10058400" cy="566928"/>
          </a:xfrm>
          <a:prstGeom prst="roundRect">
            <a:avLst>
              <a:gd name="adj" fmla="val 9677"/>
            </a:avLst>
          </a:prstGeom>
          <a:solidFill>
            <a:srgbClr val="EAF7F5"/>
          </a:solidFill>
          <a:ln w="1397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1216152" y="5513832"/>
            <a:ext cx="9637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práctica, los diseños suelen combinar estratificación, conglomerados y varias etapas.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95625-7D99-8C1B-5233-E03406E2F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421CC8-E70A-B785-B518-F5FCB262FCC2}"/>
              </a:ext>
            </a:extLst>
          </p:cNvPr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A81244-468C-8A28-AC50-D4BE41491B51}"/>
              </a:ext>
            </a:extLst>
          </p:cNvPr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EPH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D84949C-4ABC-4A4C-D8AB-12CF283BCA19}"/>
              </a:ext>
            </a:extLst>
          </p:cNvPr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842714-54AE-1B5B-73E8-FEB0594DFF4B}"/>
              </a:ext>
            </a:extLst>
          </p:cNvPr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A230372-1676-EB5E-5934-297BA76B62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CACF275F-D7FF-DC2C-0D4A-0EEB040E87FB}"/>
              </a:ext>
            </a:extLst>
          </p:cNvPr>
          <p:cNvSpPr/>
          <p:nvPr/>
        </p:nvSpPr>
        <p:spPr>
          <a:xfrm>
            <a:off x="640080" y="2290191"/>
            <a:ext cx="3401568" cy="1481328"/>
          </a:xfrm>
          <a:prstGeom prst="roundRect">
            <a:avLst>
              <a:gd name="adj" fmla="val 4412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145E652E-3D84-518B-D531-C79FFBAB141A}"/>
              </a:ext>
            </a:extLst>
          </p:cNvPr>
          <p:cNvSpPr/>
          <p:nvPr/>
        </p:nvSpPr>
        <p:spPr>
          <a:xfrm>
            <a:off x="804672" y="2463927"/>
            <a:ext cx="3063240" cy="274320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ctr">
            <a:no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232858"/>
                </a:solidFill>
                <a:latin typeface="Aptos"/>
              </a:rPr>
              <a:t>Población objetivo</a:t>
            </a:r>
            <a:endParaRPr lang="en-US" sz="155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65256464-0E19-03D7-6CB5-677172C341F1}"/>
              </a:ext>
            </a:extLst>
          </p:cNvPr>
          <p:cNvSpPr/>
          <p:nvPr/>
        </p:nvSpPr>
        <p:spPr>
          <a:xfrm>
            <a:off x="804672" y="2838831"/>
            <a:ext cx="3063240" cy="74980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ctr">
            <a:noAutofit/>
          </a:bodyPr>
          <a:lstStyle/>
          <a:p>
            <a:pPr marL="0" indent="0" algn="l">
              <a:buNone/>
            </a:pPr>
            <a:r>
              <a:rPr sz="1130" b="0">
                <a:solidFill>
                  <a:srgbClr val="202124"/>
                </a:solidFill>
                <a:latin typeface="Aptos"/>
              </a:rPr>
              <a:t>Personas y hogares residentes en viviendas particulares de los 31 aglomerados urbanos cubiertos por la EPH.</a:t>
            </a:r>
            <a:endParaRPr lang="en-US" sz="126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3133ACDA-A692-5894-04EF-5A495DD422C5}"/>
              </a:ext>
            </a:extLst>
          </p:cNvPr>
          <p:cNvSpPr/>
          <p:nvPr/>
        </p:nvSpPr>
        <p:spPr>
          <a:xfrm>
            <a:off x="4462272" y="2290191"/>
            <a:ext cx="3401568" cy="1481328"/>
          </a:xfrm>
          <a:prstGeom prst="roundRect">
            <a:avLst>
              <a:gd name="adj" fmla="val 4412"/>
            </a:avLst>
          </a:prstGeom>
          <a:solidFill>
            <a:srgbClr val="F2EEF7"/>
          </a:solidFill>
          <a:ln w="10160">
            <a:solidFill>
              <a:srgbClr val="8469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D96D3A70-A0AE-9CE3-238C-A72E5DB7D419}"/>
              </a:ext>
            </a:extLst>
          </p:cNvPr>
          <p:cNvSpPr/>
          <p:nvPr/>
        </p:nvSpPr>
        <p:spPr>
          <a:xfrm>
            <a:off x="4626864" y="2463927"/>
            <a:ext cx="3063240" cy="274320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ctr">
            <a:no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232858"/>
                </a:solidFill>
                <a:latin typeface="Aptos"/>
              </a:rPr>
              <a:t>Marco muestral</a:t>
            </a:r>
            <a:endParaRPr lang="en-US" sz="155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343F2C5A-C101-96D2-E6DF-B551F10B9289}"/>
              </a:ext>
            </a:extLst>
          </p:cNvPr>
          <p:cNvSpPr/>
          <p:nvPr/>
        </p:nvSpPr>
        <p:spPr>
          <a:xfrm>
            <a:off x="4626864" y="2838831"/>
            <a:ext cx="3063240" cy="74980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ctr">
            <a:noAutofit/>
          </a:bodyPr>
          <a:lstStyle/>
          <a:p>
            <a:pPr marL="0" indent="0" algn="l">
              <a:buNone/>
            </a:pPr>
            <a:r>
              <a:rPr sz="1130" b="0">
                <a:solidFill>
                  <a:srgbClr val="202124"/>
                </a:solidFill>
                <a:latin typeface="Aptos"/>
              </a:rPr>
              <a:t>Censo 2010 → MMUVRA: áreas geográficas y listados exhaustivos de viviendas particulares dentro de esas áreas.</a:t>
            </a:r>
            <a:endParaRPr lang="en-US" sz="1260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0057F0D8-0289-2AC0-D60D-886DA93FD1E5}"/>
              </a:ext>
            </a:extLst>
          </p:cNvPr>
          <p:cNvSpPr/>
          <p:nvPr/>
        </p:nvSpPr>
        <p:spPr>
          <a:xfrm>
            <a:off x="8284464" y="2290191"/>
            <a:ext cx="3401568" cy="1481328"/>
          </a:xfrm>
          <a:prstGeom prst="roundRect">
            <a:avLst>
              <a:gd name="adj" fmla="val 4412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D2F7C633-6BE8-9236-89BD-CC46423F44ED}"/>
              </a:ext>
            </a:extLst>
          </p:cNvPr>
          <p:cNvSpPr/>
          <p:nvPr/>
        </p:nvSpPr>
        <p:spPr>
          <a:xfrm>
            <a:off x="8449056" y="2463927"/>
            <a:ext cx="3063240" cy="274320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ctr">
            <a:no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232858"/>
                </a:solidFill>
                <a:latin typeface="Aptos"/>
              </a:rPr>
              <a:t>Unidad de muestreo</a:t>
            </a:r>
            <a:endParaRPr lang="en-US" sz="155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A6ED0915-DA11-D776-6632-C53F94E23344}"/>
              </a:ext>
            </a:extLst>
          </p:cNvPr>
          <p:cNvSpPr/>
          <p:nvPr/>
        </p:nvSpPr>
        <p:spPr>
          <a:xfrm>
            <a:off x="8449056" y="2838831"/>
            <a:ext cx="3063240" cy="74980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ctr">
            <a:noAutofit/>
          </a:bodyPr>
          <a:lstStyle/>
          <a:p>
            <a:pPr marL="0" indent="0" algn="l">
              <a:buNone/>
            </a:pPr>
            <a:r>
              <a:rPr sz="1130" b="0">
                <a:solidFill>
                  <a:srgbClr val="202124"/>
                </a:solidFill>
                <a:latin typeface="Aptos"/>
              </a:rPr>
              <a:t>Diseño bietápico: primero se seleccionan áreas (radios o agrupamientos) y luego viviendas particulares.</a:t>
            </a:r>
            <a:endParaRPr lang="en-US" sz="1260" dirty="0"/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0A85DAC0-DB27-BCFC-16FE-D4186F6FDE64}"/>
              </a:ext>
            </a:extLst>
          </p:cNvPr>
          <p:cNvSpPr/>
          <p:nvPr/>
        </p:nvSpPr>
        <p:spPr>
          <a:xfrm>
            <a:off x="2560320" y="4073271"/>
            <a:ext cx="3401568" cy="1481328"/>
          </a:xfrm>
          <a:prstGeom prst="roundRect">
            <a:avLst>
              <a:gd name="adj" fmla="val 4412"/>
            </a:avLst>
          </a:prstGeom>
          <a:solidFill>
            <a:srgbClr val="F2EEF7"/>
          </a:solidFill>
          <a:ln w="10160">
            <a:solidFill>
              <a:srgbClr val="8469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50F89199-42E7-61F6-7890-8F0316A9558D}"/>
              </a:ext>
            </a:extLst>
          </p:cNvPr>
          <p:cNvSpPr/>
          <p:nvPr/>
        </p:nvSpPr>
        <p:spPr>
          <a:xfrm>
            <a:off x="2724912" y="4256151"/>
            <a:ext cx="3063240" cy="274320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ctr">
            <a:no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232858"/>
                </a:solidFill>
                <a:latin typeface="Aptos"/>
              </a:rPr>
              <a:t>Muestra</a:t>
            </a:r>
            <a:endParaRPr lang="en-US" sz="155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A5083ACC-25F7-F92C-5B2C-7C6694E199E4}"/>
              </a:ext>
            </a:extLst>
          </p:cNvPr>
          <p:cNvSpPr/>
          <p:nvPr/>
        </p:nvSpPr>
        <p:spPr>
          <a:xfrm>
            <a:off x="2724912" y="4631055"/>
            <a:ext cx="3063240" cy="74980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ctr">
            <a:noAutofit/>
          </a:bodyPr>
          <a:lstStyle/>
          <a:p>
            <a:pPr marL="0" indent="0" algn="l">
              <a:buNone/>
            </a:pPr>
            <a:r>
              <a:rPr sz="1130" b="0">
                <a:solidFill>
                  <a:srgbClr val="202124"/>
                </a:solidFill>
                <a:latin typeface="Aptos"/>
              </a:rPr>
              <a:t>2° trim. 2026: 26.460 viviendas seleccionadas, distribuidas a lo largo del trimestre.</a:t>
            </a:r>
            <a:endParaRPr lang="en-US" sz="1260" dirty="0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7A94E0BA-B880-0F17-14AF-0A22DEF02B72}"/>
              </a:ext>
            </a:extLst>
          </p:cNvPr>
          <p:cNvSpPr/>
          <p:nvPr/>
        </p:nvSpPr>
        <p:spPr>
          <a:xfrm>
            <a:off x="6446520" y="4073271"/>
            <a:ext cx="3401568" cy="1481328"/>
          </a:xfrm>
          <a:prstGeom prst="roundRect">
            <a:avLst>
              <a:gd name="adj" fmla="val 4412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9AC2EA3F-AD31-8840-124C-B382C7F50A98}"/>
              </a:ext>
            </a:extLst>
          </p:cNvPr>
          <p:cNvSpPr/>
          <p:nvPr/>
        </p:nvSpPr>
        <p:spPr>
          <a:xfrm>
            <a:off x="6611112" y="4256151"/>
            <a:ext cx="3063240" cy="274320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ctr">
            <a:no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232858"/>
                </a:solidFill>
                <a:latin typeface="Aptos"/>
              </a:rPr>
              <a:t>Estimador</a:t>
            </a:r>
            <a:endParaRPr lang="en-US" sz="155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CD8D8210-784A-1EA7-748E-19493E8E09DD}"/>
              </a:ext>
            </a:extLst>
          </p:cNvPr>
          <p:cNvSpPr/>
          <p:nvPr/>
        </p:nvSpPr>
        <p:spPr>
          <a:xfrm>
            <a:off x="6611112" y="4631055"/>
            <a:ext cx="3063240" cy="749808"/>
          </a:xfrm>
          <a:prstGeom prst="rect">
            <a:avLst/>
          </a:prstGeom>
          <a:noFill/>
          <a:ln/>
        </p:spPr>
        <p:txBody>
          <a:bodyPr wrap="square" lIns="9144" tIns="9144" rIns="9144" bIns="9144" rtlCol="0" anchor="ctr">
            <a:noAutofit/>
          </a:bodyPr>
          <a:lstStyle/>
          <a:p>
            <a:pPr marL="0" indent="0" algn="l">
              <a:buNone/>
            </a:pPr>
            <a:r>
              <a:rPr sz="1130" b="0">
                <a:solidFill>
                  <a:srgbClr val="202124"/>
                </a:solidFill>
                <a:latin typeface="Aptos"/>
              </a:rPr>
              <a:t>Media ponderada del ingreso per cápita familiar. Con factores de expansión, la estimación fue $688.496.</a:t>
            </a:r>
            <a:endParaRPr lang="en-US" sz="1260" dirty="0"/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F0EACC8D-FC2E-A319-CF50-F79A7C541D04}"/>
              </a:ext>
            </a:extLst>
          </p:cNvPr>
          <p:cNvSpPr txBox="1"/>
          <p:nvPr/>
        </p:nvSpPr>
        <p:spPr>
          <a:xfrm>
            <a:off x="658368" y="2061591"/>
            <a:ext cx="6675120" cy="210312"/>
          </a:xfrm>
          <a:prstGeom prst="rect">
            <a:avLst/>
          </a:prstGeom>
          <a:noFill/>
        </p:spPr>
        <p:txBody>
          <a:bodyPr wrap="square" lIns="9144" tIns="9144" rIns="9144" bIns="9144">
            <a:no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Muestra probabilística, estratificada y en dos etapas de selección</a:t>
            </a:r>
          </a:p>
        </p:txBody>
      </p:sp>
    </p:spTree>
    <p:extLst>
      <p:ext uri="{BB962C8B-B14F-4D97-AF65-F5344CB8AC3E}">
        <p14:creationId xmlns:p14="http://schemas.microsoft.com/office/powerpoint/2010/main" val="2341080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8469AD"/>
                </a:solidFill>
                <a:latin typeface="Aptos Display"/>
              </a:rPr>
              <a:t>De la muestra a la población: estimar implica incertidumbre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square" lIns="9144" tIns="9144" rIns="9144" bIns="9144" anchor="ctr">
            <a:noAutofit/>
          </a:bodyPr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750" b="0">
                <a:solidFill>
                  <a:srgbClr val="8C8C8C"/>
                </a:solidFill>
                <a:latin typeface="Aptos"/>
              </a:rPr>
              <a:t>15</a:t>
            </a:r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49808" y="1883664"/>
            <a:ext cx="3456432" cy="2487168"/>
          </a:xfrm>
          <a:prstGeom prst="roundRect">
            <a:avLst/>
          </a:prstGeom>
          <a:solidFill>
            <a:srgbClr val="EAF7F5"/>
          </a:solidFill>
          <a:ln w="11430">
            <a:solidFill>
              <a:srgbClr val="E3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32688" y="2048256"/>
            <a:ext cx="347472" cy="347472"/>
          </a:xfrm>
          <a:prstGeom prst="ellipse">
            <a:avLst/>
          </a:prstGeom>
          <a:solidFill>
            <a:srgbClr val="53BDB4"/>
          </a:solidFill>
          <a:ln>
            <a:solidFill>
              <a:srgbClr val="53B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2057400"/>
            <a:ext cx="263347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1">
                <a:solidFill>
                  <a:srgbClr val="232858"/>
                </a:solidFill>
                <a:latin typeface="Aptos"/>
              </a:rPr>
              <a:t>Muestra observada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2633472"/>
            <a:ext cx="2980944" cy="1554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0">
                <a:solidFill>
                  <a:srgbClr val="202124"/>
                </a:solidFill>
                <a:latin typeface="Aptos"/>
              </a:rPr>
              <a:t>2° trimestre de 2026: 26.460 viviendas.
Observamos una parte de la población bajo un diseño probabilístico.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9976" y="1883664"/>
            <a:ext cx="3456432" cy="2487168"/>
          </a:xfrm>
          <a:prstGeom prst="roundRect">
            <a:avLst/>
          </a:prstGeom>
          <a:solidFill>
            <a:srgbClr val="F2EEF7"/>
          </a:solidFill>
          <a:ln w="11430">
            <a:solidFill>
              <a:srgbClr val="E3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62856" y="2048256"/>
            <a:ext cx="347472" cy="347472"/>
          </a:xfrm>
          <a:prstGeom prst="ellipse">
            <a:avLst/>
          </a:prstGeom>
          <a:solidFill>
            <a:srgbClr val="8469AD"/>
          </a:solidFill>
          <a:ln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0056" y="2057400"/>
            <a:ext cx="263347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1">
                <a:solidFill>
                  <a:srgbClr val="232858"/>
                </a:solidFill>
                <a:latin typeface="Aptos"/>
              </a:rPr>
              <a:t>Estimación puntual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2633472"/>
            <a:ext cx="2980944" cy="1554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0">
                <a:solidFill>
                  <a:srgbClr val="202124"/>
                </a:solidFill>
                <a:latin typeface="Aptos"/>
              </a:rPr>
              <a:t>Con la muestra calculamos una tasa, una media o una proporción.
Ese valor es nuestra mejor aproximación al parámetro poblacional.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144" y="1883664"/>
            <a:ext cx="3456432" cy="2487168"/>
          </a:xfrm>
          <a:prstGeom prst="roundRect">
            <a:avLst/>
          </a:prstGeom>
          <a:solidFill>
            <a:srgbClr val="EAF7F5"/>
          </a:solidFill>
          <a:ln w="11430">
            <a:solidFill>
              <a:srgbClr val="E3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93023" y="2048256"/>
            <a:ext cx="347472" cy="347472"/>
          </a:xfrm>
          <a:prstGeom prst="ellipse">
            <a:avLst/>
          </a:prstGeom>
          <a:solidFill>
            <a:srgbClr val="53BDB4"/>
          </a:solidFill>
          <a:ln>
            <a:solidFill>
              <a:srgbClr val="53B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0224" y="2057400"/>
            <a:ext cx="263347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1">
                <a:solidFill>
                  <a:srgbClr val="232858"/>
                </a:solidFill>
                <a:latin typeface="Aptos"/>
              </a:rPr>
              <a:t>Incertidumbre muestral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2633472"/>
            <a:ext cx="2980944" cy="1554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0">
                <a:solidFill>
                  <a:srgbClr val="202124"/>
                </a:solidFill>
                <a:latin typeface="Aptos"/>
              </a:rPr>
              <a:t>Otra muestra posible habría producido un valor algo distinto.
El error estándar resume esa variabilidad esperable.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2770632"/>
            <a:ext cx="16459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66518B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2770632"/>
            <a:ext cx="164592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66518B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1" y="4709160"/>
            <a:ext cx="10113264" cy="804672"/>
          </a:xfrm>
          <a:prstGeom prst="roundRect">
            <a:avLst/>
          </a:prstGeom>
          <a:solidFill>
            <a:srgbClr val="EEF0F7"/>
          </a:solidFill>
          <a:ln w="13970">
            <a:solidFill>
              <a:srgbClr val="23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25296" y="4828032"/>
            <a:ext cx="9729216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66518B"/>
                </a:solidFill>
                <a:latin typeface="Aptos"/>
              </a:rPr>
              <a:t>estimación puntual   ±   margen de error   →   intervalo de confianza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6" y="5138928"/>
            <a:ext cx="972921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80" b="0">
                <a:solidFill>
                  <a:srgbClr val="202124"/>
                </a:solidFill>
                <a:latin typeface="Aptos"/>
              </a:rPr>
              <a:t>La muestra no entrega “el valor verdadero”: entrega una estimación y una medida de su precisión.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" y="5724144"/>
            <a:ext cx="7772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0">
                <a:solidFill>
                  <a:srgbClr val="7A7A7A"/>
                </a:solidFill>
                <a:latin typeface="Aptos"/>
              </a:rPr>
              <a:t>Fuente: INDEC, EPH · Aspectos metodológicos, pp. 18–21.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8469AD"/>
                </a:solidFill>
                <a:latin typeface="Aptos Display"/>
              </a:rPr>
              <a:t>Intervalo de confianza: un rango alrededor de la estimación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square" lIns="9144" tIns="9144" rIns="9144" bIns="9144" anchor="ctr">
            <a:noAutofit/>
          </a:bodyPr>
          <a:lstStyle>
            <a:lvl1pPr>
              <a:defRPr sz="850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750" b="0">
                <a:solidFill>
                  <a:srgbClr val="8C8C8C"/>
                </a:solidFill>
                <a:latin typeface="Aptos"/>
              </a:rPr>
              <a:t>16</a:t>
            </a:r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85216" y="1829470"/>
            <a:ext cx="10698480" cy="2554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s-AR" sz="1420" b="0" dirty="0">
                <a:solidFill>
                  <a:srgbClr val="202124"/>
                </a:solidFill>
                <a:latin typeface="Aptos"/>
              </a:rPr>
              <a:t>Supongamos </a:t>
            </a:r>
            <a:r>
              <a:rPr sz="1420" b="0" dirty="0" err="1">
                <a:solidFill>
                  <a:srgbClr val="202124"/>
                </a:solidFill>
                <a:latin typeface="Aptos"/>
              </a:rPr>
              <a:t>una</a:t>
            </a:r>
            <a:r>
              <a:rPr sz="1420" b="0" dirty="0">
                <a:solidFill>
                  <a:srgbClr val="202124"/>
                </a:solidFill>
                <a:latin typeface="Aptos"/>
              </a:rPr>
              <a:t> </a:t>
            </a:r>
            <a:r>
              <a:rPr sz="1420" b="0" dirty="0" err="1">
                <a:solidFill>
                  <a:srgbClr val="202124"/>
                </a:solidFill>
                <a:latin typeface="Aptos"/>
              </a:rPr>
              <a:t>tasa</a:t>
            </a:r>
            <a:r>
              <a:rPr sz="1420" b="0" dirty="0">
                <a:solidFill>
                  <a:srgbClr val="202124"/>
                </a:solidFill>
                <a:latin typeface="Aptos"/>
              </a:rPr>
              <a:t> </a:t>
            </a:r>
            <a:r>
              <a:rPr sz="1420" b="0" dirty="0" err="1">
                <a:solidFill>
                  <a:srgbClr val="202124"/>
                </a:solidFill>
                <a:latin typeface="Aptos"/>
              </a:rPr>
              <a:t>estimada</a:t>
            </a:r>
            <a:r>
              <a:rPr sz="1420" b="0" dirty="0">
                <a:solidFill>
                  <a:srgbClr val="202124"/>
                </a:solidFill>
                <a:latin typeface="Aptos"/>
              </a:rPr>
              <a:t> de 8,0% con un error </a:t>
            </a:r>
            <a:r>
              <a:rPr sz="1420" b="0" dirty="0" err="1">
                <a:solidFill>
                  <a:srgbClr val="202124"/>
                </a:solidFill>
                <a:latin typeface="Aptos"/>
              </a:rPr>
              <a:t>estándar</a:t>
            </a:r>
            <a:r>
              <a:rPr sz="1420" b="0" dirty="0">
                <a:solidFill>
                  <a:srgbClr val="202124"/>
                </a:solidFill>
                <a:latin typeface="Aptos"/>
              </a:rPr>
              <a:t> de 0,4 puntos </a:t>
            </a:r>
            <a:r>
              <a:rPr sz="1420" b="0" dirty="0" err="1">
                <a:solidFill>
                  <a:srgbClr val="202124"/>
                </a:solidFill>
                <a:latin typeface="Aptos"/>
              </a:rPr>
              <a:t>porcentuales</a:t>
            </a:r>
            <a:r>
              <a:rPr sz="1420" b="0" dirty="0">
                <a:solidFill>
                  <a:srgbClr val="202124"/>
                </a:solidFill>
                <a:latin typeface="Aptos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2185416"/>
            <a:ext cx="3703320" cy="1901952"/>
          </a:xfrm>
          <a:prstGeom prst="roundRect">
            <a:avLst/>
          </a:prstGeom>
          <a:solidFill>
            <a:srgbClr val="F2EEF7"/>
          </a:solidFill>
          <a:ln w="13970"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" y="2395728"/>
            <a:ext cx="32004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232858"/>
                </a:solidFill>
                <a:latin typeface="Aptos"/>
              </a:rPr>
              <a:t>IC 95% ≈ estimación ± 2 × 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2871216"/>
            <a:ext cx="32004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 b="1">
                <a:solidFill>
                  <a:srgbClr val="8469AD"/>
                </a:solidFill>
                <a:latin typeface="Aptos"/>
              </a:rPr>
              <a:t>8,0 ± (2 × 0,4)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3383280"/>
            <a:ext cx="32004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1">
                <a:solidFill>
                  <a:srgbClr val="232858"/>
                </a:solidFill>
                <a:latin typeface="Aptos"/>
              </a:rPr>
              <a:t>[ 7,2%  ;  8,8% 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09160" y="2185416"/>
            <a:ext cx="6729984" cy="1901952"/>
          </a:xfrm>
          <a:prstGeom prst="roundRect">
            <a:avLst/>
          </a:prstGeom>
          <a:solidFill>
            <a:srgbClr val="EAF7F5"/>
          </a:solidFill>
          <a:ln w="13970">
            <a:solidFill>
              <a:srgbClr val="53B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83480" y="2359152"/>
            <a:ext cx="6172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232858"/>
                </a:solidFill>
                <a:latin typeface="Aptos"/>
              </a:rPr>
              <a:t>Intervalo de confianza del 95%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21808" y="3145536"/>
            <a:ext cx="5541264" cy="27431"/>
          </a:xfrm>
          <a:prstGeom prst="rect">
            <a:avLst/>
          </a:prstGeom>
          <a:solidFill>
            <a:srgbClr val="66518B"/>
          </a:solidFill>
          <a:ln>
            <a:solidFill>
              <a:srgbClr val="6651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815584" y="3054096"/>
            <a:ext cx="4553712" cy="182880"/>
          </a:xfrm>
          <a:prstGeom prst="rect">
            <a:avLst/>
          </a:prstGeom>
          <a:solidFill>
            <a:srgbClr val="B8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815584" y="2990088"/>
            <a:ext cx="32004" cy="310896"/>
          </a:xfrm>
          <a:prstGeom prst="rect">
            <a:avLst/>
          </a:prstGeom>
          <a:solidFill>
            <a:srgbClr val="8469AD"/>
          </a:solidFill>
          <a:ln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13832" y="3346704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8469AD"/>
                </a:solidFill>
                <a:latin typeface="Aptos"/>
              </a:rPr>
              <a:t>7,2%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2990088"/>
            <a:ext cx="32004" cy="310896"/>
          </a:xfrm>
          <a:prstGeom prst="rect">
            <a:avLst/>
          </a:prstGeom>
          <a:solidFill>
            <a:srgbClr val="232858"/>
          </a:solidFill>
          <a:ln>
            <a:solidFill>
              <a:srgbClr val="23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90688" y="3346704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232858"/>
                </a:solidFill>
                <a:latin typeface="Aptos"/>
              </a:rPr>
              <a:t>8,0%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69296" y="2990088"/>
            <a:ext cx="32004" cy="310896"/>
          </a:xfrm>
          <a:prstGeom prst="rect">
            <a:avLst/>
          </a:prstGeom>
          <a:solidFill>
            <a:srgbClr val="8469AD"/>
          </a:solidFill>
          <a:ln>
            <a:solidFill>
              <a:srgbClr val="846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67544" y="3346704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8469AD"/>
                </a:solidFill>
                <a:latin typeface="Aptos"/>
              </a:rPr>
              <a:t>8,8%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2779776"/>
            <a:ext cx="157276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66518B"/>
                </a:solidFill>
                <a:latin typeface="Aptos"/>
              </a:rPr>
              <a:t>estimación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8096" y="4407408"/>
            <a:ext cx="6711696" cy="1060704"/>
          </a:xfrm>
          <a:prstGeom prst="roundRect">
            <a:avLst/>
          </a:prstGeom>
          <a:solidFill>
            <a:srgbClr val="EEF0F7"/>
          </a:solidFill>
          <a:ln w="12700">
            <a:solidFill>
              <a:srgbClr val="232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7552" y="4562856"/>
            <a:ext cx="6291072" cy="2785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70" b="1" dirty="0" err="1">
                <a:solidFill>
                  <a:srgbClr val="232858"/>
                </a:solidFill>
                <a:latin typeface="Aptos"/>
              </a:rPr>
              <a:t>Interpretación</a:t>
            </a:r>
            <a:r>
              <a:rPr sz="1570" b="1" dirty="0">
                <a:solidFill>
                  <a:srgbClr val="232858"/>
                </a:solidFill>
                <a:latin typeface="Aptos"/>
              </a:rPr>
              <a:t> </a:t>
            </a:r>
            <a:r>
              <a:rPr sz="1570" b="1" dirty="0" err="1">
                <a:solidFill>
                  <a:srgbClr val="232858"/>
                </a:solidFill>
                <a:latin typeface="Aptos"/>
              </a:rPr>
              <a:t>correcta</a:t>
            </a:r>
            <a:endParaRPr sz="1570" b="1" dirty="0">
              <a:solidFill>
                <a:srgbClr val="232858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87552" y="4855464"/>
            <a:ext cx="629107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dirty="0">
                <a:solidFill>
                  <a:srgbClr val="202124"/>
                </a:solidFill>
                <a:latin typeface="Aptos"/>
              </a:rPr>
              <a:t>Si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repitiéramos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muchas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veces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el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mismo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diseño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y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construyéramos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un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intervalo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del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mismo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modo,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aproximadamente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95% de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esos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intervalos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contendrían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el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verdadero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202124"/>
                </a:solidFill>
                <a:latin typeface="Aptos"/>
              </a:rPr>
              <a:t>parámetro</a:t>
            </a:r>
            <a:r>
              <a:rPr sz="1250" b="0" dirty="0">
                <a:solidFill>
                  <a:srgbClr val="202124"/>
                </a:solidFill>
                <a:latin typeface="Aptos"/>
              </a:rPr>
              <a:t>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08392" y="4407408"/>
            <a:ext cx="3730752" cy="1060704"/>
          </a:xfrm>
          <a:prstGeom prst="roundRect">
            <a:avLst/>
          </a:prstGeom>
          <a:solidFill>
            <a:srgbClr val="EAF7F5"/>
          </a:solidFill>
          <a:ln w="12700">
            <a:solidFill>
              <a:srgbClr val="53B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36992" y="4562856"/>
            <a:ext cx="327355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20" b="1">
                <a:solidFill>
                  <a:srgbClr val="232858"/>
                </a:solidFill>
                <a:latin typeface="Aptos"/>
              </a:rPr>
              <a:t>¿Qué hace variar el ancho?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6992" y="4855464"/>
            <a:ext cx="327355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60" b="0" dirty="0">
                <a:solidFill>
                  <a:srgbClr val="202124"/>
                </a:solidFill>
                <a:latin typeface="Aptos"/>
              </a:rPr>
              <a:t>• Más confianza → </a:t>
            </a:r>
            <a:r>
              <a:rPr sz="1260" b="0" dirty="0" err="1">
                <a:solidFill>
                  <a:srgbClr val="202124"/>
                </a:solidFill>
                <a:latin typeface="Aptos"/>
              </a:rPr>
              <a:t>más</a:t>
            </a:r>
            <a:r>
              <a:rPr sz="1260" b="0" dirty="0">
                <a:solidFill>
                  <a:srgbClr val="202124"/>
                </a:solidFill>
                <a:latin typeface="Aptos"/>
              </a:rPr>
              <a:t> ancho
• Menor error </a:t>
            </a:r>
            <a:r>
              <a:rPr sz="1260" b="0" dirty="0" err="1">
                <a:solidFill>
                  <a:srgbClr val="202124"/>
                </a:solidFill>
                <a:latin typeface="Aptos"/>
              </a:rPr>
              <a:t>estándar</a:t>
            </a:r>
            <a:r>
              <a:rPr sz="1260" b="0" dirty="0">
                <a:solidFill>
                  <a:srgbClr val="202124"/>
                </a:solidFill>
                <a:latin typeface="Aptos"/>
              </a:rPr>
              <a:t> → </a:t>
            </a:r>
            <a:r>
              <a:rPr sz="1260" b="0" dirty="0" err="1">
                <a:solidFill>
                  <a:srgbClr val="202124"/>
                </a:solidFill>
                <a:latin typeface="Aptos"/>
              </a:rPr>
              <a:t>más</a:t>
            </a:r>
            <a:r>
              <a:rPr sz="1260" b="0" dirty="0">
                <a:solidFill>
                  <a:srgbClr val="202124"/>
                </a:solidFill>
                <a:latin typeface="Aptos"/>
              </a:rPr>
              <a:t> </a:t>
            </a:r>
            <a:r>
              <a:rPr sz="1260" b="0" dirty="0" err="1">
                <a:solidFill>
                  <a:srgbClr val="202124"/>
                </a:solidFill>
                <a:latin typeface="Aptos"/>
              </a:rPr>
              <a:t>estrecho</a:t>
            </a:r>
            <a:endParaRPr sz="1260" b="0" dirty="0">
              <a:solidFill>
                <a:srgbClr val="202124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68096" y="5669280"/>
            <a:ext cx="7315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60" b="0" dirty="0">
                <a:solidFill>
                  <a:srgbClr val="7A7A7A"/>
                </a:solidFill>
                <a:latin typeface="Aptos"/>
              </a:rPr>
              <a:t>INDEC: IC 90% = </a:t>
            </a:r>
            <a:r>
              <a:rPr sz="960" b="0" dirty="0" err="1">
                <a:solidFill>
                  <a:srgbClr val="7A7A7A"/>
                </a:solidFill>
                <a:latin typeface="Aptos"/>
              </a:rPr>
              <a:t>estimación</a:t>
            </a:r>
            <a:r>
              <a:rPr sz="960" b="0" dirty="0">
                <a:solidFill>
                  <a:srgbClr val="7A7A7A"/>
                </a:solidFill>
                <a:latin typeface="Aptos"/>
              </a:rPr>
              <a:t> ± 1,64 × EE; IC 95% ≈ </a:t>
            </a:r>
            <a:r>
              <a:rPr sz="960" b="0" dirty="0" err="1">
                <a:solidFill>
                  <a:srgbClr val="7A7A7A"/>
                </a:solidFill>
                <a:latin typeface="Aptos"/>
              </a:rPr>
              <a:t>estimación</a:t>
            </a:r>
            <a:r>
              <a:rPr sz="960" b="0" dirty="0">
                <a:solidFill>
                  <a:srgbClr val="7A7A7A"/>
                </a:solidFill>
                <a:latin typeface="Aptos"/>
              </a:rPr>
              <a:t> ± 2 × EE.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ENCUESTAS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muestral ≠ error total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5166360" cy="2560320"/>
          </a:xfrm>
          <a:prstGeom prst="roundRect">
            <a:avLst>
              <a:gd name="adj" fmla="val 2857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941832" y="2304288"/>
            <a:ext cx="109728" cy="2157984"/>
          </a:xfrm>
          <a:prstGeom prst="roundRect">
            <a:avLst>
              <a:gd name="adj" fmla="val 33333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197864" y="230428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muestral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97864" y="2724912"/>
            <a:ext cx="4544568" cy="1755648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t">
            <a:normAutofit/>
          </a:bodyPr>
          <a:lstStyle/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Surge porque observamos una muestra y no toda la población. Puede cuantificarse con errores estándar, intervalos de confianza y medidas del efecto del diseño.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166360" cy="2560320"/>
          </a:xfrm>
          <a:prstGeom prst="roundRect">
            <a:avLst>
              <a:gd name="adj" fmla="val 2857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6428232" y="2304288"/>
            <a:ext cx="109728" cy="2157984"/>
          </a:xfrm>
          <a:prstGeom prst="roundRect">
            <a:avLst>
              <a:gd name="adj" fmla="val 33333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684264" y="230428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no muestrales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84264" y="2724912"/>
            <a:ext cx="4544568" cy="1755648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t">
            <a:normAutofit/>
          </a:bodyPr>
          <a:lstStyle/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imperfecta, </a:t>
            </a:r>
            <a:r>
              <a:rPr lang="en-US" sz="142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respuesta</a:t>
            </a:r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errores de medición, codificación, procesamiento o cambios de instrumento. No desaparecen necesariamente al aumentar n.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1097280" y="5074920"/>
            <a:ext cx="9966960" cy="640080"/>
          </a:xfrm>
          <a:prstGeom prst="roundRect">
            <a:avLst>
              <a:gd name="adj" fmla="val 8571"/>
            </a:avLst>
          </a:prstGeom>
          <a:solidFill>
            <a:srgbClr val="EEF0F7"/>
          </a:solidFill>
          <a:ln w="1397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1307592" y="5193792"/>
            <a:ext cx="9546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encuesta puede tener muy poco error muestral y, aun así, medir mal el fenómeno.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PONDERACIÓN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necesitamos ponderadores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001268" y="2052828"/>
            <a:ext cx="9419082" cy="530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observación </a:t>
            </a:r>
            <a:r>
              <a:rPr lang="en-US" sz="20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muestral</a:t>
            </a:r>
            <a:r>
              <a:rPr lang="en-US" sz="20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</a:t>
            </a:r>
            <a:r>
              <a:rPr lang="en-US" sz="20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lo general </a:t>
            </a:r>
            <a:r>
              <a:rPr lang="en-US" sz="20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</a:t>
            </a:r>
            <a:r>
              <a:rPr lang="en-US" sz="20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</a:t>
            </a:r>
            <a:r>
              <a:rPr lang="en-US" sz="200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muchas</a:t>
            </a:r>
            <a:r>
              <a:rPr lang="en-US" sz="20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personas de la población.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2834640"/>
            <a:ext cx="530352" cy="530352"/>
          </a:xfrm>
          <a:prstGeom prst="ellipse">
            <a:avLst/>
          </a:prstGeom>
          <a:solidFill>
            <a:srgbClr val="53BD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804672" y="3611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1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50</a:t>
            </a:r>
            <a:endParaRPr lang="en-US" sz="1331" dirty="0"/>
          </a:p>
        </p:txBody>
      </p:sp>
      <p:sp>
        <p:nvSpPr>
          <p:cNvPr id="9" name="Shape 7"/>
          <p:cNvSpPr/>
          <p:nvPr/>
        </p:nvSpPr>
        <p:spPr>
          <a:xfrm>
            <a:off x="2971800" y="2834640"/>
            <a:ext cx="530352" cy="530352"/>
          </a:xfrm>
          <a:prstGeom prst="ellipse">
            <a:avLst/>
          </a:prstGeom>
          <a:solidFill>
            <a:srgbClr val="53BD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2679192" y="3611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1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50</a:t>
            </a:r>
            <a:endParaRPr lang="en-US" sz="1331" dirty="0"/>
          </a:p>
        </p:txBody>
      </p:sp>
      <p:sp>
        <p:nvSpPr>
          <p:cNvPr id="11" name="Shape 9"/>
          <p:cNvSpPr/>
          <p:nvPr/>
        </p:nvSpPr>
        <p:spPr>
          <a:xfrm>
            <a:off x="4846320" y="2834640"/>
            <a:ext cx="530352" cy="530352"/>
          </a:xfrm>
          <a:prstGeom prst="ellipse">
            <a:avLst/>
          </a:prstGeom>
          <a:solidFill>
            <a:srgbClr val="8469A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553712" y="3611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1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100</a:t>
            </a:r>
            <a:endParaRPr lang="en-US" sz="1331" dirty="0"/>
          </a:p>
        </p:txBody>
      </p:sp>
      <p:sp>
        <p:nvSpPr>
          <p:cNvPr id="13" name="Shape 11"/>
          <p:cNvSpPr/>
          <p:nvPr/>
        </p:nvSpPr>
        <p:spPr>
          <a:xfrm>
            <a:off x="6720840" y="2834640"/>
            <a:ext cx="530352" cy="530352"/>
          </a:xfrm>
          <a:prstGeom prst="ellipse">
            <a:avLst/>
          </a:prstGeom>
          <a:solidFill>
            <a:srgbClr val="8469A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428232" y="3611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1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200</a:t>
            </a:r>
            <a:endParaRPr lang="en-US" sz="1331" dirty="0"/>
          </a:p>
        </p:txBody>
      </p:sp>
      <p:sp>
        <p:nvSpPr>
          <p:cNvPr id="15" name="Shape 13"/>
          <p:cNvSpPr/>
          <p:nvPr/>
        </p:nvSpPr>
        <p:spPr>
          <a:xfrm>
            <a:off x="8595360" y="2834640"/>
            <a:ext cx="530352" cy="530352"/>
          </a:xfrm>
          <a:prstGeom prst="ellipse">
            <a:avLst/>
          </a:prstGeom>
          <a:solidFill>
            <a:srgbClr val="23285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302752" y="3611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1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400</a:t>
            </a:r>
            <a:endParaRPr lang="en-US" sz="1331" dirty="0"/>
          </a:p>
        </p:txBody>
      </p:sp>
      <p:sp>
        <p:nvSpPr>
          <p:cNvPr id="17" name="Shape 15"/>
          <p:cNvSpPr/>
          <p:nvPr/>
        </p:nvSpPr>
        <p:spPr>
          <a:xfrm>
            <a:off x="1143000" y="4133088"/>
            <a:ext cx="8046720" cy="0"/>
          </a:xfrm>
          <a:prstGeom prst="line">
            <a:avLst/>
          </a:prstGeom>
          <a:noFill/>
          <a:ln w="1524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1143000" y="4370832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6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ponderación, cada caso contribuye a la estimación según cuántas unidades de la población representa.</a:t>
            </a:r>
            <a:endParaRPr lang="en-US" sz="1631" dirty="0"/>
          </a:p>
        </p:txBody>
      </p:sp>
      <p:sp>
        <p:nvSpPr>
          <p:cNvPr id="19" name="Shape 17"/>
          <p:cNvSpPr/>
          <p:nvPr/>
        </p:nvSpPr>
        <p:spPr>
          <a:xfrm>
            <a:off x="1097280" y="5285232"/>
            <a:ext cx="9966960" cy="566928"/>
          </a:xfrm>
          <a:prstGeom prst="roundRect">
            <a:avLst>
              <a:gd name="adj" fmla="val 9677"/>
            </a:avLst>
          </a:prstGeom>
          <a:solidFill>
            <a:srgbClr val="EAF7F5"/>
          </a:solidFill>
          <a:ln w="1397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1307592" y="5404104"/>
            <a:ext cx="9546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pesos </a:t>
            </a:r>
            <a:r>
              <a:rPr lang="en-US" sz="152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reconstruye</a:t>
            </a:r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relación entre muestra y población.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PONDERACIÓN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ponderador de diseño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04672" y="1920240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unidad tiene probabilidad de inclusión πᵢ, su peso básico es el inverso de esa probabilidad.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143000" y="2990088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EEF0F7"/>
          </a:solidFill>
          <a:ln w="1524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627632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2328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wᵢ = 1 / πᵢ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623560" y="2788920"/>
            <a:ext cx="4754880" cy="1874520"/>
          </a:xfrm>
          <a:prstGeom prst="roundRect">
            <a:avLst>
              <a:gd name="adj" fmla="val 3415"/>
            </a:avLst>
          </a:prstGeom>
          <a:solidFill>
            <a:srgbClr val="EAF7F5"/>
          </a:solidFill>
          <a:ln w="1524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5925312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25312" y="34015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vivienda tenía 1 posibilidad entre 200 de ser seleccionada: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25312" y="401421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 = 1/200  →  w = 200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PONDERACIÓN Y CALIBRACIÓN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ponderador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diseño al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ponderador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final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3273552" cy="2011680"/>
          </a:xfrm>
          <a:prstGeom prst="roundRect">
            <a:avLst>
              <a:gd name="adj" fmla="val 2727"/>
            </a:avLst>
          </a:prstGeom>
          <a:solidFill>
            <a:srgbClr val="EEF0F7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978408" y="2660904"/>
            <a:ext cx="457200" cy="457200"/>
          </a:xfrm>
          <a:prstGeom prst="ellipse">
            <a:avLst/>
          </a:prstGeom>
          <a:solidFill>
            <a:srgbClr val="232858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978408" y="2770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63624" y="2697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14984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3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Inverso de la probabilidad de selección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151376" y="3154680"/>
            <a:ext cx="292608" cy="457200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4544568" y="2423160"/>
            <a:ext cx="3273552" cy="2011680"/>
          </a:xfrm>
          <a:prstGeom prst="roundRect">
            <a:avLst>
              <a:gd name="adj" fmla="val 2727"/>
            </a:avLst>
          </a:prstGeom>
          <a:solidFill>
            <a:srgbClr val="EAF7F5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4745736" y="2660904"/>
            <a:ext cx="457200" cy="457200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745736" y="2770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30952" y="2697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respuesta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82312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3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 para compensar pérdidas diferenciales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7918704" y="3154680"/>
            <a:ext cx="292608" cy="457200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8311896" y="2423160"/>
            <a:ext cx="3273552" cy="2011680"/>
          </a:xfrm>
          <a:prstGeom prst="roundRect">
            <a:avLst>
              <a:gd name="adj" fmla="val 2727"/>
            </a:avLst>
          </a:prstGeom>
          <a:solidFill>
            <a:srgbClr val="F2EEF7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8513064" y="2660904"/>
            <a:ext cx="457200" cy="457200"/>
          </a:xfrm>
          <a:prstGeom prst="ellipse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8513064" y="2770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98280" y="2697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Calibración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4964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3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 para reproducir totales poblacionales conocidos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960120" y="5074920"/>
            <a:ext cx="10195560" cy="603504"/>
          </a:xfrm>
          <a:prstGeom prst="roundRect">
            <a:avLst>
              <a:gd name="adj" fmla="val 9091"/>
            </a:avLst>
          </a:prstGeom>
          <a:solidFill>
            <a:srgbClr val="EEF0F7"/>
          </a:solidFill>
          <a:ln w="1397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1170432" y="5193792"/>
            <a:ext cx="9774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Conceptualmente: peso final = peso de diseño × ajustes. Los detalles dependen de cada encuesta.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PONDERACIÓN Y CALIBRACIÓN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significa calibrar una encuesta?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95528" y="1874520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5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Ajustar los ponderadores para que ciertas variables auxiliares coincidan con totales poblacionales conocidos.</a:t>
            </a:r>
            <a:endParaRPr lang="en-US" sz="1851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calibrar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560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de calibrar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17320" y="3246120"/>
            <a:ext cx="1005840" cy="1554480"/>
          </a:xfrm>
          <a:prstGeom prst="rect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2880360" y="3767328"/>
            <a:ext cx="1005840" cy="1033272"/>
          </a:xfrm>
          <a:prstGeom prst="rect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1417320" y="29718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0360" y="3493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9560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A</a:t>
            </a:r>
            <a:endParaRPr lang="en-US" sz="1151" dirty="0"/>
          </a:p>
        </p:txBody>
      </p:sp>
      <p:sp>
        <p:nvSpPr>
          <p:cNvPr id="14" name="Text 12"/>
          <p:cNvSpPr/>
          <p:nvPr/>
        </p:nvSpPr>
        <p:spPr>
          <a:xfrm>
            <a:off x="2834640" y="49560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B</a:t>
            </a:r>
            <a:endParaRPr lang="en-US" sz="1151" dirty="0"/>
          </a:p>
        </p:txBody>
      </p:sp>
      <p:sp>
        <p:nvSpPr>
          <p:cNvPr id="15" name="Shape 13"/>
          <p:cNvSpPr/>
          <p:nvPr/>
        </p:nvSpPr>
        <p:spPr>
          <a:xfrm>
            <a:off x="4983480" y="3657600"/>
            <a:ext cx="594360" cy="594360"/>
          </a:xfrm>
          <a:prstGeom prst="chevron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6903720" y="3456432"/>
            <a:ext cx="1005840" cy="1344168"/>
          </a:xfrm>
          <a:prstGeom prst="rect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8366760" y="3557016"/>
            <a:ext cx="1005840" cy="1243584"/>
          </a:xfrm>
          <a:prstGeom prst="rect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6903720" y="3182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3282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49560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A</a:t>
            </a:r>
            <a:endParaRPr lang="en-US" sz="1151" dirty="0"/>
          </a:p>
        </p:txBody>
      </p:sp>
      <p:sp>
        <p:nvSpPr>
          <p:cNvPr id="21" name="Text 19"/>
          <p:cNvSpPr/>
          <p:nvPr/>
        </p:nvSpPr>
        <p:spPr>
          <a:xfrm>
            <a:off x="8321040" y="49560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B</a:t>
            </a:r>
            <a:endParaRPr lang="en-US" sz="1151" dirty="0"/>
          </a:p>
        </p:txBody>
      </p:sp>
      <p:sp>
        <p:nvSpPr>
          <p:cNvPr id="22" name="Text 20"/>
          <p:cNvSpPr/>
          <p:nvPr/>
        </p:nvSpPr>
        <p:spPr>
          <a:xfrm>
            <a:off x="6492240" y="5321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80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Totales poblacionales conocidos: 52% / 48%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ba_sociales_logo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9838"/>
            <a:ext cx="2926080" cy="6479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2787125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53BDB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828800" y="2799046"/>
            <a:ext cx="928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</a:t>
            </a:r>
            <a:r>
              <a:rPr lang="en-US" sz="34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sz="34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r>
              <a:rPr lang="en-US" sz="34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para el </a:t>
            </a:r>
            <a:r>
              <a:rPr lang="en-US" sz="34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estudio</a:t>
            </a:r>
            <a:r>
              <a:rPr lang="en-US" sz="34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la </a:t>
            </a:r>
            <a:r>
              <a:rPr lang="en-US" sz="34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desigualdad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0" y="5989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Estadística y programación para estudios del trabajo, desigualdad y pobreza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de variables: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clasificación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operativa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(...hay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otras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58368" y="2039112"/>
            <a:ext cx="2542032" cy="3063240"/>
          </a:xfrm>
          <a:prstGeom prst="roundRect">
            <a:avLst>
              <a:gd name="adj" fmla="val 2158"/>
            </a:avLst>
          </a:prstGeom>
          <a:solidFill>
            <a:srgbClr val="F2EEF7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7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Nominal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841248" y="304495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7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Categorías sin orden intrínseco</a:t>
            </a:r>
            <a:endParaRPr lang="en-US" sz="1271" dirty="0"/>
          </a:p>
        </p:txBody>
      </p:sp>
      <p:sp>
        <p:nvSpPr>
          <p:cNvPr id="9" name="Text 7"/>
          <p:cNvSpPr/>
          <p:nvPr/>
        </p:nvSpPr>
        <p:spPr>
          <a:xfrm>
            <a:off x="859536" y="4069080"/>
            <a:ext cx="213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5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Rama de actividad · región · género</a:t>
            </a:r>
            <a:endParaRPr lang="en-US" sz="1151" dirty="0"/>
          </a:p>
        </p:txBody>
      </p:sp>
      <p:sp>
        <p:nvSpPr>
          <p:cNvPr id="10" name="Shape 8"/>
          <p:cNvSpPr/>
          <p:nvPr/>
        </p:nvSpPr>
        <p:spPr>
          <a:xfrm>
            <a:off x="3456432" y="2039112"/>
            <a:ext cx="2542032" cy="3063240"/>
          </a:xfrm>
          <a:prstGeom prst="roundRect">
            <a:avLst>
              <a:gd name="adj" fmla="val 2158"/>
            </a:avLst>
          </a:prstGeom>
          <a:solidFill>
            <a:srgbClr val="F2EEF7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639312" y="23317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7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Ordinal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3639312" y="304495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7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Categorías ordenables, sin distancia numérica definida</a:t>
            </a:r>
            <a:endParaRPr lang="en-US" sz="1271" dirty="0"/>
          </a:p>
        </p:txBody>
      </p:sp>
      <p:sp>
        <p:nvSpPr>
          <p:cNvPr id="13" name="Text 11"/>
          <p:cNvSpPr/>
          <p:nvPr/>
        </p:nvSpPr>
        <p:spPr>
          <a:xfrm>
            <a:off x="3657600" y="4069080"/>
            <a:ext cx="213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5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educativo · satisfacción</a:t>
            </a:r>
            <a:endParaRPr lang="en-US" sz="1151" dirty="0"/>
          </a:p>
        </p:txBody>
      </p:sp>
      <p:sp>
        <p:nvSpPr>
          <p:cNvPr id="14" name="Shape 12"/>
          <p:cNvSpPr/>
          <p:nvPr/>
        </p:nvSpPr>
        <p:spPr>
          <a:xfrm>
            <a:off x="6254496" y="2039112"/>
            <a:ext cx="2542032" cy="3063240"/>
          </a:xfrm>
          <a:prstGeom prst="roundRect">
            <a:avLst>
              <a:gd name="adj" fmla="val 2158"/>
            </a:avLst>
          </a:prstGeom>
          <a:solidFill>
            <a:srgbClr val="EAF7F5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6437376" y="23317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7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Cuantitativa discreta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6437376" y="304495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7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Conteos con valores enteros</a:t>
            </a:r>
            <a:endParaRPr lang="en-US" sz="1271" dirty="0"/>
          </a:p>
        </p:txBody>
      </p:sp>
      <p:sp>
        <p:nvSpPr>
          <p:cNvPr id="17" name="Text 15"/>
          <p:cNvSpPr/>
          <p:nvPr/>
        </p:nvSpPr>
        <p:spPr>
          <a:xfrm>
            <a:off x="6455664" y="4069080"/>
            <a:ext cx="213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5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de hijos · miembros del hogar</a:t>
            </a:r>
            <a:endParaRPr lang="en-US" sz="1151" dirty="0"/>
          </a:p>
        </p:txBody>
      </p:sp>
      <p:sp>
        <p:nvSpPr>
          <p:cNvPr id="18" name="Shape 16"/>
          <p:cNvSpPr/>
          <p:nvPr/>
        </p:nvSpPr>
        <p:spPr>
          <a:xfrm>
            <a:off x="9052560" y="2039112"/>
            <a:ext cx="2542032" cy="3063240"/>
          </a:xfrm>
          <a:prstGeom prst="roundRect">
            <a:avLst>
              <a:gd name="adj" fmla="val 2158"/>
            </a:avLst>
          </a:prstGeom>
          <a:solidFill>
            <a:srgbClr val="EAF7F5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9235440" y="233172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7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Cuantitativa continua</a:t>
            </a:r>
            <a:endParaRPr lang="en-US" sz="1720" dirty="0"/>
          </a:p>
        </p:txBody>
      </p:sp>
      <p:sp>
        <p:nvSpPr>
          <p:cNvPr id="20" name="Text 18"/>
          <p:cNvSpPr/>
          <p:nvPr/>
        </p:nvSpPr>
        <p:spPr>
          <a:xfrm>
            <a:off x="9235440" y="304495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7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Magnitudes numéricas con distancia interpretable</a:t>
            </a:r>
            <a:endParaRPr lang="en-US" sz="1271" dirty="0"/>
          </a:p>
        </p:txBody>
      </p:sp>
      <p:sp>
        <p:nvSpPr>
          <p:cNvPr id="21" name="Text 19"/>
          <p:cNvSpPr/>
          <p:nvPr/>
        </p:nvSpPr>
        <p:spPr>
          <a:xfrm>
            <a:off x="9253728" y="4069080"/>
            <a:ext cx="213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5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 · </a:t>
            </a:r>
            <a:r>
              <a:rPr lang="en-US" sz="1151" i="1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edad</a:t>
            </a:r>
            <a:r>
              <a:rPr lang="en-US" sz="115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horas trabajadas</a:t>
            </a:r>
            <a:endParaRPr lang="en-US" sz="115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tipo de variable define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podemos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hacer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con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ellas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1737360" cy="438912"/>
          </a:xfrm>
          <a:prstGeom prst="rect">
            <a:avLst/>
          </a:prstGeom>
          <a:solidFill>
            <a:srgbClr val="23285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2148840"/>
            <a:ext cx="2148840" cy="438912"/>
          </a:xfrm>
          <a:prstGeom prst="rect">
            <a:avLst/>
          </a:prstGeom>
          <a:solidFill>
            <a:srgbClr val="23285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2468880" y="225856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Medida típica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148840"/>
            <a:ext cx="2011680" cy="438912"/>
          </a:xfrm>
          <a:prstGeom prst="rect">
            <a:avLst/>
          </a:prstGeom>
          <a:solidFill>
            <a:srgbClr val="23285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617720" y="2258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148840"/>
            <a:ext cx="2057400" cy="438912"/>
          </a:xfrm>
          <a:prstGeom prst="rect">
            <a:avLst/>
          </a:prstGeom>
          <a:solidFill>
            <a:srgbClr val="23285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629400" y="225856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Dispersión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41080" y="2148840"/>
            <a:ext cx="2697480" cy="438912"/>
          </a:xfrm>
          <a:prstGeom prst="rect">
            <a:avLst/>
          </a:prstGeom>
          <a:solidFill>
            <a:srgbClr val="232858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686800" y="225856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587752"/>
            <a:ext cx="1737360" cy="777240"/>
          </a:xfrm>
          <a:prstGeom prst="rect">
            <a:avLst/>
          </a:prstGeom>
          <a:solidFill>
            <a:srgbClr val="F8F8FA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758952" y="270662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2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Nominal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2423160" y="2587752"/>
            <a:ext cx="2148840" cy="777240"/>
          </a:xfrm>
          <a:prstGeom prst="rect">
            <a:avLst/>
          </a:prstGeom>
          <a:solidFill>
            <a:srgbClr val="F8F8FA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2496312" y="2706624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 / %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572000" y="2587752"/>
            <a:ext cx="2011680" cy="777240"/>
          </a:xfrm>
          <a:prstGeom prst="rect">
            <a:avLst/>
          </a:prstGeom>
          <a:solidFill>
            <a:srgbClr val="F8F8FA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645152" y="2706624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583680" y="2587752"/>
            <a:ext cx="2057400" cy="777240"/>
          </a:xfrm>
          <a:prstGeom prst="rect">
            <a:avLst/>
          </a:prstGeom>
          <a:solidFill>
            <a:srgbClr val="F8F8FA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656832" y="2706624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8641080" y="2587752"/>
            <a:ext cx="2697480" cy="777240"/>
          </a:xfrm>
          <a:prstGeom prst="rect">
            <a:avLst/>
          </a:prstGeom>
          <a:solidFill>
            <a:srgbClr val="F8F8FA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8714232" y="270662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Barras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85800" y="3364992"/>
            <a:ext cx="17373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758952" y="348386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2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Ordinal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2423160" y="3364992"/>
            <a:ext cx="214884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2496312" y="3483864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Mediana / moda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4572000" y="3364992"/>
            <a:ext cx="201168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4645152" y="3483864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Percentiles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6583680" y="3364992"/>
            <a:ext cx="20574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6656832" y="3483864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intercuartílico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8641080" y="3364992"/>
            <a:ext cx="269748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8714232" y="348386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Barras ordenadas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685800" y="4142232"/>
            <a:ext cx="1737360" cy="777240"/>
          </a:xfrm>
          <a:prstGeom prst="rect">
            <a:avLst/>
          </a:prstGeom>
          <a:solidFill>
            <a:srgbClr val="F8F8FA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758952" y="4261104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2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Cuantitativa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2423160" y="4142232"/>
            <a:ext cx="2148840" cy="777240"/>
          </a:xfrm>
          <a:prstGeom prst="rect">
            <a:avLst/>
          </a:prstGeom>
          <a:solidFill>
            <a:srgbClr val="F8F8FA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2496312" y="4261104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/ mediana</a:t>
            </a:r>
            <a:endParaRPr lang="en-US" sz="1220" dirty="0"/>
          </a:p>
        </p:txBody>
      </p:sp>
      <p:sp>
        <p:nvSpPr>
          <p:cNvPr id="40" name="Shape 38"/>
          <p:cNvSpPr/>
          <p:nvPr/>
        </p:nvSpPr>
        <p:spPr>
          <a:xfrm>
            <a:off x="4572000" y="4142232"/>
            <a:ext cx="2011680" cy="777240"/>
          </a:xfrm>
          <a:prstGeom prst="rect">
            <a:avLst/>
          </a:prstGeom>
          <a:solidFill>
            <a:srgbClr val="F8F8FA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4645152" y="4261104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Cuantiles</a:t>
            </a:r>
            <a:endParaRPr lang="en-US" sz="1220" dirty="0"/>
          </a:p>
        </p:txBody>
      </p:sp>
      <p:sp>
        <p:nvSpPr>
          <p:cNvPr id="42" name="Shape 40"/>
          <p:cNvSpPr/>
          <p:nvPr/>
        </p:nvSpPr>
        <p:spPr>
          <a:xfrm>
            <a:off x="6583680" y="4142232"/>
            <a:ext cx="2057400" cy="777240"/>
          </a:xfrm>
          <a:prstGeom prst="rect">
            <a:avLst/>
          </a:prstGeom>
          <a:solidFill>
            <a:srgbClr val="F8F8FA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6656832" y="4261104"/>
            <a:ext cx="1911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/ varianza / IQR / CV</a:t>
            </a:r>
            <a:endParaRPr lang="en-US" sz="1220" dirty="0"/>
          </a:p>
        </p:txBody>
      </p:sp>
      <p:sp>
        <p:nvSpPr>
          <p:cNvPr id="44" name="Shape 42"/>
          <p:cNvSpPr/>
          <p:nvPr/>
        </p:nvSpPr>
        <p:spPr>
          <a:xfrm>
            <a:off x="8641080" y="4142232"/>
            <a:ext cx="2697480" cy="777240"/>
          </a:xfrm>
          <a:prstGeom prst="rect">
            <a:avLst/>
          </a:prstGeom>
          <a:solidFill>
            <a:srgbClr val="F8F8FA"/>
          </a:solidFill>
          <a:ln w="7620">
            <a:solidFill>
              <a:srgbClr val="DCDDE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8714232" y="426110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Histograma / boxplot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987552" y="5102352"/>
            <a:ext cx="10195560" cy="621792"/>
          </a:xfrm>
          <a:prstGeom prst="roundRect">
            <a:avLst>
              <a:gd name="adj" fmla="val 8824"/>
            </a:avLst>
          </a:prstGeom>
          <a:solidFill>
            <a:srgbClr val="F2EEF7"/>
          </a:solidFill>
          <a:ln w="1397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/>
          <p:nvPr/>
        </p:nvSpPr>
        <p:spPr>
          <a:xfrm>
            <a:off x="1197864" y="5221224"/>
            <a:ext cx="9774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</a:t>
            </a:r>
            <a:r>
              <a:rPr lang="en-US" sz="152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</a:t>
            </a:r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2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</a:t>
            </a:r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</a:t>
            </a:r>
            <a:r>
              <a:rPr lang="en-US" sz="152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</a:t>
            </a:r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variables </a:t>
            </a:r>
            <a:r>
              <a:rPr lang="en-US" sz="152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codificadas</a:t>
            </a:r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20" b="1" dirty="0" err="1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numéricamente</a:t>
            </a:r>
            <a:endParaRPr lang="en-US" sz="152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Recodificar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variable cambia lo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podemos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hacer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con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ellas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822960" y="2176272"/>
            <a:ext cx="2926080" cy="694944"/>
          </a:xfrm>
          <a:prstGeom prst="roundRect">
            <a:avLst>
              <a:gd name="adj" fmla="val 6579"/>
            </a:avLst>
          </a:prstGeom>
          <a:solidFill>
            <a:srgbClr val="EEF0F7"/>
          </a:solidFill>
          <a:ln w="1016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024128" y="2368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Edad </a:t>
            </a:r>
            <a:r>
              <a:rPr lang="en-US" sz="152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</a:t>
            </a:r>
            <a:r>
              <a:rPr lang="en-US" sz="15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2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años</a:t>
            </a:r>
            <a:r>
              <a:rPr lang="en-US" sz="15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2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cumplidos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3986784" y="23408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690872" y="2176272"/>
            <a:ext cx="2926080" cy="694944"/>
          </a:xfrm>
          <a:prstGeom prst="roundRect">
            <a:avLst>
              <a:gd name="adj" fmla="val 6579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892040" y="2368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Tramos de edad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7973568" y="2249424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80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 legibilidad; pierde detalle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22960" y="3227832"/>
            <a:ext cx="2926080" cy="694944"/>
          </a:xfrm>
          <a:prstGeom prst="roundRect">
            <a:avLst>
              <a:gd name="adj" fmla="val 6579"/>
            </a:avLst>
          </a:prstGeom>
          <a:solidFill>
            <a:srgbClr val="EEF0F7"/>
          </a:solidFill>
          <a:ln w="1016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1024128" y="34198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</a:t>
            </a:r>
            <a:r>
              <a:rPr lang="en-US" sz="15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20" b="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mensual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3986784" y="33924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90872" y="3227832"/>
            <a:ext cx="2926080" cy="694944"/>
          </a:xfrm>
          <a:prstGeom prst="roundRect">
            <a:avLst>
              <a:gd name="adj" fmla="val 6579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892040" y="34198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Quintiles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7973568" y="3300984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80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 comparación relativa; pierde distancia monetaria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22960" y="4279392"/>
            <a:ext cx="2926080" cy="694944"/>
          </a:xfrm>
          <a:prstGeom prst="roundRect">
            <a:avLst>
              <a:gd name="adj" fmla="val 6579"/>
            </a:avLst>
          </a:prstGeom>
          <a:solidFill>
            <a:srgbClr val="EEF0F7"/>
          </a:solidFill>
          <a:ln w="1016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1024128" y="44714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Educación detallada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3986784" y="44439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690872" y="4279392"/>
            <a:ext cx="2926080" cy="694944"/>
          </a:xfrm>
          <a:prstGeom prst="roundRect">
            <a:avLst>
              <a:gd name="adj" fmla="val 6579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4892040" y="44714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 / medio / alto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7973568" y="4352544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80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Resume; puede ocultar heterogeneidad interna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914400" y="5349240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2EEF7"/>
          </a:solidFill>
          <a:ln w="1397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1124712" y="5468112"/>
            <a:ext cx="9866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20" b="1" dirty="0">
                <a:solidFill>
                  <a:srgbClr val="665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recodificar: ¿qué diferencia empírica quiero preservar y cuál estoy dispuesto a perder?</a:t>
            </a:r>
            <a:endParaRPr lang="en-US" sz="15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familias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medidas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para describir una distribución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58368" y="2157984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1430">
            <a:solidFill>
              <a:srgbClr val="DF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1581912" y="2450592"/>
            <a:ext cx="694944" cy="694944"/>
          </a:xfrm>
          <a:prstGeom prst="ellipse">
            <a:avLst/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581912" y="262432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33649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Tendencia central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9536" y="3895344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7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está el “centro”?</a:t>
            </a:r>
            <a:endParaRPr lang="en-US" sz="1271" dirty="0"/>
          </a:p>
        </p:txBody>
      </p:sp>
      <p:sp>
        <p:nvSpPr>
          <p:cNvPr id="11" name="Text 9"/>
          <p:cNvSpPr/>
          <p:nvPr/>
        </p:nvSpPr>
        <p:spPr>
          <a:xfrm>
            <a:off x="859536" y="448056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9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 · mediana · media</a:t>
            </a:r>
            <a:endParaRPr lang="en-US" sz="1091" dirty="0"/>
          </a:p>
        </p:txBody>
      </p:sp>
      <p:sp>
        <p:nvSpPr>
          <p:cNvPr id="12" name="Shape 10"/>
          <p:cNvSpPr/>
          <p:nvPr/>
        </p:nvSpPr>
        <p:spPr>
          <a:xfrm>
            <a:off x="3456432" y="2157984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1430">
            <a:solidFill>
              <a:srgbClr val="DF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4379976" y="2450592"/>
            <a:ext cx="694944" cy="694944"/>
          </a:xfrm>
          <a:prstGeom prst="ellipse">
            <a:avLst/>
          </a:prstGeom>
          <a:solidFill>
            <a:srgbClr val="232858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379976" y="262432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3649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Posición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57600" y="3895344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7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queda un caso respecto de los demás?</a:t>
            </a:r>
            <a:endParaRPr lang="en-US" sz="1271" dirty="0"/>
          </a:p>
        </p:txBody>
      </p:sp>
      <p:sp>
        <p:nvSpPr>
          <p:cNvPr id="17" name="Text 15"/>
          <p:cNvSpPr/>
          <p:nvPr/>
        </p:nvSpPr>
        <p:spPr>
          <a:xfrm>
            <a:off x="3657600" y="448056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9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Cuartiles · deciles · percentiles</a:t>
            </a:r>
            <a:endParaRPr lang="en-US" sz="1091" dirty="0"/>
          </a:p>
        </p:txBody>
      </p:sp>
      <p:sp>
        <p:nvSpPr>
          <p:cNvPr id="18" name="Shape 16"/>
          <p:cNvSpPr/>
          <p:nvPr/>
        </p:nvSpPr>
        <p:spPr>
          <a:xfrm>
            <a:off x="6254496" y="2157984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1430">
            <a:solidFill>
              <a:srgbClr val="DF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7178040" y="2450592"/>
            <a:ext cx="694944" cy="694944"/>
          </a:xfrm>
          <a:prstGeom prst="ellipse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7178040" y="262432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55664" y="33649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Dispersión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55664" y="3895344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7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 se separan </a:t>
            </a:r>
            <a:r>
              <a:rPr lang="en-US" sz="127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</a:t>
            </a:r>
            <a:r>
              <a:rPr lang="en-US" sz="127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7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</a:t>
            </a:r>
            <a:r>
              <a:rPr lang="en-US" sz="127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7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respecto</a:t>
            </a:r>
            <a:r>
              <a:rPr lang="en-US" sz="127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del </a:t>
            </a:r>
            <a:r>
              <a:rPr lang="en-US" sz="127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</a:t>
            </a:r>
            <a:r>
              <a:rPr lang="en-US" sz="127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271" dirty="0"/>
          </a:p>
        </p:txBody>
      </p:sp>
      <p:sp>
        <p:nvSpPr>
          <p:cNvPr id="23" name="Text 21"/>
          <p:cNvSpPr/>
          <p:nvPr/>
        </p:nvSpPr>
        <p:spPr>
          <a:xfrm>
            <a:off x="6455664" y="448056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9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· IQR · varianza · DE · CV</a:t>
            </a:r>
            <a:endParaRPr lang="en-US" sz="1091" dirty="0"/>
          </a:p>
        </p:txBody>
      </p:sp>
      <p:sp>
        <p:nvSpPr>
          <p:cNvPr id="24" name="Shape 22"/>
          <p:cNvSpPr/>
          <p:nvPr/>
        </p:nvSpPr>
        <p:spPr>
          <a:xfrm>
            <a:off x="9052560" y="2157984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1430">
            <a:solidFill>
              <a:srgbClr val="DFE1E5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9976104" y="2450592"/>
            <a:ext cx="694944" cy="694944"/>
          </a:xfrm>
          <a:prstGeom prst="ellipse">
            <a:avLst/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9976104" y="262432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53728" y="33649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53728" y="3895344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7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distribuye la masa y las colas?</a:t>
            </a:r>
            <a:endParaRPr lang="en-US" sz="1271" dirty="0"/>
          </a:p>
        </p:txBody>
      </p:sp>
      <p:sp>
        <p:nvSpPr>
          <p:cNvPr id="29" name="Text 27"/>
          <p:cNvSpPr/>
          <p:nvPr/>
        </p:nvSpPr>
        <p:spPr>
          <a:xfrm>
            <a:off x="9253728" y="448056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109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Simetría · asimetría · valores extremos</a:t>
            </a:r>
            <a:endParaRPr lang="en-US" sz="1091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Tendencia central: media, mediana y moda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Shape 33"/>
          <p:cNvSpPr/>
          <p:nvPr/>
        </p:nvSpPr>
        <p:spPr>
          <a:xfrm>
            <a:off x="7726680" y="2103120"/>
            <a:ext cx="3520440" cy="2788920"/>
          </a:xfrm>
          <a:prstGeom prst="roundRect">
            <a:avLst>
              <a:gd name="adj" fmla="val 2623"/>
            </a:avLst>
          </a:prstGeom>
          <a:solidFill>
            <a:srgbClr val="EEF0F7"/>
          </a:solidFill>
          <a:ln w="11430">
            <a:solidFill>
              <a:srgbClr val="E3E4E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6" name="Shape 34"/>
          <p:cNvSpPr/>
          <p:nvPr/>
        </p:nvSpPr>
        <p:spPr>
          <a:xfrm>
            <a:off x="7891272" y="2304288"/>
            <a:ext cx="109728" cy="2386584"/>
          </a:xfrm>
          <a:prstGeom prst="roundRect">
            <a:avLst>
              <a:gd name="adj" fmla="val 33333"/>
            </a:avLst>
          </a:prstGeom>
          <a:solidFill>
            <a:srgbClr val="232858"/>
          </a:solidFill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8147304" y="2304288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elegir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147304" y="2724912"/>
            <a:ext cx="2898648" cy="1984248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t">
            <a:normAutofit/>
          </a:bodyPr>
          <a:lstStyle/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Moda: categoría más frecuente.</a:t>
            </a:r>
            <a:endParaRPr lang="en-US" sz="1420" dirty="0"/>
          </a:p>
          <a:p>
            <a:endParaRPr lang="en-US" sz="1420" dirty="0"/>
          </a:p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Mediana: divide la distribución en dos mitades.</a:t>
            </a:r>
            <a:endParaRPr lang="en-US" sz="1420" dirty="0"/>
          </a:p>
          <a:p>
            <a:endParaRPr lang="en-US" sz="1420" dirty="0"/>
          </a:p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Media: usa todos los valores, pero es sensible a extremos.</a:t>
            </a:r>
            <a:endParaRPr lang="en-US" sz="142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p:graphicFrame>
        <p:nvGraphicFramePr>
          <p:cNvPr id="46" name="Tabla 45">
            <a:extLst>
              <a:ext uri="{FF2B5EF4-FFF2-40B4-BE49-F238E27FC236}">
                <a16:creationId xmlns:a16="http://schemas.microsoft.com/office/drawing/2014/main" id="{90B5BD11-DD57-1AFD-E26A-5FA7CF13B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625282"/>
              </p:ext>
            </p:extLst>
          </p:nvPr>
        </p:nvGraphicFramePr>
        <p:xfrm>
          <a:off x="698626" y="2045970"/>
          <a:ext cx="2654301" cy="4000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031">
                  <a:extLst>
                    <a:ext uri="{9D8B030D-6E8A-4147-A177-3AD203B41FA5}">
                      <a16:colId xmlns:a16="http://schemas.microsoft.com/office/drawing/2014/main" val="965604972"/>
                    </a:ext>
                  </a:extLst>
                </a:gridCol>
                <a:gridCol w="761090">
                  <a:extLst>
                    <a:ext uri="{9D8B030D-6E8A-4147-A177-3AD203B41FA5}">
                      <a16:colId xmlns:a16="http://schemas.microsoft.com/office/drawing/2014/main" val="1259852729"/>
                    </a:ext>
                  </a:extLst>
                </a:gridCol>
                <a:gridCol w="761090">
                  <a:extLst>
                    <a:ext uri="{9D8B030D-6E8A-4147-A177-3AD203B41FA5}">
                      <a16:colId xmlns:a16="http://schemas.microsoft.com/office/drawing/2014/main" val="1091812737"/>
                    </a:ext>
                  </a:extLst>
                </a:gridCol>
                <a:gridCol w="761090">
                  <a:extLst>
                    <a:ext uri="{9D8B030D-6E8A-4147-A177-3AD203B41FA5}">
                      <a16:colId xmlns:a16="http://schemas.microsoft.com/office/drawing/2014/main" val="228144873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Caso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Ingreso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f</a:t>
                      </a:r>
                      <a:endParaRPr lang="es-AR" sz="11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fa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rgbClr val="EA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995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300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048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2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350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10%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8057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3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400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3216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4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450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20%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7811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25%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1471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520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30%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2177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550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35%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2271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8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580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40%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746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9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600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45%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3811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610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9741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650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115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12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650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088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13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5102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14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750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2866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15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800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8214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16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900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80%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1120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17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1.270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85%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082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18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1.500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90%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9423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19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2.000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95%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3228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20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3.500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3594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AC8B5DE-D0FA-5E75-8C09-943E95ED8661}"/>
                  </a:ext>
                </a:extLst>
              </p:cNvPr>
              <p:cNvSpPr txBox="1"/>
              <p:nvPr/>
            </p:nvSpPr>
            <p:spPr>
              <a:xfrm>
                <a:off x="4212652" y="4149584"/>
                <a:ext cx="2396301" cy="6707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=$ 879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AC8B5DE-D0FA-5E75-8C09-943E95ED8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652" y="4149584"/>
                <a:ext cx="2396301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F0191C1A-5BCE-0E53-D538-4E73FAFC5B5D}"/>
                  </a:ext>
                </a:extLst>
              </p:cNvPr>
              <p:cNvSpPr txBox="1"/>
              <p:nvPr/>
            </p:nvSpPr>
            <p:spPr>
              <a:xfrm>
                <a:off x="4212652" y="3682082"/>
                <a:ext cx="2654301" cy="3166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𝑀𝑑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=10 →$610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F0191C1A-5BCE-0E53-D538-4E73FAFC5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652" y="3682082"/>
                <a:ext cx="2654301" cy="316625"/>
              </a:xfrm>
              <a:prstGeom prst="rect">
                <a:avLst/>
              </a:prstGeom>
              <a:blipFill>
                <a:blip r:embed="rId4"/>
                <a:stretch>
                  <a:fillRect t="-192308" r="-230" b="-28846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1C8CA47E-97A8-71D6-1933-F33AA72B7BFD}"/>
                  </a:ext>
                </a:extLst>
              </p:cNvPr>
              <p:cNvSpPr txBox="1"/>
              <p:nvPr/>
            </p:nvSpPr>
            <p:spPr>
              <a:xfrm>
                <a:off x="4212651" y="3128855"/>
                <a:ext cx="265430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𝑀𝑜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=$ 650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1C8CA47E-97A8-71D6-1933-F33AA72B7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651" y="3128855"/>
                <a:ext cx="2654301" cy="276999"/>
              </a:xfrm>
              <a:prstGeom prst="rect">
                <a:avLst/>
              </a:prstGeom>
              <a:blipFill>
                <a:blip r:embed="rId5"/>
                <a:stretch>
                  <a:fillRect t="-4348" b="-1521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01F6A-B357-A899-8E40-92698E66D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390270-9C23-CDBB-74E8-F31ACE95B2D5}"/>
              </a:ext>
            </a:extLst>
          </p:cNvPr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DISTRIBUCIONES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4BA8BC-EEC7-5A49-DAAD-EA8B0CA59D6F}"/>
              </a:ext>
            </a:extLst>
          </p:cNvPr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Tendencia central: media, mediana y moda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0F0828-FFDB-7135-61A2-E4A8972C4B6D}"/>
              </a:ext>
            </a:extLst>
          </p:cNvPr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61926A9-6DB8-8596-2093-4CD72E005FCF}"/>
              </a:ext>
            </a:extLst>
          </p:cNvPr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CB311CDE-045E-68E7-0B49-4C72A796704F}"/>
              </a:ext>
            </a:extLst>
          </p:cNvPr>
          <p:cNvGrpSpPr/>
          <p:nvPr/>
        </p:nvGrpSpPr>
        <p:grpSpPr>
          <a:xfrm>
            <a:off x="7468678" y="3109802"/>
            <a:ext cx="3520440" cy="1125852"/>
            <a:chOff x="7726680" y="2103120"/>
            <a:chExt cx="3520440" cy="2788920"/>
          </a:xfrm>
        </p:grpSpPr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CFC4D4B9-2572-D2D6-00C9-717ADD1246EF}"/>
                </a:ext>
              </a:extLst>
            </p:cNvPr>
            <p:cNvSpPr/>
            <p:nvPr/>
          </p:nvSpPr>
          <p:spPr>
            <a:xfrm>
              <a:off x="7726680" y="2103120"/>
              <a:ext cx="3520440" cy="2788920"/>
            </a:xfrm>
            <a:prstGeom prst="roundRect">
              <a:avLst>
                <a:gd name="adj" fmla="val 2623"/>
              </a:avLst>
            </a:prstGeom>
            <a:solidFill>
              <a:srgbClr val="EEF0F7"/>
            </a:solidFill>
            <a:ln w="11430">
              <a:solidFill>
                <a:srgbClr val="E3E4E8"/>
              </a:solidFill>
              <a:prstDash val="solid"/>
            </a:ln>
            <a:effectLst>
              <a:outerShdw algn="bl" rotWithShape="0">
                <a:srgbClr val="000000">
                  <a:alpha val="0"/>
                </a:srgbClr>
              </a:outerShdw>
            </a:effectLst>
          </p:spPr>
          <p:txBody>
            <a:bodyPr/>
            <a:lstStyle/>
            <a:p>
              <a:endParaRPr lang="es-AR"/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D80291DD-4825-0953-92D0-722A393F53CF}"/>
                </a:ext>
              </a:extLst>
            </p:cNvPr>
            <p:cNvSpPr/>
            <p:nvPr/>
          </p:nvSpPr>
          <p:spPr>
            <a:xfrm>
              <a:off x="7891272" y="2304288"/>
              <a:ext cx="109728" cy="2386584"/>
            </a:xfrm>
            <a:prstGeom prst="roundRect">
              <a:avLst>
                <a:gd name="adj" fmla="val 33333"/>
              </a:avLst>
            </a:prstGeom>
            <a:solidFill>
              <a:srgbClr val="232858"/>
            </a:solidFill>
            <a:ln w="12700">
              <a:solidFill>
                <a:srgbClr val="232858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A3FB01EE-FE2F-6941-0D52-EDF80147DEF1}"/>
                </a:ext>
              </a:extLst>
            </p:cNvPr>
            <p:cNvSpPr/>
            <p:nvPr/>
          </p:nvSpPr>
          <p:spPr>
            <a:xfrm>
              <a:off x="8147304" y="2724912"/>
              <a:ext cx="2898648" cy="808863"/>
            </a:xfrm>
            <a:prstGeom prst="rect">
              <a:avLst/>
            </a:prstGeom>
            <a:noFill/>
            <a:ln/>
          </p:spPr>
          <p:txBody>
            <a:bodyPr wrap="square" lIns="255" tIns="255" rIns="255" bIns="255" rtlCol="0" anchor="t">
              <a:normAutofit/>
            </a:bodyPr>
            <a:lstStyle/>
            <a:p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menos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valores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extremos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,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cae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significativamente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el valor de la media y se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acerca</a:t>
              </a:r>
              <a:r>
                <a:rPr lang="en-US" sz="1420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a la </a:t>
              </a:r>
              <a:r>
                <a:rPr lang="en-US" sz="1420" dirty="0" err="1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mediana</a:t>
              </a:r>
              <a:endParaRPr lang="en-US" sz="1420" dirty="0"/>
            </a:p>
          </p:txBody>
        </p:sp>
      </p:grpSp>
      <p:sp>
        <p:nvSpPr>
          <p:cNvPr id="41" name="Slide Number Placeholder 0">
            <a:extLst>
              <a:ext uri="{FF2B5EF4-FFF2-40B4-BE49-F238E27FC236}">
                <a16:creationId xmlns:a16="http://schemas.microsoft.com/office/drawing/2014/main" id="{ABD818A3-13EA-0015-55F7-A2F2A1D44F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p:graphicFrame>
        <p:nvGraphicFramePr>
          <p:cNvPr id="46" name="Tabla 45">
            <a:extLst>
              <a:ext uri="{FF2B5EF4-FFF2-40B4-BE49-F238E27FC236}">
                <a16:creationId xmlns:a16="http://schemas.microsoft.com/office/drawing/2014/main" id="{4FC3AE53-1A3E-2E5A-6AC0-E3C649674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94166"/>
              </p:ext>
            </p:extLst>
          </p:nvPr>
        </p:nvGraphicFramePr>
        <p:xfrm>
          <a:off x="698626" y="2045970"/>
          <a:ext cx="2654301" cy="4000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031">
                  <a:extLst>
                    <a:ext uri="{9D8B030D-6E8A-4147-A177-3AD203B41FA5}">
                      <a16:colId xmlns:a16="http://schemas.microsoft.com/office/drawing/2014/main" val="965604972"/>
                    </a:ext>
                  </a:extLst>
                </a:gridCol>
                <a:gridCol w="761090">
                  <a:extLst>
                    <a:ext uri="{9D8B030D-6E8A-4147-A177-3AD203B41FA5}">
                      <a16:colId xmlns:a16="http://schemas.microsoft.com/office/drawing/2014/main" val="1259852729"/>
                    </a:ext>
                  </a:extLst>
                </a:gridCol>
                <a:gridCol w="761090">
                  <a:extLst>
                    <a:ext uri="{9D8B030D-6E8A-4147-A177-3AD203B41FA5}">
                      <a16:colId xmlns:a16="http://schemas.microsoft.com/office/drawing/2014/main" val="1091812737"/>
                    </a:ext>
                  </a:extLst>
                </a:gridCol>
                <a:gridCol w="761090">
                  <a:extLst>
                    <a:ext uri="{9D8B030D-6E8A-4147-A177-3AD203B41FA5}">
                      <a16:colId xmlns:a16="http://schemas.microsoft.com/office/drawing/2014/main" val="228144873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Caso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Ingreso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f</a:t>
                      </a:r>
                      <a:endParaRPr lang="es-AR" sz="11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fa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rgbClr val="EA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995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300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048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2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350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10%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8057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3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400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3216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4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450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20%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7811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25%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1471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520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30%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2177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550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35%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2271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8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580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40%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746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9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600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45%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3811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610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9741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650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115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12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650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088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13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5102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14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750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2866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15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800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8214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16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900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80%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1120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17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85%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082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18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1.100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90%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9423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19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1.150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95%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3228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20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1.200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3594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07A7BFC6-61E3-C6EF-8511-255BB21DEE12}"/>
                  </a:ext>
                </a:extLst>
              </p:cNvPr>
              <p:cNvSpPr txBox="1"/>
              <p:nvPr/>
            </p:nvSpPr>
            <p:spPr>
              <a:xfrm>
                <a:off x="4212652" y="4149584"/>
                <a:ext cx="2396301" cy="6707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s-A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=$ 688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07A7BFC6-61E3-C6EF-8511-255BB21DE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652" y="4149584"/>
                <a:ext cx="2396301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2381B821-3A94-32A9-35A0-76C610449AA4}"/>
                  </a:ext>
                </a:extLst>
              </p:cNvPr>
              <p:cNvSpPr txBox="1"/>
              <p:nvPr/>
            </p:nvSpPr>
            <p:spPr>
              <a:xfrm>
                <a:off x="4212652" y="3682082"/>
                <a:ext cx="2654301" cy="3166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𝑀𝑑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=10 →$610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2381B821-3A94-32A9-35A0-76C610449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652" y="3682082"/>
                <a:ext cx="2654301" cy="316625"/>
              </a:xfrm>
              <a:prstGeom prst="rect">
                <a:avLst/>
              </a:prstGeom>
              <a:blipFill>
                <a:blip r:embed="rId4"/>
                <a:stretch>
                  <a:fillRect t="-192308" r="-230" b="-28846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A381140F-8538-9DCE-2FF5-D63E682C99EE}"/>
                  </a:ext>
                </a:extLst>
              </p:cNvPr>
              <p:cNvSpPr txBox="1"/>
              <p:nvPr/>
            </p:nvSpPr>
            <p:spPr>
              <a:xfrm>
                <a:off x="4212651" y="3128855"/>
                <a:ext cx="265430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𝑀𝑜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=$ 650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A381140F-8538-9DCE-2FF5-D63E682C9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651" y="3128855"/>
                <a:ext cx="2654301" cy="276999"/>
              </a:xfrm>
              <a:prstGeom prst="rect">
                <a:avLst/>
              </a:prstGeom>
              <a:blipFill>
                <a:blip r:embed="rId5"/>
                <a:stretch>
                  <a:fillRect t="-4348" b="-1521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8997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Medidas de posición: ubicar casos dentro de la distribución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5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cuantiles dividen una distribución ordenada en partes con igual proporción de casos.</a:t>
            </a:r>
            <a:endParaRPr lang="en-US" sz="1851" dirty="0"/>
          </a:p>
        </p:txBody>
      </p:sp>
      <p:sp>
        <p:nvSpPr>
          <p:cNvPr id="7" name="Shape 5"/>
          <p:cNvSpPr/>
          <p:nvPr/>
        </p:nvSpPr>
        <p:spPr>
          <a:xfrm>
            <a:off x="914400" y="3195827"/>
            <a:ext cx="2468880" cy="786384"/>
          </a:xfrm>
          <a:prstGeom prst="rect">
            <a:avLst/>
          </a:prstGeom>
          <a:solidFill>
            <a:srgbClr val="EAF7F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3383280" y="3195827"/>
            <a:ext cx="2468880" cy="786384"/>
          </a:xfrm>
          <a:prstGeom prst="rect">
            <a:avLst/>
          </a:prstGeom>
          <a:solidFill>
            <a:srgbClr val="DFF2E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5852160" y="3195827"/>
            <a:ext cx="2468880" cy="786384"/>
          </a:xfrm>
          <a:prstGeom prst="rect">
            <a:avLst/>
          </a:prstGeom>
          <a:solidFill>
            <a:srgbClr val="D4EA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8321040" y="3195827"/>
            <a:ext cx="2468880" cy="786384"/>
          </a:xfrm>
          <a:prstGeom prst="rect">
            <a:avLst/>
          </a:prstGeom>
          <a:solidFill>
            <a:srgbClr val="F2EE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3383280" y="2875787"/>
            <a:ext cx="0" cy="1298448"/>
          </a:xfrm>
          <a:prstGeom prst="line">
            <a:avLst/>
          </a:prstGeom>
          <a:noFill/>
          <a:ln w="254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2743200" y="2418587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31" b="1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= P25</a:t>
            </a:r>
            <a:endParaRPr lang="en-US" sz="1231" dirty="0"/>
          </a:p>
        </p:txBody>
      </p:sp>
      <p:sp>
        <p:nvSpPr>
          <p:cNvPr id="13" name="Shape 11"/>
          <p:cNvSpPr/>
          <p:nvPr/>
        </p:nvSpPr>
        <p:spPr>
          <a:xfrm>
            <a:off x="5852160" y="2875787"/>
            <a:ext cx="0" cy="1298448"/>
          </a:xfrm>
          <a:prstGeom prst="line">
            <a:avLst/>
          </a:prstGeom>
          <a:noFill/>
          <a:ln w="254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5212080" y="2418587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3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= P50</a:t>
            </a:r>
            <a:endParaRPr lang="en-US" sz="1231" dirty="0"/>
          </a:p>
          <a:p>
            <a:pPr algn="ctr"/>
            <a:r>
              <a:rPr lang="en-US" sz="123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Mediana</a:t>
            </a:r>
            <a:endParaRPr lang="en-US" sz="1231" dirty="0"/>
          </a:p>
        </p:txBody>
      </p:sp>
      <p:sp>
        <p:nvSpPr>
          <p:cNvPr id="15" name="Shape 13"/>
          <p:cNvSpPr/>
          <p:nvPr/>
        </p:nvSpPr>
        <p:spPr>
          <a:xfrm>
            <a:off x="8321040" y="2875787"/>
            <a:ext cx="0" cy="1298448"/>
          </a:xfrm>
          <a:prstGeom prst="line">
            <a:avLst/>
          </a:prstGeom>
          <a:noFill/>
          <a:ln w="254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7680960" y="2418587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31" b="1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= P75</a:t>
            </a:r>
            <a:endParaRPr lang="en-US" sz="1231" dirty="0"/>
          </a:p>
        </p:txBody>
      </p:sp>
      <p:sp>
        <p:nvSpPr>
          <p:cNvPr id="17" name="Text 15"/>
          <p:cNvSpPr/>
          <p:nvPr/>
        </p:nvSpPr>
        <p:spPr>
          <a:xfrm>
            <a:off x="1691640" y="3451859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60520" y="3451859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3451859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98280" y="3451859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1560" y="4567427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EAF7F5"/>
          </a:solidFill>
          <a:ln w="11430">
            <a:solidFill>
              <a:srgbClr val="E3E4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1216152" y="4768595"/>
            <a:ext cx="109728" cy="740664"/>
          </a:xfrm>
          <a:prstGeom prst="roundRect">
            <a:avLst>
              <a:gd name="adj" fmla="val 33333"/>
            </a:avLst>
          </a:prstGeom>
          <a:solidFill>
            <a:srgbClr val="53BDB4"/>
          </a:solidFill>
          <a:ln w="1270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1472184" y="4768595"/>
            <a:ext cx="4197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472184" y="5189219"/>
            <a:ext cx="4178808" cy="338328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t">
            <a:normAutofit fontScale="92500" lnSpcReduction="20000"/>
          </a:bodyPr>
          <a:lstStyle/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P75 es el valor que deja por debajo (o igual) al 75% de los casos.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6309360" y="4567427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2EEF7"/>
          </a:solidFill>
          <a:ln w="11430">
            <a:solidFill>
              <a:srgbClr val="E3E4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6473952" y="4768595"/>
            <a:ext cx="109728" cy="740664"/>
          </a:xfrm>
          <a:prstGeom prst="roundRect">
            <a:avLst>
              <a:gd name="adj" fmla="val 33333"/>
            </a:avLst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6729984" y="4768595"/>
            <a:ext cx="4197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729984" y="5189219"/>
            <a:ext cx="4178808" cy="338328"/>
          </a:xfrm>
          <a:prstGeom prst="rect">
            <a:avLst/>
          </a:prstGeom>
          <a:noFill/>
          <a:ln/>
        </p:spPr>
        <p:txBody>
          <a:bodyPr wrap="square" lIns="255" tIns="255" rIns="255" bIns="255" rtlCol="0" anchor="t">
            <a:normAutofit fontScale="92500" lnSpcReduction="20000"/>
          </a:bodyPr>
          <a:lstStyle/>
          <a:p>
            <a:r>
              <a:rPr lang="en-US" sz="142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posiciones relativas entre grupos o construir deciles/quintiles.</a:t>
            </a:r>
            <a:endParaRPr lang="en-US" sz="14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67540-338F-080E-549B-E427FF404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784CAE-E3EF-9331-9D79-FC0A11B98341}"/>
              </a:ext>
            </a:extLst>
          </p:cNvPr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DISTRIBUCIONES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21F5D5-3900-6405-8131-F205CAACC45D}"/>
              </a:ext>
            </a:extLst>
          </p:cNvPr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Medidas de posición: ubicar casos dentro de la distribución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81EE80C-6DFC-68AC-841D-65168FFE22DC}"/>
              </a:ext>
            </a:extLst>
          </p:cNvPr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B73C636-E8A4-65E5-A985-C38C06951D2D}"/>
              </a:ext>
            </a:extLst>
          </p:cNvPr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281133-792F-C7EF-4E2D-B164E8E6ACCF}"/>
              </a:ext>
            </a:extLst>
          </p:cNvPr>
          <p:cNvSpPr/>
          <p:nvPr/>
        </p:nvSpPr>
        <p:spPr>
          <a:xfrm>
            <a:off x="777240" y="190195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5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el </a:t>
            </a:r>
            <a:r>
              <a:rPr lang="en-US" sz="1851" dirty="0" err="1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r>
              <a:rPr lang="en-US" sz="185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anterior:</a:t>
            </a:r>
            <a:endParaRPr lang="en-US" sz="1851" dirty="0"/>
          </a:p>
        </p:txBody>
      </p: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E6E4241B-7FBA-9CF6-D18C-E06D9017C05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  <p:graphicFrame>
        <p:nvGraphicFramePr>
          <p:cNvPr id="35" name="Tabla 34">
            <a:extLst>
              <a:ext uri="{FF2B5EF4-FFF2-40B4-BE49-F238E27FC236}">
                <a16:creationId xmlns:a16="http://schemas.microsoft.com/office/drawing/2014/main" id="{D5391EEA-3B18-1D72-7CA8-934990609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643266"/>
              </p:ext>
            </p:extLst>
          </p:nvPr>
        </p:nvGraphicFramePr>
        <p:xfrm>
          <a:off x="1984501" y="2368296"/>
          <a:ext cx="2654301" cy="4000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031">
                  <a:extLst>
                    <a:ext uri="{9D8B030D-6E8A-4147-A177-3AD203B41FA5}">
                      <a16:colId xmlns:a16="http://schemas.microsoft.com/office/drawing/2014/main" val="965604972"/>
                    </a:ext>
                  </a:extLst>
                </a:gridCol>
                <a:gridCol w="761090">
                  <a:extLst>
                    <a:ext uri="{9D8B030D-6E8A-4147-A177-3AD203B41FA5}">
                      <a16:colId xmlns:a16="http://schemas.microsoft.com/office/drawing/2014/main" val="1259852729"/>
                    </a:ext>
                  </a:extLst>
                </a:gridCol>
                <a:gridCol w="761090">
                  <a:extLst>
                    <a:ext uri="{9D8B030D-6E8A-4147-A177-3AD203B41FA5}">
                      <a16:colId xmlns:a16="http://schemas.microsoft.com/office/drawing/2014/main" val="1091812737"/>
                    </a:ext>
                  </a:extLst>
                </a:gridCol>
                <a:gridCol w="761090">
                  <a:extLst>
                    <a:ext uri="{9D8B030D-6E8A-4147-A177-3AD203B41FA5}">
                      <a16:colId xmlns:a16="http://schemas.microsoft.com/office/drawing/2014/main" val="228144873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Caso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Ingreso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f</a:t>
                      </a:r>
                      <a:endParaRPr lang="es-AR" sz="11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fa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rgbClr val="EA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995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300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048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2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350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10%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8057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3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400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3216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4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450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20%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7811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500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25%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1471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520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30%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2177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550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35%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2271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8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580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40%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746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9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600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45%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3811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10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610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50%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9741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11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650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115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12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650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088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13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65%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5102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14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750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70%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2866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15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800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u="none" strike="noStrike" dirty="0">
                          <a:effectLst/>
                          <a:latin typeface="+mj-lt"/>
                        </a:rPr>
                        <a:t>75%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8214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16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900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80%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1120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17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1.270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85%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082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18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1.500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90%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9423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19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2.000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95%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3228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20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100" u="none" strike="noStrike">
                          <a:effectLst/>
                          <a:latin typeface="+mj-lt"/>
                        </a:rPr>
                        <a:t>3.500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5%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u="none" strike="noStrike" dirty="0">
                          <a:effectLst/>
                          <a:latin typeface="+mj-lt"/>
                        </a:rPr>
                        <a:t>100%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359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905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Dispersión: cuánto varían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con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respecto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al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1" b="1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</a:t>
            </a:r>
            <a:endParaRPr lang="en-US" sz="1551" dirty="0"/>
          </a:p>
        </p:txBody>
      </p:sp>
      <p:sp>
        <p:nvSpPr>
          <p:cNvPr id="7" name="Text 5"/>
          <p:cNvSpPr/>
          <p:nvPr/>
        </p:nvSpPr>
        <p:spPr>
          <a:xfrm>
            <a:off x="3657600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Máximo − mínimo</a:t>
            </a:r>
            <a:endParaRPr lang="en-US" sz="1431" dirty="0"/>
          </a:p>
        </p:txBody>
      </p:sp>
      <p:sp>
        <p:nvSpPr>
          <p:cNvPr id="8" name="Text 6"/>
          <p:cNvSpPr/>
          <p:nvPr/>
        </p:nvSpPr>
        <p:spPr>
          <a:xfrm>
            <a:off x="6720840" y="19933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Muy sensible a extremos</a:t>
            </a:r>
            <a:endParaRPr lang="en-US" sz="1351" dirty="0"/>
          </a:p>
        </p:txBody>
      </p:sp>
      <p:sp>
        <p:nvSpPr>
          <p:cNvPr id="9" name="Shape 7"/>
          <p:cNvSpPr/>
          <p:nvPr/>
        </p:nvSpPr>
        <p:spPr>
          <a:xfrm>
            <a:off x="777240" y="2542032"/>
            <a:ext cx="10287000" cy="0"/>
          </a:xfrm>
          <a:prstGeom prst="line">
            <a:avLst/>
          </a:prstGeom>
          <a:noFill/>
          <a:ln w="8890">
            <a:solidFill>
              <a:srgbClr val="E1E2E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intercuartílico (IQR)</a:t>
            </a:r>
            <a:endParaRPr lang="en-US" sz="1551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Q3 − Q1</a:t>
            </a:r>
            <a:endParaRPr lang="en-US" sz="1431" dirty="0"/>
          </a:p>
        </p:txBody>
      </p:sp>
      <p:sp>
        <p:nvSpPr>
          <p:cNvPr id="12" name="Text 10"/>
          <p:cNvSpPr/>
          <p:nvPr/>
        </p:nvSpPr>
        <p:spPr>
          <a:xfrm>
            <a:off x="6720840" y="28346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Robusto frente a valores extremos</a:t>
            </a:r>
            <a:endParaRPr lang="en-US" sz="1351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10287000" cy="0"/>
          </a:xfrm>
          <a:prstGeom prst="line">
            <a:avLst/>
          </a:prstGeom>
          <a:noFill/>
          <a:ln w="8890">
            <a:solidFill>
              <a:srgbClr val="E1E2E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777240" y="367588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1" b="1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Varianza y desvío estándar</a:t>
            </a:r>
            <a:endParaRPr lang="en-US" sz="1551" dirty="0"/>
          </a:p>
        </p:txBody>
      </p:sp>
      <p:sp>
        <p:nvSpPr>
          <p:cNvPr id="15" name="Text 13"/>
          <p:cNvSpPr/>
          <p:nvPr/>
        </p:nvSpPr>
        <p:spPr>
          <a:xfrm>
            <a:off x="3657600" y="3675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Distancias respecto de la media</a:t>
            </a:r>
            <a:endParaRPr lang="en-US" sz="1431" dirty="0"/>
          </a:p>
        </p:txBody>
      </p:sp>
      <p:sp>
        <p:nvSpPr>
          <p:cNvPr id="16" name="Text 14"/>
          <p:cNvSpPr/>
          <p:nvPr/>
        </p:nvSpPr>
        <p:spPr>
          <a:xfrm>
            <a:off x="6720840" y="36758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Útiles con variables cuantitativas</a:t>
            </a:r>
            <a:endParaRPr lang="en-US" sz="1351" dirty="0"/>
          </a:p>
        </p:txBody>
      </p:sp>
      <p:sp>
        <p:nvSpPr>
          <p:cNvPr id="17" name="Shape 15"/>
          <p:cNvSpPr/>
          <p:nvPr/>
        </p:nvSpPr>
        <p:spPr>
          <a:xfrm>
            <a:off x="777240" y="4224528"/>
            <a:ext cx="10287000" cy="0"/>
          </a:xfrm>
          <a:prstGeom prst="line">
            <a:avLst/>
          </a:prstGeom>
          <a:noFill/>
          <a:ln w="8890">
            <a:solidFill>
              <a:srgbClr val="E1E2E5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777240" y="45171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1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Coeficiente de variación</a:t>
            </a:r>
            <a:endParaRPr lang="en-US" sz="1551" dirty="0"/>
          </a:p>
        </p:txBody>
      </p:sp>
      <p:sp>
        <p:nvSpPr>
          <p:cNvPr id="19" name="Text 17"/>
          <p:cNvSpPr/>
          <p:nvPr/>
        </p:nvSpPr>
        <p:spPr>
          <a:xfrm>
            <a:off x="3657600" y="45171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/ media × 100</a:t>
            </a:r>
            <a:endParaRPr lang="en-US" sz="1431" dirty="0"/>
          </a:p>
        </p:txBody>
      </p:sp>
      <p:sp>
        <p:nvSpPr>
          <p:cNvPr id="20" name="Text 18"/>
          <p:cNvSpPr/>
          <p:nvPr/>
        </p:nvSpPr>
        <p:spPr>
          <a:xfrm>
            <a:off x="6720840" y="4343399"/>
            <a:ext cx="4343400" cy="6476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comparar </a:t>
            </a:r>
            <a:r>
              <a:rPr lang="en-US" sz="1400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dispersión</a:t>
            </a:r>
            <a:r>
              <a:rPr lang="en-US" sz="1400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relativa</a:t>
            </a:r>
            <a:endParaRPr lang="en-US" sz="1400" dirty="0">
              <a:solidFill>
                <a:srgbClr val="62666D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n-US" sz="1400" dirty="0">
                <a:solidFill>
                  <a:srgbClr val="62666D"/>
                </a:solidFill>
                <a:latin typeface="Aptos" pitchFamily="34" charset="0"/>
              </a:rPr>
              <a:t>Es </a:t>
            </a:r>
            <a:r>
              <a:rPr lang="en-US" sz="1400" dirty="0" err="1">
                <a:solidFill>
                  <a:srgbClr val="62666D"/>
                </a:solidFill>
                <a:latin typeface="Aptos" pitchFamily="34" charset="0"/>
              </a:rPr>
              <a:t>útil</a:t>
            </a:r>
            <a:r>
              <a:rPr lang="en-US" sz="1400" dirty="0">
                <a:solidFill>
                  <a:srgbClr val="62666D"/>
                </a:solidFill>
                <a:latin typeface="Aptos" pitchFamily="34" charset="0"/>
              </a:rPr>
              <a:t> para saber </a:t>
            </a:r>
            <a:r>
              <a:rPr lang="en-US" sz="1400" dirty="0" err="1">
                <a:solidFill>
                  <a:srgbClr val="62666D"/>
                </a:solidFill>
                <a:latin typeface="Aptos" pitchFamily="34" charset="0"/>
              </a:rPr>
              <a:t>si</a:t>
            </a:r>
            <a:r>
              <a:rPr lang="en-US" sz="1400" dirty="0">
                <a:solidFill>
                  <a:srgbClr val="62666D"/>
                </a:solidFill>
                <a:latin typeface="Aptos" pitchFamily="34" charset="0"/>
              </a:rPr>
              <a:t> la media es </a:t>
            </a:r>
            <a:r>
              <a:rPr lang="en-US" sz="1400" dirty="0" err="1">
                <a:solidFill>
                  <a:srgbClr val="62666D"/>
                </a:solidFill>
                <a:latin typeface="Aptos" pitchFamily="34" charset="0"/>
              </a:rPr>
              <a:t>una</a:t>
            </a:r>
            <a:r>
              <a:rPr lang="en-US" sz="1400" dirty="0">
                <a:solidFill>
                  <a:srgbClr val="62666D"/>
                </a:solidFill>
                <a:latin typeface="Aptos" pitchFamily="34" charset="0"/>
              </a:rPr>
              <a:t> </a:t>
            </a:r>
            <a:r>
              <a:rPr lang="en-US" sz="1400" dirty="0" err="1">
                <a:solidFill>
                  <a:srgbClr val="62666D"/>
                </a:solidFill>
                <a:latin typeface="Aptos" pitchFamily="34" charset="0"/>
              </a:rPr>
              <a:t>buena</a:t>
            </a:r>
            <a:r>
              <a:rPr lang="en-US" sz="1400" dirty="0">
                <a:solidFill>
                  <a:srgbClr val="62666D"/>
                </a:solidFill>
                <a:latin typeface="Aptos" pitchFamily="34" charset="0"/>
              </a:rPr>
              <a:t> </a:t>
            </a:r>
            <a:r>
              <a:rPr lang="en-US" sz="1400" dirty="0" err="1">
                <a:solidFill>
                  <a:srgbClr val="62666D"/>
                </a:solidFill>
                <a:latin typeface="Aptos" pitchFamily="34" charset="0"/>
              </a:rPr>
              <a:t>descripción</a:t>
            </a:r>
            <a:r>
              <a:rPr lang="en-US" sz="1400" dirty="0">
                <a:solidFill>
                  <a:srgbClr val="62666D"/>
                </a:solidFill>
                <a:latin typeface="Aptos" pitchFamily="34" charset="0"/>
              </a:rPr>
              <a:t> de </a:t>
            </a:r>
            <a:r>
              <a:rPr lang="en-US" sz="1400" dirty="0" err="1">
                <a:solidFill>
                  <a:srgbClr val="62666D"/>
                </a:solidFill>
                <a:latin typeface="Aptos" pitchFamily="34" charset="0"/>
              </a:rPr>
              <a:t>los</a:t>
            </a:r>
            <a:r>
              <a:rPr lang="en-US" sz="1400" dirty="0">
                <a:solidFill>
                  <a:srgbClr val="62666D"/>
                </a:solidFill>
                <a:latin typeface="Aptos" pitchFamily="34" charset="0"/>
              </a:rPr>
              <a:t> </a:t>
            </a:r>
            <a:r>
              <a:rPr lang="en-US" sz="1400" dirty="0" err="1">
                <a:solidFill>
                  <a:srgbClr val="62666D"/>
                </a:solidFill>
                <a:latin typeface="Aptos" pitchFamily="34" charset="0"/>
              </a:rPr>
              <a:t>datos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23160" y="5413248"/>
            <a:ext cx="7360920" cy="566928"/>
          </a:xfrm>
          <a:prstGeom prst="roundRect">
            <a:avLst>
              <a:gd name="adj" fmla="val 8065"/>
            </a:avLst>
          </a:prstGeom>
          <a:solidFill>
            <a:srgbClr val="EEF0F7"/>
          </a:solidFill>
          <a:ln w="1143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2651760" y="5559552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dispersión agrega información que el “promedio” por sí solo no contiene.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A130B-912B-7BD5-DE7B-F05618093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6290F3-E263-FAD8-D8AA-FFC270CDD987}"/>
              </a:ext>
            </a:extLst>
          </p:cNvPr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DISTRIBUCIONES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F837F5-43C6-D114-5669-DF825321238B}"/>
              </a:ext>
            </a:extLst>
          </p:cNvPr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Dispersión: cuánto varían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con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respecto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al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centro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89D5CB-C9A3-19AD-660A-1009D4F3551B}"/>
              </a:ext>
            </a:extLst>
          </p:cNvPr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985F5C-8D69-6E2E-B564-441BE3ACA4AF}"/>
              </a:ext>
            </a:extLst>
          </p:cNvPr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8A4F55B-8CC2-154A-1528-465CAFB278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81A6FCD-F03A-58E8-4058-B463C816E2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066" b="15733"/>
          <a:stretch>
            <a:fillRect/>
          </a:stretch>
        </p:blipFill>
        <p:spPr>
          <a:xfrm>
            <a:off x="1499616" y="2032054"/>
            <a:ext cx="8829675" cy="405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330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Forma: simetría, colas y valores extremos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grpSp>
        <p:nvGrpSpPr>
          <p:cNvPr id="78" name="Grupo 77">
            <a:extLst>
              <a:ext uri="{FF2B5EF4-FFF2-40B4-BE49-F238E27FC236}">
                <a16:creationId xmlns:a16="http://schemas.microsoft.com/office/drawing/2014/main" id="{094AFAFD-1F09-0CF5-AD69-1B344EC3CAAF}"/>
              </a:ext>
            </a:extLst>
          </p:cNvPr>
          <p:cNvGrpSpPr/>
          <p:nvPr/>
        </p:nvGrpSpPr>
        <p:grpSpPr>
          <a:xfrm>
            <a:off x="1115568" y="3721609"/>
            <a:ext cx="2697480" cy="2377440"/>
            <a:chOff x="872109" y="3611880"/>
            <a:chExt cx="2697480" cy="2377440"/>
          </a:xfrm>
        </p:grpSpPr>
        <p:sp>
          <p:nvSpPr>
            <p:cNvPr id="6" name="Shape 4"/>
            <p:cNvSpPr/>
            <p:nvPr/>
          </p:nvSpPr>
          <p:spPr>
            <a:xfrm>
              <a:off x="963549" y="5148072"/>
              <a:ext cx="228600" cy="256032"/>
            </a:xfrm>
            <a:prstGeom prst="rect">
              <a:avLst/>
            </a:prstGeom>
            <a:solidFill>
              <a:srgbClr val="53BDB4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Shape 5"/>
            <p:cNvSpPr/>
            <p:nvPr/>
          </p:nvSpPr>
          <p:spPr>
            <a:xfrm>
              <a:off x="1247013" y="4892040"/>
              <a:ext cx="228600" cy="512064"/>
            </a:xfrm>
            <a:prstGeom prst="rect">
              <a:avLst/>
            </a:prstGeom>
            <a:solidFill>
              <a:srgbClr val="53BDB4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8" name="Shape 6"/>
            <p:cNvSpPr/>
            <p:nvPr/>
          </p:nvSpPr>
          <p:spPr>
            <a:xfrm>
              <a:off x="1530477" y="4379976"/>
              <a:ext cx="228600" cy="1024128"/>
            </a:xfrm>
            <a:prstGeom prst="rect">
              <a:avLst/>
            </a:prstGeom>
            <a:solidFill>
              <a:srgbClr val="53BDB4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" name="Shape 7"/>
            <p:cNvSpPr/>
            <p:nvPr/>
          </p:nvSpPr>
          <p:spPr>
            <a:xfrm>
              <a:off x="1813941" y="3867912"/>
              <a:ext cx="228600" cy="1536192"/>
            </a:xfrm>
            <a:prstGeom prst="rect">
              <a:avLst/>
            </a:prstGeom>
            <a:solidFill>
              <a:srgbClr val="53BDB4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Shape 8"/>
            <p:cNvSpPr/>
            <p:nvPr/>
          </p:nvSpPr>
          <p:spPr>
            <a:xfrm>
              <a:off x="2097405" y="3611880"/>
              <a:ext cx="228600" cy="1792224"/>
            </a:xfrm>
            <a:prstGeom prst="rect">
              <a:avLst/>
            </a:prstGeom>
            <a:solidFill>
              <a:srgbClr val="53BDB4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Shape 9"/>
            <p:cNvSpPr/>
            <p:nvPr/>
          </p:nvSpPr>
          <p:spPr>
            <a:xfrm>
              <a:off x="2380869" y="3867912"/>
              <a:ext cx="228600" cy="1536192"/>
            </a:xfrm>
            <a:prstGeom prst="rect">
              <a:avLst/>
            </a:prstGeom>
            <a:solidFill>
              <a:srgbClr val="53BDB4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Shape 10"/>
            <p:cNvSpPr/>
            <p:nvPr/>
          </p:nvSpPr>
          <p:spPr>
            <a:xfrm>
              <a:off x="2664333" y="4379976"/>
              <a:ext cx="228600" cy="1024128"/>
            </a:xfrm>
            <a:prstGeom prst="rect">
              <a:avLst/>
            </a:prstGeom>
            <a:solidFill>
              <a:srgbClr val="53BDB4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Shape 11"/>
            <p:cNvSpPr/>
            <p:nvPr/>
          </p:nvSpPr>
          <p:spPr>
            <a:xfrm>
              <a:off x="2947797" y="4892040"/>
              <a:ext cx="228600" cy="512064"/>
            </a:xfrm>
            <a:prstGeom prst="rect">
              <a:avLst/>
            </a:prstGeom>
            <a:solidFill>
              <a:srgbClr val="53BDB4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Shape 12"/>
            <p:cNvSpPr/>
            <p:nvPr/>
          </p:nvSpPr>
          <p:spPr>
            <a:xfrm>
              <a:off x="3231261" y="5148072"/>
              <a:ext cx="228600" cy="256032"/>
            </a:xfrm>
            <a:prstGeom prst="rect">
              <a:avLst/>
            </a:prstGeom>
            <a:solidFill>
              <a:srgbClr val="53BDB4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Shape 13"/>
            <p:cNvSpPr/>
            <p:nvPr/>
          </p:nvSpPr>
          <p:spPr>
            <a:xfrm>
              <a:off x="917829" y="5422392"/>
              <a:ext cx="2606040" cy="0"/>
            </a:xfrm>
            <a:prstGeom prst="line">
              <a:avLst/>
            </a:prstGeom>
            <a:noFill/>
            <a:ln w="12700">
              <a:solidFill>
                <a:srgbClr val="AFAFA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Text 14"/>
            <p:cNvSpPr/>
            <p:nvPr/>
          </p:nvSpPr>
          <p:spPr>
            <a:xfrm>
              <a:off x="872109" y="5605272"/>
              <a:ext cx="2697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US" sz="1251" b="1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Aproximadamente simétrica</a:t>
              </a:r>
              <a:endParaRPr lang="en-US" sz="1251" dirty="0"/>
            </a:p>
          </p:txBody>
        </p:sp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92775CA3-B904-C391-1422-6A643734F6D1}"/>
              </a:ext>
            </a:extLst>
          </p:cNvPr>
          <p:cNvGrpSpPr/>
          <p:nvPr/>
        </p:nvGrpSpPr>
        <p:grpSpPr>
          <a:xfrm>
            <a:off x="4498848" y="3721609"/>
            <a:ext cx="2697480" cy="2377440"/>
            <a:chOff x="4255389" y="3611880"/>
            <a:chExt cx="2697480" cy="2377440"/>
          </a:xfrm>
        </p:grpSpPr>
        <p:sp>
          <p:nvSpPr>
            <p:cNvPr id="17" name="Shape 15"/>
            <p:cNvSpPr/>
            <p:nvPr/>
          </p:nvSpPr>
          <p:spPr>
            <a:xfrm>
              <a:off x="4346829" y="3867912"/>
              <a:ext cx="228600" cy="1536192"/>
            </a:xfrm>
            <a:prstGeom prst="rect">
              <a:avLst/>
            </a:prstGeom>
            <a:solidFill>
              <a:srgbClr val="8469AD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Shape 16"/>
            <p:cNvSpPr/>
            <p:nvPr/>
          </p:nvSpPr>
          <p:spPr>
            <a:xfrm>
              <a:off x="4630293" y="3611880"/>
              <a:ext cx="228600" cy="1792224"/>
            </a:xfrm>
            <a:prstGeom prst="rect">
              <a:avLst/>
            </a:prstGeom>
            <a:solidFill>
              <a:srgbClr val="8469AD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Shape 17"/>
            <p:cNvSpPr/>
            <p:nvPr/>
          </p:nvSpPr>
          <p:spPr>
            <a:xfrm>
              <a:off x="4913757" y="3867912"/>
              <a:ext cx="228600" cy="1536192"/>
            </a:xfrm>
            <a:prstGeom prst="rect">
              <a:avLst/>
            </a:prstGeom>
            <a:solidFill>
              <a:srgbClr val="8469AD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Shape 18"/>
            <p:cNvSpPr/>
            <p:nvPr/>
          </p:nvSpPr>
          <p:spPr>
            <a:xfrm>
              <a:off x="5197221" y="4379976"/>
              <a:ext cx="228600" cy="1024128"/>
            </a:xfrm>
            <a:prstGeom prst="rect">
              <a:avLst/>
            </a:prstGeom>
            <a:solidFill>
              <a:srgbClr val="8469AD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0685" y="4636008"/>
              <a:ext cx="228600" cy="768096"/>
            </a:xfrm>
            <a:prstGeom prst="rect">
              <a:avLst/>
            </a:prstGeom>
            <a:solidFill>
              <a:srgbClr val="8469AD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Shape 20"/>
            <p:cNvSpPr/>
            <p:nvPr/>
          </p:nvSpPr>
          <p:spPr>
            <a:xfrm>
              <a:off x="5764149" y="4892040"/>
              <a:ext cx="228600" cy="512064"/>
            </a:xfrm>
            <a:prstGeom prst="rect">
              <a:avLst/>
            </a:prstGeom>
            <a:solidFill>
              <a:srgbClr val="8469AD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3" name="Shape 21"/>
            <p:cNvSpPr/>
            <p:nvPr/>
          </p:nvSpPr>
          <p:spPr>
            <a:xfrm>
              <a:off x="6047613" y="5020056"/>
              <a:ext cx="228600" cy="384048"/>
            </a:xfrm>
            <a:prstGeom prst="rect">
              <a:avLst/>
            </a:prstGeom>
            <a:solidFill>
              <a:srgbClr val="8469AD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4" name="Shape 22"/>
            <p:cNvSpPr/>
            <p:nvPr/>
          </p:nvSpPr>
          <p:spPr>
            <a:xfrm>
              <a:off x="6331077" y="5148072"/>
              <a:ext cx="228600" cy="256032"/>
            </a:xfrm>
            <a:prstGeom prst="rect">
              <a:avLst/>
            </a:prstGeom>
            <a:solidFill>
              <a:srgbClr val="8469AD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Shape 23"/>
            <p:cNvSpPr/>
            <p:nvPr/>
          </p:nvSpPr>
          <p:spPr>
            <a:xfrm>
              <a:off x="6614541" y="5250485"/>
              <a:ext cx="228600" cy="153619"/>
            </a:xfrm>
            <a:prstGeom prst="rect">
              <a:avLst/>
            </a:prstGeom>
            <a:solidFill>
              <a:srgbClr val="8469AD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Shape 24"/>
            <p:cNvSpPr/>
            <p:nvPr/>
          </p:nvSpPr>
          <p:spPr>
            <a:xfrm>
              <a:off x="4301109" y="5422392"/>
              <a:ext cx="2606040" cy="0"/>
            </a:xfrm>
            <a:prstGeom prst="line">
              <a:avLst/>
            </a:prstGeom>
            <a:noFill/>
            <a:ln w="12700">
              <a:solidFill>
                <a:srgbClr val="AFAFA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Text 25"/>
            <p:cNvSpPr/>
            <p:nvPr/>
          </p:nvSpPr>
          <p:spPr>
            <a:xfrm>
              <a:off x="4255389" y="5605272"/>
              <a:ext cx="2697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US" sz="1251" b="1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Asimetría positiva</a:t>
              </a:r>
              <a:endParaRPr lang="en-US" sz="1251" dirty="0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FE7DB352-9156-3868-E0A5-9E1CDA249184}"/>
              </a:ext>
            </a:extLst>
          </p:cNvPr>
          <p:cNvGrpSpPr/>
          <p:nvPr/>
        </p:nvGrpSpPr>
        <p:grpSpPr>
          <a:xfrm>
            <a:off x="7882128" y="3977641"/>
            <a:ext cx="2697480" cy="2121408"/>
            <a:chOff x="7638669" y="3867912"/>
            <a:chExt cx="2697480" cy="2121408"/>
          </a:xfrm>
        </p:grpSpPr>
        <p:sp>
          <p:nvSpPr>
            <p:cNvPr id="28" name="Shape 26"/>
            <p:cNvSpPr/>
            <p:nvPr/>
          </p:nvSpPr>
          <p:spPr>
            <a:xfrm>
              <a:off x="7730109" y="5148072"/>
              <a:ext cx="228600" cy="256032"/>
            </a:xfrm>
            <a:prstGeom prst="rect">
              <a:avLst/>
            </a:prstGeom>
            <a:solidFill>
              <a:srgbClr val="232858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Shape 27"/>
            <p:cNvSpPr/>
            <p:nvPr/>
          </p:nvSpPr>
          <p:spPr>
            <a:xfrm>
              <a:off x="8013573" y="4636008"/>
              <a:ext cx="228600" cy="768096"/>
            </a:xfrm>
            <a:prstGeom prst="rect">
              <a:avLst/>
            </a:prstGeom>
            <a:solidFill>
              <a:srgbClr val="232858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Shape 28"/>
            <p:cNvSpPr/>
            <p:nvPr/>
          </p:nvSpPr>
          <p:spPr>
            <a:xfrm>
              <a:off x="8297037" y="4123944"/>
              <a:ext cx="228600" cy="1280160"/>
            </a:xfrm>
            <a:prstGeom prst="rect">
              <a:avLst/>
            </a:prstGeom>
            <a:solidFill>
              <a:srgbClr val="232858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Shape 29"/>
            <p:cNvSpPr/>
            <p:nvPr/>
          </p:nvSpPr>
          <p:spPr>
            <a:xfrm>
              <a:off x="8580501" y="3867912"/>
              <a:ext cx="228600" cy="1536192"/>
            </a:xfrm>
            <a:prstGeom prst="rect">
              <a:avLst/>
            </a:prstGeom>
            <a:solidFill>
              <a:srgbClr val="232858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Shape 30"/>
            <p:cNvSpPr/>
            <p:nvPr/>
          </p:nvSpPr>
          <p:spPr>
            <a:xfrm>
              <a:off x="8863965" y="4123944"/>
              <a:ext cx="228600" cy="1280160"/>
            </a:xfrm>
            <a:prstGeom prst="rect">
              <a:avLst/>
            </a:prstGeom>
            <a:solidFill>
              <a:srgbClr val="232858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Shape 31"/>
            <p:cNvSpPr/>
            <p:nvPr/>
          </p:nvSpPr>
          <p:spPr>
            <a:xfrm>
              <a:off x="9147429" y="4636008"/>
              <a:ext cx="228600" cy="768096"/>
            </a:xfrm>
            <a:prstGeom prst="rect">
              <a:avLst/>
            </a:prstGeom>
            <a:solidFill>
              <a:srgbClr val="232858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Shape 32"/>
            <p:cNvSpPr/>
            <p:nvPr/>
          </p:nvSpPr>
          <p:spPr>
            <a:xfrm>
              <a:off x="9430893" y="5148072"/>
              <a:ext cx="228600" cy="256032"/>
            </a:xfrm>
            <a:prstGeom prst="rect">
              <a:avLst/>
            </a:prstGeom>
            <a:solidFill>
              <a:srgbClr val="232858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Shape 33"/>
            <p:cNvSpPr/>
            <p:nvPr/>
          </p:nvSpPr>
          <p:spPr>
            <a:xfrm>
              <a:off x="9714357" y="5276088"/>
              <a:ext cx="228600" cy="128016"/>
            </a:xfrm>
            <a:prstGeom prst="rect">
              <a:avLst/>
            </a:prstGeom>
            <a:solidFill>
              <a:srgbClr val="232858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6" name="Shape 34"/>
            <p:cNvSpPr/>
            <p:nvPr/>
          </p:nvSpPr>
          <p:spPr>
            <a:xfrm>
              <a:off x="9997821" y="4507992"/>
              <a:ext cx="228600" cy="896112"/>
            </a:xfrm>
            <a:prstGeom prst="rect">
              <a:avLst/>
            </a:prstGeom>
            <a:solidFill>
              <a:srgbClr val="232858"/>
            </a:solidFill>
            <a:ln w="381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7" name="Shape 35"/>
            <p:cNvSpPr/>
            <p:nvPr/>
          </p:nvSpPr>
          <p:spPr>
            <a:xfrm>
              <a:off x="7684389" y="5422392"/>
              <a:ext cx="2606040" cy="0"/>
            </a:xfrm>
            <a:prstGeom prst="line">
              <a:avLst/>
            </a:prstGeom>
            <a:noFill/>
            <a:ln w="12700">
              <a:solidFill>
                <a:srgbClr val="AFAFAF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8" name="Text 36"/>
            <p:cNvSpPr/>
            <p:nvPr/>
          </p:nvSpPr>
          <p:spPr>
            <a:xfrm>
              <a:off x="7638669" y="5605272"/>
              <a:ext cx="2697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US" sz="1251" b="1" dirty="0">
                  <a:solidFill>
                    <a:srgbClr val="2021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 valores extremos</a:t>
              </a:r>
              <a:endParaRPr lang="en-US" sz="1251" dirty="0"/>
            </a:p>
          </p:txBody>
        </p:sp>
      </p:grpSp>
      <p:sp>
        <p:nvSpPr>
          <p:cNvPr id="40" name="Text 38"/>
          <p:cNvSpPr/>
          <p:nvPr/>
        </p:nvSpPr>
        <p:spPr>
          <a:xfrm>
            <a:off x="1115568" y="1920240"/>
            <a:ext cx="994867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forma ayuda a decidir si la media representa bien el “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”. Si la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es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asimétrica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31" i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outliers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media es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mala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representación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la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endParaRPr lang="en-US" sz="1531" dirty="0"/>
          </a:p>
        </p:txBody>
      </p:sp>
      <p:sp>
        <p:nvSpPr>
          <p:cNvPr id="42" name="Text 40"/>
          <p:cNvSpPr/>
          <p:nvPr/>
        </p:nvSpPr>
        <p:spPr>
          <a:xfrm>
            <a:off x="1127760" y="2371726"/>
            <a:ext cx="994867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valores extremos pueden ser reales, errores o casos sustantivamente importantes.</a:t>
            </a:r>
            <a:endParaRPr lang="en-US" sz="1531" dirty="0"/>
          </a:p>
        </p:txBody>
      </p:sp>
      <p:sp>
        <p:nvSpPr>
          <p:cNvPr id="44" name="Text 42"/>
          <p:cNvSpPr/>
          <p:nvPr/>
        </p:nvSpPr>
        <p:spPr>
          <a:xfrm>
            <a:off x="1115568" y="2720341"/>
            <a:ext cx="994867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Visualizar la distribución debe acompañar a las medidas resumen.</a:t>
            </a:r>
            <a:endParaRPr lang="en-US" sz="1531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  <p:sp>
        <p:nvSpPr>
          <p:cNvPr id="82" name="Text 42">
            <a:extLst>
              <a:ext uri="{FF2B5EF4-FFF2-40B4-BE49-F238E27FC236}">
                <a16:creationId xmlns:a16="http://schemas.microsoft.com/office/drawing/2014/main" id="{D3EFADBA-4C4E-5E6E-9A8A-091661A83ADA}"/>
              </a:ext>
            </a:extLst>
          </p:cNvPr>
          <p:cNvSpPr/>
          <p:nvPr/>
        </p:nvSpPr>
        <p:spPr>
          <a:xfrm>
            <a:off x="1122426" y="3091816"/>
            <a:ext cx="994867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estadística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nos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suele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interesar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saber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la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 </a:t>
            </a:r>
            <a:r>
              <a:rPr lang="en-US" sz="1531" dirty="0" err="1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aproxima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la </a:t>
            </a:r>
            <a:r>
              <a:rPr lang="en-US" sz="1531" i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r>
              <a:rPr lang="en-US" sz="153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endParaRPr lang="en-US" sz="153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868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80" dirty="0">
                <a:solidFill>
                  <a:srgbClr val="53B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ingreso laboral (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ficticios</a:t>
            </a:r>
            <a:r>
              <a:rPr lang="en-US" sz="2800" b="1" dirty="0">
                <a:solidFill>
                  <a:srgbClr val="8469A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868680" cy="100584"/>
          </a:xfrm>
          <a:prstGeom prst="roundRect">
            <a:avLst>
              <a:gd name="adj" fmla="val 45455"/>
            </a:avLst>
          </a:prstGeom>
          <a:solidFill>
            <a:srgbClr val="AFAFA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499616" y="1732788"/>
            <a:ext cx="9784080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956816" cy="822960"/>
          </a:xfrm>
          <a:prstGeom prst="roundRect">
            <a:avLst>
              <a:gd name="adj" fmla="val 5556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68680" y="216712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1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1151" dirty="0"/>
          </a:p>
        </p:txBody>
      </p:sp>
      <p:sp>
        <p:nvSpPr>
          <p:cNvPr id="8" name="Text 6"/>
          <p:cNvSpPr/>
          <p:nvPr/>
        </p:nvSpPr>
        <p:spPr>
          <a:xfrm>
            <a:off x="868680" y="245059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51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$878,5 mil</a:t>
            </a:r>
            <a:endParaRPr lang="en-US" sz="1551" dirty="0"/>
          </a:p>
        </p:txBody>
      </p:sp>
      <p:sp>
        <p:nvSpPr>
          <p:cNvPr id="9" name="Shape 7"/>
          <p:cNvSpPr/>
          <p:nvPr/>
        </p:nvSpPr>
        <p:spPr>
          <a:xfrm>
            <a:off x="3017520" y="2057400"/>
            <a:ext cx="1956816" cy="822960"/>
          </a:xfrm>
          <a:prstGeom prst="roundRect">
            <a:avLst>
              <a:gd name="adj" fmla="val 5556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3108960" y="216712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1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Mediana</a:t>
            </a:r>
            <a:endParaRPr lang="en-US" sz="1151" dirty="0"/>
          </a:p>
        </p:txBody>
      </p:sp>
      <p:sp>
        <p:nvSpPr>
          <p:cNvPr id="11" name="Text 9"/>
          <p:cNvSpPr/>
          <p:nvPr/>
        </p:nvSpPr>
        <p:spPr>
          <a:xfrm>
            <a:off x="3108960" y="245059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51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$625 mil</a:t>
            </a:r>
            <a:endParaRPr lang="en-US" sz="1551" dirty="0"/>
          </a:p>
        </p:txBody>
      </p:sp>
      <p:sp>
        <p:nvSpPr>
          <p:cNvPr id="12" name="Shape 10"/>
          <p:cNvSpPr/>
          <p:nvPr/>
        </p:nvSpPr>
        <p:spPr>
          <a:xfrm>
            <a:off x="5257800" y="2057400"/>
            <a:ext cx="1956816" cy="822960"/>
          </a:xfrm>
          <a:prstGeom prst="roundRect">
            <a:avLst>
              <a:gd name="adj" fmla="val 5556"/>
            </a:avLst>
          </a:prstGeom>
          <a:solidFill>
            <a:srgbClr val="EAF7F5"/>
          </a:solidFill>
          <a:ln w="1016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5349240" y="216712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1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P25</a:t>
            </a:r>
            <a:endParaRPr lang="en-US" sz="1151" dirty="0"/>
          </a:p>
        </p:txBody>
      </p:sp>
      <p:sp>
        <p:nvSpPr>
          <p:cNvPr id="14" name="Text 12"/>
          <p:cNvSpPr/>
          <p:nvPr/>
        </p:nvSpPr>
        <p:spPr>
          <a:xfrm>
            <a:off x="5349240" y="245059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51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$472,5 mil</a:t>
            </a:r>
            <a:endParaRPr lang="en-US" sz="1551" dirty="0"/>
          </a:p>
        </p:txBody>
      </p:sp>
      <p:sp>
        <p:nvSpPr>
          <p:cNvPr id="15" name="Shape 13"/>
          <p:cNvSpPr/>
          <p:nvPr/>
        </p:nvSpPr>
        <p:spPr>
          <a:xfrm>
            <a:off x="777240" y="3108960"/>
            <a:ext cx="1956816" cy="822960"/>
          </a:xfrm>
          <a:prstGeom prst="roundRect">
            <a:avLst>
              <a:gd name="adj" fmla="val 5556"/>
            </a:avLst>
          </a:prstGeom>
          <a:solidFill>
            <a:srgbClr val="F2EEF7"/>
          </a:solidFill>
          <a:ln w="1016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68680" y="321868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1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P75</a:t>
            </a:r>
            <a:endParaRPr lang="en-US" sz="1151" dirty="0"/>
          </a:p>
        </p:txBody>
      </p:sp>
      <p:sp>
        <p:nvSpPr>
          <p:cNvPr id="17" name="Text 15"/>
          <p:cNvSpPr/>
          <p:nvPr/>
        </p:nvSpPr>
        <p:spPr>
          <a:xfrm>
            <a:off x="868680" y="350215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51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$925 mil</a:t>
            </a:r>
            <a:endParaRPr lang="en-US" sz="1551" dirty="0"/>
          </a:p>
        </p:txBody>
      </p:sp>
      <p:sp>
        <p:nvSpPr>
          <p:cNvPr id="18" name="Shape 16"/>
          <p:cNvSpPr/>
          <p:nvPr/>
        </p:nvSpPr>
        <p:spPr>
          <a:xfrm>
            <a:off x="3017520" y="3108960"/>
            <a:ext cx="1956816" cy="822960"/>
          </a:xfrm>
          <a:prstGeom prst="roundRect">
            <a:avLst>
              <a:gd name="adj" fmla="val 5556"/>
            </a:avLst>
          </a:prstGeom>
          <a:solidFill>
            <a:srgbClr val="F2EEF7"/>
          </a:solidFill>
          <a:ln w="1016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3108960" y="321868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1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</a:t>
            </a:r>
            <a:endParaRPr lang="en-US" sz="1151" dirty="0"/>
          </a:p>
        </p:txBody>
      </p:sp>
      <p:sp>
        <p:nvSpPr>
          <p:cNvPr id="20" name="Text 18"/>
          <p:cNvSpPr/>
          <p:nvPr/>
        </p:nvSpPr>
        <p:spPr>
          <a:xfrm>
            <a:off x="3108960" y="350215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51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$746,7 mil</a:t>
            </a:r>
            <a:endParaRPr lang="en-US" sz="1551" dirty="0"/>
          </a:p>
        </p:txBody>
      </p:sp>
      <p:sp>
        <p:nvSpPr>
          <p:cNvPr id="21" name="Shape 19"/>
          <p:cNvSpPr/>
          <p:nvPr/>
        </p:nvSpPr>
        <p:spPr>
          <a:xfrm>
            <a:off x="5257800" y="3108960"/>
            <a:ext cx="1956816" cy="822960"/>
          </a:xfrm>
          <a:prstGeom prst="roundRect">
            <a:avLst>
              <a:gd name="adj" fmla="val 5556"/>
            </a:avLst>
          </a:prstGeom>
          <a:solidFill>
            <a:srgbClr val="F2EEF7"/>
          </a:solidFill>
          <a:ln w="1016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5349240" y="321868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1" b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</a:t>
            </a:r>
            <a:endParaRPr lang="en-US" sz="1151" dirty="0"/>
          </a:p>
        </p:txBody>
      </p:sp>
      <p:sp>
        <p:nvSpPr>
          <p:cNvPr id="23" name="Text 21"/>
          <p:cNvSpPr/>
          <p:nvPr/>
        </p:nvSpPr>
        <p:spPr>
          <a:xfrm>
            <a:off x="5349240" y="350215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51" b="1" dirty="0">
                <a:solidFill>
                  <a:srgbClr val="232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85,0%</a:t>
            </a:r>
            <a:endParaRPr lang="en-US" sz="1551" dirty="0"/>
          </a:p>
        </p:txBody>
      </p:sp>
      <p:sp>
        <p:nvSpPr>
          <p:cNvPr id="24" name="Text 22"/>
          <p:cNvSpPr/>
          <p:nvPr/>
        </p:nvSpPr>
        <p:spPr>
          <a:xfrm>
            <a:off x="800100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8469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conjunta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818120" y="2587752"/>
            <a:ext cx="100584" cy="100584"/>
          </a:xfrm>
          <a:prstGeom prst="ellipse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8019288" y="2487168"/>
            <a:ext cx="3364992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&gt; mediana → cola superior larga.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>
            <a:off x="7818120" y="3182112"/>
            <a:ext cx="100584" cy="100584"/>
          </a:xfrm>
          <a:prstGeom prst="ellipse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8019288" y="3081528"/>
            <a:ext cx="3364992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50% central se ubica entre $472,5 y $925 mil.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7818120" y="3776472"/>
            <a:ext cx="100584" cy="100584"/>
          </a:xfrm>
          <a:prstGeom prst="ellipse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8019288" y="3675888"/>
            <a:ext cx="3364992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alto → gran heterogeneidad relativa.</a:t>
            </a:r>
            <a:endParaRPr lang="en-US" sz="1340" dirty="0"/>
          </a:p>
        </p:txBody>
      </p:sp>
      <p:sp>
        <p:nvSpPr>
          <p:cNvPr id="31" name="Shape 29"/>
          <p:cNvSpPr/>
          <p:nvPr/>
        </p:nvSpPr>
        <p:spPr>
          <a:xfrm>
            <a:off x="7818120" y="4370832"/>
            <a:ext cx="100584" cy="100584"/>
          </a:xfrm>
          <a:prstGeom prst="ellipse">
            <a:avLst/>
          </a:prstGeom>
          <a:solidFill>
            <a:srgbClr val="8469AD"/>
          </a:solidFill>
          <a:ln w="127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8019288" y="4270248"/>
            <a:ext cx="3364992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34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mostrar más de una medida y una visualización.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1005840" y="4919472"/>
            <a:ext cx="5897880" cy="0"/>
          </a:xfrm>
          <a:prstGeom prst="line">
            <a:avLst/>
          </a:prstGeom>
          <a:noFill/>
          <a:ln w="1397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Shape 32"/>
          <p:cNvSpPr/>
          <p:nvPr/>
        </p:nvSpPr>
        <p:spPr>
          <a:xfrm>
            <a:off x="2148840" y="4681728"/>
            <a:ext cx="2286000" cy="475488"/>
          </a:xfrm>
          <a:prstGeom prst="rect">
            <a:avLst/>
          </a:prstGeom>
          <a:solidFill>
            <a:srgbClr val="EAF7F5">
              <a:alpha val="95000"/>
            </a:srgbClr>
          </a:solidFill>
          <a:ln w="16510">
            <a:solidFill>
              <a:srgbClr val="53BDB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Shape 33"/>
          <p:cNvSpPr/>
          <p:nvPr/>
        </p:nvSpPr>
        <p:spPr>
          <a:xfrm>
            <a:off x="3172968" y="4599432"/>
            <a:ext cx="0" cy="640080"/>
          </a:xfrm>
          <a:prstGeom prst="line">
            <a:avLst/>
          </a:prstGeom>
          <a:noFill/>
          <a:ln w="25400">
            <a:solidFill>
              <a:srgbClr val="8469A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Shape 34"/>
          <p:cNvSpPr/>
          <p:nvPr/>
        </p:nvSpPr>
        <p:spPr>
          <a:xfrm>
            <a:off x="1005840" y="4736592"/>
            <a:ext cx="0" cy="365760"/>
          </a:xfrm>
          <a:prstGeom prst="line">
            <a:avLst/>
          </a:prstGeom>
          <a:noFill/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Shape 35"/>
          <p:cNvSpPr/>
          <p:nvPr/>
        </p:nvSpPr>
        <p:spPr>
          <a:xfrm>
            <a:off x="6903720" y="4736592"/>
            <a:ext cx="0" cy="365760"/>
          </a:xfrm>
          <a:prstGeom prst="line">
            <a:avLst/>
          </a:prstGeom>
          <a:noFill/>
          <a:ln w="12700">
            <a:solidFill>
              <a:srgbClr val="23285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1280160" y="53766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1" i="1" dirty="0">
                <a:solidFill>
                  <a:srgbClr val="62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Distribución fuertemente asimétrica a la derecha</a:t>
            </a:r>
            <a:endParaRPr lang="en-US" sz="1351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1">
                <a:solidFill>
                  <a:srgbClr val="8585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</TotalTime>
  <Words>3140</Words>
  <Application>Microsoft Office PowerPoint</Application>
  <PresentationFormat>Panorámica</PresentationFormat>
  <Paragraphs>754</Paragraphs>
  <Slides>35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Facultad de Ciencias Sociales - Universidad de Buenos Aires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 · Fuentes, encuestas, ponderación, variables y distribuciones</dc:title>
  <dc:subject>Clase 1 - Estadística y programación para estudios del trabajo, desigualdad y pobreza</dc:subject>
  <dc:creator>Santiago Poy</dc:creator>
  <cp:lastModifiedBy>Santiago Poy</cp:lastModifiedBy>
  <cp:revision>4</cp:revision>
  <dcterms:created xsi:type="dcterms:W3CDTF">2026-10-02T15:22:39Z</dcterms:created>
  <dcterms:modified xsi:type="dcterms:W3CDTF">2026-10-08T16:10:57Z</dcterms:modified>
</cp:coreProperties>
</file>