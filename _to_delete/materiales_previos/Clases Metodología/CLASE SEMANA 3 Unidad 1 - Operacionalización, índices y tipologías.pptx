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1" r:id="rId1"/>
  </p:sldMasterIdLst>
  <p:notesMasterIdLst>
    <p:notesMasterId r:id="rId51"/>
  </p:notesMasterIdLst>
  <p:handoutMasterIdLst>
    <p:handoutMasterId r:id="rId52"/>
  </p:handoutMasterIdLst>
  <p:sldIdLst>
    <p:sldId id="292" r:id="rId2"/>
    <p:sldId id="294" r:id="rId3"/>
    <p:sldId id="503" r:id="rId4"/>
    <p:sldId id="504" r:id="rId5"/>
    <p:sldId id="550" r:id="rId6"/>
    <p:sldId id="505" r:id="rId7"/>
    <p:sldId id="506" r:id="rId8"/>
    <p:sldId id="547" r:id="rId9"/>
    <p:sldId id="579" r:id="rId10"/>
    <p:sldId id="508" r:id="rId11"/>
    <p:sldId id="545" r:id="rId12"/>
    <p:sldId id="586" r:id="rId13"/>
    <p:sldId id="580" r:id="rId14"/>
    <p:sldId id="549" r:id="rId15"/>
    <p:sldId id="417" r:id="rId16"/>
    <p:sldId id="581" r:id="rId17"/>
    <p:sldId id="582" r:id="rId18"/>
    <p:sldId id="583" r:id="rId19"/>
    <p:sldId id="584" r:id="rId20"/>
    <p:sldId id="585" r:id="rId21"/>
    <p:sldId id="369" r:id="rId22"/>
    <p:sldId id="566" r:id="rId23"/>
    <p:sldId id="567" r:id="rId24"/>
    <p:sldId id="568" r:id="rId25"/>
    <p:sldId id="527" r:id="rId26"/>
    <p:sldId id="548" r:id="rId27"/>
    <p:sldId id="569" r:id="rId28"/>
    <p:sldId id="570" r:id="rId29"/>
    <p:sldId id="571" r:id="rId30"/>
    <p:sldId id="572" r:id="rId31"/>
    <p:sldId id="384" r:id="rId32"/>
    <p:sldId id="551" r:id="rId33"/>
    <p:sldId id="552" r:id="rId34"/>
    <p:sldId id="553" r:id="rId35"/>
    <p:sldId id="554" r:id="rId36"/>
    <p:sldId id="555" r:id="rId37"/>
    <p:sldId id="556" r:id="rId38"/>
    <p:sldId id="538" r:id="rId39"/>
    <p:sldId id="557" r:id="rId40"/>
    <p:sldId id="558" r:id="rId41"/>
    <p:sldId id="540" r:id="rId42"/>
    <p:sldId id="573" r:id="rId43"/>
    <p:sldId id="559" r:id="rId44"/>
    <p:sldId id="574" r:id="rId45"/>
    <p:sldId id="575" r:id="rId46"/>
    <p:sldId id="541" r:id="rId47"/>
    <p:sldId id="576" r:id="rId48"/>
    <p:sldId id="577" r:id="rId49"/>
    <p:sldId id="578" r:id="rId50"/>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05" userDrawn="1">
          <p15:clr>
            <a:srgbClr val="A4A3A4"/>
          </p15:clr>
        </p15:guide>
        <p15:guide id="2" pos="2880">
          <p15:clr>
            <a:srgbClr val="A4A3A4"/>
          </p15:clr>
        </p15:guide>
        <p15:guide id="3" pos="431">
          <p15:clr>
            <a:srgbClr val="A4A3A4"/>
          </p15:clr>
        </p15:guide>
        <p15:guide id="4" pos="5465" userDrawn="1">
          <p15:clr>
            <a:srgbClr val="A4A3A4"/>
          </p15:clr>
        </p15:guide>
        <p15:guide id="5" pos="56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66"/>
    <a:srgbClr val="3366CC"/>
    <a:srgbClr val="4D4D4D"/>
    <a:srgbClr val="FFCC00"/>
    <a:srgbClr val="FFFFFF"/>
    <a:srgbClr val="000000"/>
    <a:srgbClr val="006600"/>
    <a:srgbClr val="C0C0C0"/>
    <a:srgbClr val="0066C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Estilo cl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Estilo temático 1 - Énfasis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0311" autoAdjust="0"/>
  </p:normalViewPr>
  <p:slideViewPr>
    <p:cSldViewPr showGuides="1">
      <p:cViewPr varScale="1">
        <p:scale>
          <a:sx n="105" d="100"/>
          <a:sy n="105" d="100"/>
        </p:scale>
        <p:origin x="1638" y="102"/>
      </p:cViewPr>
      <p:guideLst>
        <p:guide orient="horz" pos="2205"/>
        <p:guide pos="2880"/>
        <p:guide pos="431"/>
        <p:guide pos="5465"/>
        <p:guide pos="56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58" d="100"/>
          <a:sy n="58" d="100"/>
        </p:scale>
        <p:origin x="324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_rels/data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diagrams/_rels/drawing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image" Target="../media/image10.png"/><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E8F4AFC-4553-415B-9A2F-FA022A09AD7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AR"/>
        </a:p>
      </dgm:t>
    </dgm:pt>
    <dgm:pt modelId="{DF8EFE94-CC60-4067-B960-F3C00A495BCE}">
      <dgm:prSet phldrT="[Texto]"/>
      <dgm:spPr>
        <a:solidFill>
          <a:schemeClr val="bg1"/>
        </a:solidFill>
        <a:ln>
          <a:solidFill>
            <a:schemeClr val="bg1"/>
          </a:solidFill>
        </a:ln>
      </dgm:spPr>
      <dgm:t>
        <a:bodyPr/>
        <a:lstStyle/>
        <a:p>
          <a:r>
            <a:rPr lang="es-AR" dirty="0"/>
            <a:t>LOS FACTORES TRANSITORIOS O ERRORES ALEATORIOS</a:t>
          </a:r>
        </a:p>
      </dgm:t>
    </dgm:pt>
    <dgm:pt modelId="{DFA1BC49-824A-416D-93C6-68F038DF4AE8}" type="parTrans" cxnId="{6B5B0A64-797C-4C86-A48F-05153043B438}">
      <dgm:prSet/>
      <dgm:spPr/>
      <dgm:t>
        <a:bodyPr/>
        <a:lstStyle/>
        <a:p>
          <a:endParaRPr lang="es-AR"/>
        </a:p>
      </dgm:t>
    </dgm:pt>
    <dgm:pt modelId="{677DEA1D-126C-4FB9-9C53-690B89D8529E}" type="sibTrans" cxnId="{6B5B0A64-797C-4C86-A48F-05153043B438}">
      <dgm:prSet/>
      <dgm:spPr/>
      <dgm:t>
        <a:bodyPr/>
        <a:lstStyle/>
        <a:p>
          <a:endParaRPr lang="es-AR"/>
        </a:p>
      </dgm:t>
    </dgm:pt>
    <dgm:pt modelId="{7991DBDE-8C5E-44F3-B034-587C7A8DF57C}">
      <dgm:prSet phldrT="[Texto]"/>
      <dgm:spPr/>
      <dgm:t>
        <a:bodyPr/>
        <a:lstStyle/>
        <a:p>
          <a:r>
            <a:rPr lang="es-AR" dirty="0"/>
            <a:t>DETERMINAN LA </a:t>
          </a:r>
          <a:r>
            <a:rPr lang="es-AR" b="1" dirty="0"/>
            <a:t>FIABILIDAD</a:t>
          </a:r>
        </a:p>
      </dgm:t>
    </dgm:pt>
    <dgm:pt modelId="{6E13E5D3-35E5-404F-99F0-55761DB28D95}" type="parTrans" cxnId="{FA096172-A0DD-4BEE-B588-7C83F2C767C3}">
      <dgm:prSet/>
      <dgm:spPr/>
      <dgm:t>
        <a:bodyPr/>
        <a:lstStyle/>
        <a:p>
          <a:endParaRPr lang="es-AR"/>
        </a:p>
      </dgm:t>
    </dgm:pt>
    <dgm:pt modelId="{EFC7C501-0A90-4289-B85C-D561DCE8FE69}" type="sibTrans" cxnId="{FA096172-A0DD-4BEE-B588-7C83F2C767C3}">
      <dgm:prSet/>
      <dgm:spPr/>
      <dgm:t>
        <a:bodyPr/>
        <a:lstStyle/>
        <a:p>
          <a:endParaRPr lang="es-AR"/>
        </a:p>
      </dgm:t>
    </dgm:pt>
    <dgm:pt modelId="{8BA258DA-08FC-4CA3-B6EB-AC1CC68EB049}">
      <dgm:prSet phldrT="[Texto]"/>
      <dgm:spPr/>
      <dgm:t>
        <a:bodyPr/>
        <a:lstStyle/>
        <a:p>
          <a:r>
            <a:rPr lang="es-AR" dirty="0"/>
            <a:t>LOS FACTORES ESTABLES O ERRORES SISTEMÁTICOS </a:t>
          </a:r>
        </a:p>
      </dgm:t>
    </dgm:pt>
    <dgm:pt modelId="{43D346BD-8000-47C8-A7E3-4C5A72A0EC0F}" type="parTrans" cxnId="{57BAC7AC-D202-4D25-BC73-E15D9DCEE1A4}">
      <dgm:prSet/>
      <dgm:spPr/>
      <dgm:t>
        <a:bodyPr/>
        <a:lstStyle/>
        <a:p>
          <a:endParaRPr lang="es-AR"/>
        </a:p>
      </dgm:t>
    </dgm:pt>
    <dgm:pt modelId="{012CC7CA-D72F-4EEB-AA2F-9892B2877B29}" type="sibTrans" cxnId="{57BAC7AC-D202-4D25-BC73-E15D9DCEE1A4}">
      <dgm:prSet/>
      <dgm:spPr/>
      <dgm:t>
        <a:bodyPr/>
        <a:lstStyle/>
        <a:p>
          <a:endParaRPr lang="es-AR"/>
        </a:p>
      </dgm:t>
    </dgm:pt>
    <dgm:pt modelId="{9A309DA2-1F37-4709-8442-7BD779C7E0F5}">
      <dgm:prSet phldrT="[Texto]"/>
      <dgm:spPr/>
      <dgm:t>
        <a:bodyPr/>
        <a:lstStyle/>
        <a:p>
          <a:r>
            <a:rPr lang="es-AR" dirty="0"/>
            <a:t>DETERMINAN LA </a:t>
          </a:r>
          <a:r>
            <a:rPr lang="es-AR" b="1" dirty="0"/>
            <a:t>VALIDEZ</a:t>
          </a:r>
        </a:p>
      </dgm:t>
    </dgm:pt>
    <dgm:pt modelId="{066758FE-8104-45C0-8916-E66D18E38D2F}" type="parTrans" cxnId="{C3034A9D-DE28-4A4B-BE87-7D41AC73FB92}">
      <dgm:prSet/>
      <dgm:spPr/>
      <dgm:t>
        <a:bodyPr/>
        <a:lstStyle/>
        <a:p>
          <a:endParaRPr lang="es-AR"/>
        </a:p>
      </dgm:t>
    </dgm:pt>
    <dgm:pt modelId="{5015F1A9-BA11-4C4D-B45C-5FFCB3FD50C4}" type="sibTrans" cxnId="{C3034A9D-DE28-4A4B-BE87-7D41AC73FB92}">
      <dgm:prSet/>
      <dgm:spPr/>
      <dgm:t>
        <a:bodyPr/>
        <a:lstStyle/>
        <a:p>
          <a:endParaRPr lang="es-AR"/>
        </a:p>
      </dgm:t>
    </dgm:pt>
    <dgm:pt modelId="{9D3EE5C8-FE78-4B90-BA5E-06C5C17DF717}" type="pres">
      <dgm:prSet presAssocID="{5E8F4AFC-4553-415B-9A2F-FA022A09AD77}" presName="linear" presStyleCnt="0">
        <dgm:presLayoutVars>
          <dgm:animLvl val="lvl"/>
          <dgm:resizeHandles val="exact"/>
        </dgm:presLayoutVars>
      </dgm:prSet>
      <dgm:spPr/>
    </dgm:pt>
    <dgm:pt modelId="{4650B023-BA4F-4C90-A6C9-FD318BE32115}" type="pres">
      <dgm:prSet presAssocID="{DF8EFE94-CC60-4067-B960-F3C00A495BCE}" presName="parentText" presStyleLbl="node1" presStyleIdx="0" presStyleCnt="2">
        <dgm:presLayoutVars>
          <dgm:chMax val="0"/>
          <dgm:bulletEnabled val="1"/>
        </dgm:presLayoutVars>
      </dgm:prSet>
      <dgm:spPr/>
    </dgm:pt>
    <dgm:pt modelId="{B13B845D-9A3B-44B9-B9AE-449C4D4B9C73}" type="pres">
      <dgm:prSet presAssocID="{DF8EFE94-CC60-4067-B960-F3C00A495BCE}" presName="childText" presStyleLbl="revTx" presStyleIdx="0" presStyleCnt="2">
        <dgm:presLayoutVars>
          <dgm:bulletEnabled val="1"/>
        </dgm:presLayoutVars>
      </dgm:prSet>
      <dgm:spPr/>
    </dgm:pt>
    <dgm:pt modelId="{E4D15E45-71F4-4AD3-BE32-73520DECF252}" type="pres">
      <dgm:prSet presAssocID="{8BA258DA-08FC-4CA3-B6EB-AC1CC68EB049}" presName="parentText" presStyleLbl="node1" presStyleIdx="1" presStyleCnt="2">
        <dgm:presLayoutVars>
          <dgm:chMax val="0"/>
          <dgm:bulletEnabled val="1"/>
        </dgm:presLayoutVars>
      </dgm:prSet>
      <dgm:spPr/>
    </dgm:pt>
    <dgm:pt modelId="{14A04174-0809-42E9-BE08-0CD412865E71}" type="pres">
      <dgm:prSet presAssocID="{8BA258DA-08FC-4CA3-B6EB-AC1CC68EB049}" presName="childText" presStyleLbl="revTx" presStyleIdx="1" presStyleCnt="2">
        <dgm:presLayoutVars>
          <dgm:bulletEnabled val="1"/>
        </dgm:presLayoutVars>
      </dgm:prSet>
      <dgm:spPr/>
    </dgm:pt>
  </dgm:ptLst>
  <dgm:cxnLst>
    <dgm:cxn modelId="{3695A22D-DC30-4B5C-ABF7-85E5B2AAB8E7}" type="presOf" srcId="{8BA258DA-08FC-4CA3-B6EB-AC1CC68EB049}" destId="{E4D15E45-71F4-4AD3-BE32-73520DECF252}" srcOrd="0" destOrd="0" presId="urn:microsoft.com/office/officeart/2005/8/layout/vList2"/>
    <dgm:cxn modelId="{6B5B0A64-797C-4C86-A48F-05153043B438}" srcId="{5E8F4AFC-4553-415B-9A2F-FA022A09AD77}" destId="{DF8EFE94-CC60-4067-B960-F3C00A495BCE}" srcOrd="0" destOrd="0" parTransId="{DFA1BC49-824A-416D-93C6-68F038DF4AE8}" sibTransId="{677DEA1D-126C-4FB9-9C53-690B89D8529E}"/>
    <dgm:cxn modelId="{756C774E-00DB-45B2-B851-070A02058EB3}" type="presOf" srcId="{5E8F4AFC-4553-415B-9A2F-FA022A09AD77}" destId="{9D3EE5C8-FE78-4B90-BA5E-06C5C17DF717}" srcOrd="0" destOrd="0" presId="urn:microsoft.com/office/officeart/2005/8/layout/vList2"/>
    <dgm:cxn modelId="{FA096172-A0DD-4BEE-B588-7C83F2C767C3}" srcId="{DF8EFE94-CC60-4067-B960-F3C00A495BCE}" destId="{7991DBDE-8C5E-44F3-B034-587C7A8DF57C}" srcOrd="0" destOrd="0" parTransId="{6E13E5D3-35E5-404F-99F0-55761DB28D95}" sibTransId="{EFC7C501-0A90-4289-B85C-D561DCE8FE69}"/>
    <dgm:cxn modelId="{236C2A85-FAAD-4AE1-A482-842F7C36EAD5}" type="presOf" srcId="{7991DBDE-8C5E-44F3-B034-587C7A8DF57C}" destId="{B13B845D-9A3B-44B9-B9AE-449C4D4B9C73}" srcOrd="0" destOrd="0" presId="urn:microsoft.com/office/officeart/2005/8/layout/vList2"/>
    <dgm:cxn modelId="{1F3E1388-45D6-45E9-A03B-714CEDF3B501}" type="presOf" srcId="{9A309DA2-1F37-4709-8442-7BD779C7E0F5}" destId="{14A04174-0809-42E9-BE08-0CD412865E71}" srcOrd="0" destOrd="0" presId="urn:microsoft.com/office/officeart/2005/8/layout/vList2"/>
    <dgm:cxn modelId="{C3034A9D-DE28-4A4B-BE87-7D41AC73FB92}" srcId="{8BA258DA-08FC-4CA3-B6EB-AC1CC68EB049}" destId="{9A309DA2-1F37-4709-8442-7BD779C7E0F5}" srcOrd="0" destOrd="0" parTransId="{066758FE-8104-45C0-8916-E66D18E38D2F}" sibTransId="{5015F1A9-BA11-4C4D-B45C-5FFCB3FD50C4}"/>
    <dgm:cxn modelId="{57BAC7AC-D202-4D25-BC73-E15D9DCEE1A4}" srcId="{5E8F4AFC-4553-415B-9A2F-FA022A09AD77}" destId="{8BA258DA-08FC-4CA3-B6EB-AC1CC68EB049}" srcOrd="1" destOrd="0" parTransId="{43D346BD-8000-47C8-A7E3-4C5A72A0EC0F}" sibTransId="{012CC7CA-D72F-4EEB-AA2F-9892B2877B29}"/>
    <dgm:cxn modelId="{3DC68FEE-9425-4957-9399-436F5D883BC4}" type="presOf" srcId="{DF8EFE94-CC60-4067-B960-F3C00A495BCE}" destId="{4650B023-BA4F-4C90-A6C9-FD318BE32115}" srcOrd="0" destOrd="0" presId="urn:microsoft.com/office/officeart/2005/8/layout/vList2"/>
    <dgm:cxn modelId="{00D34BA4-07DD-4DCF-B792-1B1DDBEBAEB7}" type="presParOf" srcId="{9D3EE5C8-FE78-4B90-BA5E-06C5C17DF717}" destId="{4650B023-BA4F-4C90-A6C9-FD318BE32115}" srcOrd="0" destOrd="0" presId="urn:microsoft.com/office/officeart/2005/8/layout/vList2"/>
    <dgm:cxn modelId="{79B3DA15-BA83-480E-8D78-E4A31F17E9FA}" type="presParOf" srcId="{9D3EE5C8-FE78-4B90-BA5E-06C5C17DF717}" destId="{B13B845D-9A3B-44B9-B9AE-449C4D4B9C73}" srcOrd="1" destOrd="0" presId="urn:microsoft.com/office/officeart/2005/8/layout/vList2"/>
    <dgm:cxn modelId="{CC77A51A-D269-4D1B-99D8-514AB60EF92B}" type="presParOf" srcId="{9D3EE5C8-FE78-4B90-BA5E-06C5C17DF717}" destId="{E4D15E45-71F4-4AD3-BE32-73520DECF252}" srcOrd="2" destOrd="0" presId="urn:microsoft.com/office/officeart/2005/8/layout/vList2"/>
    <dgm:cxn modelId="{624F6CDD-4151-43F4-8E49-7A391D69C059}" type="presParOf" srcId="{9D3EE5C8-FE78-4B90-BA5E-06C5C17DF717}" destId="{14A04174-0809-42E9-BE08-0CD412865E71}"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56A30F7-0A19-42CC-B63B-0F94976E2F81}"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s-AR"/>
        </a:p>
      </dgm:t>
    </dgm:pt>
    <dgm:pt modelId="{CF47234B-DD1B-493C-8817-DBA692EB4AAA}">
      <dgm:prSet phldrT="[Texto]" custT="1"/>
      <dgm:spPr>
        <a:solidFill>
          <a:schemeClr val="accent1">
            <a:lumMod val="60000"/>
            <a:lumOff val="40000"/>
          </a:schemeClr>
        </a:solidFill>
        <a:ln>
          <a:solidFill>
            <a:schemeClr val="accent1"/>
          </a:solidFill>
        </a:ln>
      </dgm:spPr>
      <dgm:t>
        <a:bodyPr/>
        <a:lstStyle/>
        <a:p>
          <a:r>
            <a:rPr lang="es-AR" sz="2400" b="1" dirty="0"/>
            <a:t>Validez</a:t>
          </a:r>
          <a:br>
            <a:rPr lang="es-AR" sz="2400" b="1" dirty="0"/>
          </a:br>
          <a:r>
            <a:rPr lang="es-AR" sz="900" dirty="0"/>
            <a:t>Se refiere al grado de correspondencia entre el concepto teórico y los indicadores elegidos para su medición. </a:t>
          </a:r>
        </a:p>
      </dgm:t>
    </dgm:pt>
    <dgm:pt modelId="{A80737BD-F8C9-4078-A6A5-BBACA80BFBE4}" type="parTrans" cxnId="{8F75684D-C8C0-4483-AFB9-4CCDC88ECD2C}">
      <dgm:prSet/>
      <dgm:spPr/>
      <dgm:t>
        <a:bodyPr/>
        <a:lstStyle/>
        <a:p>
          <a:endParaRPr lang="es-AR"/>
        </a:p>
      </dgm:t>
    </dgm:pt>
    <dgm:pt modelId="{A50836B5-E517-4832-89C6-0E3B57B94682}" type="sibTrans" cxnId="{8F75684D-C8C0-4483-AFB9-4CCDC88ECD2C}">
      <dgm:prSet/>
      <dgm:spPr/>
      <dgm:t>
        <a:bodyPr/>
        <a:lstStyle/>
        <a:p>
          <a:endParaRPr lang="es-AR"/>
        </a:p>
      </dgm:t>
    </dgm:pt>
    <dgm:pt modelId="{76A5F660-A137-4738-B0D2-2F897DE55E8C}">
      <dgm:prSet phldrT="[Texto]" custT="1"/>
      <dgm:spPr>
        <a:solidFill>
          <a:schemeClr val="accent1">
            <a:lumMod val="60000"/>
            <a:lumOff val="40000"/>
          </a:schemeClr>
        </a:solidFill>
        <a:ln>
          <a:solidFill>
            <a:schemeClr val="accent1"/>
          </a:solidFill>
        </a:ln>
      </dgm:spPr>
      <dgm:t>
        <a:bodyPr/>
        <a:lstStyle/>
        <a:p>
          <a:r>
            <a:rPr lang="es-AR" sz="1600" b="1" dirty="0"/>
            <a:t>Validez de criterio</a:t>
          </a:r>
          <a:br>
            <a:rPr lang="es-AR" sz="1600" dirty="0"/>
          </a:br>
          <a:r>
            <a:rPr lang="es-AR" sz="1000" dirty="0"/>
            <a:t>La validez se comprueba comparando la medida con un criterio externo o que se haya se utilizado previamente.</a:t>
          </a:r>
          <a:br>
            <a:rPr lang="es-AR" sz="1000" dirty="0"/>
          </a:br>
          <a:endParaRPr lang="es-AR" sz="1000" dirty="0"/>
        </a:p>
        <a:p>
          <a:r>
            <a:rPr lang="es-AR" sz="1000" dirty="0"/>
            <a:t>Ejemplo: comparar los datos obtenidos en la encuesta con datos de registro administrativo.</a:t>
          </a:r>
          <a:endParaRPr lang="es-AR" sz="1400" dirty="0"/>
        </a:p>
      </dgm:t>
    </dgm:pt>
    <dgm:pt modelId="{8B961185-514C-4590-A545-F802BCAEA26B}" type="parTrans" cxnId="{EE850259-7164-4431-9027-F60B201C79B0}">
      <dgm:prSet/>
      <dgm:spPr/>
      <dgm:t>
        <a:bodyPr/>
        <a:lstStyle/>
        <a:p>
          <a:endParaRPr lang="es-AR"/>
        </a:p>
      </dgm:t>
    </dgm:pt>
    <dgm:pt modelId="{4AD56EDF-EC7C-456C-BC35-EF9E02A65833}" type="sibTrans" cxnId="{EE850259-7164-4431-9027-F60B201C79B0}">
      <dgm:prSet/>
      <dgm:spPr/>
      <dgm:t>
        <a:bodyPr/>
        <a:lstStyle/>
        <a:p>
          <a:endParaRPr lang="es-AR"/>
        </a:p>
      </dgm:t>
    </dgm:pt>
    <dgm:pt modelId="{E7EB9674-D3A5-4DC5-BF23-887412B9E682}">
      <dgm:prSet phldrT="[Texto]" custT="1"/>
      <dgm:spPr>
        <a:solidFill>
          <a:schemeClr val="accent1">
            <a:lumMod val="60000"/>
            <a:lumOff val="40000"/>
          </a:schemeClr>
        </a:solidFill>
        <a:ln>
          <a:solidFill>
            <a:schemeClr val="accent1"/>
          </a:solidFill>
        </a:ln>
      </dgm:spPr>
      <dgm:t>
        <a:bodyPr/>
        <a:lstStyle/>
        <a:p>
          <a:pPr marL="0" lvl="0" algn="ctr" defTabSz="711200">
            <a:lnSpc>
              <a:spcPct val="90000"/>
            </a:lnSpc>
            <a:spcBef>
              <a:spcPct val="0"/>
            </a:spcBef>
            <a:spcAft>
              <a:spcPct val="35000"/>
            </a:spcAft>
            <a:buNone/>
          </a:pPr>
          <a:r>
            <a:rPr lang="es-AR" sz="1600" b="1" kern="1200" dirty="0"/>
            <a:t>Validez de contenido</a:t>
          </a:r>
          <a:br>
            <a:rPr lang="es-AR" sz="900" kern="1200" dirty="0"/>
          </a:br>
          <a:r>
            <a:rPr lang="es-AR" sz="1000" kern="1200" dirty="0">
              <a:solidFill>
                <a:srgbClr val="FFFFFF"/>
              </a:solidFill>
              <a:latin typeface="Arial"/>
              <a:ea typeface="+mn-ea"/>
              <a:cs typeface="Arial"/>
            </a:rPr>
            <a:t>Se refiere al grado en que los indicadores cubren adecuadamente las distintas dimensiones del fenómeno.</a:t>
          </a:r>
          <a:br>
            <a:rPr lang="es-AR" sz="1000" kern="1200" dirty="0">
              <a:solidFill>
                <a:srgbClr val="FFFFFF"/>
              </a:solidFill>
              <a:latin typeface="Arial"/>
              <a:ea typeface="+mn-ea"/>
              <a:cs typeface="Arial"/>
            </a:rPr>
          </a:br>
          <a:endParaRPr lang="es-AR" sz="1000" kern="1200" dirty="0">
            <a:solidFill>
              <a:srgbClr val="FFFFFF"/>
            </a:solidFill>
            <a:latin typeface="Arial"/>
            <a:ea typeface="+mn-ea"/>
            <a:cs typeface="Arial"/>
          </a:endParaRPr>
        </a:p>
        <a:p>
          <a:pPr marL="0" lvl="0" algn="ctr" defTabSz="711200">
            <a:lnSpc>
              <a:spcPct val="90000"/>
            </a:lnSpc>
            <a:spcBef>
              <a:spcPct val="0"/>
            </a:spcBef>
            <a:spcAft>
              <a:spcPct val="35000"/>
            </a:spcAft>
            <a:buNone/>
          </a:pPr>
          <a:r>
            <a:rPr lang="es-AR" sz="1000" kern="1200" dirty="0">
              <a:solidFill>
                <a:srgbClr val="FFFFFF"/>
              </a:solidFill>
              <a:latin typeface="Arial"/>
              <a:ea typeface="+mn-ea"/>
              <a:cs typeface="Arial"/>
            </a:rPr>
            <a:t>Ejemplo: tomar en cuenta las distintas dimensiones de un fenómeno (ej., discriminación) que surgen de la revisión de la literatura.</a:t>
          </a:r>
        </a:p>
      </dgm:t>
    </dgm:pt>
    <dgm:pt modelId="{BA41F2D8-27C7-4051-8E26-E662F4A3708D}" type="parTrans" cxnId="{6DD74004-2285-48FA-9ABA-8BF7DCCEE31A}">
      <dgm:prSet/>
      <dgm:spPr/>
      <dgm:t>
        <a:bodyPr/>
        <a:lstStyle/>
        <a:p>
          <a:endParaRPr lang="es-AR"/>
        </a:p>
      </dgm:t>
    </dgm:pt>
    <dgm:pt modelId="{EC40EEBC-EBFE-4655-9D4E-292111453B49}" type="sibTrans" cxnId="{6DD74004-2285-48FA-9ABA-8BF7DCCEE31A}">
      <dgm:prSet/>
      <dgm:spPr/>
      <dgm:t>
        <a:bodyPr/>
        <a:lstStyle/>
        <a:p>
          <a:endParaRPr lang="es-AR"/>
        </a:p>
      </dgm:t>
    </dgm:pt>
    <dgm:pt modelId="{DE0D4394-B608-4A40-B38E-5912A504DAFC}">
      <dgm:prSet custT="1"/>
      <dgm:spPr>
        <a:solidFill>
          <a:schemeClr val="accent1">
            <a:lumMod val="60000"/>
            <a:lumOff val="40000"/>
          </a:schemeClr>
        </a:solidFill>
        <a:ln>
          <a:solidFill>
            <a:schemeClr val="accent1"/>
          </a:solidFill>
        </a:ln>
      </dgm:spPr>
      <dgm:t>
        <a:bodyPr/>
        <a:lstStyle/>
        <a:p>
          <a:r>
            <a:rPr lang="es-AR" sz="1600" b="1" dirty="0"/>
            <a:t>Validez de constructo</a:t>
          </a:r>
          <a:br>
            <a:rPr lang="es-AR" sz="900" dirty="0"/>
          </a:br>
          <a:r>
            <a:rPr lang="es-AR" sz="1000" dirty="0"/>
            <a:t>Refiere al grado en que la medida obtenida se correlaciona con las mediciones de otros conceptos que la teoría indica que están relacionados</a:t>
          </a:r>
          <a:r>
            <a:rPr lang="es-AR" sz="1000" dirty="0">
              <a:solidFill>
                <a:srgbClr val="FFFFFF"/>
              </a:solidFill>
              <a:latin typeface="Arial"/>
              <a:ea typeface="+mn-ea"/>
              <a:cs typeface="Arial"/>
            </a:rPr>
            <a:t>.</a:t>
          </a:r>
          <a:br>
            <a:rPr lang="es-AR" sz="1000" dirty="0">
              <a:solidFill>
                <a:srgbClr val="FFFFFF"/>
              </a:solidFill>
              <a:latin typeface="Arial"/>
              <a:ea typeface="+mn-ea"/>
              <a:cs typeface="Arial"/>
            </a:rPr>
          </a:br>
          <a:endParaRPr lang="es-AR" sz="1000" dirty="0">
            <a:solidFill>
              <a:srgbClr val="FFFFFF"/>
            </a:solidFill>
            <a:latin typeface="Arial"/>
            <a:ea typeface="+mn-ea"/>
            <a:cs typeface="Arial"/>
          </a:endParaRPr>
        </a:p>
        <a:p>
          <a:pPr>
            <a:buNone/>
          </a:pPr>
          <a:r>
            <a:rPr lang="es-AR" sz="1000" dirty="0">
              <a:solidFill>
                <a:srgbClr val="FFFFFF"/>
              </a:solidFill>
              <a:latin typeface="Arial"/>
              <a:ea typeface="+mn-ea"/>
              <a:cs typeface="Arial"/>
            </a:rPr>
            <a:t>Ejemplo: en una medición del clima organizacional, se examina la correlación con el grado de involucramiento con el trabajo, otro fenómeno que, según la teoría, está relacionado con el clima organizacional.</a:t>
          </a:r>
          <a:endParaRPr lang="es-AR" sz="1000" dirty="0"/>
        </a:p>
      </dgm:t>
    </dgm:pt>
    <dgm:pt modelId="{70394F66-D151-4496-842F-3F59DAFEB02A}" type="sibTrans" cxnId="{8B8796B0-6BC2-48C2-9899-E17B484404D0}">
      <dgm:prSet/>
      <dgm:spPr/>
      <dgm:t>
        <a:bodyPr/>
        <a:lstStyle/>
        <a:p>
          <a:endParaRPr lang="es-AR"/>
        </a:p>
      </dgm:t>
    </dgm:pt>
    <dgm:pt modelId="{F23F8E8E-FD06-4CEB-97C5-0BB50E489E87}" type="parTrans" cxnId="{8B8796B0-6BC2-48C2-9899-E17B484404D0}">
      <dgm:prSet/>
      <dgm:spPr/>
      <dgm:t>
        <a:bodyPr/>
        <a:lstStyle/>
        <a:p>
          <a:endParaRPr lang="es-AR"/>
        </a:p>
      </dgm:t>
    </dgm:pt>
    <dgm:pt modelId="{29F0F076-C2C0-42BE-92CC-D397BA644E10}">
      <dgm:prSet phldrT="[Texto]" custT="1"/>
      <dgm:spPr>
        <a:solidFill>
          <a:schemeClr val="accent1">
            <a:lumMod val="60000"/>
            <a:lumOff val="40000"/>
          </a:schemeClr>
        </a:solidFill>
        <a:ln>
          <a:solidFill>
            <a:schemeClr val="accent1"/>
          </a:solidFill>
        </a:ln>
      </dgm:spPr>
      <dgm:t>
        <a:bodyPr/>
        <a:lstStyle/>
        <a:p>
          <a:r>
            <a:rPr lang="es-AR" sz="1200" b="1" dirty="0"/>
            <a:t>Validez concurrente</a:t>
          </a:r>
        </a:p>
        <a:p>
          <a:r>
            <a:rPr lang="es-AR" sz="1000" b="0" dirty="0"/>
            <a:t>Correlacionar la medida con otra medida realizada en el mismo momento</a:t>
          </a:r>
        </a:p>
      </dgm:t>
    </dgm:pt>
    <dgm:pt modelId="{50578119-B031-4E7C-AF1B-FB28B811F6B3}" type="sibTrans" cxnId="{5E7EC6B9-999C-4556-89D9-038B29CB7D97}">
      <dgm:prSet/>
      <dgm:spPr/>
      <dgm:t>
        <a:bodyPr/>
        <a:lstStyle/>
        <a:p>
          <a:endParaRPr lang="es-AR"/>
        </a:p>
      </dgm:t>
    </dgm:pt>
    <dgm:pt modelId="{3FBDED7E-F696-4CA3-A50D-AA89FA1C1AD7}" type="parTrans" cxnId="{5E7EC6B9-999C-4556-89D9-038B29CB7D97}">
      <dgm:prSet/>
      <dgm:spPr/>
      <dgm:t>
        <a:bodyPr/>
        <a:lstStyle/>
        <a:p>
          <a:endParaRPr lang="es-AR"/>
        </a:p>
      </dgm:t>
    </dgm:pt>
    <dgm:pt modelId="{15545D1F-16FC-46BE-86B6-80BB6214EB92}">
      <dgm:prSet phldrT="[Texto]" custT="1"/>
      <dgm:spPr>
        <a:solidFill>
          <a:schemeClr val="accent1">
            <a:lumMod val="60000"/>
            <a:lumOff val="40000"/>
          </a:schemeClr>
        </a:solidFill>
        <a:ln>
          <a:solidFill>
            <a:schemeClr val="accent1"/>
          </a:solidFill>
        </a:ln>
      </dgm:spPr>
      <dgm:t>
        <a:bodyPr/>
        <a:lstStyle/>
        <a:p>
          <a:r>
            <a:rPr lang="es-AR" sz="1200" b="1" dirty="0"/>
            <a:t>Validez predictiva</a:t>
          </a:r>
        </a:p>
        <a:p>
          <a:r>
            <a:rPr lang="es-AR" sz="1000" dirty="0"/>
            <a:t>Correlacionar la medida con un comportamiento esperado</a:t>
          </a:r>
        </a:p>
      </dgm:t>
    </dgm:pt>
    <dgm:pt modelId="{5A864BD7-838E-4039-9CC8-E824BFBD37B3}" type="sibTrans" cxnId="{5A13A824-A777-456C-B394-91FF382136BE}">
      <dgm:prSet/>
      <dgm:spPr/>
      <dgm:t>
        <a:bodyPr/>
        <a:lstStyle/>
        <a:p>
          <a:endParaRPr lang="es-AR"/>
        </a:p>
      </dgm:t>
    </dgm:pt>
    <dgm:pt modelId="{8ED76777-F507-4D86-A806-147B89B3BBAD}" type="parTrans" cxnId="{5A13A824-A777-456C-B394-91FF382136BE}">
      <dgm:prSet/>
      <dgm:spPr/>
      <dgm:t>
        <a:bodyPr/>
        <a:lstStyle/>
        <a:p>
          <a:endParaRPr lang="es-AR"/>
        </a:p>
      </dgm:t>
    </dgm:pt>
    <dgm:pt modelId="{160BCB7B-D0E2-4A42-9667-20E8FF4EABB4}" type="pres">
      <dgm:prSet presAssocID="{F56A30F7-0A19-42CC-B63B-0F94976E2F81}" presName="diagram" presStyleCnt="0">
        <dgm:presLayoutVars>
          <dgm:chPref val="1"/>
          <dgm:dir/>
          <dgm:animOne val="branch"/>
          <dgm:animLvl val="lvl"/>
          <dgm:resizeHandles val="exact"/>
        </dgm:presLayoutVars>
      </dgm:prSet>
      <dgm:spPr/>
    </dgm:pt>
    <dgm:pt modelId="{F0EF9C05-1B00-47AD-A90F-BE3B487A352D}" type="pres">
      <dgm:prSet presAssocID="{CF47234B-DD1B-493C-8817-DBA692EB4AAA}" presName="root1" presStyleCnt="0"/>
      <dgm:spPr/>
    </dgm:pt>
    <dgm:pt modelId="{10334339-8280-47AA-8E6B-AEDE04B8EBC4}" type="pres">
      <dgm:prSet presAssocID="{CF47234B-DD1B-493C-8817-DBA692EB4AAA}" presName="LevelOneTextNode" presStyleLbl="node0" presStyleIdx="0" presStyleCnt="1" custScaleY="151628" custLinFactNeighborX="-42663" custLinFactNeighborY="-4500">
        <dgm:presLayoutVars>
          <dgm:chPref val="3"/>
        </dgm:presLayoutVars>
      </dgm:prSet>
      <dgm:spPr/>
    </dgm:pt>
    <dgm:pt modelId="{8DA4D9FE-F4F8-4D2F-8BBA-D751BDE006B6}" type="pres">
      <dgm:prSet presAssocID="{CF47234B-DD1B-493C-8817-DBA692EB4AAA}" presName="level2hierChild" presStyleCnt="0"/>
      <dgm:spPr/>
    </dgm:pt>
    <dgm:pt modelId="{0B6827DD-BE62-4B0D-A667-8EBD6A193484}" type="pres">
      <dgm:prSet presAssocID="{8B961185-514C-4590-A545-F802BCAEA26B}" presName="conn2-1" presStyleLbl="parChTrans1D2" presStyleIdx="0" presStyleCnt="3"/>
      <dgm:spPr/>
    </dgm:pt>
    <dgm:pt modelId="{57E78FFF-5166-4AD8-9D33-0C5F3F12C019}" type="pres">
      <dgm:prSet presAssocID="{8B961185-514C-4590-A545-F802BCAEA26B}" presName="connTx" presStyleLbl="parChTrans1D2" presStyleIdx="0" presStyleCnt="3"/>
      <dgm:spPr/>
    </dgm:pt>
    <dgm:pt modelId="{1D7F5E36-ADEA-4F4D-938A-0584D79B16C7}" type="pres">
      <dgm:prSet presAssocID="{76A5F660-A137-4738-B0D2-2F897DE55E8C}" presName="root2" presStyleCnt="0"/>
      <dgm:spPr/>
    </dgm:pt>
    <dgm:pt modelId="{F2FFC2D3-B5C3-4C2B-A8C6-D8E50318E5CB}" type="pres">
      <dgm:prSet presAssocID="{76A5F660-A137-4738-B0D2-2F897DE55E8C}" presName="LevelTwoTextNode" presStyleLbl="node2" presStyleIdx="0" presStyleCnt="3" custScaleX="141726" custScaleY="190875">
        <dgm:presLayoutVars>
          <dgm:chPref val="3"/>
        </dgm:presLayoutVars>
      </dgm:prSet>
      <dgm:spPr/>
    </dgm:pt>
    <dgm:pt modelId="{86371E8F-2343-4651-A546-8FE46FC941C4}" type="pres">
      <dgm:prSet presAssocID="{76A5F660-A137-4738-B0D2-2F897DE55E8C}" presName="level3hierChild" presStyleCnt="0"/>
      <dgm:spPr/>
    </dgm:pt>
    <dgm:pt modelId="{B43124F3-1745-4996-A7FE-DCD254B330BC}" type="pres">
      <dgm:prSet presAssocID="{3FBDED7E-F696-4CA3-A50D-AA89FA1C1AD7}" presName="conn2-1" presStyleLbl="parChTrans1D3" presStyleIdx="0" presStyleCnt="2"/>
      <dgm:spPr/>
    </dgm:pt>
    <dgm:pt modelId="{49EBA06F-755E-4D50-A2CC-A401C01F459A}" type="pres">
      <dgm:prSet presAssocID="{3FBDED7E-F696-4CA3-A50D-AA89FA1C1AD7}" presName="connTx" presStyleLbl="parChTrans1D3" presStyleIdx="0" presStyleCnt="2"/>
      <dgm:spPr/>
    </dgm:pt>
    <dgm:pt modelId="{AEA9F807-056A-4D52-BDC5-5C1196539A85}" type="pres">
      <dgm:prSet presAssocID="{29F0F076-C2C0-42BE-92CC-D397BA644E10}" presName="root2" presStyleCnt="0"/>
      <dgm:spPr/>
    </dgm:pt>
    <dgm:pt modelId="{F9FD2988-2D88-4478-9E6C-25F72B560F29}" type="pres">
      <dgm:prSet presAssocID="{29F0F076-C2C0-42BE-92CC-D397BA644E10}" presName="LevelTwoTextNode" presStyleLbl="node3" presStyleIdx="0" presStyleCnt="2">
        <dgm:presLayoutVars>
          <dgm:chPref val="3"/>
        </dgm:presLayoutVars>
      </dgm:prSet>
      <dgm:spPr/>
    </dgm:pt>
    <dgm:pt modelId="{3B3CAE77-F62B-4AC0-9082-5C88FB471261}" type="pres">
      <dgm:prSet presAssocID="{29F0F076-C2C0-42BE-92CC-D397BA644E10}" presName="level3hierChild" presStyleCnt="0"/>
      <dgm:spPr/>
    </dgm:pt>
    <dgm:pt modelId="{BA671F02-38CA-4A84-8288-73DD8C9C7353}" type="pres">
      <dgm:prSet presAssocID="{8ED76777-F507-4D86-A806-147B89B3BBAD}" presName="conn2-1" presStyleLbl="parChTrans1D3" presStyleIdx="1" presStyleCnt="2"/>
      <dgm:spPr/>
    </dgm:pt>
    <dgm:pt modelId="{C1EBE17B-32FF-42A0-BB62-D30B078AAF8A}" type="pres">
      <dgm:prSet presAssocID="{8ED76777-F507-4D86-A806-147B89B3BBAD}" presName="connTx" presStyleLbl="parChTrans1D3" presStyleIdx="1" presStyleCnt="2"/>
      <dgm:spPr/>
    </dgm:pt>
    <dgm:pt modelId="{32B7317C-D11A-4F25-B729-CE99B507EE9C}" type="pres">
      <dgm:prSet presAssocID="{15545D1F-16FC-46BE-86B6-80BB6214EB92}" presName="root2" presStyleCnt="0"/>
      <dgm:spPr/>
    </dgm:pt>
    <dgm:pt modelId="{343A64C4-FE0E-4B39-A9EF-26BBE3197345}" type="pres">
      <dgm:prSet presAssocID="{15545D1F-16FC-46BE-86B6-80BB6214EB92}" presName="LevelTwoTextNode" presStyleLbl="node3" presStyleIdx="1" presStyleCnt="2">
        <dgm:presLayoutVars>
          <dgm:chPref val="3"/>
        </dgm:presLayoutVars>
      </dgm:prSet>
      <dgm:spPr/>
    </dgm:pt>
    <dgm:pt modelId="{912DE31F-11D9-47B9-AD82-44DC8BFAB11B}" type="pres">
      <dgm:prSet presAssocID="{15545D1F-16FC-46BE-86B6-80BB6214EB92}" presName="level3hierChild" presStyleCnt="0"/>
      <dgm:spPr/>
    </dgm:pt>
    <dgm:pt modelId="{950EBB04-4FCB-48B5-882B-90A840D5FBCC}" type="pres">
      <dgm:prSet presAssocID="{BA41F2D8-27C7-4051-8E26-E662F4A3708D}" presName="conn2-1" presStyleLbl="parChTrans1D2" presStyleIdx="1" presStyleCnt="3"/>
      <dgm:spPr/>
    </dgm:pt>
    <dgm:pt modelId="{2825FF07-7D17-403E-842A-C40D3901457B}" type="pres">
      <dgm:prSet presAssocID="{BA41F2D8-27C7-4051-8E26-E662F4A3708D}" presName="connTx" presStyleLbl="parChTrans1D2" presStyleIdx="1" presStyleCnt="3"/>
      <dgm:spPr/>
    </dgm:pt>
    <dgm:pt modelId="{623C4259-754B-43A6-8BF9-200C1D2F9F88}" type="pres">
      <dgm:prSet presAssocID="{E7EB9674-D3A5-4DC5-BF23-887412B9E682}" presName="root2" presStyleCnt="0"/>
      <dgm:spPr/>
    </dgm:pt>
    <dgm:pt modelId="{0C3EABB8-3C23-4652-B75C-205D8CBC705B}" type="pres">
      <dgm:prSet presAssocID="{E7EB9674-D3A5-4DC5-BF23-887412B9E682}" presName="LevelTwoTextNode" presStyleLbl="node2" presStyleIdx="1" presStyleCnt="3" custScaleX="151583" custScaleY="201545">
        <dgm:presLayoutVars>
          <dgm:chPref val="3"/>
        </dgm:presLayoutVars>
      </dgm:prSet>
      <dgm:spPr/>
    </dgm:pt>
    <dgm:pt modelId="{E6A91675-382A-467C-979C-6259F774D2D2}" type="pres">
      <dgm:prSet presAssocID="{E7EB9674-D3A5-4DC5-BF23-887412B9E682}" presName="level3hierChild" presStyleCnt="0"/>
      <dgm:spPr/>
    </dgm:pt>
    <dgm:pt modelId="{74BFAD01-68B2-466A-96B7-DBAED4B4C85D}" type="pres">
      <dgm:prSet presAssocID="{F23F8E8E-FD06-4CEB-97C5-0BB50E489E87}" presName="conn2-1" presStyleLbl="parChTrans1D2" presStyleIdx="2" presStyleCnt="3"/>
      <dgm:spPr/>
    </dgm:pt>
    <dgm:pt modelId="{D5D2D48B-300C-4CDD-91CF-C4470FE49B0E}" type="pres">
      <dgm:prSet presAssocID="{F23F8E8E-FD06-4CEB-97C5-0BB50E489E87}" presName="connTx" presStyleLbl="parChTrans1D2" presStyleIdx="2" presStyleCnt="3"/>
      <dgm:spPr/>
    </dgm:pt>
    <dgm:pt modelId="{9D45F542-CE76-4FCC-BA8D-18CC3F4BA99D}" type="pres">
      <dgm:prSet presAssocID="{DE0D4394-B608-4A40-B38E-5912A504DAFC}" presName="root2" presStyleCnt="0"/>
      <dgm:spPr/>
    </dgm:pt>
    <dgm:pt modelId="{DB367B62-3DFD-4F76-86F4-8BDC2B1FF3BB}" type="pres">
      <dgm:prSet presAssocID="{DE0D4394-B608-4A40-B38E-5912A504DAFC}" presName="LevelTwoTextNode" presStyleLbl="node2" presStyleIdx="2" presStyleCnt="3" custScaleX="178904" custScaleY="208544">
        <dgm:presLayoutVars>
          <dgm:chPref val="3"/>
        </dgm:presLayoutVars>
      </dgm:prSet>
      <dgm:spPr/>
    </dgm:pt>
    <dgm:pt modelId="{B084E3FD-6D02-4014-AB93-DEB3C8663FBA}" type="pres">
      <dgm:prSet presAssocID="{DE0D4394-B608-4A40-B38E-5912A504DAFC}" presName="level3hierChild" presStyleCnt="0"/>
      <dgm:spPr/>
    </dgm:pt>
  </dgm:ptLst>
  <dgm:cxnLst>
    <dgm:cxn modelId="{6DD74004-2285-48FA-9ABA-8BF7DCCEE31A}" srcId="{CF47234B-DD1B-493C-8817-DBA692EB4AAA}" destId="{E7EB9674-D3A5-4DC5-BF23-887412B9E682}" srcOrd="1" destOrd="0" parTransId="{BA41F2D8-27C7-4051-8E26-E662F4A3708D}" sibTransId="{EC40EEBC-EBFE-4655-9D4E-292111453B49}"/>
    <dgm:cxn modelId="{D457570F-3D7E-4958-973A-3FFE90CF732E}" type="presOf" srcId="{29F0F076-C2C0-42BE-92CC-D397BA644E10}" destId="{F9FD2988-2D88-4478-9E6C-25F72B560F29}" srcOrd="0" destOrd="0" presId="urn:microsoft.com/office/officeart/2005/8/layout/hierarchy2"/>
    <dgm:cxn modelId="{5A13A824-A777-456C-B394-91FF382136BE}" srcId="{76A5F660-A137-4738-B0D2-2F897DE55E8C}" destId="{15545D1F-16FC-46BE-86B6-80BB6214EB92}" srcOrd="1" destOrd="0" parTransId="{8ED76777-F507-4D86-A806-147B89B3BBAD}" sibTransId="{5A864BD7-838E-4039-9CC8-E824BFBD37B3}"/>
    <dgm:cxn modelId="{C0DC1433-B16B-4B2B-B08B-79C318F3FB61}" type="presOf" srcId="{F23F8E8E-FD06-4CEB-97C5-0BB50E489E87}" destId="{74BFAD01-68B2-466A-96B7-DBAED4B4C85D}" srcOrd="0" destOrd="0" presId="urn:microsoft.com/office/officeart/2005/8/layout/hierarchy2"/>
    <dgm:cxn modelId="{8DE93636-30B6-479E-AD56-41D85A6C2CB4}" type="presOf" srcId="{F23F8E8E-FD06-4CEB-97C5-0BB50E489E87}" destId="{D5D2D48B-300C-4CDD-91CF-C4470FE49B0E}" srcOrd="1" destOrd="0" presId="urn:microsoft.com/office/officeart/2005/8/layout/hierarchy2"/>
    <dgm:cxn modelId="{8AC39741-E5B4-4A80-ACC8-449046802D66}" type="presOf" srcId="{76A5F660-A137-4738-B0D2-2F897DE55E8C}" destId="{F2FFC2D3-B5C3-4C2B-A8C6-D8E50318E5CB}" srcOrd="0" destOrd="0" presId="urn:microsoft.com/office/officeart/2005/8/layout/hierarchy2"/>
    <dgm:cxn modelId="{375C254A-B755-468D-8636-E595DDCF0776}" type="presOf" srcId="{3FBDED7E-F696-4CA3-A50D-AA89FA1C1AD7}" destId="{49EBA06F-755E-4D50-A2CC-A401C01F459A}" srcOrd="1" destOrd="0" presId="urn:microsoft.com/office/officeart/2005/8/layout/hierarchy2"/>
    <dgm:cxn modelId="{8F75684D-C8C0-4483-AFB9-4CCDC88ECD2C}" srcId="{F56A30F7-0A19-42CC-B63B-0F94976E2F81}" destId="{CF47234B-DD1B-493C-8817-DBA692EB4AAA}" srcOrd="0" destOrd="0" parTransId="{A80737BD-F8C9-4078-A6A5-BBACA80BFBE4}" sibTransId="{A50836B5-E517-4832-89C6-0E3B57B94682}"/>
    <dgm:cxn modelId="{64190057-F8E6-457C-8EA5-FBF55F0247D4}" type="presOf" srcId="{DE0D4394-B608-4A40-B38E-5912A504DAFC}" destId="{DB367B62-3DFD-4F76-86F4-8BDC2B1FF3BB}" srcOrd="0" destOrd="0" presId="urn:microsoft.com/office/officeart/2005/8/layout/hierarchy2"/>
    <dgm:cxn modelId="{EE850259-7164-4431-9027-F60B201C79B0}" srcId="{CF47234B-DD1B-493C-8817-DBA692EB4AAA}" destId="{76A5F660-A137-4738-B0D2-2F897DE55E8C}" srcOrd="0" destOrd="0" parTransId="{8B961185-514C-4590-A545-F802BCAEA26B}" sibTransId="{4AD56EDF-EC7C-456C-BC35-EF9E02A65833}"/>
    <dgm:cxn modelId="{B3F3967A-C694-476E-B37C-D93A02DB4593}" type="presOf" srcId="{8B961185-514C-4590-A545-F802BCAEA26B}" destId="{0B6827DD-BE62-4B0D-A667-8EBD6A193484}" srcOrd="0" destOrd="0" presId="urn:microsoft.com/office/officeart/2005/8/layout/hierarchy2"/>
    <dgm:cxn modelId="{1F665684-77DF-4B7D-AC78-DD54C49DFCB9}" type="presOf" srcId="{CF47234B-DD1B-493C-8817-DBA692EB4AAA}" destId="{10334339-8280-47AA-8E6B-AEDE04B8EBC4}" srcOrd="0" destOrd="0" presId="urn:microsoft.com/office/officeart/2005/8/layout/hierarchy2"/>
    <dgm:cxn modelId="{DBDC3595-11E0-4AE5-B651-26A557964F97}" type="presOf" srcId="{BA41F2D8-27C7-4051-8E26-E662F4A3708D}" destId="{2825FF07-7D17-403E-842A-C40D3901457B}" srcOrd="1" destOrd="0" presId="urn:microsoft.com/office/officeart/2005/8/layout/hierarchy2"/>
    <dgm:cxn modelId="{8B8796B0-6BC2-48C2-9899-E17B484404D0}" srcId="{CF47234B-DD1B-493C-8817-DBA692EB4AAA}" destId="{DE0D4394-B608-4A40-B38E-5912A504DAFC}" srcOrd="2" destOrd="0" parTransId="{F23F8E8E-FD06-4CEB-97C5-0BB50E489E87}" sibTransId="{70394F66-D151-4496-842F-3F59DAFEB02A}"/>
    <dgm:cxn modelId="{1B2C5CB6-41BF-4C27-A38F-72BB27ECF13D}" type="presOf" srcId="{BA41F2D8-27C7-4051-8E26-E662F4A3708D}" destId="{950EBB04-4FCB-48B5-882B-90A840D5FBCC}" srcOrd="0" destOrd="0" presId="urn:microsoft.com/office/officeart/2005/8/layout/hierarchy2"/>
    <dgm:cxn modelId="{5E7EC6B9-999C-4556-89D9-038B29CB7D97}" srcId="{76A5F660-A137-4738-B0D2-2F897DE55E8C}" destId="{29F0F076-C2C0-42BE-92CC-D397BA644E10}" srcOrd="0" destOrd="0" parTransId="{3FBDED7E-F696-4CA3-A50D-AA89FA1C1AD7}" sibTransId="{50578119-B031-4E7C-AF1B-FB28B811F6B3}"/>
    <dgm:cxn modelId="{A4545DBE-51B0-4A0C-B79C-C348951AE20E}" type="presOf" srcId="{8B961185-514C-4590-A545-F802BCAEA26B}" destId="{57E78FFF-5166-4AD8-9D33-0C5F3F12C019}" srcOrd="1" destOrd="0" presId="urn:microsoft.com/office/officeart/2005/8/layout/hierarchy2"/>
    <dgm:cxn modelId="{0FEDCCCA-9619-49ED-918C-85499C41691B}" type="presOf" srcId="{F56A30F7-0A19-42CC-B63B-0F94976E2F81}" destId="{160BCB7B-D0E2-4A42-9667-20E8FF4EABB4}" srcOrd="0" destOrd="0" presId="urn:microsoft.com/office/officeart/2005/8/layout/hierarchy2"/>
    <dgm:cxn modelId="{0A18CED2-7F12-4F8E-BEE9-32EA98D54DFB}" type="presOf" srcId="{15545D1F-16FC-46BE-86B6-80BB6214EB92}" destId="{343A64C4-FE0E-4B39-A9EF-26BBE3197345}" srcOrd="0" destOrd="0" presId="urn:microsoft.com/office/officeart/2005/8/layout/hierarchy2"/>
    <dgm:cxn modelId="{336505D3-3A74-494A-ADE9-F8DCE044A14B}" type="presOf" srcId="{3FBDED7E-F696-4CA3-A50D-AA89FA1C1AD7}" destId="{B43124F3-1745-4996-A7FE-DCD254B330BC}" srcOrd="0" destOrd="0" presId="urn:microsoft.com/office/officeart/2005/8/layout/hierarchy2"/>
    <dgm:cxn modelId="{EC09D7DB-9139-4773-BD75-527B86EE575E}" type="presOf" srcId="{8ED76777-F507-4D86-A806-147B89B3BBAD}" destId="{C1EBE17B-32FF-42A0-BB62-D30B078AAF8A}" srcOrd="1" destOrd="0" presId="urn:microsoft.com/office/officeart/2005/8/layout/hierarchy2"/>
    <dgm:cxn modelId="{E6722CE7-D891-47A1-92A7-3CB15D6B4B69}" type="presOf" srcId="{8ED76777-F507-4D86-A806-147B89B3BBAD}" destId="{BA671F02-38CA-4A84-8288-73DD8C9C7353}" srcOrd="0" destOrd="0" presId="urn:microsoft.com/office/officeart/2005/8/layout/hierarchy2"/>
    <dgm:cxn modelId="{8BEDD5F5-7DF3-4900-87EF-31421C27AB60}" type="presOf" srcId="{E7EB9674-D3A5-4DC5-BF23-887412B9E682}" destId="{0C3EABB8-3C23-4652-B75C-205D8CBC705B}" srcOrd="0" destOrd="0" presId="urn:microsoft.com/office/officeart/2005/8/layout/hierarchy2"/>
    <dgm:cxn modelId="{412254EF-6F1F-4AFF-AEB4-A023D474FD2B}" type="presParOf" srcId="{160BCB7B-D0E2-4A42-9667-20E8FF4EABB4}" destId="{F0EF9C05-1B00-47AD-A90F-BE3B487A352D}" srcOrd="0" destOrd="0" presId="urn:microsoft.com/office/officeart/2005/8/layout/hierarchy2"/>
    <dgm:cxn modelId="{E14A6270-5215-4236-9B47-EB5EB1AB985D}" type="presParOf" srcId="{F0EF9C05-1B00-47AD-A90F-BE3B487A352D}" destId="{10334339-8280-47AA-8E6B-AEDE04B8EBC4}" srcOrd="0" destOrd="0" presId="urn:microsoft.com/office/officeart/2005/8/layout/hierarchy2"/>
    <dgm:cxn modelId="{2CBD11C8-7BE7-4A15-90BA-32C38491CB78}" type="presParOf" srcId="{F0EF9C05-1B00-47AD-A90F-BE3B487A352D}" destId="{8DA4D9FE-F4F8-4D2F-8BBA-D751BDE006B6}" srcOrd="1" destOrd="0" presId="urn:microsoft.com/office/officeart/2005/8/layout/hierarchy2"/>
    <dgm:cxn modelId="{B075C794-0176-4FC8-B2BD-FA02385B73E7}" type="presParOf" srcId="{8DA4D9FE-F4F8-4D2F-8BBA-D751BDE006B6}" destId="{0B6827DD-BE62-4B0D-A667-8EBD6A193484}" srcOrd="0" destOrd="0" presId="urn:microsoft.com/office/officeart/2005/8/layout/hierarchy2"/>
    <dgm:cxn modelId="{846E7FC9-99E0-4ABE-B02C-DF01C4D84D4C}" type="presParOf" srcId="{0B6827DD-BE62-4B0D-A667-8EBD6A193484}" destId="{57E78FFF-5166-4AD8-9D33-0C5F3F12C019}" srcOrd="0" destOrd="0" presId="urn:microsoft.com/office/officeart/2005/8/layout/hierarchy2"/>
    <dgm:cxn modelId="{6B3BBB5C-BEC7-4795-9CD1-0DE592CD8910}" type="presParOf" srcId="{8DA4D9FE-F4F8-4D2F-8BBA-D751BDE006B6}" destId="{1D7F5E36-ADEA-4F4D-938A-0584D79B16C7}" srcOrd="1" destOrd="0" presId="urn:microsoft.com/office/officeart/2005/8/layout/hierarchy2"/>
    <dgm:cxn modelId="{47D846C8-8FC6-4C74-9F58-964F5A22E114}" type="presParOf" srcId="{1D7F5E36-ADEA-4F4D-938A-0584D79B16C7}" destId="{F2FFC2D3-B5C3-4C2B-A8C6-D8E50318E5CB}" srcOrd="0" destOrd="0" presId="urn:microsoft.com/office/officeart/2005/8/layout/hierarchy2"/>
    <dgm:cxn modelId="{6C644B82-033B-4764-8CAC-4EFA1FEDCB36}" type="presParOf" srcId="{1D7F5E36-ADEA-4F4D-938A-0584D79B16C7}" destId="{86371E8F-2343-4651-A546-8FE46FC941C4}" srcOrd="1" destOrd="0" presId="urn:microsoft.com/office/officeart/2005/8/layout/hierarchy2"/>
    <dgm:cxn modelId="{63DC3DB4-1A48-4531-8731-2D3EFB68641A}" type="presParOf" srcId="{86371E8F-2343-4651-A546-8FE46FC941C4}" destId="{B43124F3-1745-4996-A7FE-DCD254B330BC}" srcOrd="0" destOrd="0" presId="urn:microsoft.com/office/officeart/2005/8/layout/hierarchy2"/>
    <dgm:cxn modelId="{E371C380-1CFA-491C-9A75-06E08A2C5166}" type="presParOf" srcId="{B43124F3-1745-4996-A7FE-DCD254B330BC}" destId="{49EBA06F-755E-4D50-A2CC-A401C01F459A}" srcOrd="0" destOrd="0" presId="urn:microsoft.com/office/officeart/2005/8/layout/hierarchy2"/>
    <dgm:cxn modelId="{5C9B5C6A-B362-492F-9105-3568B98E59B6}" type="presParOf" srcId="{86371E8F-2343-4651-A546-8FE46FC941C4}" destId="{AEA9F807-056A-4D52-BDC5-5C1196539A85}" srcOrd="1" destOrd="0" presId="urn:microsoft.com/office/officeart/2005/8/layout/hierarchy2"/>
    <dgm:cxn modelId="{1DA094DB-F8DD-486E-BB95-6B00CEB25254}" type="presParOf" srcId="{AEA9F807-056A-4D52-BDC5-5C1196539A85}" destId="{F9FD2988-2D88-4478-9E6C-25F72B560F29}" srcOrd="0" destOrd="0" presId="urn:microsoft.com/office/officeart/2005/8/layout/hierarchy2"/>
    <dgm:cxn modelId="{93C0749A-275F-4DB9-8800-5DBA2FF3BF2F}" type="presParOf" srcId="{AEA9F807-056A-4D52-BDC5-5C1196539A85}" destId="{3B3CAE77-F62B-4AC0-9082-5C88FB471261}" srcOrd="1" destOrd="0" presId="urn:microsoft.com/office/officeart/2005/8/layout/hierarchy2"/>
    <dgm:cxn modelId="{DA72080B-49B4-4502-AD98-98BCFB0588B9}" type="presParOf" srcId="{86371E8F-2343-4651-A546-8FE46FC941C4}" destId="{BA671F02-38CA-4A84-8288-73DD8C9C7353}" srcOrd="2" destOrd="0" presId="urn:microsoft.com/office/officeart/2005/8/layout/hierarchy2"/>
    <dgm:cxn modelId="{68B38B02-6FBD-4D18-BC77-31558B7F7222}" type="presParOf" srcId="{BA671F02-38CA-4A84-8288-73DD8C9C7353}" destId="{C1EBE17B-32FF-42A0-BB62-D30B078AAF8A}" srcOrd="0" destOrd="0" presId="urn:microsoft.com/office/officeart/2005/8/layout/hierarchy2"/>
    <dgm:cxn modelId="{88C31F11-945A-403D-9AF7-E80B8C10DDA8}" type="presParOf" srcId="{86371E8F-2343-4651-A546-8FE46FC941C4}" destId="{32B7317C-D11A-4F25-B729-CE99B507EE9C}" srcOrd="3" destOrd="0" presId="urn:microsoft.com/office/officeart/2005/8/layout/hierarchy2"/>
    <dgm:cxn modelId="{53737D11-9BF3-4DF6-9682-EDFC6357179B}" type="presParOf" srcId="{32B7317C-D11A-4F25-B729-CE99B507EE9C}" destId="{343A64C4-FE0E-4B39-A9EF-26BBE3197345}" srcOrd="0" destOrd="0" presId="urn:microsoft.com/office/officeart/2005/8/layout/hierarchy2"/>
    <dgm:cxn modelId="{3B6879E6-5032-47C9-A2D3-B9A32F84220A}" type="presParOf" srcId="{32B7317C-D11A-4F25-B729-CE99B507EE9C}" destId="{912DE31F-11D9-47B9-AD82-44DC8BFAB11B}" srcOrd="1" destOrd="0" presId="urn:microsoft.com/office/officeart/2005/8/layout/hierarchy2"/>
    <dgm:cxn modelId="{6A9EC61B-A102-4083-A691-F7F7BA68DB13}" type="presParOf" srcId="{8DA4D9FE-F4F8-4D2F-8BBA-D751BDE006B6}" destId="{950EBB04-4FCB-48B5-882B-90A840D5FBCC}" srcOrd="2" destOrd="0" presId="urn:microsoft.com/office/officeart/2005/8/layout/hierarchy2"/>
    <dgm:cxn modelId="{8C82655A-94CF-4902-90FC-3FCBABD00ED5}" type="presParOf" srcId="{950EBB04-4FCB-48B5-882B-90A840D5FBCC}" destId="{2825FF07-7D17-403E-842A-C40D3901457B}" srcOrd="0" destOrd="0" presId="urn:microsoft.com/office/officeart/2005/8/layout/hierarchy2"/>
    <dgm:cxn modelId="{B22B47BB-E002-45C2-85F8-ED9443A3AE9D}" type="presParOf" srcId="{8DA4D9FE-F4F8-4D2F-8BBA-D751BDE006B6}" destId="{623C4259-754B-43A6-8BF9-200C1D2F9F88}" srcOrd="3" destOrd="0" presId="urn:microsoft.com/office/officeart/2005/8/layout/hierarchy2"/>
    <dgm:cxn modelId="{606AE6FA-EAA8-4DB8-A565-659B9C894ABF}" type="presParOf" srcId="{623C4259-754B-43A6-8BF9-200C1D2F9F88}" destId="{0C3EABB8-3C23-4652-B75C-205D8CBC705B}" srcOrd="0" destOrd="0" presId="urn:microsoft.com/office/officeart/2005/8/layout/hierarchy2"/>
    <dgm:cxn modelId="{CEA36454-24B9-498F-8559-30523B54CB70}" type="presParOf" srcId="{623C4259-754B-43A6-8BF9-200C1D2F9F88}" destId="{E6A91675-382A-467C-979C-6259F774D2D2}" srcOrd="1" destOrd="0" presId="urn:microsoft.com/office/officeart/2005/8/layout/hierarchy2"/>
    <dgm:cxn modelId="{624C02C5-19A3-4C6E-BB24-F36FCB695B4E}" type="presParOf" srcId="{8DA4D9FE-F4F8-4D2F-8BBA-D751BDE006B6}" destId="{74BFAD01-68B2-466A-96B7-DBAED4B4C85D}" srcOrd="4" destOrd="0" presId="urn:microsoft.com/office/officeart/2005/8/layout/hierarchy2"/>
    <dgm:cxn modelId="{05DA1AD4-49BA-4909-9FBA-9B1F1A434E0F}" type="presParOf" srcId="{74BFAD01-68B2-466A-96B7-DBAED4B4C85D}" destId="{D5D2D48B-300C-4CDD-91CF-C4470FE49B0E}" srcOrd="0" destOrd="0" presId="urn:microsoft.com/office/officeart/2005/8/layout/hierarchy2"/>
    <dgm:cxn modelId="{A129D1EB-8BFE-4DD4-A600-B7393C38A39E}" type="presParOf" srcId="{8DA4D9FE-F4F8-4D2F-8BBA-D751BDE006B6}" destId="{9D45F542-CE76-4FCC-BA8D-18CC3F4BA99D}" srcOrd="5" destOrd="0" presId="urn:microsoft.com/office/officeart/2005/8/layout/hierarchy2"/>
    <dgm:cxn modelId="{535A56B2-C221-4544-9798-2EEDF0DAE708}" type="presParOf" srcId="{9D45F542-CE76-4FCC-BA8D-18CC3F4BA99D}" destId="{DB367B62-3DFD-4F76-86F4-8BDC2B1FF3BB}" srcOrd="0" destOrd="0" presId="urn:microsoft.com/office/officeart/2005/8/layout/hierarchy2"/>
    <dgm:cxn modelId="{D7367958-CB03-4C54-839A-08C0B2B6A1AA}" type="presParOf" srcId="{9D45F542-CE76-4FCC-BA8D-18CC3F4BA99D}" destId="{B084E3FD-6D02-4014-AB93-DEB3C8663FB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B0ED3F-6F7D-4C55-B1FC-04C8A2FBDD0E}"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AR"/>
        </a:p>
      </dgm:t>
    </dgm:pt>
    <dgm:pt modelId="{AF4B71C1-3872-40D9-AFF9-F228919CDD0B}">
      <dgm:prSet phldrT="[Texto]"/>
      <dgm:spPr/>
      <dgm:t>
        <a:bodyPr/>
        <a:lstStyle/>
        <a:p>
          <a:r>
            <a:rPr lang="es-AR" dirty="0"/>
            <a:t>REPETICIÓN DE LAS OBSERVACIONES EN DIFERENTES MOMENTOS DEL TIEMPO. MISMO INSTRUMENTO DE MEDIDA</a:t>
          </a:r>
        </a:p>
      </dgm:t>
    </dgm:pt>
    <dgm:pt modelId="{0E0B031B-8CBB-4A12-BB40-7D65F591DA1D}" type="parTrans" cxnId="{9AF2840A-4D8C-410B-8532-F7BEB1EABE49}">
      <dgm:prSet/>
      <dgm:spPr/>
      <dgm:t>
        <a:bodyPr/>
        <a:lstStyle/>
        <a:p>
          <a:endParaRPr lang="es-AR"/>
        </a:p>
      </dgm:t>
    </dgm:pt>
    <dgm:pt modelId="{3E74D2BD-174A-471A-A550-8E5AEEA09967}" type="sibTrans" cxnId="{9AF2840A-4D8C-410B-8532-F7BEB1EABE49}">
      <dgm:prSet/>
      <dgm:spPr/>
      <dgm:t>
        <a:bodyPr/>
        <a:lstStyle/>
        <a:p>
          <a:endParaRPr lang="es-AR"/>
        </a:p>
      </dgm:t>
    </dgm:pt>
    <dgm:pt modelId="{9CA04600-3F90-419C-8173-F3B70B889D5B}">
      <dgm:prSet phldrT="[Texto]"/>
      <dgm:spPr/>
      <dgm:t>
        <a:bodyPr/>
        <a:lstStyle/>
        <a:p>
          <a:r>
            <a:rPr lang="es-AR" dirty="0"/>
            <a:t>EQUIVALENCIA</a:t>
          </a:r>
        </a:p>
      </dgm:t>
    </dgm:pt>
    <dgm:pt modelId="{3C32CE93-4477-403C-B4C2-FD489FF434EC}" type="parTrans" cxnId="{3F9FC1C6-35AA-45B6-8278-2455EA2C9DD2}">
      <dgm:prSet/>
      <dgm:spPr/>
      <dgm:t>
        <a:bodyPr/>
        <a:lstStyle/>
        <a:p>
          <a:endParaRPr lang="es-AR"/>
        </a:p>
      </dgm:t>
    </dgm:pt>
    <dgm:pt modelId="{100CE915-EFFB-4EA7-80A6-C3EC183D21E0}" type="sibTrans" cxnId="{3F9FC1C6-35AA-45B6-8278-2455EA2C9DD2}">
      <dgm:prSet/>
      <dgm:spPr/>
      <dgm:t>
        <a:bodyPr/>
        <a:lstStyle/>
        <a:p>
          <a:endParaRPr lang="es-AR"/>
        </a:p>
      </dgm:t>
    </dgm:pt>
    <dgm:pt modelId="{AC763F0A-00EF-4490-9E77-0D5176E0F89C}">
      <dgm:prSet phldrT="[Texto]"/>
      <dgm:spPr/>
      <dgm:t>
        <a:bodyPr/>
        <a:lstStyle/>
        <a:p>
          <a:r>
            <a:rPr lang="es-AR" dirty="0"/>
            <a:t>APLICACIÓN DE DISTINTOS INSTRUMENTOS CON EL FIN DE COMPARAR LOS RESULTADOS</a:t>
          </a:r>
        </a:p>
      </dgm:t>
    </dgm:pt>
    <dgm:pt modelId="{D558EFCE-C221-4B00-815C-064355C6509D}" type="parTrans" cxnId="{2FA16CBC-9099-41DD-ADD2-1ECCE0AAD7C7}">
      <dgm:prSet/>
      <dgm:spPr/>
      <dgm:t>
        <a:bodyPr/>
        <a:lstStyle/>
        <a:p>
          <a:endParaRPr lang="es-AR"/>
        </a:p>
      </dgm:t>
    </dgm:pt>
    <dgm:pt modelId="{94A9D6C1-3D50-4C3E-9D33-BCF4007E7DEF}" type="sibTrans" cxnId="{2FA16CBC-9099-41DD-ADD2-1ECCE0AAD7C7}">
      <dgm:prSet/>
      <dgm:spPr/>
      <dgm:t>
        <a:bodyPr/>
        <a:lstStyle/>
        <a:p>
          <a:endParaRPr lang="es-AR"/>
        </a:p>
      </dgm:t>
    </dgm:pt>
    <dgm:pt modelId="{DE37521D-07EE-4796-8AEC-95005F45FD84}">
      <dgm:prSet phldrT="[Texto]"/>
      <dgm:spPr/>
      <dgm:t>
        <a:bodyPr/>
        <a:lstStyle/>
        <a:p>
          <a:r>
            <a:rPr lang="es-AR" dirty="0"/>
            <a:t>CONSISTENCIA INTERNA</a:t>
          </a:r>
        </a:p>
      </dgm:t>
    </dgm:pt>
    <dgm:pt modelId="{480289AD-CDC4-4257-B404-ECB3558EB7F0}" type="parTrans" cxnId="{CFD2FB43-CBB7-4D93-AB1A-B2188B517E5A}">
      <dgm:prSet/>
      <dgm:spPr/>
      <dgm:t>
        <a:bodyPr/>
        <a:lstStyle/>
        <a:p>
          <a:endParaRPr lang="es-AR"/>
        </a:p>
      </dgm:t>
    </dgm:pt>
    <dgm:pt modelId="{8BDD3532-B3D5-498C-91CF-CCB3A02EF4F3}" type="sibTrans" cxnId="{CFD2FB43-CBB7-4D93-AB1A-B2188B517E5A}">
      <dgm:prSet/>
      <dgm:spPr/>
      <dgm:t>
        <a:bodyPr/>
        <a:lstStyle/>
        <a:p>
          <a:endParaRPr lang="es-AR"/>
        </a:p>
      </dgm:t>
    </dgm:pt>
    <dgm:pt modelId="{661D47BC-EECB-42FA-A602-4B1138C1551C}">
      <dgm:prSet phldrT="[Texto]"/>
      <dgm:spPr/>
      <dgm:t>
        <a:bodyPr/>
        <a:lstStyle/>
        <a:p>
          <a:r>
            <a:rPr lang="es-AR" dirty="0"/>
            <a:t>EN UNA SOLA  APLICACIÓN DEL MISMO INSTRUMENTO PARA EVALUAR LA CONSISTENCIA DE DIFERENTES ÍTEMS.</a:t>
          </a:r>
        </a:p>
      </dgm:t>
    </dgm:pt>
    <dgm:pt modelId="{9E589795-13CC-486C-BEE9-B7F0BFE87E18}" type="parTrans" cxnId="{2F3A4FBE-C941-4DAF-8ED4-F0A248ED44EB}">
      <dgm:prSet/>
      <dgm:spPr/>
      <dgm:t>
        <a:bodyPr/>
        <a:lstStyle/>
        <a:p>
          <a:endParaRPr lang="es-AR"/>
        </a:p>
      </dgm:t>
    </dgm:pt>
    <dgm:pt modelId="{8149FA41-46DC-4B58-95C8-9D91080AD8D9}" type="sibTrans" cxnId="{2F3A4FBE-C941-4DAF-8ED4-F0A248ED44EB}">
      <dgm:prSet/>
      <dgm:spPr/>
      <dgm:t>
        <a:bodyPr/>
        <a:lstStyle/>
        <a:p>
          <a:endParaRPr lang="es-AR"/>
        </a:p>
      </dgm:t>
    </dgm:pt>
    <dgm:pt modelId="{E1175C4A-B09A-4E60-9383-C0A80BACDCBE}">
      <dgm:prSet phldrT="[Texto]"/>
      <dgm:spPr/>
      <dgm:t>
        <a:bodyPr/>
        <a:lstStyle/>
        <a:p>
          <a:r>
            <a:rPr lang="es-AR" dirty="0"/>
            <a:t>ESTABILIDAD</a:t>
          </a:r>
        </a:p>
      </dgm:t>
    </dgm:pt>
    <dgm:pt modelId="{860EBD4B-512C-4C88-9DF6-FD4018A7E709}" type="sibTrans" cxnId="{0FDAE258-207F-4B72-8FA1-A825C5638CC4}">
      <dgm:prSet/>
      <dgm:spPr/>
      <dgm:t>
        <a:bodyPr/>
        <a:lstStyle/>
        <a:p>
          <a:endParaRPr lang="es-AR"/>
        </a:p>
      </dgm:t>
    </dgm:pt>
    <dgm:pt modelId="{D7948BB3-35DF-4CAB-8AB8-4FF0704013AB}" type="parTrans" cxnId="{0FDAE258-207F-4B72-8FA1-A825C5638CC4}">
      <dgm:prSet/>
      <dgm:spPr/>
      <dgm:t>
        <a:bodyPr/>
        <a:lstStyle/>
        <a:p>
          <a:endParaRPr lang="es-AR"/>
        </a:p>
      </dgm:t>
    </dgm:pt>
    <dgm:pt modelId="{C7D49140-7F85-4E4B-83BE-1FA536DA7F18}" type="pres">
      <dgm:prSet presAssocID="{C8B0ED3F-6F7D-4C55-B1FC-04C8A2FBDD0E}" presName="Name0" presStyleCnt="0">
        <dgm:presLayoutVars>
          <dgm:dir/>
          <dgm:animLvl val="lvl"/>
          <dgm:resizeHandles val="exact"/>
        </dgm:presLayoutVars>
      </dgm:prSet>
      <dgm:spPr/>
    </dgm:pt>
    <dgm:pt modelId="{C0C01ADB-6D4B-4637-A562-DF5A79574BEB}" type="pres">
      <dgm:prSet presAssocID="{E1175C4A-B09A-4E60-9383-C0A80BACDCBE}" presName="linNode" presStyleCnt="0"/>
      <dgm:spPr/>
    </dgm:pt>
    <dgm:pt modelId="{CE22A593-F290-47FE-8B5E-AAD52093BFA5}" type="pres">
      <dgm:prSet presAssocID="{E1175C4A-B09A-4E60-9383-C0A80BACDCBE}" presName="parentText" presStyleLbl="node1" presStyleIdx="0" presStyleCnt="3" custLinFactNeighborX="527" custLinFactNeighborY="741">
        <dgm:presLayoutVars>
          <dgm:chMax val="1"/>
          <dgm:bulletEnabled val="1"/>
        </dgm:presLayoutVars>
      </dgm:prSet>
      <dgm:spPr/>
    </dgm:pt>
    <dgm:pt modelId="{36FC0DDF-E87B-40D7-AE09-BDD3B55B68D7}" type="pres">
      <dgm:prSet presAssocID="{E1175C4A-B09A-4E60-9383-C0A80BACDCBE}" presName="descendantText" presStyleLbl="alignAccFollowNode1" presStyleIdx="0" presStyleCnt="3">
        <dgm:presLayoutVars>
          <dgm:bulletEnabled val="1"/>
        </dgm:presLayoutVars>
      </dgm:prSet>
      <dgm:spPr/>
    </dgm:pt>
    <dgm:pt modelId="{9001E9F8-5D73-49CA-A8E2-D8E2300DAFE8}" type="pres">
      <dgm:prSet presAssocID="{860EBD4B-512C-4C88-9DF6-FD4018A7E709}" presName="sp" presStyleCnt="0"/>
      <dgm:spPr/>
    </dgm:pt>
    <dgm:pt modelId="{0E857B5D-A15A-4128-9891-AA92A2D4F624}" type="pres">
      <dgm:prSet presAssocID="{9CA04600-3F90-419C-8173-F3B70B889D5B}" presName="linNode" presStyleCnt="0"/>
      <dgm:spPr/>
    </dgm:pt>
    <dgm:pt modelId="{7F27335A-F816-4F9E-9A0B-3BF43F61B4E8}" type="pres">
      <dgm:prSet presAssocID="{9CA04600-3F90-419C-8173-F3B70B889D5B}" presName="parentText" presStyleLbl="node1" presStyleIdx="1" presStyleCnt="3">
        <dgm:presLayoutVars>
          <dgm:chMax val="1"/>
          <dgm:bulletEnabled val="1"/>
        </dgm:presLayoutVars>
      </dgm:prSet>
      <dgm:spPr/>
    </dgm:pt>
    <dgm:pt modelId="{ECE05E32-68CE-46DD-9AD9-4EE4C68C6985}" type="pres">
      <dgm:prSet presAssocID="{9CA04600-3F90-419C-8173-F3B70B889D5B}" presName="descendantText" presStyleLbl="alignAccFollowNode1" presStyleIdx="1" presStyleCnt="3">
        <dgm:presLayoutVars>
          <dgm:bulletEnabled val="1"/>
        </dgm:presLayoutVars>
      </dgm:prSet>
      <dgm:spPr/>
    </dgm:pt>
    <dgm:pt modelId="{51BFA173-8C28-4D81-A4B4-DA27633E16DD}" type="pres">
      <dgm:prSet presAssocID="{100CE915-EFFB-4EA7-80A6-C3EC183D21E0}" presName="sp" presStyleCnt="0"/>
      <dgm:spPr/>
    </dgm:pt>
    <dgm:pt modelId="{1ABF79BE-FD03-4C5D-B154-1DD24394A530}" type="pres">
      <dgm:prSet presAssocID="{DE37521D-07EE-4796-8AEC-95005F45FD84}" presName="linNode" presStyleCnt="0"/>
      <dgm:spPr/>
    </dgm:pt>
    <dgm:pt modelId="{B1110761-6F6C-4BC9-AC0E-5A5C1C30CB39}" type="pres">
      <dgm:prSet presAssocID="{DE37521D-07EE-4796-8AEC-95005F45FD84}" presName="parentText" presStyleLbl="node1" presStyleIdx="2" presStyleCnt="3">
        <dgm:presLayoutVars>
          <dgm:chMax val="1"/>
          <dgm:bulletEnabled val="1"/>
        </dgm:presLayoutVars>
      </dgm:prSet>
      <dgm:spPr/>
    </dgm:pt>
    <dgm:pt modelId="{BB666FB3-4C28-442C-BD77-CD3507638669}" type="pres">
      <dgm:prSet presAssocID="{DE37521D-07EE-4796-8AEC-95005F45FD84}" presName="descendantText" presStyleLbl="alignAccFollowNode1" presStyleIdx="2" presStyleCnt="3">
        <dgm:presLayoutVars>
          <dgm:bulletEnabled val="1"/>
        </dgm:presLayoutVars>
      </dgm:prSet>
      <dgm:spPr/>
    </dgm:pt>
  </dgm:ptLst>
  <dgm:cxnLst>
    <dgm:cxn modelId="{9AF2840A-4D8C-410B-8532-F7BEB1EABE49}" srcId="{E1175C4A-B09A-4E60-9383-C0A80BACDCBE}" destId="{AF4B71C1-3872-40D9-AFF9-F228919CDD0B}" srcOrd="0" destOrd="0" parTransId="{0E0B031B-8CBB-4A12-BB40-7D65F591DA1D}" sibTransId="{3E74D2BD-174A-471A-A550-8E5AEEA09967}"/>
    <dgm:cxn modelId="{7609CE29-36DC-43A2-A61A-479F14302C8E}" type="presOf" srcId="{AC763F0A-00EF-4490-9E77-0D5176E0F89C}" destId="{ECE05E32-68CE-46DD-9AD9-4EE4C68C6985}" srcOrd="0" destOrd="0" presId="urn:microsoft.com/office/officeart/2005/8/layout/vList5"/>
    <dgm:cxn modelId="{3B340D2B-46AE-45CF-B03B-286899A72A92}" type="presOf" srcId="{C8B0ED3F-6F7D-4C55-B1FC-04C8A2FBDD0E}" destId="{C7D49140-7F85-4E4B-83BE-1FA536DA7F18}" srcOrd="0" destOrd="0" presId="urn:microsoft.com/office/officeart/2005/8/layout/vList5"/>
    <dgm:cxn modelId="{7FB8BF31-B559-4175-B2BD-985DCCD896BD}" type="presOf" srcId="{661D47BC-EECB-42FA-A602-4B1138C1551C}" destId="{BB666FB3-4C28-442C-BD77-CD3507638669}" srcOrd="0" destOrd="0" presId="urn:microsoft.com/office/officeart/2005/8/layout/vList5"/>
    <dgm:cxn modelId="{9C558B38-9C38-490E-AE45-BBE42C07DB76}" type="presOf" srcId="{9CA04600-3F90-419C-8173-F3B70B889D5B}" destId="{7F27335A-F816-4F9E-9A0B-3BF43F61B4E8}" srcOrd="0" destOrd="0" presId="urn:microsoft.com/office/officeart/2005/8/layout/vList5"/>
    <dgm:cxn modelId="{E05CB63E-2669-424D-B339-BDDC758C762E}" type="presOf" srcId="{AF4B71C1-3872-40D9-AFF9-F228919CDD0B}" destId="{36FC0DDF-E87B-40D7-AE09-BDD3B55B68D7}" srcOrd="0" destOrd="0" presId="urn:microsoft.com/office/officeart/2005/8/layout/vList5"/>
    <dgm:cxn modelId="{CD10D843-B8F8-4578-9E99-35229EFEB1F3}" type="presOf" srcId="{E1175C4A-B09A-4E60-9383-C0A80BACDCBE}" destId="{CE22A593-F290-47FE-8B5E-AAD52093BFA5}" srcOrd="0" destOrd="0" presId="urn:microsoft.com/office/officeart/2005/8/layout/vList5"/>
    <dgm:cxn modelId="{CFD2FB43-CBB7-4D93-AB1A-B2188B517E5A}" srcId="{C8B0ED3F-6F7D-4C55-B1FC-04C8A2FBDD0E}" destId="{DE37521D-07EE-4796-8AEC-95005F45FD84}" srcOrd="2" destOrd="0" parTransId="{480289AD-CDC4-4257-B404-ECB3558EB7F0}" sibTransId="{8BDD3532-B3D5-498C-91CF-CCB3A02EF4F3}"/>
    <dgm:cxn modelId="{0FDAE258-207F-4B72-8FA1-A825C5638CC4}" srcId="{C8B0ED3F-6F7D-4C55-B1FC-04C8A2FBDD0E}" destId="{E1175C4A-B09A-4E60-9383-C0A80BACDCBE}" srcOrd="0" destOrd="0" parTransId="{D7948BB3-35DF-4CAB-8AB8-4FF0704013AB}" sibTransId="{860EBD4B-512C-4C88-9DF6-FD4018A7E709}"/>
    <dgm:cxn modelId="{C899E184-68A2-4B9C-9B99-FD2BBB10C9BC}" type="presOf" srcId="{DE37521D-07EE-4796-8AEC-95005F45FD84}" destId="{B1110761-6F6C-4BC9-AC0E-5A5C1C30CB39}" srcOrd="0" destOrd="0" presId="urn:microsoft.com/office/officeart/2005/8/layout/vList5"/>
    <dgm:cxn modelId="{2FA16CBC-9099-41DD-ADD2-1ECCE0AAD7C7}" srcId="{9CA04600-3F90-419C-8173-F3B70B889D5B}" destId="{AC763F0A-00EF-4490-9E77-0D5176E0F89C}" srcOrd="0" destOrd="0" parTransId="{D558EFCE-C221-4B00-815C-064355C6509D}" sibTransId="{94A9D6C1-3D50-4C3E-9D33-BCF4007E7DEF}"/>
    <dgm:cxn modelId="{2F3A4FBE-C941-4DAF-8ED4-F0A248ED44EB}" srcId="{DE37521D-07EE-4796-8AEC-95005F45FD84}" destId="{661D47BC-EECB-42FA-A602-4B1138C1551C}" srcOrd="0" destOrd="0" parTransId="{9E589795-13CC-486C-BEE9-B7F0BFE87E18}" sibTransId="{8149FA41-46DC-4B58-95C8-9D91080AD8D9}"/>
    <dgm:cxn modelId="{3F9FC1C6-35AA-45B6-8278-2455EA2C9DD2}" srcId="{C8B0ED3F-6F7D-4C55-B1FC-04C8A2FBDD0E}" destId="{9CA04600-3F90-419C-8173-F3B70B889D5B}" srcOrd="1" destOrd="0" parTransId="{3C32CE93-4477-403C-B4C2-FD489FF434EC}" sibTransId="{100CE915-EFFB-4EA7-80A6-C3EC183D21E0}"/>
    <dgm:cxn modelId="{C7033159-273D-44A8-B7E4-76B478D122A4}" type="presParOf" srcId="{C7D49140-7F85-4E4B-83BE-1FA536DA7F18}" destId="{C0C01ADB-6D4B-4637-A562-DF5A79574BEB}" srcOrd="0" destOrd="0" presId="urn:microsoft.com/office/officeart/2005/8/layout/vList5"/>
    <dgm:cxn modelId="{33669E44-E7E3-4D49-8774-39587EC33FC4}" type="presParOf" srcId="{C0C01ADB-6D4B-4637-A562-DF5A79574BEB}" destId="{CE22A593-F290-47FE-8B5E-AAD52093BFA5}" srcOrd="0" destOrd="0" presId="urn:microsoft.com/office/officeart/2005/8/layout/vList5"/>
    <dgm:cxn modelId="{37B68770-EBEB-4D5F-A08D-220A3814E28F}" type="presParOf" srcId="{C0C01ADB-6D4B-4637-A562-DF5A79574BEB}" destId="{36FC0DDF-E87B-40D7-AE09-BDD3B55B68D7}" srcOrd="1" destOrd="0" presId="urn:microsoft.com/office/officeart/2005/8/layout/vList5"/>
    <dgm:cxn modelId="{31749492-4C74-4BB6-93C1-26665B846F47}" type="presParOf" srcId="{C7D49140-7F85-4E4B-83BE-1FA536DA7F18}" destId="{9001E9F8-5D73-49CA-A8E2-D8E2300DAFE8}" srcOrd="1" destOrd="0" presId="urn:microsoft.com/office/officeart/2005/8/layout/vList5"/>
    <dgm:cxn modelId="{B10C8F05-BBD6-4286-8E70-8078644E7B8C}" type="presParOf" srcId="{C7D49140-7F85-4E4B-83BE-1FA536DA7F18}" destId="{0E857B5D-A15A-4128-9891-AA92A2D4F624}" srcOrd="2" destOrd="0" presId="urn:microsoft.com/office/officeart/2005/8/layout/vList5"/>
    <dgm:cxn modelId="{BBE8CC71-AA20-4882-B6C9-076EA63C0AB1}" type="presParOf" srcId="{0E857B5D-A15A-4128-9891-AA92A2D4F624}" destId="{7F27335A-F816-4F9E-9A0B-3BF43F61B4E8}" srcOrd="0" destOrd="0" presId="urn:microsoft.com/office/officeart/2005/8/layout/vList5"/>
    <dgm:cxn modelId="{9065C0BB-1A91-4707-B674-29DA3FAE9BE3}" type="presParOf" srcId="{0E857B5D-A15A-4128-9891-AA92A2D4F624}" destId="{ECE05E32-68CE-46DD-9AD9-4EE4C68C6985}" srcOrd="1" destOrd="0" presId="urn:microsoft.com/office/officeart/2005/8/layout/vList5"/>
    <dgm:cxn modelId="{EEBE2208-D774-4D46-9A1D-112B7DE74A3F}" type="presParOf" srcId="{C7D49140-7F85-4E4B-83BE-1FA536DA7F18}" destId="{51BFA173-8C28-4D81-A4B4-DA27633E16DD}" srcOrd="3" destOrd="0" presId="urn:microsoft.com/office/officeart/2005/8/layout/vList5"/>
    <dgm:cxn modelId="{0D470553-44E6-420E-B55C-B7992BD770C4}" type="presParOf" srcId="{C7D49140-7F85-4E4B-83BE-1FA536DA7F18}" destId="{1ABF79BE-FD03-4C5D-B154-1DD24394A530}" srcOrd="4" destOrd="0" presId="urn:microsoft.com/office/officeart/2005/8/layout/vList5"/>
    <dgm:cxn modelId="{2ECC75E3-70CD-430F-8FBA-4B8543C23AC1}" type="presParOf" srcId="{1ABF79BE-FD03-4C5D-B154-1DD24394A530}" destId="{B1110761-6F6C-4BC9-AC0E-5A5C1C30CB39}" srcOrd="0" destOrd="0" presId="urn:microsoft.com/office/officeart/2005/8/layout/vList5"/>
    <dgm:cxn modelId="{1CC634FA-C4B2-4056-BF3B-A807B8F7C6DA}" type="presParOf" srcId="{1ABF79BE-FD03-4C5D-B154-1DD24394A530}" destId="{BB666FB3-4C28-442C-BD77-CD350763866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33340A-45E1-4961-9EE9-E1270681D9F9}"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s-AR"/>
        </a:p>
      </dgm:t>
    </dgm:pt>
    <dgm:pt modelId="{3D3C2048-5FC6-40EB-9ED9-599E284EA935}">
      <dgm:prSet phldrT="[Texto]"/>
      <dgm:spPr/>
      <dgm:t>
        <a:bodyPr/>
        <a:lstStyle/>
        <a:p>
          <a:r>
            <a:rPr lang="es-AR" dirty="0"/>
            <a:t>VALIDEZ CONCURRENTE</a:t>
          </a:r>
        </a:p>
      </dgm:t>
    </dgm:pt>
    <dgm:pt modelId="{0A5DAF42-3850-4ACD-9EF7-AD82717C174D}" type="parTrans" cxnId="{F9CD5A56-E378-4B0C-A3AA-B35EF356D821}">
      <dgm:prSet/>
      <dgm:spPr/>
      <dgm:t>
        <a:bodyPr/>
        <a:lstStyle/>
        <a:p>
          <a:endParaRPr lang="es-AR"/>
        </a:p>
      </dgm:t>
    </dgm:pt>
    <dgm:pt modelId="{59361E3F-5ECB-407D-9C34-433C1D43B398}" type="sibTrans" cxnId="{F9CD5A56-E378-4B0C-A3AA-B35EF356D821}">
      <dgm:prSet/>
      <dgm:spPr/>
      <dgm:t>
        <a:bodyPr/>
        <a:lstStyle/>
        <a:p>
          <a:endParaRPr lang="es-AR"/>
        </a:p>
      </dgm:t>
    </dgm:pt>
    <dgm:pt modelId="{7D4D9E78-2B25-4949-8240-F956C254A4B8}">
      <dgm:prSet phldrT="[Texto]"/>
      <dgm:spPr/>
      <dgm:t>
        <a:bodyPr/>
        <a:lstStyle/>
        <a:p>
          <a:r>
            <a:rPr lang="es-AR" dirty="0"/>
            <a:t>Diferentes medidas de un concepto proporcionan resultados semejantes. </a:t>
          </a:r>
        </a:p>
      </dgm:t>
    </dgm:pt>
    <dgm:pt modelId="{EFCED8A6-F6D5-4B9A-B982-6F61F23BE441}" type="parTrans" cxnId="{4AD3B7BA-D35F-4514-AC9F-FFA1630BD056}">
      <dgm:prSet/>
      <dgm:spPr/>
      <dgm:t>
        <a:bodyPr/>
        <a:lstStyle/>
        <a:p>
          <a:endParaRPr lang="es-AR"/>
        </a:p>
      </dgm:t>
    </dgm:pt>
    <dgm:pt modelId="{E501349E-E7C1-482F-9BC6-BF60F70227B6}" type="sibTrans" cxnId="{4AD3B7BA-D35F-4514-AC9F-FFA1630BD056}">
      <dgm:prSet/>
      <dgm:spPr/>
      <dgm:t>
        <a:bodyPr/>
        <a:lstStyle/>
        <a:p>
          <a:endParaRPr lang="es-AR"/>
        </a:p>
      </dgm:t>
    </dgm:pt>
    <dgm:pt modelId="{ECB6BE6F-C63A-41F8-A51A-389B6DFE2B0A}">
      <dgm:prSet phldrT="[Texto]"/>
      <dgm:spPr/>
      <dgm:t>
        <a:bodyPr/>
        <a:lstStyle/>
        <a:p>
          <a:r>
            <a:rPr lang="es-AR" dirty="0"/>
            <a:t>Medir concepto con varios procedimientos.</a:t>
          </a:r>
        </a:p>
      </dgm:t>
    </dgm:pt>
    <dgm:pt modelId="{91DBF6AF-FC8F-4DCB-92AD-F59336FA3846}" type="parTrans" cxnId="{48EB812A-6E5D-4EAE-9452-29A73E8146D0}">
      <dgm:prSet/>
      <dgm:spPr/>
      <dgm:t>
        <a:bodyPr/>
        <a:lstStyle/>
        <a:p>
          <a:endParaRPr lang="es-AR"/>
        </a:p>
      </dgm:t>
    </dgm:pt>
    <dgm:pt modelId="{F6C42FDE-379A-4943-812E-375AEF293EF7}" type="sibTrans" cxnId="{48EB812A-6E5D-4EAE-9452-29A73E8146D0}">
      <dgm:prSet/>
      <dgm:spPr/>
      <dgm:t>
        <a:bodyPr/>
        <a:lstStyle/>
        <a:p>
          <a:endParaRPr lang="es-AR"/>
        </a:p>
      </dgm:t>
    </dgm:pt>
    <dgm:pt modelId="{DFD505DA-E2F0-4133-9C2D-C86DDDB7F768}" type="pres">
      <dgm:prSet presAssocID="{C733340A-45E1-4961-9EE9-E1270681D9F9}" presName="Name0" presStyleCnt="0">
        <dgm:presLayoutVars>
          <dgm:dir/>
          <dgm:animLvl val="lvl"/>
          <dgm:resizeHandles val="exact"/>
        </dgm:presLayoutVars>
      </dgm:prSet>
      <dgm:spPr/>
    </dgm:pt>
    <dgm:pt modelId="{109218DF-2C68-40C9-BBB7-D3D79C94AD2D}" type="pres">
      <dgm:prSet presAssocID="{3D3C2048-5FC6-40EB-9ED9-599E284EA935}" presName="linNode" presStyleCnt="0"/>
      <dgm:spPr/>
    </dgm:pt>
    <dgm:pt modelId="{EE120C2D-7B33-454F-B44C-DF0BADAFCF40}" type="pres">
      <dgm:prSet presAssocID="{3D3C2048-5FC6-40EB-9ED9-599E284EA935}" presName="parentText" presStyleLbl="node1" presStyleIdx="0" presStyleCnt="1">
        <dgm:presLayoutVars>
          <dgm:chMax val="1"/>
          <dgm:bulletEnabled val="1"/>
        </dgm:presLayoutVars>
      </dgm:prSet>
      <dgm:spPr/>
    </dgm:pt>
    <dgm:pt modelId="{3C35CB86-2B40-4DF3-9586-C8EF4A2160DF}" type="pres">
      <dgm:prSet presAssocID="{3D3C2048-5FC6-40EB-9ED9-599E284EA935}" presName="descendantText" presStyleLbl="alignAccFollowNode1" presStyleIdx="0" presStyleCnt="1">
        <dgm:presLayoutVars>
          <dgm:bulletEnabled val="1"/>
        </dgm:presLayoutVars>
      </dgm:prSet>
      <dgm:spPr/>
    </dgm:pt>
  </dgm:ptLst>
  <dgm:cxnLst>
    <dgm:cxn modelId="{4A112427-8950-451A-A901-A97766A22229}" type="presOf" srcId="{7D4D9E78-2B25-4949-8240-F956C254A4B8}" destId="{3C35CB86-2B40-4DF3-9586-C8EF4A2160DF}" srcOrd="0" destOrd="0" presId="urn:microsoft.com/office/officeart/2005/8/layout/vList5"/>
    <dgm:cxn modelId="{48EB812A-6E5D-4EAE-9452-29A73E8146D0}" srcId="{3D3C2048-5FC6-40EB-9ED9-599E284EA935}" destId="{ECB6BE6F-C63A-41F8-A51A-389B6DFE2B0A}" srcOrd="1" destOrd="0" parTransId="{91DBF6AF-FC8F-4DCB-92AD-F59336FA3846}" sibTransId="{F6C42FDE-379A-4943-812E-375AEF293EF7}"/>
    <dgm:cxn modelId="{8EDBD037-7D56-41FE-AEB9-CCDCBE04686D}" type="presOf" srcId="{3D3C2048-5FC6-40EB-9ED9-599E284EA935}" destId="{EE120C2D-7B33-454F-B44C-DF0BADAFCF40}" srcOrd="0" destOrd="0" presId="urn:microsoft.com/office/officeart/2005/8/layout/vList5"/>
    <dgm:cxn modelId="{321E4A6A-5E4D-482C-A2A3-A355B3987ED5}" type="presOf" srcId="{C733340A-45E1-4961-9EE9-E1270681D9F9}" destId="{DFD505DA-E2F0-4133-9C2D-C86DDDB7F768}" srcOrd="0" destOrd="0" presId="urn:microsoft.com/office/officeart/2005/8/layout/vList5"/>
    <dgm:cxn modelId="{F9CD5A56-E378-4B0C-A3AA-B35EF356D821}" srcId="{C733340A-45E1-4961-9EE9-E1270681D9F9}" destId="{3D3C2048-5FC6-40EB-9ED9-599E284EA935}" srcOrd="0" destOrd="0" parTransId="{0A5DAF42-3850-4ACD-9EF7-AD82717C174D}" sibTransId="{59361E3F-5ECB-407D-9C34-433C1D43B398}"/>
    <dgm:cxn modelId="{7D02D19C-051F-4F55-9C21-D348B48792C0}" type="presOf" srcId="{ECB6BE6F-C63A-41F8-A51A-389B6DFE2B0A}" destId="{3C35CB86-2B40-4DF3-9586-C8EF4A2160DF}" srcOrd="0" destOrd="1" presId="urn:microsoft.com/office/officeart/2005/8/layout/vList5"/>
    <dgm:cxn modelId="{4AD3B7BA-D35F-4514-AC9F-FFA1630BD056}" srcId="{3D3C2048-5FC6-40EB-9ED9-599E284EA935}" destId="{7D4D9E78-2B25-4949-8240-F956C254A4B8}" srcOrd="0" destOrd="0" parTransId="{EFCED8A6-F6D5-4B9A-B982-6F61F23BE441}" sibTransId="{E501349E-E7C1-482F-9BC6-BF60F70227B6}"/>
    <dgm:cxn modelId="{47420785-13BA-443F-BFFE-FA493D9A77E1}" type="presParOf" srcId="{DFD505DA-E2F0-4133-9C2D-C86DDDB7F768}" destId="{109218DF-2C68-40C9-BBB7-D3D79C94AD2D}" srcOrd="0" destOrd="0" presId="urn:microsoft.com/office/officeart/2005/8/layout/vList5"/>
    <dgm:cxn modelId="{083A8C48-1992-4D2D-888A-F0E59783CC41}" type="presParOf" srcId="{109218DF-2C68-40C9-BBB7-D3D79C94AD2D}" destId="{EE120C2D-7B33-454F-B44C-DF0BADAFCF40}" srcOrd="0" destOrd="0" presId="urn:microsoft.com/office/officeart/2005/8/layout/vList5"/>
    <dgm:cxn modelId="{89628B33-1361-46A5-A479-BA530828E5EF}" type="presParOf" srcId="{109218DF-2C68-40C9-BBB7-D3D79C94AD2D}" destId="{3C35CB86-2B40-4DF3-9586-C8EF4A2160D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4AA4E42-51F2-4E9D-A00D-DA52D916E93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AR"/>
        </a:p>
      </dgm:t>
    </dgm:pt>
    <dgm:pt modelId="{59107CA9-B259-440D-BFCA-6411DAFE19BD}">
      <dgm:prSet phldrT="[Texto]"/>
      <dgm:spPr/>
      <dgm:t>
        <a:bodyPr/>
        <a:lstStyle/>
        <a:p>
          <a:r>
            <a:rPr lang="es-AR" dirty="0"/>
            <a:t>RIESGO ALIMENTARIO </a:t>
          </a:r>
        </a:p>
      </dgm:t>
    </dgm:pt>
    <dgm:pt modelId="{5E2E4A7A-1AD5-4BAF-A4FE-904871E6CCA6}" type="parTrans" cxnId="{0CFBF19D-452B-4066-8381-1FE5DCAB0B9A}">
      <dgm:prSet/>
      <dgm:spPr/>
      <dgm:t>
        <a:bodyPr/>
        <a:lstStyle/>
        <a:p>
          <a:endParaRPr lang="es-AR"/>
        </a:p>
      </dgm:t>
    </dgm:pt>
    <dgm:pt modelId="{4EB59000-7253-4A38-ABEA-EC7ED192A40F}" type="sibTrans" cxnId="{0CFBF19D-452B-4066-8381-1FE5DCAB0B9A}">
      <dgm:prSet/>
      <dgm:spPr/>
      <dgm:t>
        <a:bodyPr/>
        <a:lstStyle/>
        <a:p>
          <a:endParaRPr lang="es-AR"/>
        </a:p>
      </dgm:t>
    </dgm:pt>
    <dgm:pt modelId="{4B40FF04-C2AC-4325-A6A6-317A0078DD68}">
      <dgm:prSet phldrT="[Texto]"/>
      <dgm:spPr/>
      <dgm:t>
        <a:bodyPr/>
        <a:lstStyle/>
        <a:p>
          <a:r>
            <a:rPr lang="es-AR" dirty="0"/>
            <a:t>En los últimos 12 meses, ¿usted o algún miembro de su familia experimentaron hambre por no tener qué comer por motivos económicos?</a:t>
          </a:r>
        </a:p>
      </dgm:t>
    </dgm:pt>
    <dgm:pt modelId="{072F824E-A742-4C17-888F-AB5FA823CF4A}" type="parTrans" cxnId="{B247AB0E-9146-4357-881C-BBC6A96D23FF}">
      <dgm:prSet/>
      <dgm:spPr/>
      <dgm:t>
        <a:bodyPr/>
        <a:lstStyle/>
        <a:p>
          <a:endParaRPr lang="es-AR"/>
        </a:p>
      </dgm:t>
    </dgm:pt>
    <dgm:pt modelId="{82B55710-8CA7-4B66-BE77-588C6E4E5257}" type="sibTrans" cxnId="{B247AB0E-9146-4357-881C-BBC6A96D23FF}">
      <dgm:prSet/>
      <dgm:spPr/>
      <dgm:t>
        <a:bodyPr/>
        <a:lstStyle/>
        <a:p>
          <a:endParaRPr lang="es-AR"/>
        </a:p>
      </dgm:t>
    </dgm:pt>
    <dgm:pt modelId="{1136EBB9-AE7D-4618-99A0-D42B7C01323B}">
      <dgm:prSet/>
      <dgm:spPr/>
      <dgm:t>
        <a:bodyPr/>
        <a:lstStyle/>
        <a:p>
          <a:r>
            <a:rPr lang="es-ES" dirty="0"/>
            <a:t>Porcentaje de niños, niñas y adolescentes en hogares en los que se expresó haber experimentado hambre por problemas económicos durante los últimos 12 meses</a:t>
          </a:r>
          <a:endParaRPr lang="es-AR" dirty="0"/>
        </a:p>
      </dgm:t>
    </dgm:pt>
    <dgm:pt modelId="{12FFBD0D-01F0-4090-BCD5-EFC019D46125}" type="parTrans" cxnId="{C14F786F-D08B-47AD-B954-55B83A8D7FC4}">
      <dgm:prSet/>
      <dgm:spPr/>
      <dgm:t>
        <a:bodyPr/>
        <a:lstStyle/>
        <a:p>
          <a:endParaRPr lang="es-AR"/>
        </a:p>
      </dgm:t>
    </dgm:pt>
    <dgm:pt modelId="{B4AA181D-0311-4FB0-906E-5E1E4F128A40}" type="sibTrans" cxnId="{C14F786F-D08B-47AD-B954-55B83A8D7FC4}">
      <dgm:prSet/>
      <dgm:spPr/>
      <dgm:t>
        <a:bodyPr/>
        <a:lstStyle/>
        <a:p>
          <a:endParaRPr lang="es-AR"/>
        </a:p>
      </dgm:t>
    </dgm:pt>
    <dgm:pt modelId="{F90C0C4E-C0AB-4E99-8BBC-E16E96D58C3C}">
      <dgm:prSet/>
      <dgm:spPr/>
      <dgm:t>
        <a:bodyPr/>
        <a:lstStyle/>
        <a:p>
          <a:r>
            <a:rPr lang="es-ES" dirty="0"/>
            <a:t>Déficit moderado: haber expresado sentir hambre en algunas ocasiones </a:t>
          </a:r>
          <a:endParaRPr lang="es-AR" dirty="0"/>
        </a:p>
      </dgm:t>
    </dgm:pt>
    <dgm:pt modelId="{BA4FEF89-48E2-432E-9FCD-1A3817508689}" type="parTrans" cxnId="{CD33CD7E-9124-4AC0-8895-B946EEA670BB}">
      <dgm:prSet/>
      <dgm:spPr/>
      <dgm:t>
        <a:bodyPr/>
        <a:lstStyle/>
        <a:p>
          <a:endParaRPr lang="es-AR"/>
        </a:p>
      </dgm:t>
    </dgm:pt>
    <dgm:pt modelId="{3F8F6778-021B-46EC-A1E2-A3FAE3AA9130}" type="sibTrans" cxnId="{CD33CD7E-9124-4AC0-8895-B946EEA670BB}">
      <dgm:prSet/>
      <dgm:spPr/>
      <dgm:t>
        <a:bodyPr/>
        <a:lstStyle/>
        <a:p>
          <a:endParaRPr lang="es-AR"/>
        </a:p>
      </dgm:t>
    </dgm:pt>
    <dgm:pt modelId="{15765C23-84A8-4EDA-9E6A-DD730B5EA3CF}">
      <dgm:prSet/>
      <dgm:spPr/>
      <dgm:t>
        <a:bodyPr/>
        <a:lstStyle/>
        <a:p>
          <a:r>
            <a:rPr lang="es-ES" dirty="0"/>
            <a:t>Déficit severo: haber expresado sentir  hambre frecuentemente </a:t>
          </a:r>
          <a:endParaRPr lang="es-AR" dirty="0"/>
        </a:p>
      </dgm:t>
    </dgm:pt>
    <dgm:pt modelId="{AD56D9ED-D2BD-441B-BC7D-7A83AA779CCA}" type="parTrans" cxnId="{62C4E292-4866-45F4-8480-3D80D4826F3F}">
      <dgm:prSet/>
      <dgm:spPr/>
      <dgm:t>
        <a:bodyPr/>
        <a:lstStyle/>
        <a:p>
          <a:endParaRPr lang="es-AR"/>
        </a:p>
      </dgm:t>
    </dgm:pt>
    <dgm:pt modelId="{A74073F1-A598-464F-A861-14B3B4E1C606}" type="sibTrans" cxnId="{62C4E292-4866-45F4-8480-3D80D4826F3F}">
      <dgm:prSet/>
      <dgm:spPr/>
      <dgm:t>
        <a:bodyPr/>
        <a:lstStyle/>
        <a:p>
          <a:endParaRPr lang="es-AR"/>
        </a:p>
      </dgm:t>
    </dgm:pt>
    <dgm:pt modelId="{389F90F0-A31A-4BE9-82A1-D1DBCC063852}">
      <dgm:prSet/>
      <dgm:spPr/>
      <dgm:t>
        <a:bodyPr/>
        <a:lstStyle/>
        <a:p>
          <a:r>
            <a:rPr lang="es-ES" dirty="0"/>
            <a:t>Déficit total: haber expresado sentir hambre </a:t>
          </a:r>
          <a:endParaRPr lang="es-AR" dirty="0"/>
        </a:p>
      </dgm:t>
    </dgm:pt>
    <dgm:pt modelId="{EC78A8D0-2F85-457E-9204-D1F6C4C511A4}" type="parTrans" cxnId="{2A64CBE4-11FF-418B-9103-E1933F7A3AA6}">
      <dgm:prSet/>
      <dgm:spPr/>
      <dgm:t>
        <a:bodyPr/>
        <a:lstStyle/>
        <a:p>
          <a:endParaRPr lang="es-AR"/>
        </a:p>
      </dgm:t>
    </dgm:pt>
    <dgm:pt modelId="{A73FED3B-7115-4541-9B18-8A9C43472F29}" type="sibTrans" cxnId="{2A64CBE4-11FF-418B-9103-E1933F7A3AA6}">
      <dgm:prSet/>
      <dgm:spPr/>
      <dgm:t>
        <a:bodyPr/>
        <a:lstStyle/>
        <a:p>
          <a:endParaRPr lang="es-AR"/>
        </a:p>
      </dgm:t>
    </dgm:pt>
    <dgm:pt modelId="{09E18036-3AC9-4F36-B15E-BE4972F37600}" type="pres">
      <dgm:prSet presAssocID="{D4AA4E42-51F2-4E9D-A00D-DA52D916E93F}" presName="diagram" presStyleCnt="0">
        <dgm:presLayoutVars>
          <dgm:chPref val="1"/>
          <dgm:dir/>
          <dgm:animOne val="branch"/>
          <dgm:animLvl val="lvl"/>
          <dgm:resizeHandles/>
        </dgm:presLayoutVars>
      </dgm:prSet>
      <dgm:spPr/>
    </dgm:pt>
    <dgm:pt modelId="{83086E2E-C55B-447A-ADCD-81912B32B278}" type="pres">
      <dgm:prSet presAssocID="{59107CA9-B259-440D-BFCA-6411DAFE19BD}" presName="root" presStyleCnt="0"/>
      <dgm:spPr/>
    </dgm:pt>
    <dgm:pt modelId="{BBEC3D2F-AE17-4E71-B7E7-12BAE87D953D}" type="pres">
      <dgm:prSet presAssocID="{59107CA9-B259-440D-BFCA-6411DAFE19BD}" presName="rootComposite" presStyleCnt="0"/>
      <dgm:spPr/>
    </dgm:pt>
    <dgm:pt modelId="{9D99D952-70A3-4228-B174-06ACC06D464A}" type="pres">
      <dgm:prSet presAssocID="{59107CA9-B259-440D-BFCA-6411DAFE19BD}" presName="rootText" presStyleLbl="node1" presStyleIdx="0" presStyleCnt="2"/>
      <dgm:spPr/>
    </dgm:pt>
    <dgm:pt modelId="{87C7DB9A-449F-48BE-AF9B-751A566E6ACE}" type="pres">
      <dgm:prSet presAssocID="{59107CA9-B259-440D-BFCA-6411DAFE19BD}" presName="rootConnector" presStyleLbl="node1" presStyleIdx="0" presStyleCnt="2"/>
      <dgm:spPr/>
    </dgm:pt>
    <dgm:pt modelId="{05E3D822-6ED3-4B14-BF38-0FB9EE73B1DB}" type="pres">
      <dgm:prSet presAssocID="{59107CA9-B259-440D-BFCA-6411DAFE19BD}" presName="childShape" presStyleCnt="0"/>
      <dgm:spPr/>
    </dgm:pt>
    <dgm:pt modelId="{1D591666-BC88-42FB-AAE7-2C31DAC51387}" type="pres">
      <dgm:prSet presAssocID="{12FFBD0D-01F0-4090-BCD5-EFC019D46125}" presName="Name13" presStyleLbl="parChTrans1D2" presStyleIdx="0" presStyleCnt="4"/>
      <dgm:spPr/>
    </dgm:pt>
    <dgm:pt modelId="{CB822A1F-592A-4C97-BCE0-768E9B545DAD}" type="pres">
      <dgm:prSet presAssocID="{1136EBB9-AE7D-4618-99A0-D42B7C01323B}" presName="childText" presStyleLbl="bgAcc1" presStyleIdx="0" presStyleCnt="4">
        <dgm:presLayoutVars>
          <dgm:bulletEnabled val="1"/>
        </dgm:presLayoutVars>
      </dgm:prSet>
      <dgm:spPr/>
    </dgm:pt>
    <dgm:pt modelId="{A554654B-C7B1-4F63-ACDD-4EE1747479B1}" type="pres">
      <dgm:prSet presAssocID="{BA4FEF89-48E2-432E-9FCD-1A3817508689}" presName="Name13" presStyleLbl="parChTrans1D2" presStyleIdx="1" presStyleCnt="4"/>
      <dgm:spPr/>
    </dgm:pt>
    <dgm:pt modelId="{5F00698E-964C-43DA-B727-4AD0880A5DA4}" type="pres">
      <dgm:prSet presAssocID="{F90C0C4E-C0AB-4E99-8BBC-E16E96D58C3C}" presName="childText" presStyleLbl="bgAcc1" presStyleIdx="1" presStyleCnt="4">
        <dgm:presLayoutVars>
          <dgm:bulletEnabled val="1"/>
        </dgm:presLayoutVars>
      </dgm:prSet>
      <dgm:spPr/>
    </dgm:pt>
    <dgm:pt modelId="{CA7137C2-BCDD-436E-B0B6-828EAF8C60A4}" type="pres">
      <dgm:prSet presAssocID="{AD56D9ED-D2BD-441B-BC7D-7A83AA779CCA}" presName="Name13" presStyleLbl="parChTrans1D2" presStyleIdx="2" presStyleCnt="4"/>
      <dgm:spPr/>
    </dgm:pt>
    <dgm:pt modelId="{9E0ABA6A-A475-4C66-9DBD-A3210FDD0536}" type="pres">
      <dgm:prSet presAssocID="{15765C23-84A8-4EDA-9E6A-DD730B5EA3CF}" presName="childText" presStyleLbl="bgAcc1" presStyleIdx="2" presStyleCnt="4">
        <dgm:presLayoutVars>
          <dgm:bulletEnabled val="1"/>
        </dgm:presLayoutVars>
      </dgm:prSet>
      <dgm:spPr/>
    </dgm:pt>
    <dgm:pt modelId="{2205890F-6624-4E97-AB35-AB119E9C9FB0}" type="pres">
      <dgm:prSet presAssocID="{EC78A8D0-2F85-457E-9204-D1F6C4C511A4}" presName="Name13" presStyleLbl="parChTrans1D2" presStyleIdx="3" presStyleCnt="4"/>
      <dgm:spPr/>
    </dgm:pt>
    <dgm:pt modelId="{FF8D1816-7867-4B2D-804C-158663EC6B2E}" type="pres">
      <dgm:prSet presAssocID="{389F90F0-A31A-4BE9-82A1-D1DBCC063852}" presName="childText" presStyleLbl="bgAcc1" presStyleIdx="3" presStyleCnt="4">
        <dgm:presLayoutVars>
          <dgm:bulletEnabled val="1"/>
        </dgm:presLayoutVars>
      </dgm:prSet>
      <dgm:spPr/>
    </dgm:pt>
    <dgm:pt modelId="{233BFAF2-A468-4407-B896-8DC538F0AEB8}" type="pres">
      <dgm:prSet presAssocID="{4B40FF04-C2AC-4325-A6A6-317A0078DD68}" presName="root" presStyleCnt="0"/>
      <dgm:spPr/>
    </dgm:pt>
    <dgm:pt modelId="{E1B44864-C87C-48B3-8EFD-F2F4C8058A82}" type="pres">
      <dgm:prSet presAssocID="{4B40FF04-C2AC-4325-A6A6-317A0078DD68}" presName="rootComposite" presStyleCnt="0"/>
      <dgm:spPr/>
    </dgm:pt>
    <dgm:pt modelId="{8EBCE051-B97E-4D64-AC8C-B0234C80500E}" type="pres">
      <dgm:prSet presAssocID="{4B40FF04-C2AC-4325-A6A6-317A0078DD68}" presName="rootText" presStyleLbl="node1" presStyleIdx="1" presStyleCnt="2" custScaleX="128666" custScaleY="390182" custLinFactY="35270" custLinFactNeighborX="2695" custLinFactNeighborY="100000"/>
      <dgm:spPr/>
    </dgm:pt>
    <dgm:pt modelId="{0F1B9215-77DF-4AB3-A622-F3F4B970DF13}" type="pres">
      <dgm:prSet presAssocID="{4B40FF04-C2AC-4325-A6A6-317A0078DD68}" presName="rootConnector" presStyleLbl="node1" presStyleIdx="1" presStyleCnt="2"/>
      <dgm:spPr/>
    </dgm:pt>
    <dgm:pt modelId="{F63EDEB4-6BD0-4C1E-940D-CCBF7EDFD37A}" type="pres">
      <dgm:prSet presAssocID="{4B40FF04-C2AC-4325-A6A6-317A0078DD68}" presName="childShape" presStyleCnt="0"/>
      <dgm:spPr/>
    </dgm:pt>
  </dgm:ptLst>
  <dgm:cxnLst>
    <dgm:cxn modelId="{B3627C0B-A8A9-418C-A18A-F8FFF3AE494D}" type="presOf" srcId="{EC78A8D0-2F85-457E-9204-D1F6C4C511A4}" destId="{2205890F-6624-4E97-AB35-AB119E9C9FB0}" srcOrd="0" destOrd="0" presId="urn:microsoft.com/office/officeart/2005/8/layout/hierarchy3"/>
    <dgm:cxn modelId="{B247AB0E-9146-4357-881C-BBC6A96D23FF}" srcId="{D4AA4E42-51F2-4E9D-A00D-DA52D916E93F}" destId="{4B40FF04-C2AC-4325-A6A6-317A0078DD68}" srcOrd="1" destOrd="0" parTransId="{072F824E-A742-4C17-888F-AB5FA823CF4A}" sibTransId="{82B55710-8CA7-4B66-BE77-588C6E4E5257}"/>
    <dgm:cxn modelId="{E60A691F-7377-434A-BB1C-F7C299D47A74}" type="presOf" srcId="{59107CA9-B259-440D-BFCA-6411DAFE19BD}" destId="{9D99D952-70A3-4228-B174-06ACC06D464A}" srcOrd="0" destOrd="0" presId="urn:microsoft.com/office/officeart/2005/8/layout/hierarchy3"/>
    <dgm:cxn modelId="{81F14B2F-76C1-4FB0-9026-87E9EDE8C684}" type="presOf" srcId="{1136EBB9-AE7D-4618-99A0-D42B7C01323B}" destId="{CB822A1F-592A-4C97-BCE0-768E9B545DAD}" srcOrd="0" destOrd="0" presId="urn:microsoft.com/office/officeart/2005/8/layout/hierarchy3"/>
    <dgm:cxn modelId="{15AAB137-43FC-4AE2-A2BC-7F212067A5B1}" type="presOf" srcId="{15765C23-84A8-4EDA-9E6A-DD730B5EA3CF}" destId="{9E0ABA6A-A475-4C66-9DBD-A3210FDD0536}" srcOrd="0" destOrd="0" presId="urn:microsoft.com/office/officeart/2005/8/layout/hierarchy3"/>
    <dgm:cxn modelId="{C14F786F-D08B-47AD-B954-55B83A8D7FC4}" srcId="{59107CA9-B259-440D-BFCA-6411DAFE19BD}" destId="{1136EBB9-AE7D-4618-99A0-D42B7C01323B}" srcOrd="0" destOrd="0" parTransId="{12FFBD0D-01F0-4090-BCD5-EFC019D46125}" sibTransId="{B4AA181D-0311-4FB0-906E-5E1E4F128A40}"/>
    <dgm:cxn modelId="{CD33CD7E-9124-4AC0-8895-B946EEA670BB}" srcId="{59107CA9-B259-440D-BFCA-6411DAFE19BD}" destId="{F90C0C4E-C0AB-4E99-8BBC-E16E96D58C3C}" srcOrd="1" destOrd="0" parTransId="{BA4FEF89-48E2-432E-9FCD-1A3817508689}" sibTransId="{3F8F6778-021B-46EC-A1E2-A3FAE3AA9130}"/>
    <dgm:cxn modelId="{708E3B84-60D0-42B8-A8BA-EDA4AE457CE7}" type="presOf" srcId="{389F90F0-A31A-4BE9-82A1-D1DBCC063852}" destId="{FF8D1816-7867-4B2D-804C-158663EC6B2E}" srcOrd="0" destOrd="0" presId="urn:microsoft.com/office/officeart/2005/8/layout/hierarchy3"/>
    <dgm:cxn modelId="{7C2F4D8A-9280-40D4-A806-CC80987C8E99}" type="presOf" srcId="{D4AA4E42-51F2-4E9D-A00D-DA52D916E93F}" destId="{09E18036-3AC9-4F36-B15E-BE4972F37600}" srcOrd="0" destOrd="0" presId="urn:microsoft.com/office/officeart/2005/8/layout/hierarchy3"/>
    <dgm:cxn modelId="{8ABAB292-9EE9-40F6-ADBA-24F276692AC2}" type="presOf" srcId="{AD56D9ED-D2BD-441B-BC7D-7A83AA779CCA}" destId="{CA7137C2-BCDD-436E-B0B6-828EAF8C60A4}" srcOrd="0" destOrd="0" presId="urn:microsoft.com/office/officeart/2005/8/layout/hierarchy3"/>
    <dgm:cxn modelId="{62C4E292-4866-45F4-8480-3D80D4826F3F}" srcId="{59107CA9-B259-440D-BFCA-6411DAFE19BD}" destId="{15765C23-84A8-4EDA-9E6A-DD730B5EA3CF}" srcOrd="2" destOrd="0" parTransId="{AD56D9ED-D2BD-441B-BC7D-7A83AA779CCA}" sibTransId="{A74073F1-A598-464F-A861-14B3B4E1C606}"/>
    <dgm:cxn modelId="{0CFBF19D-452B-4066-8381-1FE5DCAB0B9A}" srcId="{D4AA4E42-51F2-4E9D-A00D-DA52D916E93F}" destId="{59107CA9-B259-440D-BFCA-6411DAFE19BD}" srcOrd="0" destOrd="0" parTransId="{5E2E4A7A-1AD5-4BAF-A4FE-904871E6CCA6}" sibTransId="{4EB59000-7253-4A38-ABEA-EC7ED192A40F}"/>
    <dgm:cxn modelId="{BA321FA5-086B-41DD-907A-758D08300BBC}" type="presOf" srcId="{BA4FEF89-48E2-432E-9FCD-1A3817508689}" destId="{A554654B-C7B1-4F63-ACDD-4EE1747479B1}" srcOrd="0" destOrd="0" presId="urn:microsoft.com/office/officeart/2005/8/layout/hierarchy3"/>
    <dgm:cxn modelId="{DFB7A7C6-AAAC-479A-99D4-4E59A62781F8}" type="presOf" srcId="{4B40FF04-C2AC-4325-A6A6-317A0078DD68}" destId="{0F1B9215-77DF-4AB3-A622-F3F4B970DF13}" srcOrd="1" destOrd="0" presId="urn:microsoft.com/office/officeart/2005/8/layout/hierarchy3"/>
    <dgm:cxn modelId="{1C2D17C9-00C7-47DB-A196-3E3562CB7264}" type="presOf" srcId="{59107CA9-B259-440D-BFCA-6411DAFE19BD}" destId="{87C7DB9A-449F-48BE-AF9B-751A566E6ACE}" srcOrd="1" destOrd="0" presId="urn:microsoft.com/office/officeart/2005/8/layout/hierarchy3"/>
    <dgm:cxn modelId="{71FEC3E1-1F23-4D5F-835A-9EFD3C3D3545}" type="presOf" srcId="{F90C0C4E-C0AB-4E99-8BBC-E16E96D58C3C}" destId="{5F00698E-964C-43DA-B727-4AD0880A5DA4}" srcOrd="0" destOrd="0" presId="urn:microsoft.com/office/officeart/2005/8/layout/hierarchy3"/>
    <dgm:cxn modelId="{2A64CBE4-11FF-418B-9103-E1933F7A3AA6}" srcId="{59107CA9-B259-440D-BFCA-6411DAFE19BD}" destId="{389F90F0-A31A-4BE9-82A1-D1DBCC063852}" srcOrd="3" destOrd="0" parTransId="{EC78A8D0-2F85-457E-9204-D1F6C4C511A4}" sibTransId="{A73FED3B-7115-4541-9B18-8A9C43472F29}"/>
    <dgm:cxn modelId="{ECD7A5E6-88C4-4B27-A1E6-BF67CA481A37}" type="presOf" srcId="{4B40FF04-C2AC-4325-A6A6-317A0078DD68}" destId="{8EBCE051-B97E-4D64-AC8C-B0234C80500E}" srcOrd="0" destOrd="0" presId="urn:microsoft.com/office/officeart/2005/8/layout/hierarchy3"/>
    <dgm:cxn modelId="{4D1F08ED-8792-46F9-BCBF-1976CCACB93A}" type="presOf" srcId="{12FFBD0D-01F0-4090-BCD5-EFC019D46125}" destId="{1D591666-BC88-42FB-AAE7-2C31DAC51387}" srcOrd="0" destOrd="0" presId="urn:microsoft.com/office/officeart/2005/8/layout/hierarchy3"/>
    <dgm:cxn modelId="{FE92CEB7-BB68-4EAB-8BE7-C63C643E84D3}" type="presParOf" srcId="{09E18036-3AC9-4F36-B15E-BE4972F37600}" destId="{83086E2E-C55B-447A-ADCD-81912B32B278}" srcOrd="0" destOrd="0" presId="urn:microsoft.com/office/officeart/2005/8/layout/hierarchy3"/>
    <dgm:cxn modelId="{051C5A68-589D-49C3-9C96-8075C2EA5CDF}" type="presParOf" srcId="{83086E2E-C55B-447A-ADCD-81912B32B278}" destId="{BBEC3D2F-AE17-4E71-B7E7-12BAE87D953D}" srcOrd="0" destOrd="0" presId="urn:microsoft.com/office/officeart/2005/8/layout/hierarchy3"/>
    <dgm:cxn modelId="{68AAEE7D-6839-4D03-8870-4E318B629D16}" type="presParOf" srcId="{BBEC3D2F-AE17-4E71-B7E7-12BAE87D953D}" destId="{9D99D952-70A3-4228-B174-06ACC06D464A}" srcOrd="0" destOrd="0" presId="urn:microsoft.com/office/officeart/2005/8/layout/hierarchy3"/>
    <dgm:cxn modelId="{B90116AC-D8B7-4F3B-839B-7C84F4C4FEBF}" type="presParOf" srcId="{BBEC3D2F-AE17-4E71-B7E7-12BAE87D953D}" destId="{87C7DB9A-449F-48BE-AF9B-751A566E6ACE}" srcOrd="1" destOrd="0" presId="urn:microsoft.com/office/officeart/2005/8/layout/hierarchy3"/>
    <dgm:cxn modelId="{BDA943C2-B126-48A9-9A58-D10A9AA5577C}" type="presParOf" srcId="{83086E2E-C55B-447A-ADCD-81912B32B278}" destId="{05E3D822-6ED3-4B14-BF38-0FB9EE73B1DB}" srcOrd="1" destOrd="0" presId="urn:microsoft.com/office/officeart/2005/8/layout/hierarchy3"/>
    <dgm:cxn modelId="{5A973ADB-DE58-43E3-8215-F1499DCE123C}" type="presParOf" srcId="{05E3D822-6ED3-4B14-BF38-0FB9EE73B1DB}" destId="{1D591666-BC88-42FB-AAE7-2C31DAC51387}" srcOrd="0" destOrd="0" presId="urn:microsoft.com/office/officeart/2005/8/layout/hierarchy3"/>
    <dgm:cxn modelId="{B6609833-2925-429E-9BC0-8436C1DA6614}" type="presParOf" srcId="{05E3D822-6ED3-4B14-BF38-0FB9EE73B1DB}" destId="{CB822A1F-592A-4C97-BCE0-768E9B545DAD}" srcOrd="1" destOrd="0" presId="urn:microsoft.com/office/officeart/2005/8/layout/hierarchy3"/>
    <dgm:cxn modelId="{78AD35BB-81B6-48A4-862C-1D343167BFB0}" type="presParOf" srcId="{05E3D822-6ED3-4B14-BF38-0FB9EE73B1DB}" destId="{A554654B-C7B1-4F63-ACDD-4EE1747479B1}" srcOrd="2" destOrd="0" presId="urn:microsoft.com/office/officeart/2005/8/layout/hierarchy3"/>
    <dgm:cxn modelId="{6F4D2320-9779-4C70-938D-9C63444FCA90}" type="presParOf" srcId="{05E3D822-6ED3-4B14-BF38-0FB9EE73B1DB}" destId="{5F00698E-964C-43DA-B727-4AD0880A5DA4}" srcOrd="3" destOrd="0" presId="urn:microsoft.com/office/officeart/2005/8/layout/hierarchy3"/>
    <dgm:cxn modelId="{531BA1FE-9551-45C7-9499-EBF1F3C37F51}" type="presParOf" srcId="{05E3D822-6ED3-4B14-BF38-0FB9EE73B1DB}" destId="{CA7137C2-BCDD-436E-B0B6-828EAF8C60A4}" srcOrd="4" destOrd="0" presId="urn:microsoft.com/office/officeart/2005/8/layout/hierarchy3"/>
    <dgm:cxn modelId="{378EFEA3-862F-48DA-B8E5-1382E4D1F06B}" type="presParOf" srcId="{05E3D822-6ED3-4B14-BF38-0FB9EE73B1DB}" destId="{9E0ABA6A-A475-4C66-9DBD-A3210FDD0536}" srcOrd="5" destOrd="0" presId="urn:microsoft.com/office/officeart/2005/8/layout/hierarchy3"/>
    <dgm:cxn modelId="{03AAADDE-0B9E-4A7F-831B-7888F9C5683C}" type="presParOf" srcId="{05E3D822-6ED3-4B14-BF38-0FB9EE73B1DB}" destId="{2205890F-6624-4E97-AB35-AB119E9C9FB0}" srcOrd="6" destOrd="0" presId="urn:microsoft.com/office/officeart/2005/8/layout/hierarchy3"/>
    <dgm:cxn modelId="{14DB1991-45EE-4577-B9D7-09FB45F55789}" type="presParOf" srcId="{05E3D822-6ED3-4B14-BF38-0FB9EE73B1DB}" destId="{FF8D1816-7867-4B2D-804C-158663EC6B2E}" srcOrd="7" destOrd="0" presId="urn:microsoft.com/office/officeart/2005/8/layout/hierarchy3"/>
    <dgm:cxn modelId="{E21304C7-8958-47EF-B1A1-7698BEF3962B}" type="presParOf" srcId="{09E18036-3AC9-4F36-B15E-BE4972F37600}" destId="{233BFAF2-A468-4407-B896-8DC538F0AEB8}" srcOrd="1" destOrd="0" presId="urn:microsoft.com/office/officeart/2005/8/layout/hierarchy3"/>
    <dgm:cxn modelId="{CE7D08A5-C4CF-4CBC-A0C3-3D7903299D2D}" type="presParOf" srcId="{233BFAF2-A468-4407-B896-8DC538F0AEB8}" destId="{E1B44864-C87C-48B3-8EFD-F2F4C8058A82}" srcOrd="0" destOrd="0" presId="urn:microsoft.com/office/officeart/2005/8/layout/hierarchy3"/>
    <dgm:cxn modelId="{1D29C5EE-8C69-4D74-A462-08FFC9F93BC8}" type="presParOf" srcId="{E1B44864-C87C-48B3-8EFD-F2F4C8058A82}" destId="{8EBCE051-B97E-4D64-AC8C-B0234C80500E}" srcOrd="0" destOrd="0" presId="urn:microsoft.com/office/officeart/2005/8/layout/hierarchy3"/>
    <dgm:cxn modelId="{E255304A-2356-4AE1-8183-7965214A898E}" type="presParOf" srcId="{E1B44864-C87C-48B3-8EFD-F2F4C8058A82}" destId="{0F1B9215-77DF-4AB3-A622-F3F4B970DF13}" srcOrd="1" destOrd="0" presId="urn:microsoft.com/office/officeart/2005/8/layout/hierarchy3"/>
    <dgm:cxn modelId="{8BAB94CD-6131-4CBE-A761-4438911E625F}" type="presParOf" srcId="{233BFAF2-A468-4407-B896-8DC538F0AEB8}" destId="{F63EDEB4-6BD0-4C1E-940D-CCBF7EDFD37A}"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6CEEF94-92C2-40E2-B617-E29A7587B5CE}" type="doc">
      <dgm:prSet loTypeId="urn:microsoft.com/office/officeart/2005/8/layout/process4" loCatId="list" qsTypeId="urn:microsoft.com/office/officeart/2005/8/quickstyle/simple1" qsCatId="simple" csTypeId="urn:microsoft.com/office/officeart/2005/8/colors/accent1_2" csCatId="accent1" phldr="1"/>
      <dgm:spPr/>
      <dgm:t>
        <a:bodyPr/>
        <a:lstStyle/>
        <a:p>
          <a:endParaRPr lang="es-AR"/>
        </a:p>
      </dgm:t>
    </dgm:pt>
    <dgm:pt modelId="{C3D9ACFB-2777-4E31-AEFB-F74682356CB3}">
      <dgm:prSet custT="1"/>
      <dgm:spPr/>
      <dgm:t>
        <a:bodyPr/>
        <a:lstStyle/>
        <a:p>
          <a:r>
            <a:rPr lang="es-ES" sz="1000" dirty="0">
              <a:solidFill>
                <a:schemeClr val="tx2"/>
              </a:solidFill>
            </a:rPr>
            <a:t>1. No accedieron a suficiente comida</a:t>
          </a:r>
          <a:endParaRPr lang="es-AR" sz="1000" dirty="0">
            <a:solidFill>
              <a:schemeClr val="tx2"/>
            </a:solidFill>
          </a:endParaRPr>
        </a:p>
      </dgm:t>
    </dgm:pt>
    <dgm:pt modelId="{98E7F3B3-3C64-4C11-86F1-44A4DB900B69}" type="parTrans" cxnId="{CD4A47D9-622E-44C8-99F2-94252C7075BF}">
      <dgm:prSet/>
      <dgm:spPr/>
      <dgm:t>
        <a:bodyPr/>
        <a:lstStyle/>
        <a:p>
          <a:endParaRPr lang="es-AR" sz="1000">
            <a:solidFill>
              <a:schemeClr val="tx2"/>
            </a:solidFill>
          </a:endParaRPr>
        </a:p>
      </dgm:t>
    </dgm:pt>
    <dgm:pt modelId="{B95852D2-D7F5-4435-87E1-DF31592A8E6D}" type="sibTrans" cxnId="{CD4A47D9-622E-44C8-99F2-94252C7075BF}">
      <dgm:prSet/>
      <dgm:spPr/>
      <dgm:t>
        <a:bodyPr/>
        <a:lstStyle/>
        <a:p>
          <a:endParaRPr lang="es-AR" sz="1000">
            <a:solidFill>
              <a:schemeClr val="tx2"/>
            </a:solidFill>
          </a:endParaRPr>
        </a:p>
      </dgm:t>
    </dgm:pt>
    <dgm:pt modelId="{2B91927D-5DE4-4AC3-8642-319349E99FE1}">
      <dgm:prSet custT="1"/>
      <dgm:spPr/>
      <dgm:t>
        <a:bodyPr/>
        <a:lstStyle/>
        <a:p>
          <a:r>
            <a:rPr lang="es-ES" sz="1000" dirty="0">
              <a:solidFill>
                <a:schemeClr val="tx2"/>
              </a:solidFill>
            </a:rPr>
            <a:t>2. Estuvieron preocupados porque los alimentos se les acababan antes de recibir dinero para comprar más</a:t>
          </a:r>
          <a:endParaRPr lang="es-AR" sz="1000" dirty="0">
            <a:solidFill>
              <a:schemeClr val="tx2"/>
            </a:solidFill>
          </a:endParaRPr>
        </a:p>
      </dgm:t>
    </dgm:pt>
    <dgm:pt modelId="{C507B5FB-937A-43CD-BCC1-E36E36BDD6D6}" type="parTrans" cxnId="{080ABDF8-C461-4DFF-A8FB-7A0108ABD6F4}">
      <dgm:prSet/>
      <dgm:spPr/>
      <dgm:t>
        <a:bodyPr/>
        <a:lstStyle/>
        <a:p>
          <a:endParaRPr lang="es-AR" sz="1000">
            <a:solidFill>
              <a:schemeClr val="tx2"/>
            </a:solidFill>
          </a:endParaRPr>
        </a:p>
      </dgm:t>
    </dgm:pt>
    <dgm:pt modelId="{C659FD7F-A923-414A-AFFE-55A16B966448}" type="sibTrans" cxnId="{080ABDF8-C461-4DFF-A8FB-7A0108ABD6F4}">
      <dgm:prSet/>
      <dgm:spPr/>
      <dgm:t>
        <a:bodyPr/>
        <a:lstStyle/>
        <a:p>
          <a:endParaRPr lang="es-AR" sz="1000">
            <a:solidFill>
              <a:schemeClr val="tx2"/>
            </a:solidFill>
          </a:endParaRPr>
        </a:p>
      </dgm:t>
    </dgm:pt>
    <dgm:pt modelId="{E302698B-5548-445B-8F6C-74DE5FE87D8E}">
      <dgm:prSet custT="1"/>
      <dgm:spPr/>
      <dgm:t>
        <a:bodyPr/>
        <a:lstStyle/>
        <a:p>
          <a:r>
            <a:rPr lang="es-ES" sz="1000" dirty="0">
              <a:solidFill>
                <a:schemeClr val="tx2"/>
              </a:solidFill>
            </a:rPr>
            <a:t>3. los alimentos que compraban no les alcanzaban para llegar a fin de mes y no tenían suficiente dinero para comprar más</a:t>
          </a:r>
          <a:endParaRPr lang="es-AR" sz="1000" dirty="0">
            <a:solidFill>
              <a:schemeClr val="tx2"/>
            </a:solidFill>
          </a:endParaRPr>
        </a:p>
      </dgm:t>
    </dgm:pt>
    <dgm:pt modelId="{87B81754-ED0D-43F7-93E8-83CFC069911D}" type="parTrans" cxnId="{182A5610-7AF0-4074-BC3E-38E889A384C4}">
      <dgm:prSet/>
      <dgm:spPr/>
      <dgm:t>
        <a:bodyPr/>
        <a:lstStyle/>
        <a:p>
          <a:endParaRPr lang="es-AR" sz="1000">
            <a:solidFill>
              <a:schemeClr val="tx2"/>
            </a:solidFill>
          </a:endParaRPr>
        </a:p>
      </dgm:t>
    </dgm:pt>
    <dgm:pt modelId="{8FB59A5F-0096-4FCB-820C-319694F3787E}" type="sibTrans" cxnId="{182A5610-7AF0-4074-BC3E-38E889A384C4}">
      <dgm:prSet/>
      <dgm:spPr/>
      <dgm:t>
        <a:bodyPr/>
        <a:lstStyle/>
        <a:p>
          <a:endParaRPr lang="es-AR" sz="1000">
            <a:solidFill>
              <a:schemeClr val="tx2"/>
            </a:solidFill>
          </a:endParaRPr>
        </a:p>
      </dgm:t>
    </dgm:pt>
    <dgm:pt modelId="{5C9527F8-C41C-4C5E-867D-4A8BAB8F2B68}">
      <dgm:prSet custT="1"/>
      <dgm:spPr/>
      <dgm:t>
        <a:bodyPr/>
        <a:lstStyle/>
        <a:p>
          <a:r>
            <a:rPr lang="es-ES" sz="1000" dirty="0">
              <a:solidFill>
                <a:schemeClr val="tx2"/>
              </a:solidFill>
            </a:rPr>
            <a:t>4. contaban con tan solo unos pocos tipos de alimentos de bajo costo para sus hijos, porque el dinero era insuficiente para comprar más</a:t>
          </a:r>
          <a:endParaRPr lang="es-AR" sz="1000" dirty="0">
            <a:solidFill>
              <a:schemeClr val="tx2"/>
            </a:solidFill>
          </a:endParaRPr>
        </a:p>
      </dgm:t>
    </dgm:pt>
    <dgm:pt modelId="{15CB346A-D7F4-414E-B638-1D3EAD9258A4}" type="parTrans" cxnId="{81E2AF97-511C-42EE-89FC-DCF3642B07E8}">
      <dgm:prSet/>
      <dgm:spPr/>
      <dgm:t>
        <a:bodyPr/>
        <a:lstStyle/>
        <a:p>
          <a:endParaRPr lang="es-AR" sz="1000">
            <a:solidFill>
              <a:schemeClr val="tx2"/>
            </a:solidFill>
          </a:endParaRPr>
        </a:p>
      </dgm:t>
    </dgm:pt>
    <dgm:pt modelId="{E351D4B0-6165-46D3-91A2-55BC86E61534}" type="sibTrans" cxnId="{81E2AF97-511C-42EE-89FC-DCF3642B07E8}">
      <dgm:prSet/>
      <dgm:spPr/>
      <dgm:t>
        <a:bodyPr/>
        <a:lstStyle/>
        <a:p>
          <a:endParaRPr lang="es-AR" sz="1000">
            <a:solidFill>
              <a:schemeClr val="tx2"/>
            </a:solidFill>
          </a:endParaRPr>
        </a:p>
      </dgm:t>
    </dgm:pt>
    <dgm:pt modelId="{FCB92181-5063-4ED1-9FA1-965191456F36}">
      <dgm:prSet custT="1"/>
      <dgm:spPr/>
      <dgm:t>
        <a:bodyPr/>
        <a:lstStyle/>
        <a:p>
          <a:r>
            <a:rPr lang="es-ES" sz="1000" dirty="0">
              <a:solidFill>
                <a:schemeClr val="tx2"/>
              </a:solidFill>
            </a:rPr>
            <a:t>5. No tuvieron dinero suficiente para comprar comidas balanceadas</a:t>
          </a:r>
          <a:endParaRPr lang="es-AR" sz="1000" dirty="0">
            <a:solidFill>
              <a:schemeClr val="tx2"/>
            </a:solidFill>
          </a:endParaRPr>
        </a:p>
      </dgm:t>
    </dgm:pt>
    <dgm:pt modelId="{9A658A46-2B7B-4C5B-B956-ED1EEDBC0D4F}" type="parTrans" cxnId="{5601FC36-2CF2-4CDB-B610-A7FF333E6260}">
      <dgm:prSet/>
      <dgm:spPr/>
      <dgm:t>
        <a:bodyPr/>
        <a:lstStyle/>
        <a:p>
          <a:endParaRPr lang="es-AR" sz="1000">
            <a:solidFill>
              <a:schemeClr val="tx2"/>
            </a:solidFill>
          </a:endParaRPr>
        </a:p>
      </dgm:t>
    </dgm:pt>
    <dgm:pt modelId="{F0A5E3AB-F2AC-4B93-B329-42C3C3C0ABC8}" type="sibTrans" cxnId="{5601FC36-2CF2-4CDB-B610-A7FF333E6260}">
      <dgm:prSet/>
      <dgm:spPr/>
      <dgm:t>
        <a:bodyPr/>
        <a:lstStyle/>
        <a:p>
          <a:endParaRPr lang="es-AR" sz="1000">
            <a:solidFill>
              <a:schemeClr val="tx2"/>
            </a:solidFill>
          </a:endParaRPr>
        </a:p>
      </dgm:t>
    </dgm:pt>
    <dgm:pt modelId="{0D6A1BA2-0564-4A65-948D-F15A15F62724}">
      <dgm:prSet custT="1"/>
      <dgm:spPr/>
      <dgm:t>
        <a:bodyPr/>
        <a:lstStyle/>
        <a:p>
          <a:r>
            <a:rPr lang="es-ES" sz="1000" dirty="0">
              <a:solidFill>
                <a:schemeClr val="tx2"/>
              </a:solidFill>
            </a:rPr>
            <a:t>6. Ud. o algún otro adulto de su hogar disminuyó la ración de alimentos o dejaron de comer porque el dinero no era suficiente para comprar más</a:t>
          </a:r>
          <a:endParaRPr lang="es-AR" sz="1000" dirty="0">
            <a:solidFill>
              <a:schemeClr val="tx2"/>
            </a:solidFill>
          </a:endParaRPr>
        </a:p>
      </dgm:t>
    </dgm:pt>
    <dgm:pt modelId="{3D03536F-ECCD-490B-BB0A-5C87E019457E}" type="parTrans" cxnId="{38C91438-9DFA-4B9D-9A0E-A95740A357D1}">
      <dgm:prSet/>
      <dgm:spPr/>
      <dgm:t>
        <a:bodyPr/>
        <a:lstStyle/>
        <a:p>
          <a:endParaRPr lang="es-AR" sz="1000">
            <a:solidFill>
              <a:schemeClr val="tx2"/>
            </a:solidFill>
          </a:endParaRPr>
        </a:p>
      </dgm:t>
    </dgm:pt>
    <dgm:pt modelId="{5FC74774-A812-4DBB-9659-5AC26AEBA337}" type="sibTrans" cxnId="{38C91438-9DFA-4B9D-9A0E-A95740A357D1}">
      <dgm:prSet/>
      <dgm:spPr/>
      <dgm:t>
        <a:bodyPr/>
        <a:lstStyle/>
        <a:p>
          <a:endParaRPr lang="es-AR" sz="1000">
            <a:solidFill>
              <a:schemeClr val="tx2"/>
            </a:solidFill>
          </a:endParaRPr>
        </a:p>
      </dgm:t>
    </dgm:pt>
    <dgm:pt modelId="{7C04E19B-3B90-4B9C-B78E-2581974652AD}">
      <dgm:prSet custT="1"/>
      <dgm:spPr/>
      <dgm:t>
        <a:bodyPr/>
        <a:lstStyle/>
        <a:p>
          <a:r>
            <a:rPr lang="es-ES" sz="1000" dirty="0">
              <a:solidFill>
                <a:schemeClr val="tx2"/>
              </a:solidFill>
            </a:rPr>
            <a:t>7. Ud. comió menos de lo que creía que debería comer a causa de que no había suficiente dinero para comprar más alimentos</a:t>
          </a:r>
          <a:endParaRPr lang="es-AR" sz="1000" dirty="0">
            <a:solidFill>
              <a:schemeClr val="tx2"/>
            </a:solidFill>
          </a:endParaRPr>
        </a:p>
      </dgm:t>
    </dgm:pt>
    <dgm:pt modelId="{DF84A2DF-C226-4B92-8452-B6BF9FB96DB6}" type="parTrans" cxnId="{680E37E6-1212-498C-8C8E-1136FA40AD08}">
      <dgm:prSet/>
      <dgm:spPr/>
      <dgm:t>
        <a:bodyPr/>
        <a:lstStyle/>
        <a:p>
          <a:endParaRPr lang="es-AR" sz="1000">
            <a:solidFill>
              <a:schemeClr val="tx2"/>
            </a:solidFill>
          </a:endParaRPr>
        </a:p>
      </dgm:t>
    </dgm:pt>
    <dgm:pt modelId="{088F43A9-FF82-415E-9BE0-F18B23ED6D97}" type="sibTrans" cxnId="{680E37E6-1212-498C-8C8E-1136FA40AD08}">
      <dgm:prSet/>
      <dgm:spPr/>
      <dgm:t>
        <a:bodyPr/>
        <a:lstStyle/>
        <a:p>
          <a:endParaRPr lang="es-AR" sz="1000">
            <a:solidFill>
              <a:schemeClr val="tx2"/>
            </a:solidFill>
          </a:endParaRPr>
        </a:p>
      </dgm:t>
    </dgm:pt>
    <dgm:pt modelId="{700F85B7-81B8-44DB-9776-95A9ABED5978}">
      <dgm:prSet custT="1"/>
      <dgm:spPr/>
      <dgm:t>
        <a:bodyPr/>
        <a:lstStyle/>
        <a:p>
          <a:r>
            <a:rPr lang="es-ES" sz="1000" dirty="0">
              <a:solidFill>
                <a:schemeClr val="tx2"/>
              </a:solidFill>
            </a:rPr>
            <a:t>8. Sintió Ud. Hambre alguna vez, pero no comió porque no tenía suficiente dinero para comprar más comida</a:t>
          </a:r>
          <a:endParaRPr lang="es-AR" sz="1000" dirty="0">
            <a:solidFill>
              <a:schemeClr val="tx2"/>
            </a:solidFill>
          </a:endParaRPr>
        </a:p>
      </dgm:t>
    </dgm:pt>
    <dgm:pt modelId="{D70E3756-14D8-4E67-BA74-99A71F1F6317}" type="parTrans" cxnId="{DAF2196D-2201-49B8-82B9-D530705010D7}">
      <dgm:prSet/>
      <dgm:spPr/>
      <dgm:t>
        <a:bodyPr/>
        <a:lstStyle/>
        <a:p>
          <a:endParaRPr lang="es-AR" sz="1000">
            <a:solidFill>
              <a:schemeClr val="tx2"/>
            </a:solidFill>
          </a:endParaRPr>
        </a:p>
      </dgm:t>
    </dgm:pt>
    <dgm:pt modelId="{95F5E0B5-2F95-4901-86CD-80C2131E2D1B}" type="sibTrans" cxnId="{DAF2196D-2201-49B8-82B9-D530705010D7}">
      <dgm:prSet/>
      <dgm:spPr/>
      <dgm:t>
        <a:bodyPr/>
        <a:lstStyle/>
        <a:p>
          <a:endParaRPr lang="es-AR" sz="1000">
            <a:solidFill>
              <a:schemeClr val="tx2"/>
            </a:solidFill>
          </a:endParaRPr>
        </a:p>
      </dgm:t>
    </dgm:pt>
    <dgm:pt modelId="{70AFBCE0-3E0D-40F6-AE6E-B9D03A248A7E}">
      <dgm:prSet custT="1"/>
      <dgm:spPr/>
      <dgm:t>
        <a:bodyPr/>
        <a:lstStyle/>
        <a:p>
          <a:r>
            <a:rPr lang="es-ES" sz="1000" dirty="0">
              <a:solidFill>
                <a:schemeClr val="tx2"/>
              </a:solidFill>
            </a:rPr>
            <a:t>9. </a:t>
          </a:r>
          <a:r>
            <a:rPr lang="es-ES" sz="1000" dirty="0" err="1">
              <a:solidFill>
                <a:schemeClr val="tx2"/>
              </a:solidFill>
            </a:rPr>
            <a:t>Ud</a:t>
          </a:r>
          <a:r>
            <a:rPr lang="es-ES" sz="1000" dirty="0">
              <a:solidFill>
                <a:schemeClr val="tx2"/>
              </a:solidFill>
            </a:rPr>
            <a:t> perdió peso porque no tenía suficiente dinero para comprar alimentos</a:t>
          </a:r>
          <a:endParaRPr lang="es-AR" sz="1000" dirty="0">
            <a:solidFill>
              <a:schemeClr val="tx2"/>
            </a:solidFill>
          </a:endParaRPr>
        </a:p>
      </dgm:t>
    </dgm:pt>
    <dgm:pt modelId="{D4E5CE2D-8C01-4615-B9B9-303FFD938E05}" type="parTrans" cxnId="{F9ECC510-3B24-4CD0-B21A-B57D11D922EA}">
      <dgm:prSet/>
      <dgm:spPr/>
      <dgm:t>
        <a:bodyPr/>
        <a:lstStyle/>
        <a:p>
          <a:endParaRPr lang="es-AR" sz="1000">
            <a:solidFill>
              <a:schemeClr val="tx2"/>
            </a:solidFill>
          </a:endParaRPr>
        </a:p>
      </dgm:t>
    </dgm:pt>
    <dgm:pt modelId="{BAC3AEE3-6427-46DC-A6C2-437ADA4B3100}" type="sibTrans" cxnId="{F9ECC510-3B24-4CD0-B21A-B57D11D922EA}">
      <dgm:prSet/>
      <dgm:spPr/>
      <dgm:t>
        <a:bodyPr/>
        <a:lstStyle/>
        <a:p>
          <a:endParaRPr lang="es-AR" sz="1000">
            <a:solidFill>
              <a:schemeClr val="tx2"/>
            </a:solidFill>
          </a:endParaRPr>
        </a:p>
      </dgm:t>
    </dgm:pt>
    <dgm:pt modelId="{763C74E8-5777-40B3-AC70-BA20FD582ED8}">
      <dgm:prSet custT="1"/>
      <dgm:spPr/>
      <dgm:t>
        <a:bodyPr/>
        <a:lstStyle/>
        <a:p>
          <a:r>
            <a:rPr lang="es-ES" sz="1000" dirty="0">
              <a:solidFill>
                <a:schemeClr val="tx2"/>
              </a:solidFill>
            </a:rPr>
            <a:t>10. Ud. o algún otro adulto de su hogar dejaron de comer por todo un día porque  no tenían suficiente dinero para comprar más alimentos</a:t>
          </a:r>
          <a:endParaRPr lang="es-AR" sz="1000" dirty="0">
            <a:solidFill>
              <a:schemeClr val="tx2"/>
            </a:solidFill>
          </a:endParaRPr>
        </a:p>
      </dgm:t>
    </dgm:pt>
    <dgm:pt modelId="{62611C09-B1AF-4924-9405-920BBC0939AE}" type="parTrans" cxnId="{38222A4F-A5CA-42FC-90F2-F761B4F27F9B}">
      <dgm:prSet/>
      <dgm:spPr/>
      <dgm:t>
        <a:bodyPr/>
        <a:lstStyle/>
        <a:p>
          <a:endParaRPr lang="es-AR" sz="1000">
            <a:solidFill>
              <a:schemeClr val="tx2"/>
            </a:solidFill>
          </a:endParaRPr>
        </a:p>
      </dgm:t>
    </dgm:pt>
    <dgm:pt modelId="{B20C1D91-2355-4CE6-9307-3E5C446CF3E6}" type="sibTrans" cxnId="{38222A4F-A5CA-42FC-90F2-F761B4F27F9B}">
      <dgm:prSet/>
      <dgm:spPr/>
      <dgm:t>
        <a:bodyPr/>
        <a:lstStyle/>
        <a:p>
          <a:endParaRPr lang="es-AR" sz="1000">
            <a:solidFill>
              <a:schemeClr val="tx2"/>
            </a:solidFill>
          </a:endParaRPr>
        </a:p>
      </dgm:t>
    </dgm:pt>
    <dgm:pt modelId="{47941ED6-98E1-4311-A4EF-9F5C753537D3}">
      <dgm:prSet custT="1"/>
      <dgm:spPr/>
      <dgm:t>
        <a:bodyPr/>
        <a:lstStyle/>
        <a:p>
          <a:r>
            <a:rPr lang="es-ES" sz="1000" dirty="0">
              <a:solidFill>
                <a:schemeClr val="tx2"/>
              </a:solidFill>
            </a:rPr>
            <a:t>11. disminuyó. Ud. la ración de alguna de las comidas de los niños de su hogar porque no tenia  suficiente dinero para comprar más alimentos</a:t>
          </a:r>
          <a:endParaRPr lang="es-AR" sz="1000" dirty="0">
            <a:solidFill>
              <a:schemeClr val="tx2"/>
            </a:solidFill>
          </a:endParaRPr>
        </a:p>
      </dgm:t>
    </dgm:pt>
    <dgm:pt modelId="{EC345217-D1CD-450C-B400-C59038BF0756}" type="parTrans" cxnId="{66BFA1F3-8EDE-466D-952A-A7E27E0409F0}">
      <dgm:prSet/>
      <dgm:spPr/>
      <dgm:t>
        <a:bodyPr/>
        <a:lstStyle/>
        <a:p>
          <a:endParaRPr lang="es-AR" sz="1000">
            <a:solidFill>
              <a:schemeClr val="tx2"/>
            </a:solidFill>
          </a:endParaRPr>
        </a:p>
      </dgm:t>
    </dgm:pt>
    <dgm:pt modelId="{3EC10E32-1372-403A-9A39-03494722DBC3}" type="sibTrans" cxnId="{66BFA1F3-8EDE-466D-952A-A7E27E0409F0}">
      <dgm:prSet/>
      <dgm:spPr/>
      <dgm:t>
        <a:bodyPr/>
        <a:lstStyle/>
        <a:p>
          <a:endParaRPr lang="es-AR" sz="1000">
            <a:solidFill>
              <a:schemeClr val="tx2"/>
            </a:solidFill>
          </a:endParaRPr>
        </a:p>
      </dgm:t>
    </dgm:pt>
    <dgm:pt modelId="{802EF1D1-B9E7-43F0-A4B5-8F00594B10F4}">
      <dgm:prSet custT="1"/>
      <dgm:spPr/>
      <dgm:t>
        <a:bodyPr/>
        <a:lstStyle/>
        <a:p>
          <a:r>
            <a:rPr lang="es-ES" sz="1000" dirty="0">
              <a:solidFill>
                <a:schemeClr val="tx2"/>
              </a:solidFill>
            </a:rPr>
            <a:t>12. los niños que habitan en el hogar tuvieron hambre alguna vez porque no les alcanzaba el dinero para comprar más comida</a:t>
          </a:r>
          <a:endParaRPr lang="es-AR" sz="1000" dirty="0">
            <a:solidFill>
              <a:schemeClr val="tx2"/>
            </a:solidFill>
          </a:endParaRPr>
        </a:p>
      </dgm:t>
    </dgm:pt>
    <dgm:pt modelId="{240FAC9C-5A04-41A5-BA5B-ED08DBF0D65E}" type="parTrans" cxnId="{B3F4E4C1-7D92-4A13-9AE3-5D0A21DAC786}">
      <dgm:prSet/>
      <dgm:spPr/>
      <dgm:t>
        <a:bodyPr/>
        <a:lstStyle/>
        <a:p>
          <a:endParaRPr lang="es-AR" sz="1000">
            <a:solidFill>
              <a:schemeClr val="tx2"/>
            </a:solidFill>
          </a:endParaRPr>
        </a:p>
      </dgm:t>
    </dgm:pt>
    <dgm:pt modelId="{AC5FF4CD-BB1E-45E8-BD9E-D43CD5A01A64}" type="sibTrans" cxnId="{B3F4E4C1-7D92-4A13-9AE3-5D0A21DAC786}">
      <dgm:prSet/>
      <dgm:spPr/>
      <dgm:t>
        <a:bodyPr/>
        <a:lstStyle/>
        <a:p>
          <a:endParaRPr lang="es-AR" sz="1000">
            <a:solidFill>
              <a:schemeClr val="tx2"/>
            </a:solidFill>
          </a:endParaRPr>
        </a:p>
      </dgm:t>
    </dgm:pt>
    <dgm:pt modelId="{825D3981-70C7-453E-A28E-B1D10A20FB5B}" type="pres">
      <dgm:prSet presAssocID="{96CEEF94-92C2-40E2-B617-E29A7587B5CE}" presName="Name0" presStyleCnt="0">
        <dgm:presLayoutVars>
          <dgm:dir/>
          <dgm:animLvl val="lvl"/>
          <dgm:resizeHandles val="exact"/>
        </dgm:presLayoutVars>
      </dgm:prSet>
      <dgm:spPr/>
    </dgm:pt>
    <dgm:pt modelId="{BF17D396-0459-4F1F-B087-19ECAFBAEEC2}" type="pres">
      <dgm:prSet presAssocID="{802EF1D1-B9E7-43F0-A4B5-8F00594B10F4}" presName="boxAndChildren" presStyleCnt="0"/>
      <dgm:spPr/>
    </dgm:pt>
    <dgm:pt modelId="{8CFF9A61-46FB-4417-9272-7A7133816F6B}" type="pres">
      <dgm:prSet presAssocID="{802EF1D1-B9E7-43F0-A4B5-8F00594B10F4}" presName="parentTextBox" presStyleLbl="node1" presStyleIdx="0" presStyleCnt="12"/>
      <dgm:spPr/>
    </dgm:pt>
    <dgm:pt modelId="{A1350B0B-2590-42FE-B16D-A7CD27DD6BFD}" type="pres">
      <dgm:prSet presAssocID="{3EC10E32-1372-403A-9A39-03494722DBC3}" presName="sp" presStyleCnt="0"/>
      <dgm:spPr/>
    </dgm:pt>
    <dgm:pt modelId="{77F68073-5C90-40CC-97A0-23A36719A6EA}" type="pres">
      <dgm:prSet presAssocID="{47941ED6-98E1-4311-A4EF-9F5C753537D3}" presName="arrowAndChildren" presStyleCnt="0"/>
      <dgm:spPr/>
    </dgm:pt>
    <dgm:pt modelId="{B227051B-1CDF-4BAA-9848-AB5E4DFA377C}" type="pres">
      <dgm:prSet presAssocID="{47941ED6-98E1-4311-A4EF-9F5C753537D3}" presName="parentTextArrow" presStyleLbl="node1" presStyleIdx="1" presStyleCnt="12"/>
      <dgm:spPr/>
    </dgm:pt>
    <dgm:pt modelId="{29979AE0-F6B5-4075-8A36-39B71918BD64}" type="pres">
      <dgm:prSet presAssocID="{B20C1D91-2355-4CE6-9307-3E5C446CF3E6}" presName="sp" presStyleCnt="0"/>
      <dgm:spPr/>
    </dgm:pt>
    <dgm:pt modelId="{1D2C5721-DFC4-48FD-95A6-F9FD31F06D10}" type="pres">
      <dgm:prSet presAssocID="{763C74E8-5777-40B3-AC70-BA20FD582ED8}" presName="arrowAndChildren" presStyleCnt="0"/>
      <dgm:spPr/>
    </dgm:pt>
    <dgm:pt modelId="{20CFFA2E-2243-47BE-AFC3-68BC7045321E}" type="pres">
      <dgm:prSet presAssocID="{763C74E8-5777-40B3-AC70-BA20FD582ED8}" presName="parentTextArrow" presStyleLbl="node1" presStyleIdx="2" presStyleCnt="12"/>
      <dgm:spPr/>
    </dgm:pt>
    <dgm:pt modelId="{07D4EDB8-53A5-4B58-A96B-65A171018973}" type="pres">
      <dgm:prSet presAssocID="{BAC3AEE3-6427-46DC-A6C2-437ADA4B3100}" presName="sp" presStyleCnt="0"/>
      <dgm:spPr/>
    </dgm:pt>
    <dgm:pt modelId="{859CAA48-45B0-4B3A-8CB6-52FD46E86E26}" type="pres">
      <dgm:prSet presAssocID="{70AFBCE0-3E0D-40F6-AE6E-B9D03A248A7E}" presName="arrowAndChildren" presStyleCnt="0"/>
      <dgm:spPr/>
    </dgm:pt>
    <dgm:pt modelId="{DEC22271-EF82-4CB8-8280-139034A6E4F8}" type="pres">
      <dgm:prSet presAssocID="{70AFBCE0-3E0D-40F6-AE6E-B9D03A248A7E}" presName="parentTextArrow" presStyleLbl="node1" presStyleIdx="3" presStyleCnt="12"/>
      <dgm:spPr/>
    </dgm:pt>
    <dgm:pt modelId="{DC10416F-3167-4382-BA75-F93A601047F8}" type="pres">
      <dgm:prSet presAssocID="{95F5E0B5-2F95-4901-86CD-80C2131E2D1B}" presName="sp" presStyleCnt="0"/>
      <dgm:spPr/>
    </dgm:pt>
    <dgm:pt modelId="{84CE7E63-F5EF-46B1-94EE-BDAB6CD0E938}" type="pres">
      <dgm:prSet presAssocID="{700F85B7-81B8-44DB-9776-95A9ABED5978}" presName="arrowAndChildren" presStyleCnt="0"/>
      <dgm:spPr/>
    </dgm:pt>
    <dgm:pt modelId="{B92018D9-6616-4527-9A77-0F0661E5E56F}" type="pres">
      <dgm:prSet presAssocID="{700F85B7-81B8-44DB-9776-95A9ABED5978}" presName="parentTextArrow" presStyleLbl="node1" presStyleIdx="4" presStyleCnt="12"/>
      <dgm:spPr/>
    </dgm:pt>
    <dgm:pt modelId="{EA866AF8-010A-49CD-9AE1-8C79CEA13FA0}" type="pres">
      <dgm:prSet presAssocID="{088F43A9-FF82-415E-9BE0-F18B23ED6D97}" presName="sp" presStyleCnt="0"/>
      <dgm:spPr/>
    </dgm:pt>
    <dgm:pt modelId="{942A826F-DF48-4E70-951F-92E13AD8D377}" type="pres">
      <dgm:prSet presAssocID="{7C04E19B-3B90-4B9C-B78E-2581974652AD}" presName="arrowAndChildren" presStyleCnt="0"/>
      <dgm:spPr/>
    </dgm:pt>
    <dgm:pt modelId="{FE61C26A-6190-4C67-B337-96B5DFEFD176}" type="pres">
      <dgm:prSet presAssocID="{7C04E19B-3B90-4B9C-B78E-2581974652AD}" presName="parentTextArrow" presStyleLbl="node1" presStyleIdx="5" presStyleCnt="12"/>
      <dgm:spPr/>
    </dgm:pt>
    <dgm:pt modelId="{30314B18-D1E6-44D8-BB45-63FDB8A8E80F}" type="pres">
      <dgm:prSet presAssocID="{5FC74774-A812-4DBB-9659-5AC26AEBA337}" presName="sp" presStyleCnt="0"/>
      <dgm:spPr/>
    </dgm:pt>
    <dgm:pt modelId="{3FC6E6B8-0C0B-4B7B-A6E7-F674E67885D6}" type="pres">
      <dgm:prSet presAssocID="{0D6A1BA2-0564-4A65-948D-F15A15F62724}" presName="arrowAndChildren" presStyleCnt="0"/>
      <dgm:spPr/>
    </dgm:pt>
    <dgm:pt modelId="{DC4BBA81-23C7-4CEE-AF23-A61B6A893EE7}" type="pres">
      <dgm:prSet presAssocID="{0D6A1BA2-0564-4A65-948D-F15A15F62724}" presName="parentTextArrow" presStyleLbl="node1" presStyleIdx="6" presStyleCnt="12"/>
      <dgm:spPr/>
    </dgm:pt>
    <dgm:pt modelId="{E6117CFE-9764-4A0C-A737-A8C1E96CB017}" type="pres">
      <dgm:prSet presAssocID="{F0A5E3AB-F2AC-4B93-B329-42C3C3C0ABC8}" presName="sp" presStyleCnt="0"/>
      <dgm:spPr/>
    </dgm:pt>
    <dgm:pt modelId="{DC332C21-4D30-4B0C-B402-CC6A15F10087}" type="pres">
      <dgm:prSet presAssocID="{FCB92181-5063-4ED1-9FA1-965191456F36}" presName="arrowAndChildren" presStyleCnt="0"/>
      <dgm:spPr/>
    </dgm:pt>
    <dgm:pt modelId="{89430B56-B5D3-437E-8769-55FF612CD058}" type="pres">
      <dgm:prSet presAssocID="{FCB92181-5063-4ED1-9FA1-965191456F36}" presName="parentTextArrow" presStyleLbl="node1" presStyleIdx="7" presStyleCnt="12"/>
      <dgm:spPr/>
    </dgm:pt>
    <dgm:pt modelId="{6AA11F83-0391-4B15-8408-19709D5A905D}" type="pres">
      <dgm:prSet presAssocID="{E351D4B0-6165-46D3-91A2-55BC86E61534}" presName="sp" presStyleCnt="0"/>
      <dgm:spPr/>
    </dgm:pt>
    <dgm:pt modelId="{BD133CC9-8FDF-4089-A585-F7A25FAB49FE}" type="pres">
      <dgm:prSet presAssocID="{5C9527F8-C41C-4C5E-867D-4A8BAB8F2B68}" presName="arrowAndChildren" presStyleCnt="0"/>
      <dgm:spPr/>
    </dgm:pt>
    <dgm:pt modelId="{13A14BBE-7028-4559-B37F-EE9D21B6EBC1}" type="pres">
      <dgm:prSet presAssocID="{5C9527F8-C41C-4C5E-867D-4A8BAB8F2B68}" presName="parentTextArrow" presStyleLbl="node1" presStyleIdx="8" presStyleCnt="12"/>
      <dgm:spPr/>
    </dgm:pt>
    <dgm:pt modelId="{2B2F3A5E-463A-47DE-BD9E-1055B2E1521F}" type="pres">
      <dgm:prSet presAssocID="{8FB59A5F-0096-4FCB-820C-319694F3787E}" presName="sp" presStyleCnt="0"/>
      <dgm:spPr/>
    </dgm:pt>
    <dgm:pt modelId="{C1272E9A-33C0-4816-B12E-5E67516FE9C9}" type="pres">
      <dgm:prSet presAssocID="{E302698B-5548-445B-8F6C-74DE5FE87D8E}" presName="arrowAndChildren" presStyleCnt="0"/>
      <dgm:spPr/>
    </dgm:pt>
    <dgm:pt modelId="{C7DA8116-5E44-4229-9C58-A663A971C5BF}" type="pres">
      <dgm:prSet presAssocID="{E302698B-5548-445B-8F6C-74DE5FE87D8E}" presName="parentTextArrow" presStyleLbl="node1" presStyleIdx="9" presStyleCnt="12"/>
      <dgm:spPr/>
    </dgm:pt>
    <dgm:pt modelId="{FB6AF198-AD34-42AF-9772-2E7965086EC9}" type="pres">
      <dgm:prSet presAssocID="{C659FD7F-A923-414A-AFFE-55A16B966448}" presName="sp" presStyleCnt="0"/>
      <dgm:spPr/>
    </dgm:pt>
    <dgm:pt modelId="{608565B5-8699-4339-A11C-9898E05D5894}" type="pres">
      <dgm:prSet presAssocID="{2B91927D-5DE4-4AC3-8642-319349E99FE1}" presName="arrowAndChildren" presStyleCnt="0"/>
      <dgm:spPr/>
    </dgm:pt>
    <dgm:pt modelId="{2554B255-5E53-4B2C-8DA4-91824860F607}" type="pres">
      <dgm:prSet presAssocID="{2B91927D-5DE4-4AC3-8642-319349E99FE1}" presName="parentTextArrow" presStyleLbl="node1" presStyleIdx="10" presStyleCnt="12"/>
      <dgm:spPr/>
    </dgm:pt>
    <dgm:pt modelId="{C92548D3-2502-45B2-BB47-707FA104A835}" type="pres">
      <dgm:prSet presAssocID="{B95852D2-D7F5-4435-87E1-DF31592A8E6D}" presName="sp" presStyleCnt="0"/>
      <dgm:spPr/>
    </dgm:pt>
    <dgm:pt modelId="{9560E414-2F18-4613-90A8-CF8D1DB319B1}" type="pres">
      <dgm:prSet presAssocID="{C3D9ACFB-2777-4E31-AEFB-F74682356CB3}" presName="arrowAndChildren" presStyleCnt="0"/>
      <dgm:spPr/>
    </dgm:pt>
    <dgm:pt modelId="{0FE8FF18-3FF7-4A0B-9B03-3877FB402294}" type="pres">
      <dgm:prSet presAssocID="{C3D9ACFB-2777-4E31-AEFB-F74682356CB3}" presName="parentTextArrow" presStyleLbl="node1" presStyleIdx="11" presStyleCnt="12"/>
      <dgm:spPr/>
    </dgm:pt>
  </dgm:ptLst>
  <dgm:cxnLst>
    <dgm:cxn modelId="{AC57BF0D-1B21-42EC-ABCD-3568865EC0E4}" type="presOf" srcId="{7C04E19B-3B90-4B9C-B78E-2581974652AD}" destId="{FE61C26A-6190-4C67-B337-96B5DFEFD176}" srcOrd="0" destOrd="0" presId="urn:microsoft.com/office/officeart/2005/8/layout/process4"/>
    <dgm:cxn modelId="{182A5610-7AF0-4074-BC3E-38E889A384C4}" srcId="{96CEEF94-92C2-40E2-B617-E29A7587B5CE}" destId="{E302698B-5548-445B-8F6C-74DE5FE87D8E}" srcOrd="2" destOrd="0" parTransId="{87B81754-ED0D-43F7-93E8-83CFC069911D}" sibTransId="{8FB59A5F-0096-4FCB-820C-319694F3787E}"/>
    <dgm:cxn modelId="{F9ECC510-3B24-4CD0-B21A-B57D11D922EA}" srcId="{96CEEF94-92C2-40E2-B617-E29A7587B5CE}" destId="{70AFBCE0-3E0D-40F6-AE6E-B9D03A248A7E}" srcOrd="8" destOrd="0" parTransId="{D4E5CE2D-8C01-4615-B9B9-303FFD938E05}" sibTransId="{BAC3AEE3-6427-46DC-A6C2-437ADA4B3100}"/>
    <dgm:cxn modelId="{14BF451F-756B-4D7A-8357-A5A6257F06E0}" type="presOf" srcId="{2B91927D-5DE4-4AC3-8642-319349E99FE1}" destId="{2554B255-5E53-4B2C-8DA4-91824860F607}" srcOrd="0" destOrd="0" presId="urn:microsoft.com/office/officeart/2005/8/layout/process4"/>
    <dgm:cxn modelId="{BDCEB72C-E08C-49E7-BB08-1482E48A1269}" type="presOf" srcId="{C3D9ACFB-2777-4E31-AEFB-F74682356CB3}" destId="{0FE8FF18-3FF7-4A0B-9B03-3877FB402294}" srcOrd="0" destOrd="0" presId="urn:microsoft.com/office/officeart/2005/8/layout/process4"/>
    <dgm:cxn modelId="{E4861E2E-0719-4638-B089-DB98CAA0B193}" type="presOf" srcId="{47941ED6-98E1-4311-A4EF-9F5C753537D3}" destId="{B227051B-1CDF-4BAA-9848-AB5E4DFA377C}" srcOrd="0" destOrd="0" presId="urn:microsoft.com/office/officeart/2005/8/layout/process4"/>
    <dgm:cxn modelId="{9B450136-25E7-4A5C-819C-2DBC8E44E954}" type="presOf" srcId="{0D6A1BA2-0564-4A65-948D-F15A15F62724}" destId="{DC4BBA81-23C7-4CEE-AF23-A61B6A893EE7}" srcOrd="0" destOrd="0" presId="urn:microsoft.com/office/officeart/2005/8/layout/process4"/>
    <dgm:cxn modelId="{5601FC36-2CF2-4CDB-B610-A7FF333E6260}" srcId="{96CEEF94-92C2-40E2-B617-E29A7587B5CE}" destId="{FCB92181-5063-4ED1-9FA1-965191456F36}" srcOrd="4" destOrd="0" parTransId="{9A658A46-2B7B-4C5B-B956-ED1EEDBC0D4F}" sibTransId="{F0A5E3AB-F2AC-4B93-B329-42C3C3C0ABC8}"/>
    <dgm:cxn modelId="{38C91438-9DFA-4B9D-9A0E-A95740A357D1}" srcId="{96CEEF94-92C2-40E2-B617-E29A7587B5CE}" destId="{0D6A1BA2-0564-4A65-948D-F15A15F62724}" srcOrd="5" destOrd="0" parTransId="{3D03536F-ECCD-490B-BB0A-5C87E019457E}" sibTransId="{5FC74774-A812-4DBB-9659-5AC26AEBA337}"/>
    <dgm:cxn modelId="{92E0D23B-9AE8-4ABF-B2BE-80C8DD41A778}" type="presOf" srcId="{E302698B-5548-445B-8F6C-74DE5FE87D8E}" destId="{C7DA8116-5E44-4229-9C58-A663A971C5BF}" srcOrd="0" destOrd="0" presId="urn:microsoft.com/office/officeart/2005/8/layout/process4"/>
    <dgm:cxn modelId="{B76C8046-1988-4EC1-9462-35D1201AF455}" type="presOf" srcId="{802EF1D1-B9E7-43F0-A4B5-8F00594B10F4}" destId="{8CFF9A61-46FB-4417-9272-7A7133816F6B}" srcOrd="0" destOrd="0" presId="urn:microsoft.com/office/officeart/2005/8/layout/process4"/>
    <dgm:cxn modelId="{DAF2196D-2201-49B8-82B9-D530705010D7}" srcId="{96CEEF94-92C2-40E2-B617-E29A7587B5CE}" destId="{700F85B7-81B8-44DB-9776-95A9ABED5978}" srcOrd="7" destOrd="0" parTransId="{D70E3756-14D8-4E67-BA74-99A71F1F6317}" sibTransId="{95F5E0B5-2F95-4901-86CD-80C2131E2D1B}"/>
    <dgm:cxn modelId="{F0A94E6D-3538-4898-9486-3E7AF9FF8216}" type="presOf" srcId="{5C9527F8-C41C-4C5E-867D-4A8BAB8F2B68}" destId="{13A14BBE-7028-4559-B37F-EE9D21B6EBC1}" srcOrd="0" destOrd="0" presId="urn:microsoft.com/office/officeart/2005/8/layout/process4"/>
    <dgm:cxn modelId="{38222A4F-A5CA-42FC-90F2-F761B4F27F9B}" srcId="{96CEEF94-92C2-40E2-B617-E29A7587B5CE}" destId="{763C74E8-5777-40B3-AC70-BA20FD582ED8}" srcOrd="9" destOrd="0" parTransId="{62611C09-B1AF-4924-9405-920BBC0939AE}" sibTransId="{B20C1D91-2355-4CE6-9307-3E5C446CF3E6}"/>
    <dgm:cxn modelId="{2BA51A78-286B-48FD-B9E8-16354B46F589}" type="presOf" srcId="{700F85B7-81B8-44DB-9776-95A9ABED5978}" destId="{B92018D9-6616-4527-9A77-0F0661E5E56F}" srcOrd="0" destOrd="0" presId="urn:microsoft.com/office/officeart/2005/8/layout/process4"/>
    <dgm:cxn modelId="{81E2AF97-511C-42EE-89FC-DCF3642B07E8}" srcId="{96CEEF94-92C2-40E2-B617-E29A7587B5CE}" destId="{5C9527F8-C41C-4C5E-867D-4A8BAB8F2B68}" srcOrd="3" destOrd="0" parTransId="{15CB346A-D7F4-414E-B638-1D3EAD9258A4}" sibTransId="{E351D4B0-6165-46D3-91A2-55BC86E61534}"/>
    <dgm:cxn modelId="{B3F4E4C1-7D92-4A13-9AE3-5D0A21DAC786}" srcId="{96CEEF94-92C2-40E2-B617-E29A7587B5CE}" destId="{802EF1D1-B9E7-43F0-A4B5-8F00594B10F4}" srcOrd="11" destOrd="0" parTransId="{240FAC9C-5A04-41A5-BA5B-ED08DBF0D65E}" sibTransId="{AC5FF4CD-BB1E-45E8-BD9E-D43CD5A01A64}"/>
    <dgm:cxn modelId="{FDC6BDC9-59E1-4363-B882-045B15BC18EF}" type="presOf" srcId="{763C74E8-5777-40B3-AC70-BA20FD582ED8}" destId="{20CFFA2E-2243-47BE-AFC3-68BC7045321E}" srcOrd="0" destOrd="0" presId="urn:microsoft.com/office/officeart/2005/8/layout/process4"/>
    <dgm:cxn modelId="{E122E6D2-ED1C-474F-AB08-CF0BB12D69CB}" type="presOf" srcId="{FCB92181-5063-4ED1-9FA1-965191456F36}" destId="{89430B56-B5D3-437E-8769-55FF612CD058}" srcOrd="0" destOrd="0" presId="urn:microsoft.com/office/officeart/2005/8/layout/process4"/>
    <dgm:cxn modelId="{CD4A47D9-622E-44C8-99F2-94252C7075BF}" srcId="{96CEEF94-92C2-40E2-B617-E29A7587B5CE}" destId="{C3D9ACFB-2777-4E31-AEFB-F74682356CB3}" srcOrd="0" destOrd="0" parTransId="{98E7F3B3-3C64-4C11-86F1-44A4DB900B69}" sibTransId="{B95852D2-D7F5-4435-87E1-DF31592A8E6D}"/>
    <dgm:cxn modelId="{680E37E6-1212-498C-8C8E-1136FA40AD08}" srcId="{96CEEF94-92C2-40E2-B617-E29A7587B5CE}" destId="{7C04E19B-3B90-4B9C-B78E-2581974652AD}" srcOrd="6" destOrd="0" parTransId="{DF84A2DF-C226-4B92-8452-B6BF9FB96DB6}" sibTransId="{088F43A9-FF82-415E-9BE0-F18B23ED6D97}"/>
    <dgm:cxn modelId="{68BCCDEC-2726-4993-96D6-4D442BB3CEEC}" type="presOf" srcId="{96CEEF94-92C2-40E2-B617-E29A7587B5CE}" destId="{825D3981-70C7-453E-A28E-B1D10A20FB5B}" srcOrd="0" destOrd="0" presId="urn:microsoft.com/office/officeart/2005/8/layout/process4"/>
    <dgm:cxn modelId="{66BFA1F3-8EDE-466D-952A-A7E27E0409F0}" srcId="{96CEEF94-92C2-40E2-B617-E29A7587B5CE}" destId="{47941ED6-98E1-4311-A4EF-9F5C753537D3}" srcOrd="10" destOrd="0" parTransId="{EC345217-D1CD-450C-B400-C59038BF0756}" sibTransId="{3EC10E32-1372-403A-9A39-03494722DBC3}"/>
    <dgm:cxn modelId="{080ABDF8-C461-4DFF-A8FB-7A0108ABD6F4}" srcId="{96CEEF94-92C2-40E2-B617-E29A7587B5CE}" destId="{2B91927D-5DE4-4AC3-8642-319349E99FE1}" srcOrd="1" destOrd="0" parTransId="{C507B5FB-937A-43CD-BCC1-E36E36BDD6D6}" sibTransId="{C659FD7F-A923-414A-AFFE-55A16B966448}"/>
    <dgm:cxn modelId="{095C40F9-C871-49DF-92B8-7C69B7882CD8}" type="presOf" srcId="{70AFBCE0-3E0D-40F6-AE6E-B9D03A248A7E}" destId="{DEC22271-EF82-4CB8-8280-139034A6E4F8}" srcOrd="0" destOrd="0" presId="urn:microsoft.com/office/officeart/2005/8/layout/process4"/>
    <dgm:cxn modelId="{8F5AC6DA-852B-4C94-AB95-39F31AA0F870}" type="presParOf" srcId="{825D3981-70C7-453E-A28E-B1D10A20FB5B}" destId="{BF17D396-0459-4F1F-B087-19ECAFBAEEC2}" srcOrd="0" destOrd="0" presId="urn:microsoft.com/office/officeart/2005/8/layout/process4"/>
    <dgm:cxn modelId="{45826C70-F16B-432C-B7B0-15079A7F431D}" type="presParOf" srcId="{BF17D396-0459-4F1F-B087-19ECAFBAEEC2}" destId="{8CFF9A61-46FB-4417-9272-7A7133816F6B}" srcOrd="0" destOrd="0" presId="urn:microsoft.com/office/officeart/2005/8/layout/process4"/>
    <dgm:cxn modelId="{C0AFD44C-9B6E-40A6-8A3C-9DBE0E9F8E96}" type="presParOf" srcId="{825D3981-70C7-453E-A28E-B1D10A20FB5B}" destId="{A1350B0B-2590-42FE-B16D-A7CD27DD6BFD}" srcOrd="1" destOrd="0" presId="urn:microsoft.com/office/officeart/2005/8/layout/process4"/>
    <dgm:cxn modelId="{26FAAC85-98CB-42FA-86A4-E77053401EB5}" type="presParOf" srcId="{825D3981-70C7-453E-A28E-B1D10A20FB5B}" destId="{77F68073-5C90-40CC-97A0-23A36719A6EA}" srcOrd="2" destOrd="0" presId="urn:microsoft.com/office/officeart/2005/8/layout/process4"/>
    <dgm:cxn modelId="{1B07A80C-F0B9-44EA-B3FD-17312E254FC5}" type="presParOf" srcId="{77F68073-5C90-40CC-97A0-23A36719A6EA}" destId="{B227051B-1CDF-4BAA-9848-AB5E4DFA377C}" srcOrd="0" destOrd="0" presId="urn:microsoft.com/office/officeart/2005/8/layout/process4"/>
    <dgm:cxn modelId="{320F7F69-839D-448E-91F9-377DA851EE98}" type="presParOf" srcId="{825D3981-70C7-453E-A28E-B1D10A20FB5B}" destId="{29979AE0-F6B5-4075-8A36-39B71918BD64}" srcOrd="3" destOrd="0" presId="urn:microsoft.com/office/officeart/2005/8/layout/process4"/>
    <dgm:cxn modelId="{5398B341-4290-40CA-BDC6-86EA4786AC36}" type="presParOf" srcId="{825D3981-70C7-453E-A28E-B1D10A20FB5B}" destId="{1D2C5721-DFC4-48FD-95A6-F9FD31F06D10}" srcOrd="4" destOrd="0" presId="urn:microsoft.com/office/officeart/2005/8/layout/process4"/>
    <dgm:cxn modelId="{C312D94A-D298-4251-9979-2C05B198F98C}" type="presParOf" srcId="{1D2C5721-DFC4-48FD-95A6-F9FD31F06D10}" destId="{20CFFA2E-2243-47BE-AFC3-68BC7045321E}" srcOrd="0" destOrd="0" presId="urn:microsoft.com/office/officeart/2005/8/layout/process4"/>
    <dgm:cxn modelId="{4BF61B30-69C9-4988-B83A-18DDC8033D10}" type="presParOf" srcId="{825D3981-70C7-453E-A28E-B1D10A20FB5B}" destId="{07D4EDB8-53A5-4B58-A96B-65A171018973}" srcOrd="5" destOrd="0" presId="urn:microsoft.com/office/officeart/2005/8/layout/process4"/>
    <dgm:cxn modelId="{5ADB7358-5CDE-4154-9724-040B2FE21984}" type="presParOf" srcId="{825D3981-70C7-453E-A28E-B1D10A20FB5B}" destId="{859CAA48-45B0-4B3A-8CB6-52FD46E86E26}" srcOrd="6" destOrd="0" presId="urn:microsoft.com/office/officeart/2005/8/layout/process4"/>
    <dgm:cxn modelId="{EB8BC127-D50D-4CED-8C9C-26EACE8B4ABA}" type="presParOf" srcId="{859CAA48-45B0-4B3A-8CB6-52FD46E86E26}" destId="{DEC22271-EF82-4CB8-8280-139034A6E4F8}" srcOrd="0" destOrd="0" presId="urn:microsoft.com/office/officeart/2005/8/layout/process4"/>
    <dgm:cxn modelId="{7255933B-3F0B-4C5A-9EE6-2BC9491328F0}" type="presParOf" srcId="{825D3981-70C7-453E-A28E-B1D10A20FB5B}" destId="{DC10416F-3167-4382-BA75-F93A601047F8}" srcOrd="7" destOrd="0" presId="urn:microsoft.com/office/officeart/2005/8/layout/process4"/>
    <dgm:cxn modelId="{E8E3E71F-2D14-4444-A1CA-7FE248DAE76B}" type="presParOf" srcId="{825D3981-70C7-453E-A28E-B1D10A20FB5B}" destId="{84CE7E63-F5EF-46B1-94EE-BDAB6CD0E938}" srcOrd="8" destOrd="0" presId="urn:microsoft.com/office/officeart/2005/8/layout/process4"/>
    <dgm:cxn modelId="{D4D2397E-5113-4AD5-8A6E-BA2EDC48AA88}" type="presParOf" srcId="{84CE7E63-F5EF-46B1-94EE-BDAB6CD0E938}" destId="{B92018D9-6616-4527-9A77-0F0661E5E56F}" srcOrd="0" destOrd="0" presId="urn:microsoft.com/office/officeart/2005/8/layout/process4"/>
    <dgm:cxn modelId="{FE893A47-A896-4736-AF76-C3A264957726}" type="presParOf" srcId="{825D3981-70C7-453E-A28E-B1D10A20FB5B}" destId="{EA866AF8-010A-49CD-9AE1-8C79CEA13FA0}" srcOrd="9" destOrd="0" presId="urn:microsoft.com/office/officeart/2005/8/layout/process4"/>
    <dgm:cxn modelId="{3DCBAE31-A519-4DE4-A37E-15E3FCA1014B}" type="presParOf" srcId="{825D3981-70C7-453E-A28E-B1D10A20FB5B}" destId="{942A826F-DF48-4E70-951F-92E13AD8D377}" srcOrd="10" destOrd="0" presId="urn:microsoft.com/office/officeart/2005/8/layout/process4"/>
    <dgm:cxn modelId="{B7643D93-6A0C-4292-9A76-102ADB95E7C9}" type="presParOf" srcId="{942A826F-DF48-4E70-951F-92E13AD8D377}" destId="{FE61C26A-6190-4C67-B337-96B5DFEFD176}" srcOrd="0" destOrd="0" presId="urn:microsoft.com/office/officeart/2005/8/layout/process4"/>
    <dgm:cxn modelId="{38D4A4C9-395E-49B0-837B-EAB83FCAAEAD}" type="presParOf" srcId="{825D3981-70C7-453E-A28E-B1D10A20FB5B}" destId="{30314B18-D1E6-44D8-BB45-63FDB8A8E80F}" srcOrd="11" destOrd="0" presId="urn:microsoft.com/office/officeart/2005/8/layout/process4"/>
    <dgm:cxn modelId="{26437F3E-237C-4023-AC82-A02E74794CEB}" type="presParOf" srcId="{825D3981-70C7-453E-A28E-B1D10A20FB5B}" destId="{3FC6E6B8-0C0B-4B7B-A6E7-F674E67885D6}" srcOrd="12" destOrd="0" presId="urn:microsoft.com/office/officeart/2005/8/layout/process4"/>
    <dgm:cxn modelId="{82568114-A872-4B5C-85A0-33C07F13BA0F}" type="presParOf" srcId="{3FC6E6B8-0C0B-4B7B-A6E7-F674E67885D6}" destId="{DC4BBA81-23C7-4CEE-AF23-A61B6A893EE7}" srcOrd="0" destOrd="0" presId="urn:microsoft.com/office/officeart/2005/8/layout/process4"/>
    <dgm:cxn modelId="{5BF44999-EDC6-453B-AF40-A27E188037D1}" type="presParOf" srcId="{825D3981-70C7-453E-A28E-B1D10A20FB5B}" destId="{E6117CFE-9764-4A0C-A737-A8C1E96CB017}" srcOrd="13" destOrd="0" presId="urn:microsoft.com/office/officeart/2005/8/layout/process4"/>
    <dgm:cxn modelId="{0110DC24-0CAE-4E3E-8C83-19E0774CE72F}" type="presParOf" srcId="{825D3981-70C7-453E-A28E-B1D10A20FB5B}" destId="{DC332C21-4D30-4B0C-B402-CC6A15F10087}" srcOrd="14" destOrd="0" presId="urn:microsoft.com/office/officeart/2005/8/layout/process4"/>
    <dgm:cxn modelId="{B7133251-DF80-4EB3-ADEA-EA26F5ADF39E}" type="presParOf" srcId="{DC332C21-4D30-4B0C-B402-CC6A15F10087}" destId="{89430B56-B5D3-437E-8769-55FF612CD058}" srcOrd="0" destOrd="0" presId="urn:microsoft.com/office/officeart/2005/8/layout/process4"/>
    <dgm:cxn modelId="{9C06EE0C-5D91-4D58-AE35-141FE8EA6EE7}" type="presParOf" srcId="{825D3981-70C7-453E-A28E-B1D10A20FB5B}" destId="{6AA11F83-0391-4B15-8408-19709D5A905D}" srcOrd="15" destOrd="0" presId="urn:microsoft.com/office/officeart/2005/8/layout/process4"/>
    <dgm:cxn modelId="{201C5458-8495-418D-9920-ADAB64496005}" type="presParOf" srcId="{825D3981-70C7-453E-A28E-B1D10A20FB5B}" destId="{BD133CC9-8FDF-4089-A585-F7A25FAB49FE}" srcOrd="16" destOrd="0" presId="urn:microsoft.com/office/officeart/2005/8/layout/process4"/>
    <dgm:cxn modelId="{7A27D5BB-99FF-4627-B353-80D3EFC02DD6}" type="presParOf" srcId="{BD133CC9-8FDF-4089-A585-F7A25FAB49FE}" destId="{13A14BBE-7028-4559-B37F-EE9D21B6EBC1}" srcOrd="0" destOrd="0" presId="urn:microsoft.com/office/officeart/2005/8/layout/process4"/>
    <dgm:cxn modelId="{BEA1D59B-F512-4179-A544-7E7279D5FBFC}" type="presParOf" srcId="{825D3981-70C7-453E-A28E-B1D10A20FB5B}" destId="{2B2F3A5E-463A-47DE-BD9E-1055B2E1521F}" srcOrd="17" destOrd="0" presId="urn:microsoft.com/office/officeart/2005/8/layout/process4"/>
    <dgm:cxn modelId="{AA4D4B3F-EF91-41BF-913D-7B6A871833A6}" type="presParOf" srcId="{825D3981-70C7-453E-A28E-B1D10A20FB5B}" destId="{C1272E9A-33C0-4816-B12E-5E67516FE9C9}" srcOrd="18" destOrd="0" presId="urn:microsoft.com/office/officeart/2005/8/layout/process4"/>
    <dgm:cxn modelId="{2B9634EA-EAA4-44A8-8555-2609D7906BA0}" type="presParOf" srcId="{C1272E9A-33C0-4816-B12E-5E67516FE9C9}" destId="{C7DA8116-5E44-4229-9C58-A663A971C5BF}" srcOrd="0" destOrd="0" presId="urn:microsoft.com/office/officeart/2005/8/layout/process4"/>
    <dgm:cxn modelId="{FBB1D80C-1AAA-4261-B259-6D6AC53ED4D6}" type="presParOf" srcId="{825D3981-70C7-453E-A28E-B1D10A20FB5B}" destId="{FB6AF198-AD34-42AF-9772-2E7965086EC9}" srcOrd="19" destOrd="0" presId="urn:microsoft.com/office/officeart/2005/8/layout/process4"/>
    <dgm:cxn modelId="{066089B7-0AF8-4F79-B8D1-3231E2082920}" type="presParOf" srcId="{825D3981-70C7-453E-A28E-B1D10A20FB5B}" destId="{608565B5-8699-4339-A11C-9898E05D5894}" srcOrd="20" destOrd="0" presId="urn:microsoft.com/office/officeart/2005/8/layout/process4"/>
    <dgm:cxn modelId="{176A2F2A-7151-45DB-9611-D8AB7D42E0A4}" type="presParOf" srcId="{608565B5-8699-4339-A11C-9898E05D5894}" destId="{2554B255-5E53-4B2C-8DA4-91824860F607}" srcOrd="0" destOrd="0" presId="urn:microsoft.com/office/officeart/2005/8/layout/process4"/>
    <dgm:cxn modelId="{C4B47910-2547-4361-AD3C-DB2B5793729E}" type="presParOf" srcId="{825D3981-70C7-453E-A28E-B1D10A20FB5B}" destId="{C92548D3-2502-45B2-BB47-707FA104A835}" srcOrd="21" destOrd="0" presId="urn:microsoft.com/office/officeart/2005/8/layout/process4"/>
    <dgm:cxn modelId="{8D500FF5-68DF-4E14-9BEE-67FD6AE50281}" type="presParOf" srcId="{825D3981-70C7-453E-A28E-B1D10A20FB5B}" destId="{9560E414-2F18-4613-90A8-CF8D1DB319B1}" srcOrd="22" destOrd="0" presId="urn:microsoft.com/office/officeart/2005/8/layout/process4"/>
    <dgm:cxn modelId="{BC2F775A-6422-41EE-87AD-F836AED0FF43}" type="presParOf" srcId="{9560E414-2F18-4613-90A8-CF8D1DB319B1}" destId="{0FE8FF18-3FF7-4A0B-9B03-3877FB40229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220C1E4-9806-42BF-A459-94040BA4F374}"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s-AR"/>
        </a:p>
      </dgm:t>
    </dgm:pt>
    <dgm:pt modelId="{B5506AF8-1F28-45DC-A627-91EA45032BEF}">
      <dgm:prSet phldrT="[Texto]"/>
      <dgm:spPr/>
      <dgm:t>
        <a:bodyPr/>
        <a:lstStyle/>
        <a:p>
          <a:r>
            <a:rPr lang="es-AR" dirty="0"/>
            <a:t>Índice de sumatoria simple</a:t>
          </a:r>
        </a:p>
      </dgm:t>
    </dgm:pt>
    <dgm:pt modelId="{8B7E056C-9E7B-4948-A3FC-996BED914D30}" type="parTrans" cxnId="{AB420803-77FD-46D7-92D3-B86DFC19BCFB}">
      <dgm:prSet/>
      <dgm:spPr/>
      <dgm:t>
        <a:bodyPr/>
        <a:lstStyle/>
        <a:p>
          <a:endParaRPr lang="es-AR"/>
        </a:p>
      </dgm:t>
    </dgm:pt>
    <dgm:pt modelId="{C9CE9F88-760A-462A-BF80-BD537A1133B2}" type="sibTrans" cxnId="{AB420803-77FD-46D7-92D3-B86DFC19BCFB}">
      <dgm:prSet/>
      <dgm:spPr/>
      <dgm:t>
        <a:bodyPr/>
        <a:lstStyle/>
        <a:p>
          <a:endParaRPr lang="es-AR"/>
        </a:p>
      </dgm:t>
    </dgm:pt>
    <dgm:pt modelId="{6F7920C3-872E-4238-B815-5274F8BC97DB}">
      <dgm:prSe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s-ES" dirty="0"/>
            <a:t>Sin inseguridad alimentaria</a:t>
          </a:r>
          <a:endParaRPr lang="es-AR" dirty="0"/>
        </a:p>
        <a:p>
          <a:pPr defTabSz="889000">
            <a:lnSpc>
              <a:spcPct val="90000"/>
            </a:lnSpc>
            <a:spcBef>
              <a:spcPct val="0"/>
            </a:spcBef>
            <a:spcAft>
              <a:spcPct val="35000"/>
            </a:spcAft>
          </a:pPr>
          <a:r>
            <a:rPr lang="es-ES" dirty="0"/>
            <a:t>0 a 4 problemas</a:t>
          </a:r>
          <a:endParaRPr lang="es-AR" dirty="0"/>
        </a:p>
      </dgm:t>
    </dgm:pt>
    <dgm:pt modelId="{D2F9F7EE-18F3-4E9E-AB6C-55E4AFDFB19C}" type="parTrans" cxnId="{80F9DB1D-8303-46CA-851D-B3013D1E4092}">
      <dgm:prSet/>
      <dgm:spPr/>
      <dgm:t>
        <a:bodyPr/>
        <a:lstStyle/>
        <a:p>
          <a:endParaRPr lang="es-AR"/>
        </a:p>
      </dgm:t>
    </dgm:pt>
    <dgm:pt modelId="{BA427D60-7757-49D9-8AE2-18D6AA642197}" type="sibTrans" cxnId="{80F9DB1D-8303-46CA-851D-B3013D1E4092}">
      <dgm:prSet/>
      <dgm:spPr/>
      <dgm:t>
        <a:bodyPr/>
        <a:lstStyle/>
        <a:p>
          <a:endParaRPr lang="es-AR"/>
        </a:p>
      </dgm:t>
    </dgm:pt>
    <dgm:pt modelId="{5DF7FF99-2A08-4B9A-BD46-4B0F390E0285}">
      <dgm:prSet/>
      <dgm:spPr/>
      <dgm:t>
        <a:bodyPr/>
        <a:lstStyle/>
        <a:p>
          <a:r>
            <a:rPr lang="es-ES" dirty="0"/>
            <a:t>Moderado </a:t>
          </a:r>
        </a:p>
        <a:p>
          <a:r>
            <a:rPr lang="es-ES" dirty="0"/>
            <a:t>5 a 10 problemas</a:t>
          </a:r>
          <a:endParaRPr lang="es-AR" dirty="0"/>
        </a:p>
      </dgm:t>
    </dgm:pt>
    <dgm:pt modelId="{5874479D-5A14-4448-A916-9AB5172A4E5D}" type="parTrans" cxnId="{91AD21EA-1724-4661-944C-2C3CE525232F}">
      <dgm:prSet/>
      <dgm:spPr/>
      <dgm:t>
        <a:bodyPr/>
        <a:lstStyle/>
        <a:p>
          <a:endParaRPr lang="es-AR"/>
        </a:p>
      </dgm:t>
    </dgm:pt>
    <dgm:pt modelId="{910AF804-893A-4860-8653-2348ACB2BF31}" type="sibTrans" cxnId="{91AD21EA-1724-4661-944C-2C3CE525232F}">
      <dgm:prSet/>
      <dgm:spPr/>
      <dgm:t>
        <a:bodyPr/>
        <a:lstStyle/>
        <a:p>
          <a:endParaRPr lang="es-AR"/>
        </a:p>
      </dgm:t>
    </dgm:pt>
    <dgm:pt modelId="{3F436BEC-6E80-4B81-9FEB-C97321827A77}">
      <dgm:prSet/>
      <dgm:spPr/>
      <dgm:t>
        <a:bodyPr/>
        <a:lstStyle/>
        <a:p>
          <a:r>
            <a:rPr lang="es-ES" dirty="0"/>
            <a:t>Severo</a:t>
          </a:r>
        </a:p>
        <a:p>
          <a:r>
            <a:rPr lang="es-ES" dirty="0"/>
            <a:t>11 a 14 problemas</a:t>
          </a:r>
          <a:endParaRPr lang="es-AR" dirty="0"/>
        </a:p>
      </dgm:t>
    </dgm:pt>
    <dgm:pt modelId="{9F0318B8-F2FB-43CC-BC42-0819A56A83B0}" type="parTrans" cxnId="{DDF2592C-8C8C-495B-AA41-217DF9A8D6C9}">
      <dgm:prSet/>
      <dgm:spPr/>
      <dgm:t>
        <a:bodyPr/>
        <a:lstStyle/>
        <a:p>
          <a:endParaRPr lang="es-AR"/>
        </a:p>
      </dgm:t>
    </dgm:pt>
    <dgm:pt modelId="{B6F2E7D6-CCDE-4F84-A6E6-450A491EE117}" type="sibTrans" cxnId="{DDF2592C-8C8C-495B-AA41-217DF9A8D6C9}">
      <dgm:prSet/>
      <dgm:spPr/>
      <dgm:t>
        <a:bodyPr/>
        <a:lstStyle/>
        <a:p>
          <a:endParaRPr lang="es-AR"/>
        </a:p>
      </dgm:t>
    </dgm:pt>
    <dgm:pt modelId="{E8CF924F-84D0-4F8D-9BBC-EACCDAC7075B}" type="pres">
      <dgm:prSet presAssocID="{A220C1E4-9806-42BF-A459-94040BA4F374}" presName="diagram" presStyleCnt="0">
        <dgm:presLayoutVars>
          <dgm:chPref val="1"/>
          <dgm:dir/>
          <dgm:animOne val="branch"/>
          <dgm:animLvl val="lvl"/>
          <dgm:resizeHandles/>
        </dgm:presLayoutVars>
      </dgm:prSet>
      <dgm:spPr/>
    </dgm:pt>
    <dgm:pt modelId="{1DD10BE6-40C4-47E9-BA04-8CF3BF37BC16}" type="pres">
      <dgm:prSet presAssocID="{B5506AF8-1F28-45DC-A627-91EA45032BEF}" presName="root" presStyleCnt="0"/>
      <dgm:spPr/>
    </dgm:pt>
    <dgm:pt modelId="{E9579304-5941-4E30-8436-34F6CD250E51}" type="pres">
      <dgm:prSet presAssocID="{B5506AF8-1F28-45DC-A627-91EA45032BEF}" presName="rootComposite" presStyleCnt="0"/>
      <dgm:spPr/>
    </dgm:pt>
    <dgm:pt modelId="{F49199A5-5544-4EB4-AD8D-A3234D0FE1A7}" type="pres">
      <dgm:prSet presAssocID="{B5506AF8-1F28-45DC-A627-91EA45032BEF}" presName="rootText" presStyleLbl="node1" presStyleIdx="0" presStyleCnt="1" custScaleX="133884" custLinFactNeighborX="-14168" custLinFactNeighborY="-182"/>
      <dgm:spPr/>
    </dgm:pt>
    <dgm:pt modelId="{9D549218-A9B8-418B-A160-BC692B6010E7}" type="pres">
      <dgm:prSet presAssocID="{B5506AF8-1F28-45DC-A627-91EA45032BEF}" presName="rootConnector" presStyleLbl="node1" presStyleIdx="0" presStyleCnt="1"/>
      <dgm:spPr/>
    </dgm:pt>
    <dgm:pt modelId="{505054C8-438C-418D-8E25-D6F8B943B929}" type="pres">
      <dgm:prSet presAssocID="{B5506AF8-1F28-45DC-A627-91EA45032BEF}" presName="childShape" presStyleCnt="0"/>
      <dgm:spPr/>
    </dgm:pt>
    <dgm:pt modelId="{EDBA8684-53C0-4358-8D0E-9CAD6C5FEA6B}" type="pres">
      <dgm:prSet presAssocID="{D2F9F7EE-18F3-4E9E-AB6C-55E4AFDFB19C}" presName="Name13" presStyleLbl="parChTrans1D2" presStyleIdx="0" presStyleCnt="3"/>
      <dgm:spPr/>
    </dgm:pt>
    <dgm:pt modelId="{C5716075-17BA-4490-9E1F-86E18630E0A7}" type="pres">
      <dgm:prSet presAssocID="{6F7920C3-872E-4238-B815-5274F8BC97DB}" presName="childText" presStyleLbl="bgAcc1" presStyleIdx="0" presStyleCnt="3">
        <dgm:presLayoutVars>
          <dgm:bulletEnabled val="1"/>
        </dgm:presLayoutVars>
      </dgm:prSet>
      <dgm:spPr/>
    </dgm:pt>
    <dgm:pt modelId="{BEDDDF1A-497A-4D73-838F-00311B7BB224}" type="pres">
      <dgm:prSet presAssocID="{5874479D-5A14-4448-A916-9AB5172A4E5D}" presName="Name13" presStyleLbl="parChTrans1D2" presStyleIdx="1" presStyleCnt="3"/>
      <dgm:spPr/>
    </dgm:pt>
    <dgm:pt modelId="{DB991ADB-4B09-4218-A8D1-22E2A84D8936}" type="pres">
      <dgm:prSet presAssocID="{5DF7FF99-2A08-4B9A-BD46-4B0F390E0285}" presName="childText" presStyleLbl="bgAcc1" presStyleIdx="1" presStyleCnt="3">
        <dgm:presLayoutVars>
          <dgm:bulletEnabled val="1"/>
        </dgm:presLayoutVars>
      </dgm:prSet>
      <dgm:spPr/>
    </dgm:pt>
    <dgm:pt modelId="{0E59A368-F900-4D27-A8EC-EA2D525C0941}" type="pres">
      <dgm:prSet presAssocID="{9F0318B8-F2FB-43CC-BC42-0819A56A83B0}" presName="Name13" presStyleLbl="parChTrans1D2" presStyleIdx="2" presStyleCnt="3"/>
      <dgm:spPr/>
    </dgm:pt>
    <dgm:pt modelId="{D5839926-D3C3-49CA-BF9D-9734DEFCD342}" type="pres">
      <dgm:prSet presAssocID="{3F436BEC-6E80-4B81-9FEB-C97321827A77}" presName="childText" presStyleLbl="bgAcc1" presStyleIdx="2" presStyleCnt="3">
        <dgm:presLayoutVars>
          <dgm:bulletEnabled val="1"/>
        </dgm:presLayoutVars>
      </dgm:prSet>
      <dgm:spPr/>
    </dgm:pt>
  </dgm:ptLst>
  <dgm:cxnLst>
    <dgm:cxn modelId="{AB420803-77FD-46D7-92D3-B86DFC19BCFB}" srcId="{A220C1E4-9806-42BF-A459-94040BA4F374}" destId="{B5506AF8-1F28-45DC-A627-91EA45032BEF}" srcOrd="0" destOrd="0" parTransId="{8B7E056C-9E7B-4948-A3FC-996BED914D30}" sibTransId="{C9CE9F88-760A-462A-BF80-BD537A1133B2}"/>
    <dgm:cxn modelId="{57B49316-6C2C-49DE-B469-2F2EC0AD7745}" type="presOf" srcId="{A220C1E4-9806-42BF-A459-94040BA4F374}" destId="{E8CF924F-84D0-4F8D-9BBC-EACCDAC7075B}" srcOrd="0" destOrd="0" presId="urn:microsoft.com/office/officeart/2005/8/layout/hierarchy3"/>
    <dgm:cxn modelId="{80F9DB1D-8303-46CA-851D-B3013D1E4092}" srcId="{B5506AF8-1F28-45DC-A627-91EA45032BEF}" destId="{6F7920C3-872E-4238-B815-5274F8BC97DB}" srcOrd="0" destOrd="0" parTransId="{D2F9F7EE-18F3-4E9E-AB6C-55E4AFDFB19C}" sibTransId="{BA427D60-7757-49D9-8AE2-18D6AA642197}"/>
    <dgm:cxn modelId="{DDF2592C-8C8C-495B-AA41-217DF9A8D6C9}" srcId="{B5506AF8-1F28-45DC-A627-91EA45032BEF}" destId="{3F436BEC-6E80-4B81-9FEB-C97321827A77}" srcOrd="2" destOrd="0" parTransId="{9F0318B8-F2FB-43CC-BC42-0819A56A83B0}" sibTransId="{B6F2E7D6-CCDE-4F84-A6E6-450A491EE117}"/>
    <dgm:cxn modelId="{C75C0632-51F3-4EFB-B12F-778A0D57B93C}" type="presOf" srcId="{D2F9F7EE-18F3-4E9E-AB6C-55E4AFDFB19C}" destId="{EDBA8684-53C0-4358-8D0E-9CAD6C5FEA6B}" srcOrd="0" destOrd="0" presId="urn:microsoft.com/office/officeart/2005/8/layout/hierarchy3"/>
    <dgm:cxn modelId="{60EB053D-5749-47BB-98C7-76EA3EAEBB0F}" type="presOf" srcId="{3F436BEC-6E80-4B81-9FEB-C97321827A77}" destId="{D5839926-D3C3-49CA-BF9D-9734DEFCD342}" srcOrd="0" destOrd="0" presId="urn:microsoft.com/office/officeart/2005/8/layout/hierarchy3"/>
    <dgm:cxn modelId="{AC9DA883-537F-4E32-B385-F4CF660A9B22}" type="presOf" srcId="{9F0318B8-F2FB-43CC-BC42-0819A56A83B0}" destId="{0E59A368-F900-4D27-A8EC-EA2D525C0941}" srcOrd="0" destOrd="0" presId="urn:microsoft.com/office/officeart/2005/8/layout/hierarchy3"/>
    <dgm:cxn modelId="{3167E38A-C50D-4759-8289-704D1BF837B8}" type="presOf" srcId="{5874479D-5A14-4448-A916-9AB5172A4E5D}" destId="{BEDDDF1A-497A-4D73-838F-00311B7BB224}" srcOrd="0" destOrd="0" presId="urn:microsoft.com/office/officeart/2005/8/layout/hierarchy3"/>
    <dgm:cxn modelId="{C7CBF395-49FD-41E4-96D8-A965F080ECD1}" type="presOf" srcId="{6F7920C3-872E-4238-B815-5274F8BC97DB}" destId="{C5716075-17BA-4490-9E1F-86E18630E0A7}" srcOrd="0" destOrd="0" presId="urn:microsoft.com/office/officeart/2005/8/layout/hierarchy3"/>
    <dgm:cxn modelId="{F7833FA2-28F5-41CE-9E88-996685787B49}" type="presOf" srcId="{5DF7FF99-2A08-4B9A-BD46-4B0F390E0285}" destId="{DB991ADB-4B09-4218-A8D1-22E2A84D8936}" srcOrd="0" destOrd="0" presId="urn:microsoft.com/office/officeart/2005/8/layout/hierarchy3"/>
    <dgm:cxn modelId="{DE6C1FD9-F5EF-495B-A002-734D913A0E76}" type="presOf" srcId="{B5506AF8-1F28-45DC-A627-91EA45032BEF}" destId="{F49199A5-5544-4EB4-AD8D-A3234D0FE1A7}" srcOrd="0" destOrd="0" presId="urn:microsoft.com/office/officeart/2005/8/layout/hierarchy3"/>
    <dgm:cxn modelId="{91AD21EA-1724-4661-944C-2C3CE525232F}" srcId="{B5506AF8-1F28-45DC-A627-91EA45032BEF}" destId="{5DF7FF99-2A08-4B9A-BD46-4B0F390E0285}" srcOrd="1" destOrd="0" parTransId="{5874479D-5A14-4448-A916-9AB5172A4E5D}" sibTransId="{910AF804-893A-4860-8653-2348ACB2BF31}"/>
    <dgm:cxn modelId="{660FEEEF-2B55-4D4D-AA31-C1F49CDDEFA1}" type="presOf" srcId="{B5506AF8-1F28-45DC-A627-91EA45032BEF}" destId="{9D549218-A9B8-418B-A160-BC692B6010E7}" srcOrd="1" destOrd="0" presId="urn:microsoft.com/office/officeart/2005/8/layout/hierarchy3"/>
    <dgm:cxn modelId="{AB50E0DE-B138-4017-B794-A0DE1EE5A5CC}" type="presParOf" srcId="{E8CF924F-84D0-4F8D-9BBC-EACCDAC7075B}" destId="{1DD10BE6-40C4-47E9-BA04-8CF3BF37BC16}" srcOrd="0" destOrd="0" presId="urn:microsoft.com/office/officeart/2005/8/layout/hierarchy3"/>
    <dgm:cxn modelId="{B7B7598E-CDAB-4A05-92A7-756B880926CD}" type="presParOf" srcId="{1DD10BE6-40C4-47E9-BA04-8CF3BF37BC16}" destId="{E9579304-5941-4E30-8436-34F6CD250E51}" srcOrd="0" destOrd="0" presId="urn:microsoft.com/office/officeart/2005/8/layout/hierarchy3"/>
    <dgm:cxn modelId="{6EAD480B-21FA-4988-8DFE-C636BE8C203D}" type="presParOf" srcId="{E9579304-5941-4E30-8436-34F6CD250E51}" destId="{F49199A5-5544-4EB4-AD8D-A3234D0FE1A7}" srcOrd="0" destOrd="0" presId="urn:microsoft.com/office/officeart/2005/8/layout/hierarchy3"/>
    <dgm:cxn modelId="{A2758E3E-B09E-454A-9EF9-A55C47DDC4CF}" type="presParOf" srcId="{E9579304-5941-4E30-8436-34F6CD250E51}" destId="{9D549218-A9B8-418B-A160-BC692B6010E7}" srcOrd="1" destOrd="0" presId="urn:microsoft.com/office/officeart/2005/8/layout/hierarchy3"/>
    <dgm:cxn modelId="{DB2ADDEB-E321-4C84-B94C-C883377409FE}" type="presParOf" srcId="{1DD10BE6-40C4-47E9-BA04-8CF3BF37BC16}" destId="{505054C8-438C-418D-8E25-D6F8B943B929}" srcOrd="1" destOrd="0" presId="urn:microsoft.com/office/officeart/2005/8/layout/hierarchy3"/>
    <dgm:cxn modelId="{ADEEDEFE-ECDD-4F43-834C-4BDC0F5F5D58}" type="presParOf" srcId="{505054C8-438C-418D-8E25-D6F8B943B929}" destId="{EDBA8684-53C0-4358-8D0E-9CAD6C5FEA6B}" srcOrd="0" destOrd="0" presId="urn:microsoft.com/office/officeart/2005/8/layout/hierarchy3"/>
    <dgm:cxn modelId="{E7C0A5FA-2728-4A7B-99AD-8E33DBA3E293}" type="presParOf" srcId="{505054C8-438C-418D-8E25-D6F8B943B929}" destId="{C5716075-17BA-4490-9E1F-86E18630E0A7}" srcOrd="1" destOrd="0" presId="urn:microsoft.com/office/officeart/2005/8/layout/hierarchy3"/>
    <dgm:cxn modelId="{B2A0322B-9F0D-49AC-B749-2DA75366A5B6}" type="presParOf" srcId="{505054C8-438C-418D-8E25-D6F8B943B929}" destId="{BEDDDF1A-497A-4D73-838F-00311B7BB224}" srcOrd="2" destOrd="0" presId="urn:microsoft.com/office/officeart/2005/8/layout/hierarchy3"/>
    <dgm:cxn modelId="{ED6EF006-EFBB-4666-8A4C-39766DDC66BE}" type="presParOf" srcId="{505054C8-438C-418D-8E25-D6F8B943B929}" destId="{DB991ADB-4B09-4218-A8D1-22E2A84D8936}" srcOrd="3" destOrd="0" presId="urn:microsoft.com/office/officeart/2005/8/layout/hierarchy3"/>
    <dgm:cxn modelId="{620316CD-E0AA-4896-9C47-B0BA0609A590}" type="presParOf" srcId="{505054C8-438C-418D-8E25-D6F8B943B929}" destId="{0E59A368-F900-4D27-A8EC-EA2D525C0941}" srcOrd="4" destOrd="0" presId="urn:microsoft.com/office/officeart/2005/8/layout/hierarchy3"/>
    <dgm:cxn modelId="{4E839234-3BC0-4520-9A43-343ABDDFB0DE}" type="presParOf" srcId="{505054C8-438C-418D-8E25-D6F8B943B929}" destId="{D5839926-D3C3-49CA-BF9D-9734DEFCD342}"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F3CDDD9-1C38-40C4-AFFE-8285C7C383F1}" type="doc">
      <dgm:prSet loTypeId="urn:microsoft.com/office/officeart/2005/8/layout/radial3" loCatId="cycle" qsTypeId="urn:microsoft.com/office/officeart/2005/8/quickstyle/simple5" qsCatId="simple" csTypeId="urn:microsoft.com/office/officeart/2005/8/colors/colorful2" csCatId="colorful" phldr="1"/>
      <dgm:spPr/>
      <dgm:t>
        <a:bodyPr/>
        <a:lstStyle/>
        <a:p>
          <a:endParaRPr lang="es-AR"/>
        </a:p>
      </dgm:t>
    </dgm:pt>
    <dgm:pt modelId="{992CEC6C-7F5D-452A-B1B4-176855F4CE94}">
      <dgm:prSet phldrT="[Texto]">
        <dgm:style>
          <a:lnRef idx="3">
            <a:schemeClr val="lt1"/>
          </a:lnRef>
          <a:fillRef idx="1">
            <a:schemeClr val="accent5"/>
          </a:fillRef>
          <a:effectRef idx="1">
            <a:schemeClr val="accent5"/>
          </a:effectRef>
          <a:fontRef idx="minor">
            <a:schemeClr val="lt1"/>
          </a:fontRef>
        </dgm:style>
      </dgm:prSet>
      <dgm:spPr>
        <a:solidFill>
          <a:srgbClr val="92D050"/>
        </a:solidFill>
      </dgm:spPr>
      <dgm:t>
        <a:bodyPr/>
        <a:lstStyle/>
        <a:p>
          <a:r>
            <a:rPr lang="es-AR" dirty="0">
              <a:latin typeface="Calibri" panose="020F0502020204030204" pitchFamily="34" charset="0"/>
              <a:cs typeface="Calibri" panose="020F0502020204030204" pitchFamily="34" charset="0"/>
            </a:rPr>
            <a:t>DIMENSIONES</a:t>
          </a:r>
        </a:p>
      </dgm:t>
    </dgm:pt>
    <dgm:pt modelId="{4749FDF4-B6C0-419E-AD89-1A6483B0719B}" type="parTrans" cxnId="{05311EB8-8F77-4E40-89DD-F1E416A81739}">
      <dgm:prSet/>
      <dgm:spPr/>
      <dgm:t>
        <a:bodyPr/>
        <a:lstStyle/>
        <a:p>
          <a:endParaRPr lang="es-AR">
            <a:latin typeface="Calibri" panose="020F0502020204030204" pitchFamily="34" charset="0"/>
            <a:cs typeface="Calibri" panose="020F0502020204030204" pitchFamily="34" charset="0"/>
          </a:endParaRPr>
        </a:p>
      </dgm:t>
    </dgm:pt>
    <dgm:pt modelId="{2359B80E-9A26-4CF1-B519-5D7AFD602187}" type="sibTrans" cxnId="{05311EB8-8F77-4E40-89DD-F1E416A81739}">
      <dgm:prSet/>
      <dgm:spPr/>
      <dgm:t>
        <a:bodyPr/>
        <a:lstStyle/>
        <a:p>
          <a:endParaRPr lang="es-AR">
            <a:latin typeface="Calibri" panose="020F0502020204030204" pitchFamily="34" charset="0"/>
            <a:cs typeface="Calibri" panose="020F0502020204030204" pitchFamily="34" charset="0"/>
          </a:endParaRPr>
        </a:p>
      </dgm:t>
    </dgm:pt>
    <dgm:pt modelId="{4D6DD1E0-BBB5-488C-B738-465F44FE6A85}">
      <dgm:prSet phldrT="[Texto]"/>
      <dgm:spPr>
        <a:blipFill rotWithShape="0">
          <a:blip xmlns:r="http://schemas.openxmlformats.org/officeDocument/2006/relationships" r:embed="rId1"/>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Vivienda</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62BD3129-1021-4074-81BC-E24FB693322D}" type="parTrans" cxnId="{C2439A53-191F-470E-92D5-DBAA86958688}">
      <dgm:prSet/>
      <dgm:spPr/>
      <dgm:t>
        <a:bodyPr/>
        <a:lstStyle/>
        <a:p>
          <a:endParaRPr lang="es-AR">
            <a:latin typeface="Calibri" panose="020F0502020204030204" pitchFamily="34" charset="0"/>
            <a:cs typeface="Calibri" panose="020F0502020204030204" pitchFamily="34" charset="0"/>
          </a:endParaRPr>
        </a:p>
      </dgm:t>
    </dgm:pt>
    <dgm:pt modelId="{6E81739A-8664-48B4-BD8A-719D02CF643A}" type="sibTrans" cxnId="{C2439A53-191F-470E-92D5-DBAA86958688}">
      <dgm:prSet/>
      <dgm:spPr/>
      <dgm:t>
        <a:bodyPr/>
        <a:lstStyle/>
        <a:p>
          <a:endParaRPr lang="es-AR">
            <a:latin typeface="Calibri" panose="020F0502020204030204" pitchFamily="34" charset="0"/>
            <a:cs typeface="Calibri" panose="020F0502020204030204" pitchFamily="34" charset="0"/>
          </a:endParaRPr>
        </a:p>
      </dgm:t>
    </dgm:pt>
    <dgm:pt modelId="{8FEF9A98-0090-4B6A-B3A3-20AB8FC9158D}">
      <dgm:prSet phldrT="[Texto]"/>
      <dgm:spPr>
        <a:blipFill rotWithShape="0">
          <a:blip xmlns:r="http://schemas.openxmlformats.org/officeDocument/2006/relationships" r:embed="rId2"/>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Saneamiento</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0A963877-6043-48AD-A0EC-0E689ABB90AC}" type="parTrans" cxnId="{5EE2F9C3-C79B-4703-98B3-4A7A133EA9C2}">
      <dgm:prSet/>
      <dgm:spPr/>
      <dgm:t>
        <a:bodyPr/>
        <a:lstStyle/>
        <a:p>
          <a:endParaRPr lang="es-AR">
            <a:latin typeface="Calibri" panose="020F0502020204030204" pitchFamily="34" charset="0"/>
            <a:cs typeface="Calibri" panose="020F0502020204030204" pitchFamily="34" charset="0"/>
          </a:endParaRPr>
        </a:p>
      </dgm:t>
    </dgm:pt>
    <dgm:pt modelId="{72511F69-CB55-4ED0-94F4-7BFB97BF1763}" type="sibTrans" cxnId="{5EE2F9C3-C79B-4703-98B3-4A7A133EA9C2}">
      <dgm:prSet/>
      <dgm:spPr/>
      <dgm:t>
        <a:bodyPr/>
        <a:lstStyle/>
        <a:p>
          <a:endParaRPr lang="es-AR">
            <a:latin typeface="Calibri" panose="020F0502020204030204" pitchFamily="34" charset="0"/>
            <a:cs typeface="Calibri" panose="020F0502020204030204" pitchFamily="34" charset="0"/>
          </a:endParaRPr>
        </a:p>
      </dgm:t>
    </dgm:pt>
    <dgm:pt modelId="{795F4986-3D94-421D-AEA6-C6D7923CEA3C}">
      <dgm:prSet/>
      <dgm:spPr>
        <a:blipFill rotWithShape="0">
          <a:blip xmlns:r="http://schemas.openxmlformats.org/officeDocument/2006/relationships" r:embed="rId3"/>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Educación / Estimulación</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6201A743-8FBF-4EE1-B14F-A05AE0BAF2B2}" type="parTrans" cxnId="{D35E620E-7C22-400B-8F03-6BE7976B9B48}">
      <dgm:prSet/>
      <dgm:spPr/>
      <dgm:t>
        <a:bodyPr/>
        <a:lstStyle/>
        <a:p>
          <a:endParaRPr lang="es-AR">
            <a:latin typeface="Calibri" panose="020F0502020204030204" pitchFamily="34" charset="0"/>
            <a:cs typeface="Calibri" panose="020F0502020204030204" pitchFamily="34" charset="0"/>
          </a:endParaRPr>
        </a:p>
      </dgm:t>
    </dgm:pt>
    <dgm:pt modelId="{9AD5B9E8-15AB-4902-AE4B-2CC0A0F09B03}" type="sibTrans" cxnId="{D35E620E-7C22-400B-8F03-6BE7976B9B48}">
      <dgm:prSet/>
      <dgm:spPr/>
      <dgm:t>
        <a:bodyPr/>
        <a:lstStyle/>
        <a:p>
          <a:endParaRPr lang="es-AR">
            <a:latin typeface="Calibri" panose="020F0502020204030204" pitchFamily="34" charset="0"/>
            <a:cs typeface="Calibri" panose="020F0502020204030204" pitchFamily="34" charset="0"/>
          </a:endParaRPr>
        </a:p>
      </dgm:t>
    </dgm:pt>
    <dgm:pt modelId="{B82B701B-C236-4DAF-8C22-CA2ABB1BD3D7}">
      <dgm:prSet/>
      <dgm:spPr>
        <a:blipFill rotWithShape="0">
          <a:blip xmlns:r="http://schemas.openxmlformats.org/officeDocument/2006/relationships" r:embed="rId4"/>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Salud</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C66CA73E-7AD7-4C15-9718-85EF6229F096}" type="parTrans" cxnId="{4726622F-4D24-45E4-82D1-4C65753BFE43}">
      <dgm:prSet/>
      <dgm:spPr/>
      <dgm:t>
        <a:bodyPr/>
        <a:lstStyle/>
        <a:p>
          <a:endParaRPr lang="es-AR">
            <a:latin typeface="Calibri" panose="020F0502020204030204" pitchFamily="34" charset="0"/>
            <a:cs typeface="Calibri" panose="020F0502020204030204" pitchFamily="34" charset="0"/>
          </a:endParaRPr>
        </a:p>
      </dgm:t>
    </dgm:pt>
    <dgm:pt modelId="{4B154B9A-7E16-437D-B4DB-6717DFE9C399}" type="sibTrans" cxnId="{4726622F-4D24-45E4-82D1-4C65753BFE43}">
      <dgm:prSet/>
      <dgm:spPr/>
      <dgm:t>
        <a:bodyPr/>
        <a:lstStyle/>
        <a:p>
          <a:endParaRPr lang="es-AR">
            <a:latin typeface="Calibri" panose="020F0502020204030204" pitchFamily="34" charset="0"/>
            <a:cs typeface="Calibri" panose="020F0502020204030204" pitchFamily="34" charset="0"/>
          </a:endParaRPr>
        </a:p>
      </dgm:t>
    </dgm:pt>
    <dgm:pt modelId="{733BAC8C-FE15-4DB9-9A1F-FBC949F5BA53}">
      <dgm:prSet/>
      <dgm:spPr>
        <a:blipFill rotWithShape="0">
          <a:blip xmlns:r="http://schemas.openxmlformats.org/officeDocument/2006/relationships" r:embed="rId5"/>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Alimentación</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3FB6E3C7-F3E4-4894-970B-D05AAC7032C5}" type="parTrans" cxnId="{08308EB2-F2C8-4A7E-904F-3DE165B0CCCF}">
      <dgm:prSet/>
      <dgm:spPr/>
      <dgm:t>
        <a:bodyPr/>
        <a:lstStyle/>
        <a:p>
          <a:endParaRPr lang="es-AR">
            <a:latin typeface="Calibri" panose="020F0502020204030204" pitchFamily="34" charset="0"/>
            <a:cs typeface="Calibri" panose="020F0502020204030204" pitchFamily="34" charset="0"/>
          </a:endParaRPr>
        </a:p>
      </dgm:t>
    </dgm:pt>
    <dgm:pt modelId="{35F4286F-9F38-4C26-823E-DFF606B33050}" type="sibTrans" cxnId="{08308EB2-F2C8-4A7E-904F-3DE165B0CCCF}">
      <dgm:prSet/>
      <dgm:spPr/>
      <dgm:t>
        <a:bodyPr/>
        <a:lstStyle/>
        <a:p>
          <a:endParaRPr lang="es-AR">
            <a:latin typeface="Calibri" panose="020F0502020204030204" pitchFamily="34" charset="0"/>
            <a:cs typeface="Calibri" panose="020F0502020204030204" pitchFamily="34" charset="0"/>
          </a:endParaRPr>
        </a:p>
      </dgm:t>
    </dgm:pt>
    <dgm:pt modelId="{90A9175E-D89F-4CCE-89B0-89EA07A0673D}">
      <dgm:prSet phldrT="[Texto]"/>
      <dgm:spPr>
        <a:blipFill rotWithShape="0">
          <a:blip xmlns:r="http://schemas.openxmlformats.org/officeDocument/2006/relationships" r:embed="rId6"/>
          <a:stretch>
            <a:fillRect/>
          </a:stretch>
        </a:blipFill>
      </dgm:spPr>
      <dgm:t>
        <a:bodyPr/>
        <a:lstStyle/>
        <a:p>
          <a:r>
            <a:rPr lang="es-AR" b="1">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Información</a:t>
          </a:r>
          <a:endParaRPr lang="es-AR" b="1"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gm:t>
    </dgm:pt>
    <dgm:pt modelId="{591566B7-B7E0-4711-B6E7-A60C654ACDD2}" type="sibTrans" cxnId="{5E7F7251-CF64-48D2-94BC-BDFBA50E83AD}">
      <dgm:prSet/>
      <dgm:spPr/>
      <dgm:t>
        <a:bodyPr/>
        <a:lstStyle/>
        <a:p>
          <a:endParaRPr lang="es-AR">
            <a:latin typeface="Calibri" panose="020F0502020204030204" pitchFamily="34" charset="0"/>
            <a:cs typeface="Calibri" panose="020F0502020204030204" pitchFamily="34" charset="0"/>
          </a:endParaRPr>
        </a:p>
      </dgm:t>
    </dgm:pt>
    <dgm:pt modelId="{359F068A-D7ED-407D-96A6-A70B90536C7E}" type="parTrans" cxnId="{5E7F7251-CF64-48D2-94BC-BDFBA50E83AD}">
      <dgm:prSet/>
      <dgm:spPr/>
      <dgm:t>
        <a:bodyPr/>
        <a:lstStyle/>
        <a:p>
          <a:endParaRPr lang="es-AR">
            <a:latin typeface="Calibri" panose="020F0502020204030204" pitchFamily="34" charset="0"/>
            <a:cs typeface="Calibri" panose="020F0502020204030204" pitchFamily="34" charset="0"/>
          </a:endParaRPr>
        </a:p>
      </dgm:t>
    </dgm:pt>
    <dgm:pt modelId="{AF6A6F6B-603F-40FC-910F-E38C5D4E4EE4}" type="pres">
      <dgm:prSet presAssocID="{FF3CDDD9-1C38-40C4-AFFE-8285C7C383F1}" presName="composite" presStyleCnt="0">
        <dgm:presLayoutVars>
          <dgm:chMax val="1"/>
          <dgm:dir/>
          <dgm:resizeHandles val="exact"/>
        </dgm:presLayoutVars>
      </dgm:prSet>
      <dgm:spPr/>
    </dgm:pt>
    <dgm:pt modelId="{D44E02C6-779A-43E4-8B59-329DC355CC50}" type="pres">
      <dgm:prSet presAssocID="{FF3CDDD9-1C38-40C4-AFFE-8285C7C383F1}" presName="radial" presStyleCnt="0">
        <dgm:presLayoutVars>
          <dgm:animLvl val="ctr"/>
        </dgm:presLayoutVars>
      </dgm:prSet>
      <dgm:spPr/>
    </dgm:pt>
    <dgm:pt modelId="{B9D4ABA2-C984-4E23-BF01-15E8A3969DBA}" type="pres">
      <dgm:prSet presAssocID="{992CEC6C-7F5D-452A-B1B4-176855F4CE94}" presName="centerShape" presStyleLbl="vennNode1" presStyleIdx="0" presStyleCnt="7"/>
      <dgm:spPr/>
    </dgm:pt>
    <dgm:pt modelId="{DCE866EB-1EF6-49E6-8ECA-144F157FBDD3}" type="pres">
      <dgm:prSet presAssocID="{4D6DD1E0-BBB5-488C-B738-465F44FE6A85}" presName="node" presStyleLbl="vennNode1" presStyleIdx="1" presStyleCnt="7">
        <dgm:presLayoutVars>
          <dgm:bulletEnabled val="1"/>
        </dgm:presLayoutVars>
      </dgm:prSet>
      <dgm:spPr/>
    </dgm:pt>
    <dgm:pt modelId="{8888DA5D-2167-4C4C-9606-E4B88F170784}" type="pres">
      <dgm:prSet presAssocID="{733BAC8C-FE15-4DB9-9A1F-FBC949F5BA53}" presName="node" presStyleLbl="vennNode1" presStyleIdx="2" presStyleCnt="7">
        <dgm:presLayoutVars>
          <dgm:bulletEnabled val="1"/>
        </dgm:presLayoutVars>
      </dgm:prSet>
      <dgm:spPr/>
    </dgm:pt>
    <dgm:pt modelId="{E7930CFA-BF9D-411A-AC17-3E2A4B9E4052}" type="pres">
      <dgm:prSet presAssocID="{8FEF9A98-0090-4B6A-B3A3-20AB8FC9158D}" presName="node" presStyleLbl="vennNode1" presStyleIdx="3" presStyleCnt="7">
        <dgm:presLayoutVars>
          <dgm:bulletEnabled val="1"/>
        </dgm:presLayoutVars>
      </dgm:prSet>
      <dgm:spPr/>
    </dgm:pt>
    <dgm:pt modelId="{B2851D54-F75C-4DF9-ACFB-AD82D8C927EA}" type="pres">
      <dgm:prSet presAssocID="{795F4986-3D94-421D-AEA6-C6D7923CEA3C}" presName="node" presStyleLbl="vennNode1" presStyleIdx="4" presStyleCnt="7">
        <dgm:presLayoutVars>
          <dgm:bulletEnabled val="1"/>
        </dgm:presLayoutVars>
      </dgm:prSet>
      <dgm:spPr/>
    </dgm:pt>
    <dgm:pt modelId="{09148A92-420A-4442-BAB0-06AB495EF70C}" type="pres">
      <dgm:prSet presAssocID="{B82B701B-C236-4DAF-8C22-CA2ABB1BD3D7}" presName="node" presStyleLbl="vennNode1" presStyleIdx="5" presStyleCnt="7">
        <dgm:presLayoutVars>
          <dgm:bulletEnabled val="1"/>
        </dgm:presLayoutVars>
      </dgm:prSet>
      <dgm:spPr/>
    </dgm:pt>
    <dgm:pt modelId="{AD7C57ED-7DE0-477B-9570-CCC25E839AA9}" type="pres">
      <dgm:prSet presAssocID="{90A9175E-D89F-4CCE-89B0-89EA07A0673D}" presName="node" presStyleLbl="vennNode1" presStyleIdx="6" presStyleCnt="7">
        <dgm:presLayoutVars>
          <dgm:bulletEnabled val="1"/>
        </dgm:presLayoutVars>
      </dgm:prSet>
      <dgm:spPr/>
    </dgm:pt>
  </dgm:ptLst>
  <dgm:cxnLst>
    <dgm:cxn modelId="{D35E620E-7C22-400B-8F03-6BE7976B9B48}" srcId="{992CEC6C-7F5D-452A-B1B4-176855F4CE94}" destId="{795F4986-3D94-421D-AEA6-C6D7923CEA3C}" srcOrd="3" destOrd="0" parTransId="{6201A743-8FBF-4EE1-B14F-A05AE0BAF2B2}" sibTransId="{9AD5B9E8-15AB-4902-AE4B-2CC0A0F09B03}"/>
    <dgm:cxn modelId="{4726622F-4D24-45E4-82D1-4C65753BFE43}" srcId="{992CEC6C-7F5D-452A-B1B4-176855F4CE94}" destId="{B82B701B-C236-4DAF-8C22-CA2ABB1BD3D7}" srcOrd="4" destOrd="0" parTransId="{C66CA73E-7AD7-4C15-9718-85EF6229F096}" sibTransId="{4B154B9A-7E16-437D-B4DB-6717DFE9C399}"/>
    <dgm:cxn modelId="{3B347A3B-77F4-4A7B-BDA5-FDBF700C49FD}" type="presOf" srcId="{8FEF9A98-0090-4B6A-B3A3-20AB8FC9158D}" destId="{E7930CFA-BF9D-411A-AC17-3E2A4B9E4052}" srcOrd="0" destOrd="0" presId="urn:microsoft.com/office/officeart/2005/8/layout/radial3"/>
    <dgm:cxn modelId="{8A912B3F-3E47-4B1E-BBA4-16FDD2C2A0E6}" type="presOf" srcId="{4D6DD1E0-BBB5-488C-B738-465F44FE6A85}" destId="{DCE866EB-1EF6-49E6-8ECA-144F157FBDD3}" srcOrd="0" destOrd="0" presId="urn:microsoft.com/office/officeart/2005/8/layout/radial3"/>
    <dgm:cxn modelId="{E596B243-1B72-4AAD-94D5-02F699A008AA}" type="presOf" srcId="{795F4986-3D94-421D-AEA6-C6D7923CEA3C}" destId="{B2851D54-F75C-4DF9-ACFB-AD82D8C927EA}" srcOrd="0" destOrd="0" presId="urn:microsoft.com/office/officeart/2005/8/layout/radial3"/>
    <dgm:cxn modelId="{5E7F7251-CF64-48D2-94BC-BDFBA50E83AD}" srcId="{992CEC6C-7F5D-452A-B1B4-176855F4CE94}" destId="{90A9175E-D89F-4CCE-89B0-89EA07A0673D}" srcOrd="5" destOrd="0" parTransId="{359F068A-D7ED-407D-96A6-A70B90536C7E}" sibTransId="{591566B7-B7E0-4711-B6E7-A60C654ACDD2}"/>
    <dgm:cxn modelId="{C2439A53-191F-470E-92D5-DBAA86958688}" srcId="{992CEC6C-7F5D-452A-B1B4-176855F4CE94}" destId="{4D6DD1E0-BBB5-488C-B738-465F44FE6A85}" srcOrd="0" destOrd="0" parTransId="{62BD3129-1021-4074-81BC-E24FB693322D}" sibTransId="{6E81739A-8664-48B4-BD8A-719D02CF643A}"/>
    <dgm:cxn modelId="{F82FD776-6A27-459E-9F28-443A2C0ACA9E}" type="presOf" srcId="{733BAC8C-FE15-4DB9-9A1F-FBC949F5BA53}" destId="{8888DA5D-2167-4C4C-9606-E4B88F170784}" srcOrd="0" destOrd="0" presId="urn:microsoft.com/office/officeart/2005/8/layout/radial3"/>
    <dgm:cxn modelId="{3F5A4689-363D-4618-AF13-B6D91536DFAE}" type="presOf" srcId="{FF3CDDD9-1C38-40C4-AFFE-8285C7C383F1}" destId="{AF6A6F6B-603F-40FC-910F-E38C5D4E4EE4}" srcOrd="0" destOrd="0" presId="urn:microsoft.com/office/officeart/2005/8/layout/radial3"/>
    <dgm:cxn modelId="{94A4C996-C7A4-44AD-BBEA-C4A414683CAC}" type="presOf" srcId="{992CEC6C-7F5D-452A-B1B4-176855F4CE94}" destId="{B9D4ABA2-C984-4E23-BF01-15E8A3969DBA}" srcOrd="0" destOrd="0" presId="urn:microsoft.com/office/officeart/2005/8/layout/radial3"/>
    <dgm:cxn modelId="{40C3E29C-EB60-40C6-B7FC-101A116533FA}" type="presOf" srcId="{90A9175E-D89F-4CCE-89B0-89EA07A0673D}" destId="{AD7C57ED-7DE0-477B-9570-CCC25E839AA9}" srcOrd="0" destOrd="0" presId="urn:microsoft.com/office/officeart/2005/8/layout/radial3"/>
    <dgm:cxn modelId="{08308EB2-F2C8-4A7E-904F-3DE165B0CCCF}" srcId="{992CEC6C-7F5D-452A-B1B4-176855F4CE94}" destId="{733BAC8C-FE15-4DB9-9A1F-FBC949F5BA53}" srcOrd="1" destOrd="0" parTransId="{3FB6E3C7-F3E4-4894-970B-D05AAC7032C5}" sibTransId="{35F4286F-9F38-4C26-823E-DFF606B33050}"/>
    <dgm:cxn modelId="{05311EB8-8F77-4E40-89DD-F1E416A81739}" srcId="{FF3CDDD9-1C38-40C4-AFFE-8285C7C383F1}" destId="{992CEC6C-7F5D-452A-B1B4-176855F4CE94}" srcOrd="0" destOrd="0" parTransId="{4749FDF4-B6C0-419E-AD89-1A6483B0719B}" sibTransId="{2359B80E-9A26-4CF1-B519-5D7AFD602187}"/>
    <dgm:cxn modelId="{5EE2F9C3-C79B-4703-98B3-4A7A133EA9C2}" srcId="{992CEC6C-7F5D-452A-B1B4-176855F4CE94}" destId="{8FEF9A98-0090-4B6A-B3A3-20AB8FC9158D}" srcOrd="2" destOrd="0" parTransId="{0A963877-6043-48AD-A0EC-0E689ABB90AC}" sibTransId="{72511F69-CB55-4ED0-94F4-7BFB97BF1763}"/>
    <dgm:cxn modelId="{639A9BEC-942D-4464-AA0E-7AD31A0449B5}" type="presOf" srcId="{B82B701B-C236-4DAF-8C22-CA2ABB1BD3D7}" destId="{09148A92-420A-4442-BAB0-06AB495EF70C}" srcOrd="0" destOrd="0" presId="urn:microsoft.com/office/officeart/2005/8/layout/radial3"/>
    <dgm:cxn modelId="{20AA8F88-48B1-4201-885F-159ABF00BD5D}" type="presParOf" srcId="{AF6A6F6B-603F-40FC-910F-E38C5D4E4EE4}" destId="{D44E02C6-779A-43E4-8B59-329DC355CC50}" srcOrd="0" destOrd="0" presId="urn:microsoft.com/office/officeart/2005/8/layout/radial3"/>
    <dgm:cxn modelId="{A7C8B6AC-3B13-4781-B91C-C52EE7DED072}" type="presParOf" srcId="{D44E02C6-779A-43E4-8B59-329DC355CC50}" destId="{B9D4ABA2-C984-4E23-BF01-15E8A3969DBA}" srcOrd="0" destOrd="0" presId="urn:microsoft.com/office/officeart/2005/8/layout/radial3"/>
    <dgm:cxn modelId="{7F5A0C48-6D96-4E41-912A-09604A351068}" type="presParOf" srcId="{D44E02C6-779A-43E4-8B59-329DC355CC50}" destId="{DCE866EB-1EF6-49E6-8ECA-144F157FBDD3}" srcOrd="1" destOrd="0" presId="urn:microsoft.com/office/officeart/2005/8/layout/radial3"/>
    <dgm:cxn modelId="{140557B2-85E2-45C1-A6F2-1B726285F8CA}" type="presParOf" srcId="{D44E02C6-779A-43E4-8B59-329DC355CC50}" destId="{8888DA5D-2167-4C4C-9606-E4B88F170784}" srcOrd="2" destOrd="0" presId="urn:microsoft.com/office/officeart/2005/8/layout/radial3"/>
    <dgm:cxn modelId="{8D541CC7-E3C7-498D-BA42-6ADBAA352BD7}" type="presParOf" srcId="{D44E02C6-779A-43E4-8B59-329DC355CC50}" destId="{E7930CFA-BF9D-411A-AC17-3E2A4B9E4052}" srcOrd="3" destOrd="0" presId="urn:microsoft.com/office/officeart/2005/8/layout/radial3"/>
    <dgm:cxn modelId="{B387750C-F2F5-4E3F-81B2-3C0B759923E2}" type="presParOf" srcId="{D44E02C6-779A-43E4-8B59-329DC355CC50}" destId="{B2851D54-F75C-4DF9-ACFB-AD82D8C927EA}" srcOrd="4" destOrd="0" presId="urn:microsoft.com/office/officeart/2005/8/layout/radial3"/>
    <dgm:cxn modelId="{C3FD9637-9719-45D2-8B89-6A0C064B9659}" type="presParOf" srcId="{D44E02C6-779A-43E4-8B59-329DC355CC50}" destId="{09148A92-420A-4442-BAB0-06AB495EF70C}" srcOrd="5" destOrd="0" presId="urn:microsoft.com/office/officeart/2005/8/layout/radial3"/>
    <dgm:cxn modelId="{D249CBFC-C99B-408F-91AC-5821EC3C0766}" type="presParOf" srcId="{D44E02C6-779A-43E4-8B59-329DC355CC50}" destId="{AD7C57ED-7DE0-477B-9570-CCC25E839AA9}" srcOrd="6"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50B023-BA4F-4C90-A6C9-FD318BE32115}">
      <dsp:nvSpPr>
        <dsp:cNvPr id="0" name=""/>
        <dsp:cNvSpPr/>
      </dsp:nvSpPr>
      <dsp:spPr>
        <a:xfrm>
          <a:off x="0" y="236789"/>
          <a:ext cx="7010400" cy="1274130"/>
        </a:xfrm>
        <a:prstGeom prst="roundRect">
          <a:avLst/>
        </a:prstGeom>
        <a:solidFill>
          <a:schemeClr val="bg1"/>
        </a:solidFill>
        <a:ln w="25400" cap="flat" cmpd="sng" algn="ctr">
          <a:solidFill>
            <a:schemeClr val="bg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AR" sz="3300" kern="1200" dirty="0"/>
            <a:t>LOS FACTORES TRANSITORIOS O ERRORES ALEATORIOS</a:t>
          </a:r>
        </a:p>
      </dsp:txBody>
      <dsp:txXfrm>
        <a:off x="62198" y="298987"/>
        <a:ext cx="6886004" cy="1149734"/>
      </dsp:txXfrm>
    </dsp:sp>
    <dsp:sp modelId="{B13B845D-9A3B-44B9-B9AE-449C4D4B9C73}">
      <dsp:nvSpPr>
        <dsp:cNvPr id="0" name=""/>
        <dsp:cNvSpPr/>
      </dsp:nvSpPr>
      <dsp:spPr>
        <a:xfrm>
          <a:off x="0" y="1510920"/>
          <a:ext cx="70104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58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s-AR" sz="2600" kern="1200" dirty="0"/>
            <a:t>DETERMINAN LA </a:t>
          </a:r>
          <a:r>
            <a:rPr lang="es-AR" sz="2600" b="1" kern="1200" dirty="0"/>
            <a:t>FIABILIDAD</a:t>
          </a:r>
        </a:p>
      </dsp:txBody>
      <dsp:txXfrm>
        <a:off x="0" y="1510920"/>
        <a:ext cx="7010400" cy="546480"/>
      </dsp:txXfrm>
    </dsp:sp>
    <dsp:sp modelId="{E4D15E45-71F4-4AD3-BE32-73520DECF252}">
      <dsp:nvSpPr>
        <dsp:cNvPr id="0" name=""/>
        <dsp:cNvSpPr/>
      </dsp:nvSpPr>
      <dsp:spPr>
        <a:xfrm>
          <a:off x="0" y="2057400"/>
          <a:ext cx="7010400" cy="12741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s-AR" sz="3300" kern="1200" dirty="0"/>
            <a:t>LOS FACTORES ESTABLES O ERRORES SISTEMÁTICOS </a:t>
          </a:r>
        </a:p>
      </dsp:txBody>
      <dsp:txXfrm>
        <a:off x="62198" y="2119598"/>
        <a:ext cx="6886004" cy="1149734"/>
      </dsp:txXfrm>
    </dsp:sp>
    <dsp:sp modelId="{14A04174-0809-42E9-BE08-0CD412865E71}">
      <dsp:nvSpPr>
        <dsp:cNvPr id="0" name=""/>
        <dsp:cNvSpPr/>
      </dsp:nvSpPr>
      <dsp:spPr>
        <a:xfrm>
          <a:off x="0" y="3331529"/>
          <a:ext cx="70104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2580"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s-AR" sz="2600" kern="1200" dirty="0"/>
            <a:t>DETERMINAN LA </a:t>
          </a:r>
          <a:r>
            <a:rPr lang="es-AR" sz="2600" b="1" kern="1200" dirty="0"/>
            <a:t>VALIDEZ</a:t>
          </a:r>
        </a:p>
      </dsp:txBody>
      <dsp:txXfrm>
        <a:off x="0" y="3331529"/>
        <a:ext cx="7010400" cy="5464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34339-8280-47AA-8E6B-AEDE04B8EBC4}">
      <dsp:nvSpPr>
        <dsp:cNvPr id="0" name=""/>
        <dsp:cNvSpPr/>
      </dsp:nvSpPr>
      <dsp:spPr>
        <a:xfrm>
          <a:off x="0" y="2032254"/>
          <a:ext cx="1638620" cy="1242303"/>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s-AR" sz="2400" b="1" kern="1200" dirty="0"/>
            <a:t>Validez</a:t>
          </a:r>
          <a:br>
            <a:rPr lang="es-AR" sz="2400" b="1" kern="1200" dirty="0"/>
          </a:br>
          <a:r>
            <a:rPr lang="es-AR" sz="900" kern="1200" dirty="0"/>
            <a:t>Se refiere al grado de correspondencia entre el concepto teórico y los indicadores elegidos para su medición. </a:t>
          </a:r>
        </a:p>
      </dsp:txBody>
      <dsp:txXfrm>
        <a:off x="36386" y="2068640"/>
        <a:ext cx="1565848" cy="1169531"/>
      </dsp:txXfrm>
    </dsp:sp>
    <dsp:sp modelId="{0B6827DD-BE62-4B0D-A667-8EBD6A193484}">
      <dsp:nvSpPr>
        <dsp:cNvPr id="0" name=""/>
        <dsp:cNvSpPr/>
      </dsp:nvSpPr>
      <dsp:spPr>
        <a:xfrm rot="18149429">
          <a:off x="1154100" y="1756456"/>
          <a:ext cx="2093679" cy="27921"/>
        </a:xfrm>
        <a:custGeom>
          <a:avLst/>
          <a:gdLst/>
          <a:ahLst/>
          <a:cxnLst/>
          <a:rect l="0" t="0" r="0" b="0"/>
          <a:pathLst>
            <a:path>
              <a:moveTo>
                <a:pt x="0" y="13960"/>
              </a:moveTo>
              <a:lnTo>
                <a:pt x="2093679" y="139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AR" sz="700" kern="1200"/>
        </a:p>
      </dsp:txBody>
      <dsp:txXfrm>
        <a:off x="2148598" y="1718075"/>
        <a:ext cx="104683" cy="104683"/>
      </dsp:txXfrm>
    </dsp:sp>
    <dsp:sp modelId="{F2FFC2D3-B5C3-4C2B-A8C6-D8E50318E5CB}">
      <dsp:nvSpPr>
        <dsp:cNvPr id="0" name=""/>
        <dsp:cNvSpPr/>
      </dsp:nvSpPr>
      <dsp:spPr>
        <a:xfrm>
          <a:off x="2763260" y="105499"/>
          <a:ext cx="2322351" cy="1563858"/>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b="1" kern="1200" dirty="0"/>
            <a:t>Validez de criterio</a:t>
          </a:r>
          <a:br>
            <a:rPr lang="es-AR" sz="1600" kern="1200" dirty="0"/>
          </a:br>
          <a:r>
            <a:rPr lang="es-AR" sz="1000" kern="1200" dirty="0"/>
            <a:t>La validez se comprueba comparando la medida con un criterio externo o que se haya se utilizado previamente.</a:t>
          </a:r>
          <a:br>
            <a:rPr lang="es-AR" sz="1000" kern="1200" dirty="0"/>
          </a:br>
          <a:endParaRPr lang="es-AR" sz="1000" kern="1200" dirty="0"/>
        </a:p>
        <a:p>
          <a:pPr marL="0" lvl="0" indent="0" algn="ctr" defTabSz="711200">
            <a:lnSpc>
              <a:spcPct val="90000"/>
            </a:lnSpc>
            <a:spcBef>
              <a:spcPct val="0"/>
            </a:spcBef>
            <a:spcAft>
              <a:spcPct val="35000"/>
            </a:spcAft>
            <a:buNone/>
          </a:pPr>
          <a:r>
            <a:rPr lang="es-AR" sz="1000" kern="1200" dirty="0"/>
            <a:t>Ejemplo: comparar los datos obtenidos en la encuesta con datos de registro administrativo.</a:t>
          </a:r>
          <a:endParaRPr lang="es-AR" sz="1400" kern="1200" dirty="0"/>
        </a:p>
      </dsp:txBody>
      <dsp:txXfrm>
        <a:off x="2809064" y="151303"/>
        <a:ext cx="2230743" cy="1472250"/>
      </dsp:txXfrm>
    </dsp:sp>
    <dsp:sp modelId="{B43124F3-1745-4996-A7FE-DCD254B330BC}">
      <dsp:nvSpPr>
        <dsp:cNvPr id="0" name=""/>
        <dsp:cNvSpPr/>
      </dsp:nvSpPr>
      <dsp:spPr>
        <a:xfrm rot="19457599">
          <a:off x="5009742" y="637915"/>
          <a:ext cx="807186" cy="27921"/>
        </a:xfrm>
        <a:custGeom>
          <a:avLst/>
          <a:gdLst/>
          <a:ahLst/>
          <a:cxnLst/>
          <a:rect l="0" t="0" r="0" b="0"/>
          <a:pathLst>
            <a:path>
              <a:moveTo>
                <a:pt x="0" y="13960"/>
              </a:moveTo>
              <a:lnTo>
                <a:pt x="807186" y="1396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5393156" y="631697"/>
        <a:ext cx="40359" cy="40359"/>
      </dsp:txXfrm>
    </dsp:sp>
    <dsp:sp modelId="{F9FD2988-2D88-4478-9E6C-25F72B560F29}">
      <dsp:nvSpPr>
        <dsp:cNvPr id="0" name=""/>
        <dsp:cNvSpPr/>
      </dsp:nvSpPr>
      <dsp:spPr>
        <a:xfrm>
          <a:off x="5741059" y="6670"/>
          <a:ext cx="1638620" cy="819310"/>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AR" sz="1200" b="1" kern="1200" dirty="0"/>
            <a:t>Validez concurrente</a:t>
          </a:r>
        </a:p>
        <a:p>
          <a:pPr marL="0" lvl="0" indent="0" algn="ctr" defTabSz="533400">
            <a:lnSpc>
              <a:spcPct val="90000"/>
            </a:lnSpc>
            <a:spcBef>
              <a:spcPct val="0"/>
            </a:spcBef>
            <a:spcAft>
              <a:spcPct val="35000"/>
            </a:spcAft>
            <a:buNone/>
          </a:pPr>
          <a:r>
            <a:rPr lang="es-AR" sz="1000" b="0" kern="1200" dirty="0"/>
            <a:t>Correlacionar la medida con otra medida realizada en el mismo momento</a:t>
          </a:r>
        </a:p>
      </dsp:txBody>
      <dsp:txXfrm>
        <a:off x="5765056" y="30667"/>
        <a:ext cx="1590626" cy="771316"/>
      </dsp:txXfrm>
    </dsp:sp>
    <dsp:sp modelId="{BA671F02-38CA-4A84-8288-73DD8C9C7353}">
      <dsp:nvSpPr>
        <dsp:cNvPr id="0" name=""/>
        <dsp:cNvSpPr/>
      </dsp:nvSpPr>
      <dsp:spPr>
        <a:xfrm rot="2142401">
          <a:off x="5009742" y="1109019"/>
          <a:ext cx="807186" cy="27921"/>
        </a:xfrm>
        <a:custGeom>
          <a:avLst/>
          <a:gdLst/>
          <a:ahLst/>
          <a:cxnLst/>
          <a:rect l="0" t="0" r="0" b="0"/>
          <a:pathLst>
            <a:path>
              <a:moveTo>
                <a:pt x="0" y="13960"/>
              </a:moveTo>
              <a:lnTo>
                <a:pt x="807186" y="1396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5393156" y="1102800"/>
        <a:ext cx="40359" cy="40359"/>
      </dsp:txXfrm>
    </dsp:sp>
    <dsp:sp modelId="{343A64C4-FE0E-4B39-A9EF-26BBE3197345}">
      <dsp:nvSpPr>
        <dsp:cNvPr id="0" name=""/>
        <dsp:cNvSpPr/>
      </dsp:nvSpPr>
      <dsp:spPr>
        <a:xfrm>
          <a:off x="5741059" y="948876"/>
          <a:ext cx="1638620" cy="819310"/>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s-AR" sz="1200" b="1" kern="1200" dirty="0"/>
            <a:t>Validez predictiva</a:t>
          </a:r>
        </a:p>
        <a:p>
          <a:pPr marL="0" lvl="0" indent="0" algn="ctr" defTabSz="533400">
            <a:lnSpc>
              <a:spcPct val="90000"/>
            </a:lnSpc>
            <a:spcBef>
              <a:spcPct val="0"/>
            </a:spcBef>
            <a:spcAft>
              <a:spcPct val="35000"/>
            </a:spcAft>
            <a:buNone/>
          </a:pPr>
          <a:r>
            <a:rPr lang="es-AR" sz="1000" kern="1200" dirty="0"/>
            <a:t>Correlacionar la medida con un comportamiento esperado</a:t>
          </a:r>
        </a:p>
      </dsp:txBody>
      <dsp:txXfrm>
        <a:off x="5765056" y="972873"/>
        <a:ext cx="1590626" cy="771316"/>
      </dsp:txXfrm>
    </dsp:sp>
    <dsp:sp modelId="{950EBB04-4FCB-48B5-882B-90A840D5FBCC}">
      <dsp:nvSpPr>
        <dsp:cNvPr id="0" name=""/>
        <dsp:cNvSpPr/>
      </dsp:nvSpPr>
      <dsp:spPr>
        <a:xfrm rot="21491482">
          <a:off x="1638340" y="2621689"/>
          <a:ext cx="1125200" cy="27921"/>
        </a:xfrm>
        <a:custGeom>
          <a:avLst/>
          <a:gdLst/>
          <a:ahLst/>
          <a:cxnLst/>
          <a:rect l="0" t="0" r="0" b="0"/>
          <a:pathLst>
            <a:path>
              <a:moveTo>
                <a:pt x="0" y="13960"/>
              </a:moveTo>
              <a:lnTo>
                <a:pt x="1125200" y="139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AR" sz="500" kern="1200"/>
        </a:p>
      </dsp:txBody>
      <dsp:txXfrm>
        <a:off x="2172810" y="2607520"/>
        <a:ext cx="56260" cy="56260"/>
      </dsp:txXfrm>
    </dsp:sp>
    <dsp:sp modelId="{0C3EABB8-3C23-4652-B75C-205D8CBC705B}">
      <dsp:nvSpPr>
        <dsp:cNvPr id="0" name=""/>
        <dsp:cNvSpPr/>
      </dsp:nvSpPr>
      <dsp:spPr>
        <a:xfrm>
          <a:off x="2763260" y="1792254"/>
          <a:ext cx="2483870" cy="1651278"/>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b="1" kern="1200" dirty="0"/>
            <a:t>Validez de contenido</a:t>
          </a:r>
          <a:br>
            <a:rPr lang="es-AR" sz="900" kern="1200" dirty="0"/>
          </a:br>
          <a:r>
            <a:rPr lang="es-AR" sz="1000" kern="1200" dirty="0">
              <a:solidFill>
                <a:srgbClr val="FFFFFF"/>
              </a:solidFill>
              <a:latin typeface="Arial"/>
              <a:ea typeface="+mn-ea"/>
              <a:cs typeface="Arial"/>
            </a:rPr>
            <a:t>Se refiere al grado en que los indicadores cubren adecuadamente las distintas dimensiones del fenómeno.</a:t>
          </a:r>
          <a:br>
            <a:rPr lang="es-AR" sz="1000" kern="1200" dirty="0">
              <a:solidFill>
                <a:srgbClr val="FFFFFF"/>
              </a:solidFill>
              <a:latin typeface="Arial"/>
              <a:ea typeface="+mn-ea"/>
              <a:cs typeface="Arial"/>
            </a:rPr>
          </a:br>
          <a:endParaRPr lang="es-AR" sz="1000" kern="1200" dirty="0">
            <a:solidFill>
              <a:srgbClr val="FFFFFF"/>
            </a:solidFill>
            <a:latin typeface="Arial"/>
            <a:ea typeface="+mn-ea"/>
            <a:cs typeface="Arial"/>
          </a:endParaRPr>
        </a:p>
        <a:p>
          <a:pPr marL="0" lvl="0" indent="0" algn="ctr" defTabSz="711200">
            <a:lnSpc>
              <a:spcPct val="90000"/>
            </a:lnSpc>
            <a:spcBef>
              <a:spcPct val="0"/>
            </a:spcBef>
            <a:spcAft>
              <a:spcPct val="35000"/>
            </a:spcAft>
            <a:buNone/>
          </a:pPr>
          <a:r>
            <a:rPr lang="es-AR" sz="1000" kern="1200" dirty="0">
              <a:solidFill>
                <a:srgbClr val="FFFFFF"/>
              </a:solidFill>
              <a:latin typeface="Arial"/>
              <a:ea typeface="+mn-ea"/>
              <a:cs typeface="Arial"/>
            </a:rPr>
            <a:t>Ejemplo: tomar en cuenta las distintas dimensiones de un fenómeno (ej., discriminación) que surgen de la revisión de la literatura.</a:t>
          </a:r>
        </a:p>
      </dsp:txBody>
      <dsp:txXfrm>
        <a:off x="2811624" y="1840618"/>
        <a:ext cx="2387142" cy="1554550"/>
      </dsp:txXfrm>
    </dsp:sp>
    <dsp:sp modelId="{74BFAD01-68B2-466A-96B7-DBAED4B4C85D}">
      <dsp:nvSpPr>
        <dsp:cNvPr id="0" name=""/>
        <dsp:cNvSpPr/>
      </dsp:nvSpPr>
      <dsp:spPr>
        <a:xfrm rot="3451766">
          <a:off x="1153528" y="3523112"/>
          <a:ext cx="2094823" cy="27921"/>
        </a:xfrm>
        <a:custGeom>
          <a:avLst/>
          <a:gdLst/>
          <a:ahLst/>
          <a:cxnLst/>
          <a:rect l="0" t="0" r="0" b="0"/>
          <a:pathLst>
            <a:path>
              <a:moveTo>
                <a:pt x="0" y="13960"/>
              </a:moveTo>
              <a:lnTo>
                <a:pt x="2094823" y="1396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s-AR" sz="700" kern="1200"/>
        </a:p>
      </dsp:txBody>
      <dsp:txXfrm>
        <a:off x="2148569" y="3484703"/>
        <a:ext cx="104741" cy="104741"/>
      </dsp:txXfrm>
    </dsp:sp>
    <dsp:sp modelId="{DB367B62-3DFD-4F76-86F4-8BDC2B1FF3BB}">
      <dsp:nvSpPr>
        <dsp:cNvPr id="0" name=""/>
        <dsp:cNvSpPr/>
      </dsp:nvSpPr>
      <dsp:spPr>
        <a:xfrm>
          <a:off x="2763260" y="3566429"/>
          <a:ext cx="2931557" cy="1708622"/>
        </a:xfrm>
        <a:prstGeom prst="roundRect">
          <a:avLst>
            <a:gd name="adj" fmla="val 10000"/>
          </a:avLst>
        </a:prstGeom>
        <a:solidFill>
          <a:schemeClr val="accent1">
            <a:lumMod val="60000"/>
            <a:lumOff val="40000"/>
          </a:schemeClr>
        </a:solidFill>
        <a:ln w="25400" cap="flat" cmpd="sng" algn="ctr">
          <a:solidFill>
            <a:schemeClr val="accent1"/>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AR" sz="1600" b="1" kern="1200" dirty="0"/>
            <a:t>Validez de constructo</a:t>
          </a:r>
          <a:br>
            <a:rPr lang="es-AR" sz="900" kern="1200" dirty="0"/>
          </a:br>
          <a:r>
            <a:rPr lang="es-AR" sz="1000" kern="1200" dirty="0"/>
            <a:t>Refiere al grado en que la medida obtenida se correlaciona con las mediciones de otros conceptos que la teoría indica que están relacionados</a:t>
          </a:r>
          <a:r>
            <a:rPr lang="es-AR" sz="1000" kern="1200" dirty="0">
              <a:solidFill>
                <a:srgbClr val="FFFFFF"/>
              </a:solidFill>
              <a:latin typeface="Arial"/>
              <a:ea typeface="+mn-ea"/>
              <a:cs typeface="Arial"/>
            </a:rPr>
            <a:t>.</a:t>
          </a:r>
          <a:br>
            <a:rPr lang="es-AR" sz="1000" kern="1200" dirty="0">
              <a:solidFill>
                <a:srgbClr val="FFFFFF"/>
              </a:solidFill>
              <a:latin typeface="Arial"/>
              <a:ea typeface="+mn-ea"/>
              <a:cs typeface="Arial"/>
            </a:rPr>
          </a:br>
          <a:endParaRPr lang="es-AR" sz="1000" kern="1200" dirty="0">
            <a:solidFill>
              <a:srgbClr val="FFFFFF"/>
            </a:solidFill>
            <a:latin typeface="Arial"/>
            <a:ea typeface="+mn-ea"/>
            <a:cs typeface="Arial"/>
          </a:endParaRPr>
        </a:p>
        <a:p>
          <a:pPr marL="0" lvl="0" indent="0" algn="ctr" defTabSz="711200">
            <a:lnSpc>
              <a:spcPct val="90000"/>
            </a:lnSpc>
            <a:spcBef>
              <a:spcPct val="0"/>
            </a:spcBef>
            <a:spcAft>
              <a:spcPct val="35000"/>
            </a:spcAft>
            <a:buNone/>
          </a:pPr>
          <a:r>
            <a:rPr lang="es-AR" sz="1000" kern="1200" dirty="0">
              <a:solidFill>
                <a:srgbClr val="FFFFFF"/>
              </a:solidFill>
              <a:latin typeface="Arial"/>
              <a:ea typeface="+mn-ea"/>
              <a:cs typeface="Arial"/>
            </a:rPr>
            <a:t>Ejemplo: en una medición del clima organizacional, se examina la correlación con el grado de involucramiento con el trabajo, otro fenómeno que, según la teoría, está relacionado con el clima organizacional.</a:t>
          </a:r>
          <a:endParaRPr lang="es-AR" sz="1000" kern="1200" dirty="0"/>
        </a:p>
      </dsp:txBody>
      <dsp:txXfrm>
        <a:off x="2813304" y="3616473"/>
        <a:ext cx="2831469" cy="16085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FC0DDF-E87B-40D7-AE09-BDD3B55B68D7}">
      <dsp:nvSpPr>
        <dsp:cNvPr id="0" name=""/>
        <dsp:cNvSpPr/>
      </dsp:nvSpPr>
      <dsp:spPr>
        <a:xfrm rot="5400000">
          <a:off x="4236648" y="-1578289"/>
          <a:ext cx="1060846" cy="448665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s-AR" sz="1600" kern="1200" dirty="0"/>
            <a:t>REPETICIÓN DE LAS OBSERVACIONES EN DIFERENTES MOMENTOS DEL TIEMPO. MISMO INSTRUMENTO DE MEDIDA</a:t>
          </a:r>
        </a:p>
      </dsp:txBody>
      <dsp:txXfrm rot="-5400000">
        <a:off x="2523743" y="186402"/>
        <a:ext cx="4434870" cy="957274"/>
      </dsp:txXfrm>
    </dsp:sp>
    <dsp:sp modelId="{CE22A593-F290-47FE-8B5E-AAD52093BFA5}">
      <dsp:nvSpPr>
        <dsp:cNvPr id="0" name=""/>
        <dsp:cNvSpPr/>
      </dsp:nvSpPr>
      <dsp:spPr>
        <a:xfrm>
          <a:off x="23644" y="11835"/>
          <a:ext cx="2523744" cy="132605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s-AR" sz="2200" kern="1200" dirty="0"/>
            <a:t>ESTABILIDAD</a:t>
          </a:r>
        </a:p>
      </dsp:txBody>
      <dsp:txXfrm>
        <a:off x="88377" y="76568"/>
        <a:ext cx="2394278" cy="1196592"/>
      </dsp:txXfrm>
    </dsp:sp>
    <dsp:sp modelId="{ECE05E32-68CE-46DD-9AD9-4EE4C68C6985}">
      <dsp:nvSpPr>
        <dsp:cNvPr id="0" name=""/>
        <dsp:cNvSpPr/>
      </dsp:nvSpPr>
      <dsp:spPr>
        <a:xfrm rot="5400000">
          <a:off x="4236648" y="-185928"/>
          <a:ext cx="1060846" cy="448665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s-AR" sz="1600" kern="1200" dirty="0"/>
            <a:t>APLICACIÓN DE DISTINTOS INSTRUMENTOS CON EL FIN DE COMPARAR LOS RESULTADOS</a:t>
          </a:r>
        </a:p>
      </dsp:txBody>
      <dsp:txXfrm rot="-5400000">
        <a:off x="2523743" y="1578763"/>
        <a:ext cx="4434870" cy="957274"/>
      </dsp:txXfrm>
    </dsp:sp>
    <dsp:sp modelId="{7F27335A-F816-4F9E-9A0B-3BF43F61B4E8}">
      <dsp:nvSpPr>
        <dsp:cNvPr id="0" name=""/>
        <dsp:cNvSpPr/>
      </dsp:nvSpPr>
      <dsp:spPr>
        <a:xfrm>
          <a:off x="0" y="1394370"/>
          <a:ext cx="2523744" cy="132605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s-AR" sz="2200" kern="1200" dirty="0"/>
            <a:t>EQUIVALENCIA</a:t>
          </a:r>
        </a:p>
      </dsp:txBody>
      <dsp:txXfrm>
        <a:off x="64733" y="1459103"/>
        <a:ext cx="2394278" cy="1196592"/>
      </dsp:txXfrm>
    </dsp:sp>
    <dsp:sp modelId="{BB666FB3-4C28-442C-BD77-CD3507638669}">
      <dsp:nvSpPr>
        <dsp:cNvPr id="0" name=""/>
        <dsp:cNvSpPr/>
      </dsp:nvSpPr>
      <dsp:spPr>
        <a:xfrm rot="5400000">
          <a:off x="4236648" y="1206433"/>
          <a:ext cx="1060846" cy="448665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s-AR" sz="1600" kern="1200" dirty="0"/>
            <a:t>EN UNA SOLA  APLICACIÓN DEL MISMO INSTRUMENTO PARA EVALUAR LA CONSISTENCIA DE DIFERENTES ÍTEMS.</a:t>
          </a:r>
        </a:p>
      </dsp:txBody>
      <dsp:txXfrm rot="-5400000">
        <a:off x="2523743" y="2971124"/>
        <a:ext cx="4434870" cy="957274"/>
      </dsp:txXfrm>
    </dsp:sp>
    <dsp:sp modelId="{B1110761-6F6C-4BC9-AC0E-5A5C1C30CB39}">
      <dsp:nvSpPr>
        <dsp:cNvPr id="0" name=""/>
        <dsp:cNvSpPr/>
      </dsp:nvSpPr>
      <dsp:spPr>
        <a:xfrm>
          <a:off x="0" y="2786732"/>
          <a:ext cx="2523744" cy="132605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es-AR" sz="2200" kern="1200" dirty="0"/>
            <a:t>CONSISTENCIA INTERNA</a:t>
          </a:r>
        </a:p>
      </dsp:txBody>
      <dsp:txXfrm>
        <a:off x="64733" y="2851465"/>
        <a:ext cx="2394278" cy="11965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5CB86-2B40-4DF3-9586-C8EF4A2160DF}">
      <dsp:nvSpPr>
        <dsp:cNvPr id="0" name=""/>
        <dsp:cNvSpPr/>
      </dsp:nvSpPr>
      <dsp:spPr>
        <a:xfrm rot="5400000">
          <a:off x="3121152" y="-185928"/>
          <a:ext cx="3291840" cy="448665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0490" tIns="55245" rIns="110490" bIns="55245" numCol="1" spcCol="1270" anchor="ctr" anchorCtr="0">
          <a:noAutofit/>
        </a:bodyPr>
        <a:lstStyle/>
        <a:p>
          <a:pPr marL="285750" lvl="1" indent="-285750" algn="l" defTabSz="1289050">
            <a:lnSpc>
              <a:spcPct val="90000"/>
            </a:lnSpc>
            <a:spcBef>
              <a:spcPct val="0"/>
            </a:spcBef>
            <a:spcAft>
              <a:spcPct val="15000"/>
            </a:spcAft>
            <a:buChar char="•"/>
          </a:pPr>
          <a:r>
            <a:rPr lang="es-AR" sz="2900" kern="1200" dirty="0"/>
            <a:t>Diferentes medidas de un concepto proporcionan resultados semejantes. </a:t>
          </a:r>
        </a:p>
        <a:p>
          <a:pPr marL="285750" lvl="1" indent="-285750" algn="l" defTabSz="1289050">
            <a:lnSpc>
              <a:spcPct val="90000"/>
            </a:lnSpc>
            <a:spcBef>
              <a:spcPct val="0"/>
            </a:spcBef>
            <a:spcAft>
              <a:spcPct val="15000"/>
            </a:spcAft>
            <a:buChar char="•"/>
          </a:pPr>
          <a:r>
            <a:rPr lang="es-AR" sz="2900" kern="1200" dirty="0"/>
            <a:t>Medir concepto con varios procedimientos.</a:t>
          </a:r>
        </a:p>
      </dsp:txBody>
      <dsp:txXfrm rot="-5400000">
        <a:off x="2523744" y="572174"/>
        <a:ext cx="4325962" cy="2970452"/>
      </dsp:txXfrm>
    </dsp:sp>
    <dsp:sp modelId="{EE120C2D-7B33-454F-B44C-DF0BADAFCF40}">
      <dsp:nvSpPr>
        <dsp:cNvPr id="0" name=""/>
        <dsp:cNvSpPr/>
      </dsp:nvSpPr>
      <dsp:spPr>
        <a:xfrm>
          <a:off x="0" y="0"/>
          <a:ext cx="2523744" cy="41148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80010" bIns="40005" numCol="1" spcCol="1270" anchor="ctr" anchorCtr="0">
          <a:noAutofit/>
        </a:bodyPr>
        <a:lstStyle/>
        <a:p>
          <a:pPr marL="0" lvl="0" indent="0" algn="ctr" defTabSz="933450">
            <a:lnSpc>
              <a:spcPct val="90000"/>
            </a:lnSpc>
            <a:spcBef>
              <a:spcPct val="0"/>
            </a:spcBef>
            <a:spcAft>
              <a:spcPct val="35000"/>
            </a:spcAft>
            <a:buNone/>
          </a:pPr>
          <a:r>
            <a:rPr lang="es-AR" sz="2100" kern="1200" dirty="0"/>
            <a:t>VALIDEZ CONCURRENTE</a:t>
          </a:r>
        </a:p>
      </dsp:txBody>
      <dsp:txXfrm>
        <a:off x="123199" y="123199"/>
        <a:ext cx="2277346" cy="38684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99D952-70A3-4228-B174-06ACC06D464A}">
      <dsp:nvSpPr>
        <dsp:cNvPr id="0" name=""/>
        <dsp:cNvSpPr/>
      </dsp:nvSpPr>
      <dsp:spPr>
        <a:xfrm>
          <a:off x="1391580" y="660"/>
          <a:ext cx="1871767" cy="93588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AR" sz="2000" kern="1200" dirty="0"/>
            <a:t>RIESGO ALIMENTARIO </a:t>
          </a:r>
        </a:p>
      </dsp:txBody>
      <dsp:txXfrm>
        <a:off x="1418991" y="28071"/>
        <a:ext cx="1816945" cy="881061"/>
      </dsp:txXfrm>
    </dsp:sp>
    <dsp:sp modelId="{1D591666-BC88-42FB-AAE7-2C31DAC51387}">
      <dsp:nvSpPr>
        <dsp:cNvPr id="0" name=""/>
        <dsp:cNvSpPr/>
      </dsp:nvSpPr>
      <dsp:spPr>
        <a:xfrm>
          <a:off x="1578757" y="936544"/>
          <a:ext cx="187176" cy="701912"/>
        </a:xfrm>
        <a:custGeom>
          <a:avLst/>
          <a:gdLst/>
          <a:ahLst/>
          <a:cxnLst/>
          <a:rect l="0" t="0" r="0" b="0"/>
          <a:pathLst>
            <a:path>
              <a:moveTo>
                <a:pt x="0" y="0"/>
              </a:moveTo>
              <a:lnTo>
                <a:pt x="0" y="701912"/>
              </a:lnTo>
              <a:lnTo>
                <a:pt x="187176" y="70191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822A1F-592A-4C97-BCE0-768E9B545DAD}">
      <dsp:nvSpPr>
        <dsp:cNvPr id="0" name=""/>
        <dsp:cNvSpPr/>
      </dsp:nvSpPr>
      <dsp:spPr>
        <a:xfrm>
          <a:off x="1765934" y="1170515"/>
          <a:ext cx="1497414" cy="9358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s-ES" sz="900" kern="1200" dirty="0"/>
            <a:t>Porcentaje de niños, niñas y adolescentes en hogares en los que se expresó haber experimentado hambre por problemas económicos durante los últimos 12 meses</a:t>
          </a:r>
          <a:endParaRPr lang="es-AR" sz="900" kern="1200" dirty="0"/>
        </a:p>
      </dsp:txBody>
      <dsp:txXfrm>
        <a:off x="1793345" y="1197926"/>
        <a:ext cx="1442592" cy="881061"/>
      </dsp:txXfrm>
    </dsp:sp>
    <dsp:sp modelId="{A554654B-C7B1-4F63-ACDD-4EE1747479B1}">
      <dsp:nvSpPr>
        <dsp:cNvPr id="0" name=""/>
        <dsp:cNvSpPr/>
      </dsp:nvSpPr>
      <dsp:spPr>
        <a:xfrm>
          <a:off x="1578757" y="936544"/>
          <a:ext cx="187176" cy="1871767"/>
        </a:xfrm>
        <a:custGeom>
          <a:avLst/>
          <a:gdLst/>
          <a:ahLst/>
          <a:cxnLst/>
          <a:rect l="0" t="0" r="0" b="0"/>
          <a:pathLst>
            <a:path>
              <a:moveTo>
                <a:pt x="0" y="0"/>
              </a:moveTo>
              <a:lnTo>
                <a:pt x="0" y="1871767"/>
              </a:lnTo>
              <a:lnTo>
                <a:pt x="187176" y="18717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F00698E-964C-43DA-B727-4AD0880A5DA4}">
      <dsp:nvSpPr>
        <dsp:cNvPr id="0" name=""/>
        <dsp:cNvSpPr/>
      </dsp:nvSpPr>
      <dsp:spPr>
        <a:xfrm>
          <a:off x="1765934" y="2340370"/>
          <a:ext cx="1497414" cy="9358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s-ES" sz="900" kern="1200" dirty="0"/>
            <a:t>Déficit moderado: haber expresado sentir hambre en algunas ocasiones </a:t>
          </a:r>
          <a:endParaRPr lang="es-AR" sz="900" kern="1200" dirty="0"/>
        </a:p>
      </dsp:txBody>
      <dsp:txXfrm>
        <a:off x="1793345" y="2367781"/>
        <a:ext cx="1442592" cy="881061"/>
      </dsp:txXfrm>
    </dsp:sp>
    <dsp:sp modelId="{CA7137C2-BCDD-436E-B0B6-828EAF8C60A4}">
      <dsp:nvSpPr>
        <dsp:cNvPr id="0" name=""/>
        <dsp:cNvSpPr/>
      </dsp:nvSpPr>
      <dsp:spPr>
        <a:xfrm>
          <a:off x="1578757" y="936544"/>
          <a:ext cx="187176" cy="3041622"/>
        </a:xfrm>
        <a:custGeom>
          <a:avLst/>
          <a:gdLst/>
          <a:ahLst/>
          <a:cxnLst/>
          <a:rect l="0" t="0" r="0" b="0"/>
          <a:pathLst>
            <a:path>
              <a:moveTo>
                <a:pt x="0" y="0"/>
              </a:moveTo>
              <a:lnTo>
                <a:pt x="0" y="3041622"/>
              </a:lnTo>
              <a:lnTo>
                <a:pt x="187176" y="30416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0ABA6A-A475-4C66-9DBD-A3210FDD0536}">
      <dsp:nvSpPr>
        <dsp:cNvPr id="0" name=""/>
        <dsp:cNvSpPr/>
      </dsp:nvSpPr>
      <dsp:spPr>
        <a:xfrm>
          <a:off x="1765934" y="3510224"/>
          <a:ext cx="1497414" cy="9358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s-ES" sz="900" kern="1200" dirty="0"/>
            <a:t>Déficit severo: haber expresado sentir  hambre frecuentemente </a:t>
          </a:r>
          <a:endParaRPr lang="es-AR" sz="900" kern="1200" dirty="0"/>
        </a:p>
      </dsp:txBody>
      <dsp:txXfrm>
        <a:off x="1793345" y="3537635"/>
        <a:ext cx="1442592" cy="881061"/>
      </dsp:txXfrm>
    </dsp:sp>
    <dsp:sp modelId="{2205890F-6624-4E97-AB35-AB119E9C9FB0}">
      <dsp:nvSpPr>
        <dsp:cNvPr id="0" name=""/>
        <dsp:cNvSpPr/>
      </dsp:nvSpPr>
      <dsp:spPr>
        <a:xfrm>
          <a:off x="1578757" y="936544"/>
          <a:ext cx="187176" cy="4211477"/>
        </a:xfrm>
        <a:custGeom>
          <a:avLst/>
          <a:gdLst/>
          <a:ahLst/>
          <a:cxnLst/>
          <a:rect l="0" t="0" r="0" b="0"/>
          <a:pathLst>
            <a:path>
              <a:moveTo>
                <a:pt x="0" y="0"/>
              </a:moveTo>
              <a:lnTo>
                <a:pt x="0" y="4211477"/>
              </a:lnTo>
              <a:lnTo>
                <a:pt x="187176" y="421147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F8D1816-7867-4B2D-804C-158663EC6B2E}">
      <dsp:nvSpPr>
        <dsp:cNvPr id="0" name=""/>
        <dsp:cNvSpPr/>
      </dsp:nvSpPr>
      <dsp:spPr>
        <a:xfrm>
          <a:off x="1765934" y="4680079"/>
          <a:ext cx="1497414" cy="935883"/>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s-ES" sz="900" kern="1200" dirty="0"/>
            <a:t>Déficit total: haber expresado sentir hambre </a:t>
          </a:r>
          <a:endParaRPr lang="es-AR" sz="900" kern="1200" dirty="0"/>
        </a:p>
      </dsp:txBody>
      <dsp:txXfrm>
        <a:off x="1793345" y="4707490"/>
        <a:ext cx="1442592" cy="881061"/>
      </dsp:txXfrm>
    </dsp:sp>
    <dsp:sp modelId="{8EBCE051-B97E-4D64-AC8C-B0234C80500E}">
      <dsp:nvSpPr>
        <dsp:cNvPr id="0" name=""/>
        <dsp:cNvSpPr/>
      </dsp:nvSpPr>
      <dsp:spPr>
        <a:xfrm>
          <a:off x="3781734" y="1266630"/>
          <a:ext cx="2408328" cy="36516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s-AR" sz="2000" kern="1200" dirty="0"/>
            <a:t>En los últimos 12 meses, ¿usted o algún miembro de su familia experimentaron hambre por no tener qué comer por motivos económicos?</a:t>
          </a:r>
        </a:p>
      </dsp:txBody>
      <dsp:txXfrm>
        <a:off x="3852272" y="1337168"/>
        <a:ext cx="2267252" cy="35105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FF9A61-46FB-4417-9272-7A7133816F6B}">
      <dsp:nvSpPr>
        <dsp:cNvPr id="0" name=""/>
        <dsp:cNvSpPr/>
      </dsp:nvSpPr>
      <dsp:spPr>
        <a:xfrm>
          <a:off x="0" y="4803588"/>
          <a:ext cx="8229600" cy="286584"/>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12. los niños que habitan en el hogar tuvieron hambre alguna vez porque no les alcanzaba el dinero para comprar más comida</a:t>
          </a:r>
          <a:endParaRPr lang="es-AR" sz="1000" kern="1200" dirty="0">
            <a:solidFill>
              <a:schemeClr val="tx2"/>
            </a:solidFill>
          </a:endParaRPr>
        </a:p>
      </dsp:txBody>
      <dsp:txXfrm>
        <a:off x="0" y="4803588"/>
        <a:ext cx="8229600" cy="286584"/>
      </dsp:txXfrm>
    </dsp:sp>
    <dsp:sp modelId="{B227051B-1CDF-4BAA-9848-AB5E4DFA377C}">
      <dsp:nvSpPr>
        <dsp:cNvPr id="0" name=""/>
        <dsp:cNvSpPr/>
      </dsp:nvSpPr>
      <dsp:spPr>
        <a:xfrm rot="10800000">
          <a:off x="0" y="4367121"/>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11. disminuyó. Ud. la ración de alguna de las comidas de los niños de su hogar porque no tenia  suficiente dinero para comprar más alimentos</a:t>
          </a:r>
          <a:endParaRPr lang="es-AR" sz="1000" kern="1200" dirty="0">
            <a:solidFill>
              <a:schemeClr val="tx2"/>
            </a:solidFill>
          </a:endParaRPr>
        </a:p>
      </dsp:txBody>
      <dsp:txXfrm rot="10800000">
        <a:off x="0" y="4367121"/>
        <a:ext cx="8229600" cy="286397"/>
      </dsp:txXfrm>
    </dsp:sp>
    <dsp:sp modelId="{20CFFA2E-2243-47BE-AFC3-68BC7045321E}">
      <dsp:nvSpPr>
        <dsp:cNvPr id="0" name=""/>
        <dsp:cNvSpPr/>
      </dsp:nvSpPr>
      <dsp:spPr>
        <a:xfrm rot="10800000">
          <a:off x="0" y="3930653"/>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10. Ud. o algún otro adulto de su hogar dejaron de comer por todo un día porque  no tenían suficiente dinero para comprar más alimentos</a:t>
          </a:r>
          <a:endParaRPr lang="es-AR" sz="1000" kern="1200" dirty="0">
            <a:solidFill>
              <a:schemeClr val="tx2"/>
            </a:solidFill>
          </a:endParaRPr>
        </a:p>
      </dsp:txBody>
      <dsp:txXfrm rot="10800000">
        <a:off x="0" y="3930653"/>
        <a:ext cx="8229600" cy="286397"/>
      </dsp:txXfrm>
    </dsp:sp>
    <dsp:sp modelId="{DEC22271-EF82-4CB8-8280-139034A6E4F8}">
      <dsp:nvSpPr>
        <dsp:cNvPr id="0" name=""/>
        <dsp:cNvSpPr/>
      </dsp:nvSpPr>
      <dsp:spPr>
        <a:xfrm rot="10800000">
          <a:off x="0" y="3494185"/>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9. </a:t>
          </a:r>
          <a:r>
            <a:rPr lang="es-ES" sz="1000" kern="1200" dirty="0" err="1">
              <a:solidFill>
                <a:schemeClr val="tx2"/>
              </a:solidFill>
            </a:rPr>
            <a:t>Ud</a:t>
          </a:r>
          <a:r>
            <a:rPr lang="es-ES" sz="1000" kern="1200" dirty="0">
              <a:solidFill>
                <a:schemeClr val="tx2"/>
              </a:solidFill>
            </a:rPr>
            <a:t> perdió peso porque no tenía suficiente dinero para comprar alimentos</a:t>
          </a:r>
          <a:endParaRPr lang="es-AR" sz="1000" kern="1200" dirty="0">
            <a:solidFill>
              <a:schemeClr val="tx2"/>
            </a:solidFill>
          </a:endParaRPr>
        </a:p>
      </dsp:txBody>
      <dsp:txXfrm rot="10800000">
        <a:off x="0" y="3494185"/>
        <a:ext cx="8229600" cy="286397"/>
      </dsp:txXfrm>
    </dsp:sp>
    <dsp:sp modelId="{B92018D9-6616-4527-9A77-0F0661E5E56F}">
      <dsp:nvSpPr>
        <dsp:cNvPr id="0" name=""/>
        <dsp:cNvSpPr/>
      </dsp:nvSpPr>
      <dsp:spPr>
        <a:xfrm rot="10800000">
          <a:off x="0" y="3057718"/>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8. Sintió Ud. Hambre alguna vez, pero no comió porque no tenía suficiente dinero para comprar más comida</a:t>
          </a:r>
          <a:endParaRPr lang="es-AR" sz="1000" kern="1200" dirty="0">
            <a:solidFill>
              <a:schemeClr val="tx2"/>
            </a:solidFill>
          </a:endParaRPr>
        </a:p>
      </dsp:txBody>
      <dsp:txXfrm rot="10800000">
        <a:off x="0" y="3057718"/>
        <a:ext cx="8229600" cy="286397"/>
      </dsp:txXfrm>
    </dsp:sp>
    <dsp:sp modelId="{FE61C26A-6190-4C67-B337-96B5DFEFD176}">
      <dsp:nvSpPr>
        <dsp:cNvPr id="0" name=""/>
        <dsp:cNvSpPr/>
      </dsp:nvSpPr>
      <dsp:spPr>
        <a:xfrm rot="10800000">
          <a:off x="0" y="2621250"/>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7. Ud. comió menos de lo que creía que debería comer a causa de que no había suficiente dinero para comprar más alimentos</a:t>
          </a:r>
          <a:endParaRPr lang="es-AR" sz="1000" kern="1200" dirty="0">
            <a:solidFill>
              <a:schemeClr val="tx2"/>
            </a:solidFill>
          </a:endParaRPr>
        </a:p>
      </dsp:txBody>
      <dsp:txXfrm rot="10800000">
        <a:off x="0" y="2621250"/>
        <a:ext cx="8229600" cy="286397"/>
      </dsp:txXfrm>
    </dsp:sp>
    <dsp:sp modelId="{DC4BBA81-23C7-4CEE-AF23-A61B6A893EE7}">
      <dsp:nvSpPr>
        <dsp:cNvPr id="0" name=""/>
        <dsp:cNvSpPr/>
      </dsp:nvSpPr>
      <dsp:spPr>
        <a:xfrm rot="10800000">
          <a:off x="0" y="2184783"/>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6. Ud. o algún otro adulto de su hogar disminuyó la ración de alimentos o dejaron de comer porque el dinero no era suficiente para comprar más</a:t>
          </a:r>
          <a:endParaRPr lang="es-AR" sz="1000" kern="1200" dirty="0">
            <a:solidFill>
              <a:schemeClr val="tx2"/>
            </a:solidFill>
          </a:endParaRPr>
        </a:p>
      </dsp:txBody>
      <dsp:txXfrm rot="10800000">
        <a:off x="0" y="2184783"/>
        <a:ext cx="8229600" cy="286397"/>
      </dsp:txXfrm>
    </dsp:sp>
    <dsp:sp modelId="{89430B56-B5D3-437E-8769-55FF612CD058}">
      <dsp:nvSpPr>
        <dsp:cNvPr id="0" name=""/>
        <dsp:cNvSpPr/>
      </dsp:nvSpPr>
      <dsp:spPr>
        <a:xfrm rot="10800000">
          <a:off x="0" y="1748315"/>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5. No tuvieron dinero suficiente para comprar comidas balanceadas</a:t>
          </a:r>
          <a:endParaRPr lang="es-AR" sz="1000" kern="1200" dirty="0">
            <a:solidFill>
              <a:schemeClr val="tx2"/>
            </a:solidFill>
          </a:endParaRPr>
        </a:p>
      </dsp:txBody>
      <dsp:txXfrm rot="10800000">
        <a:off x="0" y="1748315"/>
        <a:ext cx="8229600" cy="286397"/>
      </dsp:txXfrm>
    </dsp:sp>
    <dsp:sp modelId="{13A14BBE-7028-4559-B37F-EE9D21B6EBC1}">
      <dsp:nvSpPr>
        <dsp:cNvPr id="0" name=""/>
        <dsp:cNvSpPr/>
      </dsp:nvSpPr>
      <dsp:spPr>
        <a:xfrm rot="10800000">
          <a:off x="0" y="1311848"/>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4. contaban con tan solo unos pocos tipos de alimentos de bajo costo para sus hijos, porque el dinero era insuficiente para comprar más</a:t>
          </a:r>
          <a:endParaRPr lang="es-AR" sz="1000" kern="1200" dirty="0">
            <a:solidFill>
              <a:schemeClr val="tx2"/>
            </a:solidFill>
          </a:endParaRPr>
        </a:p>
      </dsp:txBody>
      <dsp:txXfrm rot="10800000">
        <a:off x="0" y="1311848"/>
        <a:ext cx="8229600" cy="286397"/>
      </dsp:txXfrm>
    </dsp:sp>
    <dsp:sp modelId="{C7DA8116-5E44-4229-9C58-A663A971C5BF}">
      <dsp:nvSpPr>
        <dsp:cNvPr id="0" name=""/>
        <dsp:cNvSpPr/>
      </dsp:nvSpPr>
      <dsp:spPr>
        <a:xfrm rot="10800000">
          <a:off x="0" y="875380"/>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3. los alimentos que compraban no les alcanzaban para llegar a fin de mes y no tenían suficiente dinero para comprar más</a:t>
          </a:r>
          <a:endParaRPr lang="es-AR" sz="1000" kern="1200" dirty="0">
            <a:solidFill>
              <a:schemeClr val="tx2"/>
            </a:solidFill>
          </a:endParaRPr>
        </a:p>
      </dsp:txBody>
      <dsp:txXfrm rot="10800000">
        <a:off x="0" y="875380"/>
        <a:ext cx="8229600" cy="286397"/>
      </dsp:txXfrm>
    </dsp:sp>
    <dsp:sp modelId="{2554B255-5E53-4B2C-8DA4-91824860F607}">
      <dsp:nvSpPr>
        <dsp:cNvPr id="0" name=""/>
        <dsp:cNvSpPr/>
      </dsp:nvSpPr>
      <dsp:spPr>
        <a:xfrm rot="10800000">
          <a:off x="0" y="438912"/>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2. Estuvieron preocupados porque los alimentos se les acababan antes de recibir dinero para comprar más</a:t>
          </a:r>
          <a:endParaRPr lang="es-AR" sz="1000" kern="1200" dirty="0">
            <a:solidFill>
              <a:schemeClr val="tx2"/>
            </a:solidFill>
          </a:endParaRPr>
        </a:p>
      </dsp:txBody>
      <dsp:txXfrm rot="10800000">
        <a:off x="0" y="438912"/>
        <a:ext cx="8229600" cy="286397"/>
      </dsp:txXfrm>
    </dsp:sp>
    <dsp:sp modelId="{0FE8FF18-3FF7-4A0B-9B03-3877FB402294}">
      <dsp:nvSpPr>
        <dsp:cNvPr id="0" name=""/>
        <dsp:cNvSpPr/>
      </dsp:nvSpPr>
      <dsp:spPr>
        <a:xfrm rot="10800000">
          <a:off x="0" y="2445"/>
          <a:ext cx="8229600" cy="440766"/>
        </a:xfrm>
        <a:prstGeom prst="upArrowCallou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s-ES" sz="1000" kern="1200" dirty="0">
              <a:solidFill>
                <a:schemeClr val="tx2"/>
              </a:solidFill>
            </a:rPr>
            <a:t>1. No accedieron a suficiente comida</a:t>
          </a:r>
          <a:endParaRPr lang="es-AR" sz="1000" kern="1200" dirty="0">
            <a:solidFill>
              <a:schemeClr val="tx2"/>
            </a:solidFill>
          </a:endParaRPr>
        </a:p>
      </dsp:txBody>
      <dsp:txXfrm rot="10800000">
        <a:off x="0" y="2445"/>
        <a:ext cx="8229600" cy="28639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9199A5-5544-4EB4-AD8D-A3234D0FE1A7}">
      <dsp:nvSpPr>
        <dsp:cNvPr id="0" name=""/>
        <dsp:cNvSpPr/>
      </dsp:nvSpPr>
      <dsp:spPr>
        <a:xfrm>
          <a:off x="1509506" y="0"/>
          <a:ext cx="3233139" cy="120744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055" tIns="39370" rIns="59055" bIns="39370" numCol="1" spcCol="1270" anchor="ctr" anchorCtr="0">
          <a:noAutofit/>
        </a:bodyPr>
        <a:lstStyle/>
        <a:p>
          <a:pPr marL="0" lvl="0" indent="0" algn="ctr" defTabSz="1377950">
            <a:lnSpc>
              <a:spcPct val="90000"/>
            </a:lnSpc>
            <a:spcBef>
              <a:spcPct val="0"/>
            </a:spcBef>
            <a:spcAft>
              <a:spcPct val="35000"/>
            </a:spcAft>
            <a:buNone/>
          </a:pPr>
          <a:r>
            <a:rPr lang="es-AR" sz="3100" kern="1200" dirty="0"/>
            <a:t>Índice de sumatoria simple</a:t>
          </a:r>
        </a:p>
      </dsp:txBody>
      <dsp:txXfrm>
        <a:off x="1544871" y="35365"/>
        <a:ext cx="3162409" cy="1136710"/>
      </dsp:txXfrm>
    </dsp:sp>
    <dsp:sp modelId="{EDBA8684-53C0-4358-8D0E-9CAD6C5FEA6B}">
      <dsp:nvSpPr>
        <dsp:cNvPr id="0" name=""/>
        <dsp:cNvSpPr/>
      </dsp:nvSpPr>
      <dsp:spPr>
        <a:xfrm>
          <a:off x="1832820" y="1207440"/>
          <a:ext cx="665454" cy="905974"/>
        </a:xfrm>
        <a:custGeom>
          <a:avLst/>
          <a:gdLst/>
          <a:ahLst/>
          <a:cxnLst/>
          <a:rect l="0" t="0" r="0" b="0"/>
          <a:pathLst>
            <a:path>
              <a:moveTo>
                <a:pt x="0" y="0"/>
              </a:moveTo>
              <a:lnTo>
                <a:pt x="0" y="905974"/>
              </a:lnTo>
              <a:lnTo>
                <a:pt x="665454" y="9059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716075-17BA-4490-9E1F-86E18630E0A7}">
      <dsp:nvSpPr>
        <dsp:cNvPr id="0" name=""/>
        <dsp:cNvSpPr/>
      </dsp:nvSpPr>
      <dsp:spPr>
        <a:xfrm>
          <a:off x="2498274" y="1509694"/>
          <a:ext cx="1931904" cy="1207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s-ES" sz="1900" kern="1200" dirty="0"/>
            <a:t>Sin inseguridad alimentaria</a:t>
          </a:r>
          <a:endParaRPr lang="es-AR" sz="1900" kern="1200" dirty="0"/>
        </a:p>
        <a:p>
          <a:pPr lvl="0" algn="ctr" defTabSz="889000">
            <a:lnSpc>
              <a:spcPct val="90000"/>
            </a:lnSpc>
            <a:spcBef>
              <a:spcPct val="0"/>
            </a:spcBef>
            <a:spcAft>
              <a:spcPct val="35000"/>
            </a:spcAft>
            <a:buNone/>
          </a:pPr>
          <a:r>
            <a:rPr lang="es-ES" sz="1900" kern="1200" dirty="0"/>
            <a:t>0 a 4 problemas</a:t>
          </a:r>
          <a:endParaRPr lang="es-AR" sz="1900" kern="1200" dirty="0"/>
        </a:p>
      </dsp:txBody>
      <dsp:txXfrm>
        <a:off x="2533639" y="1545059"/>
        <a:ext cx="1861174" cy="1136710"/>
      </dsp:txXfrm>
    </dsp:sp>
    <dsp:sp modelId="{BEDDDF1A-497A-4D73-838F-00311B7BB224}">
      <dsp:nvSpPr>
        <dsp:cNvPr id="0" name=""/>
        <dsp:cNvSpPr/>
      </dsp:nvSpPr>
      <dsp:spPr>
        <a:xfrm>
          <a:off x="1832820" y="1207440"/>
          <a:ext cx="665454" cy="2415274"/>
        </a:xfrm>
        <a:custGeom>
          <a:avLst/>
          <a:gdLst/>
          <a:ahLst/>
          <a:cxnLst/>
          <a:rect l="0" t="0" r="0" b="0"/>
          <a:pathLst>
            <a:path>
              <a:moveTo>
                <a:pt x="0" y="0"/>
              </a:moveTo>
              <a:lnTo>
                <a:pt x="0" y="2415274"/>
              </a:lnTo>
              <a:lnTo>
                <a:pt x="665454" y="241527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991ADB-4B09-4218-A8D1-22E2A84D8936}">
      <dsp:nvSpPr>
        <dsp:cNvPr id="0" name=""/>
        <dsp:cNvSpPr/>
      </dsp:nvSpPr>
      <dsp:spPr>
        <a:xfrm>
          <a:off x="2498274" y="3018995"/>
          <a:ext cx="1931904" cy="1207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s-ES" sz="1900" kern="1200" dirty="0"/>
            <a:t>Moderado </a:t>
          </a:r>
        </a:p>
        <a:p>
          <a:pPr marL="0" lvl="0" indent="0" algn="ctr" defTabSz="844550">
            <a:lnSpc>
              <a:spcPct val="90000"/>
            </a:lnSpc>
            <a:spcBef>
              <a:spcPct val="0"/>
            </a:spcBef>
            <a:spcAft>
              <a:spcPct val="35000"/>
            </a:spcAft>
            <a:buNone/>
          </a:pPr>
          <a:r>
            <a:rPr lang="es-ES" sz="1900" kern="1200" dirty="0"/>
            <a:t>5 a 10 problemas</a:t>
          </a:r>
          <a:endParaRPr lang="es-AR" sz="1900" kern="1200" dirty="0"/>
        </a:p>
      </dsp:txBody>
      <dsp:txXfrm>
        <a:off x="2533639" y="3054360"/>
        <a:ext cx="1861174" cy="1136710"/>
      </dsp:txXfrm>
    </dsp:sp>
    <dsp:sp modelId="{0E59A368-F900-4D27-A8EC-EA2D525C0941}">
      <dsp:nvSpPr>
        <dsp:cNvPr id="0" name=""/>
        <dsp:cNvSpPr/>
      </dsp:nvSpPr>
      <dsp:spPr>
        <a:xfrm>
          <a:off x="1832820" y="1207440"/>
          <a:ext cx="665454" cy="3924575"/>
        </a:xfrm>
        <a:custGeom>
          <a:avLst/>
          <a:gdLst/>
          <a:ahLst/>
          <a:cxnLst/>
          <a:rect l="0" t="0" r="0" b="0"/>
          <a:pathLst>
            <a:path>
              <a:moveTo>
                <a:pt x="0" y="0"/>
              </a:moveTo>
              <a:lnTo>
                <a:pt x="0" y="3924575"/>
              </a:lnTo>
              <a:lnTo>
                <a:pt x="665454" y="392457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839926-D3C3-49CA-BF9D-9734DEFCD342}">
      <dsp:nvSpPr>
        <dsp:cNvPr id="0" name=""/>
        <dsp:cNvSpPr/>
      </dsp:nvSpPr>
      <dsp:spPr>
        <a:xfrm>
          <a:off x="2498274" y="4528295"/>
          <a:ext cx="1931904" cy="120744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s-ES" sz="1900" kern="1200" dirty="0"/>
            <a:t>Severo</a:t>
          </a:r>
        </a:p>
        <a:p>
          <a:pPr marL="0" lvl="0" indent="0" algn="ctr" defTabSz="844550">
            <a:lnSpc>
              <a:spcPct val="90000"/>
            </a:lnSpc>
            <a:spcBef>
              <a:spcPct val="0"/>
            </a:spcBef>
            <a:spcAft>
              <a:spcPct val="35000"/>
            </a:spcAft>
            <a:buNone/>
          </a:pPr>
          <a:r>
            <a:rPr lang="es-ES" sz="1900" kern="1200" dirty="0"/>
            <a:t>11 a 14 problemas</a:t>
          </a:r>
          <a:endParaRPr lang="es-AR" sz="1900" kern="1200" dirty="0"/>
        </a:p>
      </dsp:txBody>
      <dsp:txXfrm>
        <a:off x="2533639" y="4563660"/>
        <a:ext cx="1861174" cy="113671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4ABA2-C984-4E23-BF01-15E8A3969DBA}">
      <dsp:nvSpPr>
        <dsp:cNvPr id="0" name=""/>
        <dsp:cNvSpPr/>
      </dsp:nvSpPr>
      <dsp:spPr>
        <a:xfrm>
          <a:off x="3148127" y="1042147"/>
          <a:ext cx="2596225" cy="2596225"/>
        </a:xfrm>
        <a:prstGeom prst="ellipse">
          <a:avLst/>
        </a:prstGeom>
        <a:solidFill>
          <a:srgbClr val="92D050"/>
        </a:solidFill>
        <a:ln w="38100" cap="flat" cmpd="sng" algn="ctr">
          <a:solidFill>
            <a:schemeClr val="lt1"/>
          </a:solidFill>
          <a:prstDash val="solid"/>
        </a:ln>
        <a:effectLst>
          <a:outerShdw blurRad="40000" dist="20000" dir="5400000" rotWithShape="0">
            <a:srgbClr val="000000">
              <a:alpha val="38000"/>
            </a:srgbClr>
          </a:outerShdw>
        </a:effectLst>
      </dsp:spPr>
      <dsp:style>
        <a:lnRef idx="3">
          <a:schemeClr val="lt1"/>
        </a:lnRef>
        <a:fillRef idx="1">
          <a:schemeClr val="accent5"/>
        </a:fillRef>
        <a:effectRef idx="1">
          <a:schemeClr val="accent5"/>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s-AR" sz="2400" kern="1200" dirty="0">
              <a:latin typeface="Calibri" panose="020F0502020204030204" pitchFamily="34" charset="0"/>
              <a:cs typeface="Calibri" panose="020F0502020204030204" pitchFamily="34" charset="0"/>
            </a:rPr>
            <a:t>DIMENSIONES</a:t>
          </a:r>
        </a:p>
      </dsp:txBody>
      <dsp:txXfrm>
        <a:off x="3528335" y="1422355"/>
        <a:ext cx="1835809" cy="1835809"/>
      </dsp:txXfrm>
    </dsp:sp>
    <dsp:sp modelId="{DCE866EB-1EF6-49E6-8ECA-144F157FBDD3}">
      <dsp:nvSpPr>
        <dsp:cNvPr id="0" name=""/>
        <dsp:cNvSpPr/>
      </dsp:nvSpPr>
      <dsp:spPr>
        <a:xfrm>
          <a:off x="3797183" y="463"/>
          <a:ext cx="1298112" cy="1298112"/>
        </a:xfrm>
        <a:prstGeom prst="ellipse">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Vivienda</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3987287" y="190567"/>
        <a:ext cx="917904" cy="917904"/>
      </dsp:txXfrm>
    </dsp:sp>
    <dsp:sp modelId="{8888DA5D-2167-4C4C-9606-E4B88F170784}">
      <dsp:nvSpPr>
        <dsp:cNvPr id="0" name=""/>
        <dsp:cNvSpPr/>
      </dsp:nvSpPr>
      <dsp:spPr>
        <a:xfrm>
          <a:off x="5261407" y="845833"/>
          <a:ext cx="1298112" cy="1298112"/>
        </a:xfrm>
        <a:prstGeom prst="ellipse">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Alimentación</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5451511" y="1035937"/>
        <a:ext cx="917904" cy="917904"/>
      </dsp:txXfrm>
    </dsp:sp>
    <dsp:sp modelId="{E7930CFA-BF9D-411A-AC17-3E2A4B9E4052}">
      <dsp:nvSpPr>
        <dsp:cNvPr id="0" name=""/>
        <dsp:cNvSpPr/>
      </dsp:nvSpPr>
      <dsp:spPr>
        <a:xfrm>
          <a:off x="5261407" y="2536573"/>
          <a:ext cx="1298112" cy="1298112"/>
        </a:xfrm>
        <a:prstGeom prst="ellipse">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Saneamiento</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5451511" y="2726677"/>
        <a:ext cx="917904" cy="917904"/>
      </dsp:txXfrm>
    </dsp:sp>
    <dsp:sp modelId="{B2851D54-F75C-4DF9-ACFB-AD82D8C927EA}">
      <dsp:nvSpPr>
        <dsp:cNvPr id="0" name=""/>
        <dsp:cNvSpPr/>
      </dsp:nvSpPr>
      <dsp:spPr>
        <a:xfrm>
          <a:off x="3797183" y="3381943"/>
          <a:ext cx="1298112" cy="1298112"/>
        </a:xfrm>
        <a:prstGeom prst="ellipse">
          <a:avLst/>
        </a:prstGeom>
        <a:blipFill rotWithShape="0">
          <a:blip xmlns:r="http://schemas.openxmlformats.org/officeDocument/2006/relationships" r:embed="rId4"/>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Educación / Estimulación</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3987287" y="3572047"/>
        <a:ext cx="917904" cy="917904"/>
      </dsp:txXfrm>
    </dsp:sp>
    <dsp:sp modelId="{09148A92-420A-4442-BAB0-06AB495EF70C}">
      <dsp:nvSpPr>
        <dsp:cNvPr id="0" name=""/>
        <dsp:cNvSpPr/>
      </dsp:nvSpPr>
      <dsp:spPr>
        <a:xfrm>
          <a:off x="2332959" y="2536573"/>
          <a:ext cx="1298112" cy="1298112"/>
        </a:xfrm>
        <a:prstGeom prst="ellipse">
          <a:avLst/>
        </a:prstGeom>
        <a:blipFill rotWithShape="0">
          <a:blip xmlns:r="http://schemas.openxmlformats.org/officeDocument/2006/relationships" r:embed="rId5"/>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Salud</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2523063" y="2726677"/>
        <a:ext cx="917904" cy="917904"/>
      </dsp:txXfrm>
    </dsp:sp>
    <dsp:sp modelId="{AD7C57ED-7DE0-477B-9570-CCC25E839AA9}">
      <dsp:nvSpPr>
        <dsp:cNvPr id="0" name=""/>
        <dsp:cNvSpPr/>
      </dsp:nvSpPr>
      <dsp:spPr>
        <a:xfrm>
          <a:off x="2332959" y="845833"/>
          <a:ext cx="1298112" cy="1298112"/>
        </a:xfrm>
        <a:prstGeom prst="ellipse">
          <a:avLst/>
        </a:prstGeom>
        <a:blipFill rotWithShape="0">
          <a:blip xmlns:r="http://schemas.openxmlformats.org/officeDocument/2006/relationships" r:embed="rId6"/>
          <a:stretch>
            <a:fillRect/>
          </a:stretch>
        </a:blip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s-AR" sz="1200" b="1" kern="120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Información</a:t>
          </a:r>
          <a:endParaRPr lang="es-AR" sz="1200" b="1" kern="120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endParaRPr>
        </a:p>
      </dsp:txBody>
      <dsp:txXfrm>
        <a:off x="2523063" y="1035937"/>
        <a:ext cx="917904" cy="91790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AR"/>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320C7B3-8D91-4C14-86B1-57149FA5342F}" type="datetimeFigureOut">
              <a:rPr lang="es-AR" smtClean="0"/>
              <a:t>31/7/2023</a:t>
            </a:fld>
            <a:endParaRPr lang="es-AR"/>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ctr"/>
          <a:lstStyle>
            <a:lvl1pPr algn="l">
              <a:defRPr sz="1200"/>
            </a:lvl1pPr>
          </a:lstStyle>
          <a:p>
            <a:pPr>
              <a:defRPr/>
            </a:pPr>
            <a:r>
              <a:rPr lang="es-AR" altLang="en-US" dirty="0"/>
              <a:t>Profesores: Ianina Tuñón y Santiago Poy</a:t>
            </a:r>
            <a:endParaRPr lang="es-ES" altLang="en-US" dirty="0"/>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128B982-D1AA-4C07-8DD1-97B34204C1A1}" type="slidenum">
              <a:rPr lang="es-AR" smtClean="0"/>
              <a:t>‹Nº›</a:t>
            </a:fld>
            <a:endParaRPr lang="es-AR"/>
          </a:p>
        </p:txBody>
      </p:sp>
    </p:spTree>
    <p:extLst>
      <p:ext uri="{BB962C8B-B14F-4D97-AF65-F5344CB8AC3E}">
        <p14:creationId xmlns:p14="http://schemas.microsoft.com/office/powerpoint/2010/main" val="485464250"/>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0DBCC703-1A07-49AF-BE10-13C21202E4B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cs typeface="Arial" charset="0"/>
              </a:defRPr>
            </a:lvl1pPr>
          </a:lstStyle>
          <a:p>
            <a:pPr>
              <a:defRPr/>
            </a:pPr>
            <a:endParaRPr lang="es-MX"/>
          </a:p>
        </p:txBody>
      </p:sp>
      <p:sp>
        <p:nvSpPr>
          <p:cNvPr id="64515" name="Rectangle 3">
            <a:extLst>
              <a:ext uri="{FF2B5EF4-FFF2-40B4-BE49-F238E27FC236}">
                <a16:creationId xmlns:a16="http://schemas.microsoft.com/office/drawing/2014/main" id="{B3B39071-083D-463B-B479-7C5C04A8482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cs typeface="Arial" charset="0"/>
              </a:defRPr>
            </a:lvl1pPr>
          </a:lstStyle>
          <a:p>
            <a:pPr>
              <a:defRPr/>
            </a:pPr>
            <a:fld id="{F9400E4A-20D7-4BE8-93C2-686A6C36516F}" type="datetimeFigureOut">
              <a:rPr lang="es-MX"/>
              <a:pPr>
                <a:defRPr/>
              </a:pPr>
              <a:t>31/07/2023</a:t>
            </a:fld>
            <a:endParaRPr lang="es-MX"/>
          </a:p>
        </p:txBody>
      </p:sp>
      <p:sp>
        <p:nvSpPr>
          <p:cNvPr id="63492" name="Rectangle 4">
            <a:extLst>
              <a:ext uri="{FF2B5EF4-FFF2-40B4-BE49-F238E27FC236}">
                <a16:creationId xmlns:a16="http://schemas.microsoft.com/office/drawing/2014/main" id="{DBA1FD9F-57C1-408D-8259-4387739A95A8}"/>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6BE5C1E9-78B6-4BA3-AD9B-A88A1B16A2BC}"/>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MX" noProof="0"/>
              <a:t>Haga clic para modificar el estilo de texto del patrón</a:t>
            </a:r>
          </a:p>
          <a:p>
            <a:pPr lvl="1"/>
            <a:r>
              <a:rPr lang="es-MX" noProof="0"/>
              <a:t>Segundo nivel</a:t>
            </a:r>
          </a:p>
          <a:p>
            <a:pPr lvl="2"/>
            <a:r>
              <a:rPr lang="es-MX" noProof="0"/>
              <a:t>Tercer nivel</a:t>
            </a:r>
          </a:p>
          <a:p>
            <a:pPr lvl="3"/>
            <a:r>
              <a:rPr lang="es-MX" noProof="0"/>
              <a:t>Cuarto nivel</a:t>
            </a:r>
          </a:p>
          <a:p>
            <a:pPr lvl="4"/>
            <a:r>
              <a:rPr lang="es-MX" noProof="0"/>
              <a:t>Quinto nivel</a:t>
            </a:r>
          </a:p>
        </p:txBody>
      </p:sp>
      <p:sp>
        <p:nvSpPr>
          <p:cNvPr id="64518" name="Rectangle 6">
            <a:extLst>
              <a:ext uri="{FF2B5EF4-FFF2-40B4-BE49-F238E27FC236}">
                <a16:creationId xmlns:a16="http://schemas.microsoft.com/office/drawing/2014/main" id="{489A42EF-73AA-4E60-B456-E6664FA92B2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cs typeface="Arial" charset="0"/>
              </a:defRPr>
            </a:lvl1pPr>
          </a:lstStyle>
          <a:p>
            <a:pPr>
              <a:defRPr/>
            </a:pPr>
            <a:r>
              <a:rPr lang="es-AR"/>
              <a:t>Unidad 1 - Introducción a la estadística y entorno SPSS - Docente: Santiago Poy</a:t>
            </a:r>
            <a:endParaRPr lang="es-MX"/>
          </a:p>
        </p:txBody>
      </p:sp>
      <p:sp>
        <p:nvSpPr>
          <p:cNvPr id="64519" name="Rectangle 7">
            <a:extLst>
              <a:ext uri="{FF2B5EF4-FFF2-40B4-BE49-F238E27FC236}">
                <a16:creationId xmlns:a16="http://schemas.microsoft.com/office/drawing/2014/main" id="{14695A5C-5A37-4E64-B12E-BC5F068BF8B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58E5057-86B3-4CC0-9AD5-95A2DAE7D160}" type="slidenum">
              <a:rPr lang="es-MX" altLang="es-AR"/>
              <a:pPr/>
              <a:t>‹Nº›</a:t>
            </a:fld>
            <a:endParaRPr lang="es-MX" altLang="es-AR"/>
          </a:p>
        </p:txBody>
      </p:sp>
    </p:spTree>
    <p:extLst>
      <p:ext uri="{BB962C8B-B14F-4D97-AF65-F5344CB8AC3E}">
        <p14:creationId xmlns:p14="http://schemas.microsoft.com/office/powerpoint/2010/main" val="4266105336"/>
      </p:ext>
    </p:extLst>
  </p:cSld>
  <p:clrMap bg1="lt1" tx1="dk1" bg2="lt2" tx2="dk2" accent1="accent1" accent2="accent2" accent3="accent3" accent4="accent4" accent5="accent5" accent6="accent6" hlink="hlink" folHlink="folHlink"/>
  <p:hf sldNum="0" hdr="0" dt="0"/>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AR"/>
          </a:p>
        </p:txBody>
      </p:sp>
      <p:sp>
        <p:nvSpPr>
          <p:cNvPr id="4" name="Rectangle 4">
            <a:extLst>
              <a:ext uri="{FF2B5EF4-FFF2-40B4-BE49-F238E27FC236}">
                <a16:creationId xmlns:a16="http://schemas.microsoft.com/office/drawing/2014/main" id="{BC90C459-089D-4135-B03E-BD3DBF00CBA2}"/>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83357431-7106-419F-95DA-0CDE4B38F2C8}"/>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6" name="Rectangle 6">
            <a:extLst>
              <a:ext uri="{FF2B5EF4-FFF2-40B4-BE49-F238E27FC236}">
                <a16:creationId xmlns:a16="http://schemas.microsoft.com/office/drawing/2014/main" id="{DBE1017A-35B4-45B9-B7C1-64E129505D11}"/>
              </a:ext>
            </a:extLst>
          </p:cNvPr>
          <p:cNvSpPr>
            <a:spLocks noGrp="1" noChangeArrowheads="1"/>
          </p:cNvSpPr>
          <p:nvPr>
            <p:ph type="sldNum" sz="quarter" idx="12"/>
          </p:nvPr>
        </p:nvSpPr>
        <p:spPr>
          <a:ln/>
        </p:spPr>
        <p:txBody>
          <a:bodyPr/>
          <a:lstStyle>
            <a:lvl1pPr>
              <a:defRPr/>
            </a:lvl1pPr>
          </a:lstStyle>
          <a:p>
            <a:fld id="{4BF03A8A-2F1C-4072-8A01-F1A5D68490C4}" type="slidenum">
              <a:rPr lang="es-ES" altLang="en-US"/>
              <a:pPr/>
              <a:t>‹Nº›</a:t>
            </a:fld>
            <a:endParaRPr lang="es-ES" altLang="en-US"/>
          </a:p>
        </p:txBody>
      </p:sp>
    </p:spTree>
    <p:extLst>
      <p:ext uri="{BB962C8B-B14F-4D97-AF65-F5344CB8AC3E}">
        <p14:creationId xmlns:p14="http://schemas.microsoft.com/office/powerpoint/2010/main" val="3504504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a:extLst>
              <a:ext uri="{FF2B5EF4-FFF2-40B4-BE49-F238E27FC236}">
                <a16:creationId xmlns:a16="http://schemas.microsoft.com/office/drawing/2014/main" id="{5CDF4E90-D199-408E-86CA-EBD5407CF37B}"/>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8F8A92F1-229D-40EB-98AB-0BDBF75FFD25}"/>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6" name="Rectangle 6">
            <a:extLst>
              <a:ext uri="{FF2B5EF4-FFF2-40B4-BE49-F238E27FC236}">
                <a16:creationId xmlns:a16="http://schemas.microsoft.com/office/drawing/2014/main" id="{82B27034-59A8-4B50-BC3F-9470B4E9C39E}"/>
              </a:ext>
            </a:extLst>
          </p:cNvPr>
          <p:cNvSpPr>
            <a:spLocks noGrp="1" noChangeArrowheads="1"/>
          </p:cNvSpPr>
          <p:nvPr>
            <p:ph type="sldNum" sz="quarter" idx="12"/>
          </p:nvPr>
        </p:nvSpPr>
        <p:spPr>
          <a:ln/>
        </p:spPr>
        <p:txBody>
          <a:bodyPr/>
          <a:lstStyle>
            <a:lvl1pPr>
              <a:defRPr/>
            </a:lvl1pPr>
          </a:lstStyle>
          <a:p>
            <a:fld id="{DBA09A25-A9A4-4F8D-9A63-C26CE6EC84B5}" type="slidenum">
              <a:rPr lang="es-ES" altLang="en-US"/>
              <a:pPr/>
              <a:t>‹Nº›</a:t>
            </a:fld>
            <a:endParaRPr lang="es-ES" altLang="en-US"/>
          </a:p>
        </p:txBody>
      </p:sp>
    </p:spTree>
    <p:extLst>
      <p:ext uri="{BB962C8B-B14F-4D97-AF65-F5344CB8AC3E}">
        <p14:creationId xmlns:p14="http://schemas.microsoft.com/office/powerpoint/2010/main" val="1529389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a:extLst>
              <a:ext uri="{FF2B5EF4-FFF2-40B4-BE49-F238E27FC236}">
                <a16:creationId xmlns:a16="http://schemas.microsoft.com/office/drawing/2014/main" id="{1D27128E-2A24-4EEC-82A5-43AA9F2ECCAE}"/>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5" name="Rectangle 5">
            <a:extLst>
              <a:ext uri="{FF2B5EF4-FFF2-40B4-BE49-F238E27FC236}">
                <a16:creationId xmlns:a16="http://schemas.microsoft.com/office/drawing/2014/main" id="{FCB284B6-03A8-4479-9E3B-BB18B814A4F7}"/>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6" name="Rectangle 6">
            <a:extLst>
              <a:ext uri="{FF2B5EF4-FFF2-40B4-BE49-F238E27FC236}">
                <a16:creationId xmlns:a16="http://schemas.microsoft.com/office/drawing/2014/main" id="{7BF1C8F1-8C1D-4EAA-8B63-18933BD1B288}"/>
              </a:ext>
            </a:extLst>
          </p:cNvPr>
          <p:cNvSpPr>
            <a:spLocks noGrp="1" noChangeArrowheads="1"/>
          </p:cNvSpPr>
          <p:nvPr>
            <p:ph type="sldNum" sz="quarter" idx="12"/>
          </p:nvPr>
        </p:nvSpPr>
        <p:spPr>
          <a:ln/>
        </p:spPr>
        <p:txBody>
          <a:bodyPr/>
          <a:lstStyle>
            <a:lvl1pPr>
              <a:defRPr/>
            </a:lvl1pPr>
          </a:lstStyle>
          <a:p>
            <a:fld id="{D5F20839-FEAF-469C-8B74-149EA337212B}" type="slidenum">
              <a:rPr lang="es-ES" altLang="en-US"/>
              <a:pPr/>
              <a:t>‹Nº›</a:t>
            </a:fld>
            <a:endParaRPr lang="es-ES" altLang="en-US"/>
          </a:p>
        </p:txBody>
      </p:sp>
    </p:spTree>
    <p:extLst>
      <p:ext uri="{BB962C8B-B14F-4D97-AF65-F5344CB8AC3E}">
        <p14:creationId xmlns:p14="http://schemas.microsoft.com/office/powerpoint/2010/main" val="2377294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4">
            <a:extLst>
              <a:ext uri="{FF2B5EF4-FFF2-40B4-BE49-F238E27FC236}">
                <a16:creationId xmlns:a16="http://schemas.microsoft.com/office/drawing/2014/main" id="{45C9ACD6-A819-4C29-94A7-3F6688CCCBC1}"/>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6" name="Rectangle 5">
            <a:extLst>
              <a:ext uri="{FF2B5EF4-FFF2-40B4-BE49-F238E27FC236}">
                <a16:creationId xmlns:a16="http://schemas.microsoft.com/office/drawing/2014/main" id="{D7705075-31CE-4FB0-9837-CB2EBE12A81E}"/>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7" name="Rectangle 6">
            <a:extLst>
              <a:ext uri="{FF2B5EF4-FFF2-40B4-BE49-F238E27FC236}">
                <a16:creationId xmlns:a16="http://schemas.microsoft.com/office/drawing/2014/main" id="{CEFB0CB6-81BE-49F5-813A-354FBE11D80C}"/>
              </a:ext>
            </a:extLst>
          </p:cNvPr>
          <p:cNvSpPr>
            <a:spLocks noGrp="1" noChangeArrowheads="1"/>
          </p:cNvSpPr>
          <p:nvPr>
            <p:ph type="sldNum" sz="quarter" idx="12"/>
          </p:nvPr>
        </p:nvSpPr>
        <p:spPr>
          <a:ln/>
        </p:spPr>
        <p:txBody>
          <a:bodyPr/>
          <a:lstStyle>
            <a:lvl1pPr>
              <a:defRPr/>
            </a:lvl1pPr>
          </a:lstStyle>
          <a:p>
            <a:fld id="{E2C3E141-8601-4AB0-B5E3-CD32008BCD6B}" type="slidenum">
              <a:rPr lang="es-ES" altLang="en-US"/>
              <a:pPr/>
              <a:t>‹Nº›</a:t>
            </a:fld>
            <a:endParaRPr lang="es-ES" altLang="en-US"/>
          </a:p>
        </p:txBody>
      </p:sp>
    </p:spTree>
    <p:extLst>
      <p:ext uri="{BB962C8B-B14F-4D97-AF65-F5344CB8AC3E}">
        <p14:creationId xmlns:p14="http://schemas.microsoft.com/office/powerpoint/2010/main" val="315989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4">
            <a:extLst>
              <a:ext uri="{FF2B5EF4-FFF2-40B4-BE49-F238E27FC236}">
                <a16:creationId xmlns:a16="http://schemas.microsoft.com/office/drawing/2014/main" id="{34D1EEB0-CC88-4C40-A51D-F29BAB1A05D2}"/>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8" name="Rectangle 5">
            <a:extLst>
              <a:ext uri="{FF2B5EF4-FFF2-40B4-BE49-F238E27FC236}">
                <a16:creationId xmlns:a16="http://schemas.microsoft.com/office/drawing/2014/main" id="{CC4F3279-A526-4969-9D4F-DD4C52C52197}"/>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9" name="Rectangle 6">
            <a:extLst>
              <a:ext uri="{FF2B5EF4-FFF2-40B4-BE49-F238E27FC236}">
                <a16:creationId xmlns:a16="http://schemas.microsoft.com/office/drawing/2014/main" id="{A88D25DC-1F35-4891-ABA3-64D6153D4069}"/>
              </a:ext>
            </a:extLst>
          </p:cNvPr>
          <p:cNvSpPr>
            <a:spLocks noGrp="1" noChangeArrowheads="1"/>
          </p:cNvSpPr>
          <p:nvPr>
            <p:ph type="sldNum" sz="quarter" idx="12"/>
          </p:nvPr>
        </p:nvSpPr>
        <p:spPr>
          <a:ln/>
        </p:spPr>
        <p:txBody>
          <a:bodyPr/>
          <a:lstStyle>
            <a:lvl1pPr>
              <a:defRPr/>
            </a:lvl1pPr>
          </a:lstStyle>
          <a:p>
            <a:fld id="{50CEE98A-C1D9-4A2C-BF4B-DD1D74111923}" type="slidenum">
              <a:rPr lang="es-ES" altLang="en-US"/>
              <a:pPr/>
              <a:t>‹Nº›</a:t>
            </a:fld>
            <a:endParaRPr lang="es-ES" altLang="en-US"/>
          </a:p>
        </p:txBody>
      </p:sp>
    </p:spTree>
    <p:extLst>
      <p:ext uri="{BB962C8B-B14F-4D97-AF65-F5344CB8AC3E}">
        <p14:creationId xmlns:p14="http://schemas.microsoft.com/office/powerpoint/2010/main" val="2667448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4">
            <a:extLst>
              <a:ext uri="{FF2B5EF4-FFF2-40B4-BE49-F238E27FC236}">
                <a16:creationId xmlns:a16="http://schemas.microsoft.com/office/drawing/2014/main" id="{536F48FB-1BA7-412E-A253-98F15F2E2830}"/>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4" name="Rectangle 5">
            <a:extLst>
              <a:ext uri="{FF2B5EF4-FFF2-40B4-BE49-F238E27FC236}">
                <a16:creationId xmlns:a16="http://schemas.microsoft.com/office/drawing/2014/main" id="{6BC09E8F-0EDD-4BA8-A58D-0CA484C607EF}"/>
              </a:ext>
            </a:extLst>
          </p:cNvPr>
          <p:cNvSpPr>
            <a:spLocks noGrp="1" noChangeArrowheads="1"/>
          </p:cNvSpPr>
          <p:nvPr>
            <p:ph type="ftr" sz="quarter" idx="11"/>
          </p:nvPr>
        </p:nvSpPr>
        <p:spPr>
          <a:ln/>
        </p:spPr>
        <p:txBody>
          <a:bodyPr/>
          <a:lstStyle>
            <a:lvl1pPr>
              <a:defRPr/>
            </a:lvl1pPr>
          </a:lstStyle>
          <a:p>
            <a:pPr>
              <a:defRPr/>
            </a:pPr>
            <a:r>
              <a:rPr lang="es-AR" altLang="en-US"/>
              <a:t>Profesores: Ianina Tuñón y Santiago Poy</a:t>
            </a:r>
            <a:endParaRPr lang="es-ES" altLang="en-US" dirty="0"/>
          </a:p>
        </p:txBody>
      </p:sp>
      <p:sp>
        <p:nvSpPr>
          <p:cNvPr id="5" name="Rectangle 6">
            <a:extLst>
              <a:ext uri="{FF2B5EF4-FFF2-40B4-BE49-F238E27FC236}">
                <a16:creationId xmlns:a16="http://schemas.microsoft.com/office/drawing/2014/main" id="{6A09A667-F0AB-4235-ACF8-906C856EF85D}"/>
              </a:ext>
            </a:extLst>
          </p:cNvPr>
          <p:cNvSpPr>
            <a:spLocks noGrp="1" noChangeArrowheads="1"/>
          </p:cNvSpPr>
          <p:nvPr>
            <p:ph type="sldNum" sz="quarter" idx="12"/>
          </p:nvPr>
        </p:nvSpPr>
        <p:spPr>
          <a:ln/>
        </p:spPr>
        <p:txBody>
          <a:bodyPr/>
          <a:lstStyle>
            <a:lvl1pPr>
              <a:defRPr/>
            </a:lvl1pPr>
          </a:lstStyle>
          <a:p>
            <a:fld id="{40372518-F6CC-47FF-86FB-20590D2D75E8}" type="slidenum">
              <a:rPr lang="es-ES" altLang="en-US"/>
              <a:pPr/>
              <a:t>‹Nº›</a:t>
            </a:fld>
            <a:endParaRPr lang="es-ES" altLang="en-US"/>
          </a:p>
        </p:txBody>
      </p:sp>
    </p:spTree>
    <p:extLst>
      <p:ext uri="{BB962C8B-B14F-4D97-AF65-F5344CB8AC3E}">
        <p14:creationId xmlns:p14="http://schemas.microsoft.com/office/powerpoint/2010/main" val="160798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8DAD5D-DB9E-4370-9C11-105CB754433B}"/>
              </a:ext>
            </a:extLst>
          </p:cNvPr>
          <p:cNvSpPr>
            <a:spLocks noGrp="1" noChangeArrowheads="1"/>
          </p:cNvSpPr>
          <p:nvPr>
            <p:ph type="dt" sz="half" idx="10"/>
          </p:nvPr>
        </p:nvSpPr>
        <p:spPr>
          <a:ln/>
        </p:spPr>
        <p:txBody>
          <a:bodyPr/>
          <a:lstStyle>
            <a:lvl1pPr>
              <a:defRPr/>
            </a:lvl1pPr>
          </a:lstStyle>
          <a:p>
            <a:pPr>
              <a:defRPr/>
            </a:pPr>
            <a:endParaRPr lang="es-ES" altLang="en-US"/>
          </a:p>
        </p:txBody>
      </p:sp>
      <p:sp>
        <p:nvSpPr>
          <p:cNvPr id="3" name="Rectangle 5">
            <a:extLst>
              <a:ext uri="{FF2B5EF4-FFF2-40B4-BE49-F238E27FC236}">
                <a16:creationId xmlns:a16="http://schemas.microsoft.com/office/drawing/2014/main" id="{D877FDFF-624A-4C3A-A163-38F743A15AD9}"/>
              </a:ext>
            </a:extLst>
          </p:cNvPr>
          <p:cNvSpPr>
            <a:spLocks noGrp="1" noChangeArrowheads="1"/>
          </p:cNvSpPr>
          <p:nvPr>
            <p:ph type="ftr" sz="quarter" idx="11"/>
          </p:nvPr>
        </p:nvSpPr>
        <p:spPr>
          <a:ln/>
        </p:spPr>
        <p:txBody>
          <a:bodyPr anchor="ctr"/>
          <a:lstStyle>
            <a:lvl1pPr>
              <a:defRPr>
                <a:solidFill>
                  <a:schemeClr val="bg1"/>
                </a:solidFill>
                <a:latin typeface="Calibri" panose="020F0502020204030204" pitchFamily="34" charset="0"/>
                <a:cs typeface="Calibri" panose="020F0502020204030204" pitchFamily="34" charset="0"/>
              </a:defRPr>
            </a:lvl1pPr>
          </a:lstStyle>
          <a:p>
            <a:pPr>
              <a:defRPr/>
            </a:pPr>
            <a:r>
              <a:rPr lang="es-AR" altLang="en-US" dirty="0"/>
              <a:t>Profesores: Ianina Tuñón y Santiago Poy</a:t>
            </a:r>
            <a:endParaRPr lang="es-ES" altLang="en-US" dirty="0"/>
          </a:p>
        </p:txBody>
      </p:sp>
      <p:sp>
        <p:nvSpPr>
          <p:cNvPr id="4" name="Rectangle 6">
            <a:extLst>
              <a:ext uri="{FF2B5EF4-FFF2-40B4-BE49-F238E27FC236}">
                <a16:creationId xmlns:a16="http://schemas.microsoft.com/office/drawing/2014/main" id="{AE63B1BE-09F1-40C8-A7DA-390378599B37}"/>
              </a:ext>
            </a:extLst>
          </p:cNvPr>
          <p:cNvSpPr>
            <a:spLocks noGrp="1" noChangeArrowheads="1"/>
          </p:cNvSpPr>
          <p:nvPr>
            <p:ph type="sldNum" sz="quarter" idx="12"/>
          </p:nvPr>
        </p:nvSpPr>
        <p:spPr>
          <a:ln/>
        </p:spPr>
        <p:txBody>
          <a:bodyPr/>
          <a:lstStyle>
            <a:lvl1pPr>
              <a:defRPr/>
            </a:lvl1pPr>
          </a:lstStyle>
          <a:p>
            <a:fld id="{E4801FF2-09AB-46FD-82F0-246320401FD0}" type="slidenum">
              <a:rPr lang="es-ES" altLang="en-US"/>
              <a:pPr/>
              <a:t>‹Nº›</a:t>
            </a:fld>
            <a:endParaRPr lang="es-ES" altLang="en-US"/>
          </a:p>
        </p:txBody>
      </p:sp>
    </p:spTree>
    <p:extLst>
      <p:ext uri="{BB962C8B-B14F-4D97-AF65-F5344CB8AC3E}">
        <p14:creationId xmlns:p14="http://schemas.microsoft.com/office/powerpoint/2010/main" val="3115479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58BDF05-FABD-43C3-9BC9-FDE1E3371D22}"/>
              </a:ext>
            </a:extLst>
          </p:cNvPr>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Haga clic para cambiar el estilo de título	</a:t>
            </a:r>
          </a:p>
        </p:txBody>
      </p:sp>
      <p:sp>
        <p:nvSpPr>
          <p:cNvPr id="1027" name="Rectangle 3">
            <a:extLst>
              <a:ext uri="{FF2B5EF4-FFF2-40B4-BE49-F238E27FC236}">
                <a16:creationId xmlns:a16="http://schemas.microsoft.com/office/drawing/2014/main" id="{AE8265E5-9FC7-4DB8-A0FE-26577BD2E300}"/>
              </a:ext>
            </a:extLst>
          </p:cNvPr>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41988" name="Rectangle 4">
            <a:extLst>
              <a:ext uri="{FF2B5EF4-FFF2-40B4-BE49-F238E27FC236}">
                <a16:creationId xmlns:a16="http://schemas.microsoft.com/office/drawing/2014/main" id="{CF5C0DCD-F1A1-4B18-A1EB-757F0FD29529}"/>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mj-lt"/>
                <a:cs typeface="Arial" charset="0"/>
              </a:defRPr>
            </a:lvl1pPr>
          </a:lstStyle>
          <a:p>
            <a:pPr>
              <a:defRPr/>
            </a:pPr>
            <a:endParaRPr lang="es-ES" altLang="en-US"/>
          </a:p>
        </p:txBody>
      </p:sp>
      <p:sp>
        <p:nvSpPr>
          <p:cNvPr id="41989" name="Rectangle 5">
            <a:extLst>
              <a:ext uri="{FF2B5EF4-FFF2-40B4-BE49-F238E27FC236}">
                <a16:creationId xmlns:a16="http://schemas.microsoft.com/office/drawing/2014/main" id="{08257659-DCE3-4DBB-86D8-A8B1667658A9}"/>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eaLnBrk="1" hangingPunct="1">
              <a:defRPr sz="1200">
                <a:solidFill>
                  <a:schemeClr val="bg1"/>
                </a:solidFill>
                <a:latin typeface="Calibri" panose="020F0502020204030204" pitchFamily="34" charset="0"/>
                <a:cs typeface="Calibri" panose="020F0502020204030204" pitchFamily="34" charset="0"/>
              </a:defRPr>
            </a:lvl1pPr>
          </a:lstStyle>
          <a:p>
            <a:pPr>
              <a:defRPr/>
            </a:pPr>
            <a:r>
              <a:rPr lang="es-AR" altLang="en-US" dirty="0"/>
              <a:t>Profesores: Ianina Tuñón y Santiago Poy</a:t>
            </a:r>
            <a:endParaRPr lang="es-ES" altLang="en-US" dirty="0"/>
          </a:p>
        </p:txBody>
      </p:sp>
      <p:sp>
        <p:nvSpPr>
          <p:cNvPr id="41990" name="Rectangle 6">
            <a:extLst>
              <a:ext uri="{FF2B5EF4-FFF2-40B4-BE49-F238E27FC236}">
                <a16:creationId xmlns:a16="http://schemas.microsoft.com/office/drawing/2014/main" id="{64D79258-29B9-4646-884F-FCCE4A4328F4}"/>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Garamond" panose="02020404030301010803" pitchFamily="18" charset="0"/>
              </a:defRPr>
            </a:lvl1pPr>
          </a:lstStyle>
          <a:p>
            <a:fld id="{58E2C005-FD5B-4092-B1C7-AEEBB6E8C6DA}" type="slidenum">
              <a:rPr lang="es-ES" altLang="en-US"/>
              <a:pPr/>
              <a:t>‹Nº›</a:t>
            </a:fld>
            <a:endParaRPr lang="es-ES" altLang="en-US"/>
          </a:p>
        </p:txBody>
      </p:sp>
      <p:sp>
        <p:nvSpPr>
          <p:cNvPr id="41991" name="Freeform 7">
            <a:extLst>
              <a:ext uri="{FF2B5EF4-FFF2-40B4-BE49-F238E27FC236}">
                <a16:creationId xmlns:a16="http://schemas.microsoft.com/office/drawing/2014/main" id="{86E47A5B-2503-4F12-BED6-9F587519DC23}"/>
              </a:ext>
            </a:extLst>
          </p:cNvPr>
          <p:cNvSpPr>
            <a:spLocks noChangeArrowheads="1"/>
          </p:cNvSpPr>
          <p:nvPr/>
        </p:nvSpPr>
        <p:spPr bwMode="auto">
          <a:xfrm>
            <a:off x="381000" y="228600"/>
            <a:ext cx="82296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algn="ctr" eaLnBrk="1" hangingPunct="1">
              <a:defRPr/>
            </a:pPr>
            <a:endParaRPr lang="es-AR">
              <a:latin typeface="Arial" charset="0"/>
              <a:cs typeface="Arial" charset="0"/>
            </a:endParaRPr>
          </a:p>
        </p:txBody>
      </p:sp>
      <p:sp>
        <p:nvSpPr>
          <p:cNvPr id="41992" name="Line 8">
            <a:extLst>
              <a:ext uri="{FF2B5EF4-FFF2-40B4-BE49-F238E27FC236}">
                <a16:creationId xmlns:a16="http://schemas.microsoft.com/office/drawing/2014/main" id="{D75277BD-D2E9-468D-85CF-69BE4A513230}"/>
              </a:ext>
            </a:extLst>
          </p:cNvPr>
          <p:cNvSpPr>
            <a:spLocks noChangeShapeType="1"/>
          </p:cNvSpPr>
          <p:nvPr/>
        </p:nvSpPr>
        <p:spPr bwMode="auto">
          <a:xfrm>
            <a:off x="457200" y="6172200"/>
            <a:ext cx="8229600" cy="0"/>
          </a:xfrm>
          <a:prstGeom prst="line">
            <a:avLst/>
          </a:prstGeom>
          <a:noFill/>
          <a:ln w="19050">
            <a:solidFill>
              <a:schemeClr val="accent1"/>
            </a:solidFill>
            <a:round/>
            <a:headEnd/>
            <a:tailEnd/>
          </a:ln>
          <a:effectLst/>
        </p:spPr>
        <p:txBody>
          <a:bodyPr/>
          <a:lstStyle/>
          <a:p>
            <a:pPr algn="ctr" eaLnBrk="1" hangingPunct="1">
              <a:defRPr/>
            </a:pPr>
            <a:endParaRPr lang="es-AR">
              <a:latin typeface="Arial" charset="0"/>
              <a:cs typeface="Arial" charset="0"/>
            </a:endParaRPr>
          </a:p>
        </p:txBody>
      </p:sp>
    </p:spTree>
  </p:cSld>
  <p:clrMap bg1="dk2" tx1="lt1" bg2="dk1"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Lst>
  <p:hf hd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0.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Imagen que contiene natación, posando, foto, joven&#10;&#10;Descripción generada automáticamente">
            <a:extLst>
              <a:ext uri="{FF2B5EF4-FFF2-40B4-BE49-F238E27FC236}">
                <a16:creationId xmlns:a16="http://schemas.microsoft.com/office/drawing/2014/main" id="{738C8779-3B70-4608-9C05-A037DDC195D5}"/>
              </a:ext>
            </a:extLst>
          </p:cNvPr>
          <p:cNvPicPr>
            <a:picLocks noChangeAspect="1"/>
          </p:cNvPicPr>
          <p:nvPr/>
        </p:nvPicPr>
        <p:blipFill rotWithShape="1">
          <a:blip r:embed="rId2">
            <a:duotone>
              <a:prstClr val="black"/>
              <a:schemeClr val="accent2">
                <a:tint val="45000"/>
                <a:satMod val="400000"/>
              </a:schemeClr>
            </a:duotone>
            <a:extLst>
              <a:ext uri="{28A0092B-C50C-407E-A947-70E740481C1C}">
                <a14:useLocalDpi xmlns:a14="http://schemas.microsoft.com/office/drawing/2010/main" val="0"/>
              </a:ext>
            </a:extLst>
          </a:blip>
          <a:srcRect l="30785" r="9502"/>
          <a:stretch/>
        </p:blipFill>
        <p:spPr>
          <a:xfrm>
            <a:off x="-54735" y="0"/>
            <a:ext cx="9198736" cy="6859990"/>
          </a:xfrm>
          <a:prstGeom prst="rect">
            <a:avLst/>
          </a:prstGeom>
        </p:spPr>
      </p:pic>
      <p:sp>
        <p:nvSpPr>
          <p:cNvPr id="10" name="Rectangle 2">
            <a:extLst>
              <a:ext uri="{FF2B5EF4-FFF2-40B4-BE49-F238E27FC236}">
                <a16:creationId xmlns:a16="http://schemas.microsoft.com/office/drawing/2014/main" id="{AB9B752E-DA10-4058-B062-963BF9FB86C1}"/>
              </a:ext>
            </a:extLst>
          </p:cNvPr>
          <p:cNvSpPr txBox="1">
            <a:spLocks noChangeArrowheads="1"/>
          </p:cNvSpPr>
          <p:nvPr/>
        </p:nvSpPr>
        <p:spPr bwMode="auto">
          <a:xfrm>
            <a:off x="179387" y="4510088"/>
            <a:ext cx="7228264" cy="143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algn="just" eaLnBrk="1" hangingPunct="1"/>
            <a:r>
              <a:rPr lang="es-AR" altLang="es-AR" sz="4000" b="1" kern="0" dirty="0">
                <a:solidFill>
                  <a:schemeClr val="tx1"/>
                </a:solidFill>
                <a:effectLst>
                  <a:outerShdw blurRad="38100" dist="38100" dir="2700000" algn="tl">
                    <a:srgbClr val="000000">
                      <a:alpha val="43137"/>
                    </a:srgbClr>
                  </a:outerShdw>
                </a:effectLst>
                <a:latin typeface="Abadi" panose="020B0604020104020204" pitchFamily="34" charset="0"/>
                <a:cs typeface="Calibri" panose="020F0502020204030204" pitchFamily="34" charset="0"/>
              </a:rPr>
              <a:t>Procedimientos y estrategias de construcción de datos para el análisis social</a:t>
            </a:r>
            <a:endParaRPr lang="es-ES" altLang="es-AR" sz="4000" b="1" kern="0" dirty="0">
              <a:solidFill>
                <a:schemeClr val="tx1"/>
              </a:solidFill>
              <a:effectLst>
                <a:outerShdw blurRad="38100" dist="38100" dir="2700000" algn="tl">
                  <a:srgbClr val="000000">
                    <a:alpha val="43137"/>
                  </a:srgbClr>
                </a:outerShdw>
              </a:effectLst>
              <a:latin typeface="Abadi" panose="020B0604020104020204" pitchFamily="34" charset="0"/>
              <a:cs typeface="Calibri" panose="020F0502020204030204" pitchFamily="34" charset="0"/>
            </a:endParaRPr>
          </a:p>
        </p:txBody>
      </p:sp>
      <p:sp>
        <p:nvSpPr>
          <p:cNvPr id="11" name="Rectangle 3">
            <a:extLst>
              <a:ext uri="{FF2B5EF4-FFF2-40B4-BE49-F238E27FC236}">
                <a16:creationId xmlns:a16="http://schemas.microsoft.com/office/drawing/2014/main" id="{8B4B2D46-BB4A-4A9C-92C6-45582D474989}"/>
              </a:ext>
            </a:extLst>
          </p:cNvPr>
          <p:cNvSpPr txBox="1">
            <a:spLocks noChangeArrowheads="1"/>
          </p:cNvSpPr>
          <p:nvPr/>
        </p:nvSpPr>
        <p:spPr bwMode="auto">
          <a:xfrm>
            <a:off x="179387" y="6122301"/>
            <a:ext cx="8569325" cy="75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cs typeface="+mn-cs"/>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cs typeface="+mn-cs"/>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cs typeface="+mn-cs"/>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cs typeface="+mn-cs"/>
              </a:defRPr>
            </a:lvl5pPr>
            <a:lvl6pPr marL="21383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6pPr>
            <a:lvl7pPr marL="25955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7pPr>
            <a:lvl8pPr marL="30527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8pPr>
            <a:lvl9pPr marL="3509963" indent="-339725" algn="l" rtl="0" eaLnBrk="0" fontAlgn="base" hangingPunct="0">
              <a:spcBef>
                <a:spcPct val="20000"/>
              </a:spcBef>
              <a:spcAft>
                <a:spcPct val="0"/>
              </a:spcAft>
              <a:buClr>
                <a:schemeClr val="accent1"/>
              </a:buClr>
              <a:buSzPct val="75000"/>
              <a:buFont typeface="Wingdings" pitchFamily="2" charset="2"/>
              <a:buChar char="§"/>
              <a:defRPr sz="2000">
                <a:solidFill>
                  <a:schemeClr val="tx1"/>
                </a:solidFill>
                <a:latin typeface="+mn-lt"/>
                <a:cs typeface="+mn-cs"/>
              </a:defRPr>
            </a:lvl9pPr>
          </a:lstStyle>
          <a:p>
            <a:pPr marL="0" indent="0" eaLnBrk="1" hangingPunct="1">
              <a:buFont typeface="Wingdings" panose="05000000000000000000" pitchFamily="2" charset="2"/>
              <a:buNone/>
            </a:pPr>
            <a:r>
              <a:rPr lang="es-AR" altLang="es-AR" sz="2000" kern="0" dirty="0">
                <a:effectLst>
                  <a:outerShdw blurRad="38100" dist="38100" dir="2700000" algn="tl">
                    <a:srgbClr val="000000">
                      <a:alpha val="43137"/>
                    </a:srgbClr>
                  </a:outerShdw>
                </a:effectLst>
                <a:latin typeface="Calibri" panose="020F0502020204030204" pitchFamily="34" charset="0"/>
                <a:cs typeface="Calibri" panose="020F0502020204030204" pitchFamily="34" charset="0"/>
              </a:rPr>
              <a:t>Profesores: Ianina Tuñón y Santiago Poy</a:t>
            </a:r>
            <a:endParaRPr lang="es-ES" altLang="es-AR" sz="2400" kern="0" dirty="0">
              <a:effectLst>
                <a:outerShdw blurRad="38100" dist="38100" dir="2700000" algn="tl">
                  <a:srgbClr val="000000">
                    <a:alpha val="43137"/>
                  </a:srgbClr>
                </a:outerShdw>
              </a:effectLst>
              <a:latin typeface="Trebuchet MS" panose="020B0603020202020204" pitchFamily="34" charset="0"/>
            </a:endParaRPr>
          </a:p>
        </p:txBody>
      </p:sp>
      <p:pic>
        <p:nvPicPr>
          <p:cNvPr id="1026" name="Picture 2" descr="UCA - Zoom en UCA">
            <a:extLst>
              <a:ext uri="{FF2B5EF4-FFF2-40B4-BE49-F238E27FC236}">
                <a16:creationId xmlns:a16="http://schemas.microsoft.com/office/drawing/2014/main" id="{C5C9EBC5-B53F-410A-829D-B662239FE6C3}"/>
              </a:ext>
            </a:extLst>
          </p:cNvPr>
          <p:cNvPicPr>
            <a:picLocks noChangeAspect="1" noChangeArrowheads="1"/>
          </p:cNvPicPr>
          <p:nvPr/>
        </p:nvPicPr>
        <p:blipFill>
          <a:blip r:embed="rId3">
            <a:lum bright="70000" contrast="-70000"/>
            <a:extLst>
              <a:ext uri="{BEBA8EAE-BF5A-486C-A8C5-ECC9F3942E4B}">
                <a14:imgProps xmlns:a14="http://schemas.microsoft.com/office/drawing/2010/main">
                  <a14:imgLayer r:embed="rId4">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323528" y="270932"/>
            <a:ext cx="2123728" cy="637118"/>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número de diapositiva 1">
            <a:extLst>
              <a:ext uri="{FF2B5EF4-FFF2-40B4-BE49-F238E27FC236}">
                <a16:creationId xmlns:a16="http://schemas.microsoft.com/office/drawing/2014/main" id="{10EA291A-1719-4185-A48A-F432077B9709}"/>
              </a:ext>
            </a:extLst>
          </p:cNvPr>
          <p:cNvSpPr>
            <a:spLocks noGrp="1"/>
          </p:cNvSpPr>
          <p:nvPr>
            <p:ph type="sldNum" sz="quarter" idx="12"/>
          </p:nvPr>
        </p:nvSpPr>
        <p:spPr/>
        <p:txBody>
          <a:bodyPr/>
          <a:lstStyle/>
          <a:p>
            <a:fld id="{E4801FF2-09AB-46FD-82F0-246320401FD0}" type="slidenum">
              <a:rPr lang="es-ES" altLang="en-US" smtClean="0"/>
              <a:pPr/>
              <a:t>1</a:t>
            </a:fld>
            <a:endParaRPr lang="es-ES" altLang="en-US"/>
          </a:p>
        </p:txBody>
      </p:sp>
      <p:sp>
        <p:nvSpPr>
          <p:cNvPr id="4" name="Marcador de pie de página 3">
            <a:extLst>
              <a:ext uri="{FF2B5EF4-FFF2-40B4-BE49-F238E27FC236}">
                <a16:creationId xmlns:a16="http://schemas.microsoft.com/office/drawing/2014/main" id="{F381E56C-BA53-482D-83C4-5A37E2B2E69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F4F04492-2A97-45A3-94D0-EA8C4F3975E3}"/>
              </a:ext>
            </a:extLst>
          </p:cNvPr>
          <p:cNvSpPr>
            <a:spLocks noGrp="1" noChangeArrowheads="1"/>
          </p:cNvSpPr>
          <p:nvPr>
            <p:ph type="body" idx="4294967295"/>
          </p:nvPr>
        </p:nvSpPr>
        <p:spPr>
          <a:xfrm>
            <a:off x="935831" y="1844824"/>
            <a:ext cx="7272338" cy="2808288"/>
          </a:xfrm>
        </p:spPr>
        <p:txBody>
          <a:bodyPr/>
          <a:lstStyle/>
          <a:p>
            <a:pPr marL="571500" indent="-571500" algn="ctr" eaLnBrk="1" hangingPunct="1">
              <a:buFont typeface="Wingdings" panose="05000000000000000000" pitchFamily="2" charset="2"/>
              <a:buNone/>
            </a:pPr>
            <a:endParaRPr lang="es-AR" altLang="es-AR" sz="3200" b="1" dirty="0">
              <a:solidFill>
                <a:srgbClr val="3366CC"/>
              </a:solidFill>
              <a:latin typeface="Calibri" panose="020F0502020204030204" pitchFamily="34" charset="0"/>
              <a:cs typeface="Calibri" panose="020F0502020204030204" pitchFamily="34" charset="0"/>
            </a:endParaRPr>
          </a:p>
          <a:p>
            <a:pPr marL="571500" indent="-571500" algn="ctr" eaLnBrk="1" hangingPunct="1">
              <a:buFont typeface="Wingdings" panose="05000000000000000000" pitchFamily="2" charset="2"/>
              <a:buNone/>
            </a:pPr>
            <a:r>
              <a:rPr lang="es-AR" altLang="es-AR" sz="4200" b="1" dirty="0">
                <a:solidFill>
                  <a:srgbClr val="3366CC"/>
                </a:solidFill>
                <a:latin typeface="Calibri" panose="020F0502020204030204" pitchFamily="34" charset="0"/>
                <a:cs typeface="Calibri" panose="020F0502020204030204" pitchFamily="34" charset="0"/>
              </a:rPr>
              <a:t>UNIDAD 1</a:t>
            </a:r>
          </a:p>
          <a:p>
            <a:pPr marL="0" indent="0" algn="ctr" eaLnBrk="1" hangingPunct="1">
              <a:buNone/>
            </a:pPr>
            <a:r>
              <a:rPr lang="es-AR" altLang="es-AR" sz="4200" b="1" dirty="0">
                <a:solidFill>
                  <a:srgbClr val="3366CC"/>
                </a:solidFill>
                <a:latin typeface="Calibri" panose="020F0502020204030204" pitchFamily="34" charset="0"/>
                <a:cs typeface="Calibri" panose="020F0502020204030204" pitchFamily="34" charset="0"/>
              </a:rPr>
              <a:t>La operacionalización de conceptos</a:t>
            </a:r>
          </a:p>
        </p:txBody>
      </p:sp>
      <p:sp>
        <p:nvSpPr>
          <p:cNvPr id="3" name="Marcador de número de diapositiva 2">
            <a:extLst>
              <a:ext uri="{FF2B5EF4-FFF2-40B4-BE49-F238E27FC236}">
                <a16:creationId xmlns:a16="http://schemas.microsoft.com/office/drawing/2014/main" id="{5CD5313C-6B35-433F-BF54-71A02976768A}"/>
              </a:ext>
            </a:extLst>
          </p:cNvPr>
          <p:cNvSpPr>
            <a:spLocks noGrp="1"/>
          </p:cNvSpPr>
          <p:nvPr>
            <p:ph type="sldNum" sz="quarter" idx="12"/>
          </p:nvPr>
        </p:nvSpPr>
        <p:spPr/>
        <p:txBody>
          <a:bodyPr/>
          <a:lstStyle/>
          <a:p>
            <a:fld id="{E4801FF2-09AB-46FD-82F0-246320401FD0}" type="slidenum">
              <a:rPr lang="es-ES" altLang="en-US" smtClean="0"/>
              <a:pPr/>
              <a:t>2</a:t>
            </a:fld>
            <a:endParaRPr lang="es-ES" altLang="en-US"/>
          </a:p>
        </p:txBody>
      </p:sp>
      <p:sp>
        <p:nvSpPr>
          <p:cNvPr id="4" name="Marcador de pie de página 3">
            <a:extLst>
              <a:ext uri="{FF2B5EF4-FFF2-40B4-BE49-F238E27FC236}">
                <a16:creationId xmlns:a16="http://schemas.microsoft.com/office/drawing/2014/main" id="{16B8C61F-4AF9-4640-955D-70E4B7C08B86}"/>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proceso de operacionalización</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8" name="5 CuadroTexto">
            <a:extLst>
              <a:ext uri="{FF2B5EF4-FFF2-40B4-BE49-F238E27FC236}">
                <a16:creationId xmlns:a16="http://schemas.microsoft.com/office/drawing/2014/main" id="{A5F33B78-6CE2-42C4-88CA-44996A64EDB0}"/>
              </a:ext>
            </a:extLst>
          </p:cNvPr>
          <p:cNvSpPr txBox="1">
            <a:spLocks noChangeArrowheads="1"/>
          </p:cNvSpPr>
          <p:nvPr/>
        </p:nvSpPr>
        <p:spPr bwMode="auto">
          <a:xfrm>
            <a:off x="490899" y="1350880"/>
            <a:ext cx="818478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lvl="2"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Es un aspecto crucial de la investigación cuantitativa porque remite al proceso de </a:t>
            </a:r>
            <a:r>
              <a:rPr lang="es-AR" altLang="es-AR" b="1" dirty="0">
                <a:solidFill>
                  <a:schemeClr val="bg1"/>
                </a:solidFill>
                <a:latin typeface="Calibri" panose="020F0502020204030204" pitchFamily="34" charset="0"/>
                <a:cs typeface="Calibri" panose="020F0502020204030204" pitchFamily="34" charset="0"/>
              </a:rPr>
              <a:t>medición</a:t>
            </a:r>
            <a:r>
              <a:rPr lang="es-AR" altLang="es-AR" dirty="0">
                <a:solidFill>
                  <a:schemeClr val="bg1"/>
                </a:solidFill>
                <a:latin typeface="Calibri" panose="020F0502020204030204" pitchFamily="34" charset="0"/>
                <a:cs typeface="Calibri" panose="020F0502020204030204" pitchFamily="34" charset="0"/>
              </a:rPr>
              <a:t>. </a:t>
            </a:r>
          </a:p>
        </p:txBody>
      </p:sp>
      <p:sp>
        <p:nvSpPr>
          <p:cNvPr id="9" name="CuadroTexto 8">
            <a:extLst>
              <a:ext uri="{FF2B5EF4-FFF2-40B4-BE49-F238E27FC236}">
                <a16:creationId xmlns:a16="http://schemas.microsoft.com/office/drawing/2014/main" id="{5AAA6FA9-84F5-4D0F-9462-0B0C4FAD4EAB}"/>
              </a:ext>
            </a:extLst>
          </p:cNvPr>
          <p:cNvSpPr txBox="1"/>
          <p:nvPr/>
        </p:nvSpPr>
        <p:spPr>
          <a:xfrm>
            <a:off x="684213" y="1948560"/>
            <a:ext cx="5746711" cy="4062651"/>
          </a:xfrm>
          <a:prstGeom prst="rect">
            <a:avLst/>
          </a:prstGeom>
          <a:noFill/>
        </p:spPr>
        <p:txBody>
          <a:bodyPr wrap="square">
            <a:spAutoFit/>
          </a:bodyPr>
          <a:lstStyle/>
          <a:p>
            <a:pPr indent="90170" algn="just"/>
            <a:endParaRPr lang="es-ES" sz="1800" dirty="0">
              <a:solidFill>
                <a:schemeClr val="bg1"/>
              </a:solidFill>
              <a:effectLst/>
              <a:latin typeface="Calibri" panose="020F0502020204030204" pitchFamily="34" charset="0"/>
              <a:ea typeface="Times New Roman" panose="02020603050405020304" pitchFamily="18" charset="0"/>
              <a:cs typeface="Arial" panose="020B0604020202020204" pitchFamily="34" charset="0"/>
            </a:endParaRPr>
          </a:p>
          <a:p>
            <a:pPr indent="90170" algn="just"/>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La medición es el proceso de “vincular </a:t>
            </a:r>
            <a:r>
              <a:rPr lang="es-ES" sz="1600" i="1" dirty="0">
                <a:solidFill>
                  <a:schemeClr val="bg1"/>
                </a:solidFill>
                <a:latin typeface="Calibri" panose="020F0502020204030204" pitchFamily="34" charset="0"/>
                <a:ea typeface="Times New Roman" panose="02020603050405020304" pitchFamily="18" charset="0"/>
                <a:cs typeface="Calibri" panose="020F0502020204030204" pitchFamily="34" charset="0"/>
              </a:rPr>
              <a:t>conceptos abstractos</a:t>
            </a:r>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 </a:t>
            </a:r>
            <a:r>
              <a:rPr lang="es-ES" sz="1600" i="1" dirty="0">
                <a:solidFill>
                  <a:schemeClr val="bg1"/>
                </a:solidFill>
                <a:latin typeface="Calibri" panose="020F0502020204030204" pitchFamily="34" charset="0"/>
                <a:ea typeface="Times New Roman" panose="02020603050405020304" pitchFamily="18" charset="0"/>
                <a:cs typeface="Calibri" panose="020F0502020204030204" pitchFamily="34" charset="0"/>
              </a:rPr>
              <a:t>indicadores empíricos</a:t>
            </a:r>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t>
            </a:r>
            <a:r>
              <a:rPr lang="es-ES" sz="16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Zeller</a:t>
            </a:r>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 &amp; Carmines). </a:t>
            </a:r>
          </a:p>
          <a:p>
            <a:pPr indent="90170" algn="just"/>
            <a:endPar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indent="90170" algn="just"/>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“De la teoría se extraen unos conceptos y proposiciones. Los conceptos se traducen a términos operacionales. De éstos se deducen unas </a:t>
            </a:r>
            <a:r>
              <a:rPr lang="es-ES" sz="1600"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variables empíricas o indicadores</a:t>
            </a:r>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que posibiliten la contrastación empírica del concepto que se analice” (Cea </a:t>
            </a:r>
            <a:r>
              <a:rPr lang="es-ES" sz="1600" dirty="0" err="1">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D’Ancona</a:t>
            </a:r>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1996: 123</a:t>
            </a:r>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a:t>
            </a:r>
          </a:p>
          <a:p>
            <a:pPr indent="90170" algn="just"/>
            <a:endPar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indent="90170" algn="just"/>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Toda medición es indirecta (incluso en la física) pero en ciencias sociales es más difícil conocer cuáles son las perturbaciones que afectan la medición (</a:t>
            </a:r>
            <a:r>
              <a:rPr lang="es-ES" sz="1600" dirty="0" err="1">
                <a:solidFill>
                  <a:schemeClr val="bg1"/>
                </a:solidFill>
                <a:latin typeface="Calibri" panose="020F0502020204030204" pitchFamily="34" charset="0"/>
                <a:ea typeface="Times New Roman" panose="02020603050405020304" pitchFamily="18" charset="0"/>
                <a:cs typeface="Calibri" panose="020F0502020204030204" pitchFamily="34" charset="0"/>
              </a:rPr>
              <a:t>Blalock</a:t>
            </a:r>
            <a:r>
              <a:rPr lang="es-ES" sz="1600" dirty="0">
                <a:solidFill>
                  <a:schemeClr val="bg1"/>
                </a:solidFill>
                <a:latin typeface="Calibri" panose="020F0502020204030204" pitchFamily="34" charset="0"/>
                <a:ea typeface="Times New Roman" panose="02020603050405020304" pitchFamily="18" charset="0"/>
                <a:cs typeface="Calibri" panose="020F0502020204030204" pitchFamily="34" charset="0"/>
              </a:rPr>
              <a:t>).</a:t>
            </a:r>
            <a:endParaRPr lang="es-AR"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a:p>
            <a:pPr indent="90170" algn="just"/>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a:t>
            </a:r>
            <a:endParaRPr lang="es-AR" sz="1600" dirty="0">
              <a:solidFill>
                <a:schemeClr val="bg1"/>
              </a:solidFill>
              <a:latin typeface="Calibri" panose="020F0502020204030204" pitchFamily="34" charset="0"/>
              <a:ea typeface="Times New Roman" panose="02020603050405020304" pitchFamily="18" charset="0"/>
              <a:cs typeface="Calibri" panose="020F0502020204030204" pitchFamily="34" charset="0"/>
            </a:endParaRPr>
          </a:p>
          <a:p>
            <a:pPr indent="90170" algn="just"/>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La relación entre un concepto y sus indicadores es de </a:t>
            </a:r>
            <a:r>
              <a:rPr lang="es-ES" sz="1600" i="1"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probabilidad</a:t>
            </a:r>
            <a:r>
              <a:rPr lang="es-ES"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rPr>
              <a:t> (Lazarsfeld). </a:t>
            </a:r>
            <a:endParaRPr lang="es-AR" sz="1600" dirty="0">
              <a:solidFill>
                <a:schemeClr val="bg1"/>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10" name="CuadroTexto 9">
            <a:extLst>
              <a:ext uri="{FF2B5EF4-FFF2-40B4-BE49-F238E27FC236}">
                <a16:creationId xmlns:a16="http://schemas.microsoft.com/office/drawing/2014/main" id="{39FDFE7D-1A98-4E32-8D5B-E99CAE321B48}"/>
              </a:ext>
            </a:extLst>
          </p:cNvPr>
          <p:cNvSpPr txBox="1"/>
          <p:nvPr/>
        </p:nvSpPr>
        <p:spPr>
          <a:xfrm>
            <a:off x="2627784" y="853446"/>
            <a:ext cx="6025318" cy="523220"/>
          </a:xfrm>
          <a:prstGeom prst="rect">
            <a:avLst/>
          </a:prstGeom>
          <a:noFill/>
        </p:spPr>
        <p:txBody>
          <a:bodyPr wrap="square">
            <a:spAutoFit/>
          </a:bodyPr>
          <a:lstStyle/>
          <a:p>
            <a:pPr marL="0" lvl="2" algn="just">
              <a:tabLst>
                <a:tab pos="176213" algn="l"/>
                <a:tab pos="269875" algn="l"/>
              </a:tabLst>
            </a:pPr>
            <a:r>
              <a:rPr lang="es-AR" altLang="es-AR" sz="1400" i="1" dirty="0">
                <a:solidFill>
                  <a:schemeClr val="bg1"/>
                </a:solidFill>
                <a:latin typeface="Calibri" panose="020F0502020204030204" pitchFamily="34" charset="0"/>
                <a:cs typeface="Calibri" panose="020F0502020204030204" pitchFamily="34" charset="0"/>
              </a:rPr>
              <a:t>“Los científicos piensan en lenguaje teórico y realizan sus experimentos en el lenguaje operativo” (</a:t>
            </a:r>
            <a:r>
              <a:rPr lang="es-AR" altLang="es-AR" sz="1400" i="1" dirty="0" err="1">
                <a:solidFill>
                  <a:schemeClr val="bg1"/>
                </a:solidFill>
                <a:latin typeface="Calibri" panose="020F0502020204030204" pitchFamily="34" charset="0"/>
                <a:cs typeface="Calibri" panose="020F0502020204030204" pitchFamily="34" charset="0"/>
              </a:rPr>
              <a:t>Blalock</a:t>
            </a:r>
            <a:r>
              <a:rPr lang="es-AR" altLang="es-AR" sz="1400" i="1" dirty="0">
                <a:solidFill>
                  <a:schemeClr val="bg1"/>
                </a:solidFill>
                <a:latin typeface="Calibri" panose="020F0502020204030204" pitchFamily="34" charset="0"/>
                <a:cs typeface="Calibri" panose="020F0502020204030204" pitchFamily="34" charset="0"/>
              </a:rPr>
              <a:t>).</a:t>
            </a:r>
          </a:p>
        </p:txBody>
      </p:sp>
      <p:pic>
        <p:nvPicPr>
          <p:cNvPr id="6" name="Imagen 5">
            <a:extLst>
              <a:ext uri="{FF2B5EF4-FFF2-40B4-BE49-F238E27FC236}">
                <a16:creationId xmlns:a16="http://schemas.microsoft.com/office/drawing/2014/main" id="{521DFC63-7B78-48AE-A404-089B325471FB}"/>
              </a:ext>
            </a:extLst>
          </p:cNvPr>
          <p:cNvPicPr>
            <a:picLocks noChangeAspect="1"/>
          </p:cNvPicPr>
          <p:nvPr/>
        </p:nvPicPr>
        <p:blipFill>
          <a:blip r:embed="rId2"/>
          <a:stretch>
            <a:fillRect/>
          </a:stretch>
        </p:blipFill>
        <p:spPr>
          <a:xfrm>
            <a:off x="6716326" y="2348880"/>
            <a:ext cx="1743461" cy="2641768"/>
          </a:xfrm>
          <a:prstGeom prst="rect">
            <a:avLst/>
          </a:prstGeom>
        </p:spPr>
      </p:pic>
      <p:sp>
        <p:nvSpPr>
          <p:cNvPr id="4" name="Marcador de número de diapositiva 3">
            <a:extLst>
              <a:ext uri="{FF2B5EF4-FFF2-40B4-BE49-F238E27FC236}">
                <a16:creationId xmlns:a16="http://schemas.microsoft.com/office/drawing/2014/main" id="{F6AFD08B-044D-4D51-BF8F-34CEDA608863}"/>
              </a:ext>
            </a:extLst>
          </p:cNvPr>
          <p:cNvSpPr>
            <a:spLocks noGrp="1"/>
          </p:cNvSpPr>
          <p:nvPr>
            <p:ph type="sldNum" sz="quarter" idx="12"/>
          </p:nvPr>
        </p:nvSpPr>
        <p:spPr/>
        <p:txBody>
          <a:bodyPr/>
          <a:lstStyle/>
          <a:p>
            <a:fld id="{E4801FF2-09AB-46FD-82F0-246320401FD0}" type="slidenum">
              <a:rPr lang="es-ES" altLang="en-US" smtClean="0"/>
              <a:pPr/>
              <a:t>3</a:t>
            </a:fld>
            <a:endParaRPr lang="es-ES" altLang="en-US"/>
          </a:p>
        </p:txBody>
      </p:sp>
      <p:sp>
        <p:nvSpPr>
          <p:cNvPr id="5" name="Marcador de pie de página 4">
            <a:extLst>
              <a:ext uri="{FF2B5EF4-FFF2-40B4-BE49-F238E27FC236}">
                <a16:creationId xmlns:a16="http://schemas.microsoft.com/office/drawing/2014/main" id="{5BA4A2D6-40CD-4161-8D28-257849DAEC62}"/>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150861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9">
                                            <p:txEl>
                                              <p:pRg st="1" end="1"/>
                                            </p:txEl>
                                          </p:spTgt>
                                        </p:tgtEl>
                                        <p:attrNameLst>
                                          <p:attrName>style.visibility</p:attrName>
                                        </p:attrNameLst>
                                      </p:cBhvr>
                                      <p:to>
                                        <p:strVal val="visible"/>
                                      </p:to>
                                    </p:set>
                                    <p:animEffect transition="in" filter="wipe(up)">
                                      <p:cBhvr>
                                        <p:cTn id="16" dur="500"/>
                                        <p:tgtEl>
                                          <p:spTgt spid="9">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animEffect transition="in" filter="wipe(up)">
                                      <p:cBhvr>
                                        <p:cTn id="21" dur="500"/>
                                        <p:tgtEl>
                                          <p:spTgt spid="9">
                                            <p:txEl>
                                              <p:pRg st="3" end="3"/>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
                                            <p:txEl>
                                              <p:pRg st="5" end="5"/>
                                            </p:txEl>
                                          </p:spTgt>
                                        </p:tgtEl>
                                        <p:attrNameLst>
                                          <p:attrName>style.visibility</p:attrName>
                                        </p:attrNameLst>
                                      </p:cBhvr>
                                      <p:to>
                                        <p:strVal val="visible"/>
                                      </p:to>
                                    </p:set>
                                    <p:animEffect transition="in" filter="wipe(up)">
                                      <p:cBhvr>
                                        <p:cTn id="26" dur="500"/>
                                        <p:tgtEl>
                                          <p:spTgt spid="9">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wipe(up)">
                                      <p:cBhvr>
                                        <p:cTn id="31" dur="500"/>
                                        <p:tgtEl>
                                          <p:spTgt spid="9">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9">
                                            <p:txEl>
                                              <p:pRg st="7" end="7"/>
                                            </p:txEl>
                                          </p:spTgt>
                                        </p:tgtEl>
                                        <p:attrNameLst>
                                          <p:attrName>style.visibility</p:attrName>
                                        </p:attrNameLst>
                                      </p:cBhvr>
                                      <p:to>
                                        <p:strVal val="visible"/>
                                      </p:to>
                                    </p:set>
                                    <p:animEffect transition="in" filter="wipe(up)">
                                      <p:cBhvr>
                                        <p:cTn id="36"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proceso de operacionalización</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8" name="5 CuadroTexto">
            <a:extLst>
              <a:ext uri="{FF2B5EF4-FFF2-40B4-BE49-F238E27FC236}">
                <a16:creationId xmlns:a16="http://schemas.microsoft.com/office/drawing/2014/main" id="{A5F33B78-6CE2-42C4-88CA-44996A64EDB0}"/>
              </a:ext>
            </a:extLst>
          </p:cNvPr>
          <p:cNvSpPr txBox="1">
            <a:spLocks noChangeArrowheads="1"/>
          </p:cNvSpPr>
          <p:nvPr/>
        </p:nvSpPr>
        <p:spPr bwMode="auto">
          <a:xfrm>
            <a:off x="490898" y="1166842"/>
            <a:ext cx="818479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285750" lvl="2"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La operacionalización se organiza en torno a cuatro pasos o “momentos”: </a:t>
            </a:r>
          </a:p>
          <a:p>
            <a:pPr marL="742950" lvl="3" indent="-285750" algn="just">
              <a:buFont typeface="Wingdings" panose="05000000000000000000" pitchFamily="2" charset="2"/>
              <a:buChar char="§"/>
              <a:tabLst>
                <a:tab pos="176213" algn="l"/>
                <a:tab pos="269875" algn="l"/>
              </a:tabLst>
            </a:pPr>
            <a:endParaRPr lang="es-AR" altLang="es-AR" dirty="0">
              <a:solidFill>
                <a:schemeClr val="bg1"/>
              </a:solidFill>
              <a:latin typeface="Calibri" panose="020F0502020204030204" pitchFamily="34" charset="0"/>
              <a:cs typeface="Calibri" panose="020F0502020204030204" pitchFamily="34" charset="0"/>
            </a:endParaRPr>
          </a:p>
          <a:p>
            <a:pPr marL="742950" lvl="3"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la representación teórica o literaria del concepto, o </a:t>
            </a:r>
            <a:r>
              <a:rPr lang="es-AR" altLang="es-AR" b="1" dirty="0">
                <a:solidFill>
                  <a:schemeClr val="accent1"/>
                </a:solidFill>
                <a:latin typeface="Calibri" panose="020F0502020204030204" pitchFamily="34" charset="0"/>
                <a:cs typeface="Calibri" panose="020F0502020204030204" pitchFamily="34" charset="0"/>
              </a:rPr>
              <a:t>definición nominal</a:t>
            </a:r>
            <a:r>
              <a:rPr lang="es-AR" altLang="es-AR" dirty="0">
                <a:solidFill>
                  <a:schemeClr val="bg1"/>
                </a:solidFill>
                <a:latin typeface="Calibri" panose="020F0502020204030204" pitchFamily="34" charset="0"/>
                <a:cs typeface="Calibri" panose="020F0502020204030204" pitchFamily="34" charset="0"/>
              </a:rPr>
              <a:t>.</a:t>
            </a:r>
          </a:p>
          <a:p>
            <a:pPr marL="742950" lvl="3" indent="-285750" algn="just">
              <a:buFont typeface="Wingdings" panose="05000000000000000000" pitchFamily="2" charset="2"/>
              <a:buChar char="§"/>
              <a:tabLst>
                <a:tab pos="176213" algn="l"/>
                <a:tab pos="269875" algn="l"/>
              </a:tabLst>
            </a:pPr>
            <a:endParaRPr lang="es-AR" altLang="es-AR" dirty="0">
              <a:solidFill>
                <a:schemeClr val="bg1"/>
              </a:solidFill>
              <a:latin typeface="Calibri" panose="020F0502020204030204" pitchFamily="34" charset="0"/>
              <a:cs typeface="Calibri" panose="020F0502020204030204" pitchFamily="34" charset="0"/>
            </a:endParaRPr>
          </a:p>
          <a:p>
            <a:pPr marL="742950" lvl="3"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la especificación del concepto, o </a:t>
            </a:r>
            <a:r>
              <a:rPr lang="es-AR" altLang="es-AR" b="1" dirty="0">
                <a:solidFill>
                  <a:schemeClr val="accent1"/>
                </a:solidFill>
                <a:latin typeface="Calibri" panose="020F0502020204030204" pitchFamily="34" charset="0"/>
                <a:cs typeface="Calibri" panose="020F0502020204030204" pitchFamily="34" charset="0"/>
              </a:rPr>
              <a:t>definición real</a:t>
            </a:r>
            <a:r>
              <a:rPr lang="es-AR" altLang="es-AR" dirty="0">
                <a:solidFill>
                  <a:schemeClr val="bg1"/>
                </a:solidFill>
                <a:latin typeface="Calibri" panose="020F0502020204030204" pitchFamily="34" charset="0"/>
                <a:cs typeface="Calibri" panose="020F0502020204030204" pitchFamily="34" charset="0"/>
              </a:rPr>
              <a:t>, es decir, la etapa en la que se establecen las dimensiones que conforman un concepto.</a:t>
            </a:r>
          </a:p>
          <a:p>
            <a:pPr marL="742950" lvl="3" indent="-285750" algn="just">
              <a:buFont typeface="Wingdings" panose="05000000000000000000" pitchFamily="2" charset="2"/>
              <a:buChar char="§"/>
              <a:tabLst>
                <a:tab pos="176213" algn="l"/>
                <a:tab pos="269875" algn="l"/>
              </a:tabLst>
            </a:pPr>
            <a:endParaRPr lang="es-AR" altLang="es-AR" dirty="0">
              <a:solidFill>
                <a:schemeClr val="bg1"/>
              </a:solidFill>
              <a:latin typeface="Calibri" panose="020F0502020204030204" pitchFamily="34" charset="0"/>
              <a:cs typeface="Calibri" panose="020F0502020204030204" pitchFamily="34" charset="0"/>
            </a:endParaRPr>
          </a:p>
          <a:p>
            <a:pPr marL="742950" lvl="3"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la elección de los indicadores o </a:t>
            </a:r>
            <a:r>
              <a:rPr lang="es-AR" altLang="es-AR" b="1" dirty="0">
                <a:solidFill>
                  <a:schemeClr val="accent1"/>
                </a:solidFill>
                <a:latin typeface="Calibri" panose="020F0502020204030204" pitchFamily="34" charset="0"/>
                <a:cs typeface="Calibri" panose="020F0502020204030204" pitchFamily="34" charset="0"/>
              </a:rPr>
              <a:t>definición operacional</a:t>
            </a:r>
            <a:r>
              <a:rPr lang="es-AR" altLang="es-AR" dirty="0">
                <a:solidFill>
                  <a:schemeClr val="bg1"/>
                </a:solidFill>
                <a:latin typeface="Calibri" panose="020F0502020204030204" pitchFamily="34" charset="0"/>
                <a:cs typeface="Calibri" panose="020F0502020204030204" pitchFamily="34" charset="0"/>
              </a:rPr>
              <a:t>.</a:t>
            </a:r>
          </a:p>
          <a:p>
            <a:pPr marL="742950" lvl="3" indent="-285750" algn="just">
              <a:buFont typeface="Wingdings" panose="05000000000000000000" pitchFamily="2" charset="2"/>
              <a:buChar char="§"/>
              <a:tabLst>
                <a:tab pos="176213" algn="l"/>
                <a:tab pos="269875" algn="l"/>
              </a:tabLst>
            </a:pPr>
            <a:endParaRPr lang="es-AR" altLang="es-AR" dirty="0">
              <a:solidFill>
                <a:schemeClr val="bg1"/>
              </a:solidFill>
              <a:latin typeface="Calibri" panose="020F0502020204030204" pitchFamily="34" charset="0"/>
              <a:cs typeface="Calibri" panose="020F0502020204030204" pitchFamily="34" charset="0"/>
            </a:endParaRPr>
          </a:p>
          <a:p>
            <a:pPr marL="742950" lvl="3" indent="-285750" algn="just">
              <a:buFont typeface="Wingdings" panose="05000000000000000000" pitchFamily="2" charset="2"/>
              <a:buChar char="§"/>
              <a:tabLst>
                <a:tab pos="176213" algn="l"/>
                <a:tab pos="269875" algn="l"/>
              </a:tabLst>
            </a:pPr>
            <a:r>
              <a:rPr lang="es-AR" altLang="es-AR" dirty="0">
                <a:solidFill>
                  <a:schemeClr val="bg1"/>
                </a:solidFill>
                <a:latin typeface="Calibri" panose="020F0502020204030204" pitchFamily="34" charset="0"/>
                <a:cs typeface="Calibri" panose="020F0502020204030204" pitchFamily="34" charset="0"/>
              </a:rPr>
              <a:t>la </a:t>
            </a:r>
            <a:r>
              <a:rPr lang="es-AR" altLang="es-AR" b="1" dirty="0">
                <a:solidFill>
                  <a:schemeClr val="accent1"/>
                </a:solidFill>
                <a:latin typeface="Calibri" panose="020F0502020204030204" pitchFamily="34" charset="0"/>
                <a:cs typeface="Calibri" panose="020F0502020204030204" pitchFamily="34" charset="0"/>
              </a:rPr>
              <a:t>construcción de índices, escalas o tipologías </a:t>
            </a:r>
            <a:r>
              <a:rPr lang="es-AR" altLang="es-AR" dirty="0">
                <a:solidFill>
                  <a:schemeClr val="bg1"/>
                </a:solidFill>
                <a:latin typeface="Calibri" panose="020F0502020204030204" pitchFamily="34" charset="0"/>
                <a:cs typeface="Calibri" panose="020F0502020204030204" pitchFamily="34" charset="0"/>
              </a:rPr>
              <a:t>que sintetizan los indicadores.</a:t>
            </a:r>
          </a:p>
        </p:txBody>
      </p:sp>
      <p:sp>
        <p:nvSpPr>
          <p:cNvPr id="4" name="Marcador de número de diapositiva 3">
            <a:extLst>
              <a:ext uri="{FF2B5EF4-FFF2-40B4-BE49-F238E27FC236}">
                <a16:creationId xmlns:a16="http://schemas.microsoft.com/office/drawing/2014/main" id="{98356CAA-89CA-4890-85E7-B43AEA5D78B9}"/>
              </a:ext>
            </a:extLst>
          </p:cNvPr>
          <p:cNvSpPr>
            <a:spLocks noGrp="1"/>
          </p:cNvSpPr>
          <p:nvPr>
            <p:ph type="sldNum" sz="quarter" idx="12"/>
          </p:nvPr>
        </p:nvSpPr>
        <p:spPr/>
        <p:txBody>
          <a:bodyPr/>
          <a:lstStyle/>
          <a:p>
            <a:fld id="{E4801FF2-09AB-46FD-82F0-246320401FD0}" type="slidenum">
              <a:rPr lang="es-ES" altLang="en-US" smtClean="0"/>
              <a:pPr/>
              <a:t>4</a:t>
            </a:fld>
            <a:endParaRPr lang="es-ES" altLang="en-US"/>
          </a:p>
        </p:txBody>
      </p:sp>
      <p:sp>
        <p:nvSpPr>
          <p:cNvPr id="5" name="Marcador de pie de página 4">
            <a:extLst>
              <a:ext uri="{FF2B5EF4-FFF2-40B4-BE49-F238E27FC236}">
                <a16:creationId xmlns:a16="http://schemas.microsoft.com/office/drawing/2014/main" id="{62522DBD-FF1A-4B2C-B04C-6873E2C40EEC}"/>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8584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8">
                                            <p:txEl>
                                              <p:pRg st="2" end="2"/>
                                            </p:txEl>
                                          </p:spTgt>
                                        </p:tgtEl>
                                        <p:attrNameLst>
                                          <p:attrName>style.visibility</p:attrName>
                                        </p:attrNameLst>
                                      </p:cBhvr>
                                      <p:to>
                                        <p:strVal val="visible"/>
                                      </p:to>
                                    </p:set>
                                    <p:animEffect transition="in" filter="wipe(up)">
                                      <p:cBhvr>
                                        <p:cTn id="10" dur="500"/>
                                        <p:tgtEl>
                                          <p:spTgt spid="8">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8">
                                            <p:txEl>
                                              <p:pRg st="4" end="4"/>
                                            </p:txEl>
                                          </p:spTgt>
                                        </p:tgtEl>
                                        <p:attrNameLst>
                                          <p:attrName>style.visibility</p:attrName>
                                        </p:attrNameLst>
                                      </p:cBhvr>
                                      <p:to>
                                        <p:strVal val="visible"/>
                                      </p:to>
                                    </p:set>
                                    <p:animEffect transition="in" filter="wipe(up)">
                                      <p:cBhvr>
                                        <p:cTn id="13" dur="500"/>
                                        <p:tgtEl>
                                          <p:spTgt spid="8">
                                            <p:txEl>
                                              <p:pRg st="4" end="4"/>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8">
                                            <p:txEl>
                                              <p:pRg st="6" end="6"/>
                                            </p:txEl>
                                          </p:spTgt>
                                        </p:tgtEl>
                                        <p:attrNameLst>
                                          <p:attrName>style.visibility</p:attrName>
                                        </p:attrNameLst>
                                      </p:cBhvr>
                                      <p:to>
                                        <p:strVal val="visible"/>
                                      </p:to>
                                    </p:set>
                                    <p:animEffect transition="in" filter="wipe(up)">
                                      <p:cBhvr>
                                        <p:cTn id="16" dur="500"/>
                                        <p:tgtEl>
                                          <p:spTgt spid="8">
                                            <p:txEl>
                                              <p:pRg st="6" end="6"/>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8">
                                            <p:txEl>
                                              <p:pRg st="8" end="8"/>
                                            </p:txEl>
                                          </p:spTgt>
                                        </p:tgtEl>
                                        <p:attrNameLst>
                                          <p:attrName>style.visibility</p:attrName>
                                        </p:attrNameLst>
                                      </p:cBhvr>
                                      <p:to>
                                        <p:strVal val="visible"/>
                                      </p:to>
                                    </p:set>
                                    <p:animEffect transition="in" filter="wipe(up)">
                                      <p:cBhvr>
                                        <p:cTn id="19"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proceso de operacionalización</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CuadroTexto 2">
            <a:extLst>
              <a:ext uri="{FF2B5EF4-FFF2-40B4-BE49-F238E27FC236}">
                <a16:creationId xmlns:a16="http://schemas.microsoft.com/office/drawing/2014/main" id="{C92D2BC1-FD7D-4B2D-AD0E-BE349186B730}"/>
              </a:ext>
            </a:extLst>
          </p:cNvPr>
          <p:cNvSpPr txBox="1"/>
          <p:nvPr/>
        </p:nvSpPr>
        <p:spPr>
          <a:xfrm>
            <a:off x="3967914" y="1488234"/>
            <a:ext cx="1800200" cy="369332"/>
          </a:xfrm>
          <a:prstGeom prst="rect">
            <a:avLst/>
          </a:prstGeom>
          <a:solidFill>
            <a:srgbClr val="FFC000"/>
          </a:solidFill>
        </p:spPr>
        <p:txBody>
          <a:bodyPr wrap="square" rtlCol="0">
            <a:spAutoFit/>
          </a:bodyPr>
          <a:lstStyle/>
          <a:p>
            <a:pPr algn="ctr"/>
            <a:r>
              <a:rPr lang="es-AR" b="1" dirty="0">
                <a:solidFill>
                  <a:schemeClr val="bg1"/>
                </a:solidFill>
                <a:latin typeface="Calibri" panose="020F0502020204030204" pitchFamily="34" charset="0"/>
                <a:cs typeface="Calibri" panose="020F0502020204030204" pitchFamily="34" charset="0"/>
              </a:rPr>
              <a:t>CONCEPTO</a:t>
            </a:r>
          </a:p>
        </p:txBody>
      </p:sp>
      <p:sp>
        <p:nvSpPr>
          <p:cNvPr id="7" name="CuadroTexto 6">
            <a:extLst>
              <a:ext uri="{FF2B5EF4-FFF2-40B4-BE49-F238E27FC236}">
                <a16:creationId xmlns:a16="http://schemas.microsoft.com/office/drawing/2014/main" id="{C2C24B1D-3E32-4E2A-A7C9-756DDB514EC1}"/>
              </a:ext>
            </a:extLst>
          </p:cNvPr>
          <p:cNvSpPr txBox="1"/>
          <p:nvPr/>
        </p:nvSpPr>
        <p:spPr>
          <a:xfrm>
            <a:off x="2522632" y="2658642"/>
            <a:ext cx="1224136"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Dimensión 1</a:t>
            </a:r>
          </a:p>
        </p:txBody>
      </p:sp>
      <p:sp>
        <p:nvSpPr>
          <p:cNvPr id="10" name="CuadroTexto 9">
            <a:extLst>
              <a:ext uri="{FF2B5EF4-FFF2-40B4-BE49-F238E27FC236}">
                <a16:creationId xmlns:a16="http://schemas.microsoft.com/office/drawing/2014/main" id="{50FB99F4-33B5-4E76-834D-2A545FE75C43}"/>
              </a:ext>
            </a:extLst>
          </p:cNvPr>
          <p:cNvSpPr txBox="1"/>
          <p:nvPr/>
        </p:nvSpPr>
        <p:spPr>
          <a:xfrm>
            <a:off x="1543056" y="3378722"/>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1</a:t>
            </a:r>
          </a:p>
        </p:txBody>
      </p:sp>
      <p:sp>
        <p:nvSpPr>
          <p:cNvPr id="12" name="CuadroTexto 11">
            <a:extLst>
              <a:ext uri="{FF2B5EF4-FFF2-40B4-BE49-F238E27FC236}">
                <a16:creationId xmlns:a16="http://schemas.microsoft.com/office/drawing/2014/main" id="{8EE2E856-DE73-4442-8065-CA6650B0C11B}"/>
              </a:ext>
            </a:extLst>
          </p:cNvPr>
          <p:cNvSpPr txBox="1"/>
          <p:nvPr/>
        </p:nvSpPr>
        <p:spPr>
          <a:xfrm>
            <a:off x="2622531" y="3373010"/>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2</a:t>
            </a:r>
          </a:p>
        </p:txBody>
      </p:sp>
      <p:sp>
        <p:nvSpPr>
          <p:cNvPr id="13" name="CuadroTexto 12">
            <a:extLst>
              <a:ext uri="{FF2B5EF4-FFF2-40B4-BE49-F238E27FC236}">
                <a16:creationId xmlns:a16="http://schemas.microsoft.com/office/drawing/2014/main" id="{BCBAFBC8-DD24-4539-9B1E-EEC964745A5C}"/>
              </a:ext>
            </a:extLst>
          </p:cNvPr>
          <p:cNvSpPr txBox="1"/>
          <p:nvPr/>
        </p:nvSpPr>
        <p:spPr>
          <a:xfrm>
            <a:off x="3702006" y="3373010"/>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3</a:t>
            </a:r>
          </a:p>
        </p:txBody>
      </p:sp>
      <p:cxnSp>
        <p:nvCxnSpPr>
          <p:cNvPr id="15" name="Conector recto de flecha 14">
            <a:extLst>
              <a:ext uri="{FF2B5EF4-FFF2-40B4-BE49-F238E27FC236}">
                <a16:creationId xmlns:a16="http://schemas.microsoft.com/office/drawing/2014/main" id="{FDA5CECE-3A0A-455C-82E7-0E55E437A6AF}"/>
              </a:ext>
            </a:extLst>
          </p:cNvPr>
          <p:cNvCxnSpPr>
            <a:cxnSpLocks/>
            <a:stCxn id="7" idx="2"/>
            <a:endCxn id="10" idx="0"/>
          </p:cNvCxnSpPr>
          <p:nvPr/>
        </p:nvCxnSpPr>
        <p:spPr bwMode="auto">
          <a:xfrm flipH="1">
            <a:off x="2056498" y="2966419"/>
            <a:ext cx="1078202" cy="412303"/>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DD830AA4-66D5-488E-9AAE-D5EC1CDF42D9}"/>
              </a:ext>
            </a:extLst>
          </p:cNvPr>
          <p:cNvCxnSpPr>
            <a:cxnSpLocks/>
            <a:stCxn id="7" idx="2"/>
            <a:endCxn id="12" idx="0"/>
          </p:cNvCxnSpPr>
          <p:nvPr/>
        </p:nvCxnSpPr>
        <p:spPr bwMode="auto">
          <a:xfrm>
            <a:off x="3134700" y="2966419"/>
            <a:ext cx="1273"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Conector recto de flecha 18">
            <a:extLst>
              <a:ext uri="{FF2B5EF4-FFF2-40B4-BE49-F238E27FC236}">
                <a16:creationId xmlns:a16="http://schemas.microsoft.com/office/drawing/2014/main" id="{E7575FAC-6759-475A-AC5F-E0A0F6413063}"/>
              </a:ext>
            </a:extLst>
          </p:cNvPr>
          <p:cNvCxnSpPr>
            <a:cxnSpLocks/>
            <a:stCxn id="7" idx="2"/>
            <a:endCxn id="13" idx="0"/>
          </p:cNvCxnSpPr>
          <p:nvPr/>
        </p:nvCxnSpPr>
        <p:spPr bwMode="auto">
          <a:xfrm>
            <a:off x="3134700" y="2966419"/>
            <a:ext cx="1080748"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391EEB42-4979-480A-8F84-5340A09629BA}"/>
              </a:ext>
            </a:extLst>
          </p:cNvPr>
          <p:cNvSpPr txBox="1"/>
          <p:nvPr/>
        </p:nvSpPr>
        <p:spPr>
          <a:xfrm>
            <a:off x="5766673" y="2646074"/>
            <a:ext cx="1224136"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Dimensión 2</a:t>
            </a:r>
          </a:p>
        </p:txBody>
      </p:sp>
      <p:sp>
        <p:nvSpPr>
          <p:cNvPr id="28" name="CuadroTexto 27">
            <a:extLst>
              <a:ext uri="{FF2B5EF4-FFF2-40B4-BE49-F238E27FC236}">
                <a16:creationId xmlns:a16="http://schemas.microsoft.com/office/drawing/2014/main" id="{E7AEBBD8-C75B-47F5-916F-B93444065BD2}"/>
              </a:ext>
            </a:extLst>
          </p:cNvPr>
          <p:cNvSpPr txBox="1"/>
          <p:nvPr/>
        </p:nvSpPr>
        <p:spPr>
          <a:xfrm>
            <a:off x="4787097" y="3366154"/>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1</a:t>
            </a:r>
          </a:p>
        </p:txBody>
      </p:sp>
      <p:sp>
        <p:nvSpPr>
          <p:cNvPr id="29" name="CuadroTexto 28">
            <a:extLst>
              <a:ext uri="{FF2B5EF4-FFF2-40B4-BE49-F238E27FC236}">
                <a16:creationId xmlns:a16="http://schemas.microsoft.com/office/drawing/2014/main" id="{A6BC82FE-641D-4AE5-85C4-A0A3A70BD45E}"/>
              </a:ext>
            </a:extLst>
          </p:cNvPr>
          <p:cNvSpPr txBox="1"/>
          <p:nvPr/>
        </p:nvSpPr>
        <p:spPr>
          <a:xfrm>
            <a:off x="5866572" y="3360442"/>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2</a:t>
            </a:r>
          </a:p>
        </p:txBody>
      </p:sp>
      <p:sp>
        <p:nvSpPr>
          <p:cNvPr id="30" name="CuadroTexto 29">
            <a:extLst>
              <a:ext uri="{FF2B5EF4-FFF2-40B4-BE49-F238E27FC236}">
                <a16:creationId xmlns:a16="http://schemas.microsoft.com/office/drawing/2014/main" id="{D99BB5AD-0935-42A5-9901-86A15374F893}"/>
              </a:ext>
            </a:extLst>
          </p:cNvPr>
          <p:cNvSpPr txBox="1"/>
          <p:nvPr/>
        </p:nvSpPr>
        <p:spPr>
          <a:xfrm>
            <a:off x="6946047" y="3360442"/>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3</a:t>
            </a:r>
          </a:p>
        </p:txBody>
      </p:sp>
      <p:cxnSp>
        <p:nvCxnSpPr>
          <p:cNvPr id="31" name="Conector recto de flecha 30">
            <a:extLst>
              <a:ext uri="{FF2B5EF4-FFF2-40B4-BE49-F238E27FC236}">
                <a16:creationId xmlns:a16="http://schemas.microsoft.com/office/drawing/2014/main" id="{1B034B29-3A3E-447A-A9C6-741FCDC1E97B}"/>
              </a:ext>
            </a:extLst>
          </p:cNvPr>
          <p:cNvCxnSpPr>
            <a:cxnSpLocks/>
            <a:stCxn id="27" idx="2"/>
            <a:endCxn id="28" idx="0"/>
          </p:cNvCxnSpPr>
          <p:nvPr/>
        </p:nvCxnSpPr>
        <p:spPr bwMode="auto">
          <a:xfrm flipH="1">
            <a:off x="5300539" y="2953851"/>
            <a:ext cx="1078202" cy="412303"/>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E25D96B6-77E0-4ECA-BF4F-40A85EEE3887}"/>
              </a:ext>
            </a:extLst>
          </p:cNvPr>
          <p:cNvCxnSpPr>
            <a:cxnSpLocks/>
            <a:stCxn id="27" idx="2"/>
            <a:endCxn id="29" idx="0"/>
          </p:cNvCxnSpPr>
          <p:nvPr/>
        </p:nvCxnSpPr>
        <p:spPr bwMode="auto">
          <a:xfrm>
            <a:off x="6378741" y="2953851"/>
            <a:ext cx="1273"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31D7F728-A829-4966-957A-B9A88BDC3B57}"/>
              </a:ext>
            </a:extLst>
          </p:cNvPr>
          <p:cNvCxnSpPr>
            <a:cxnSpLocks/>
            <a:stCxn id="27" idx="2"/>
            <a:endCxn id="30" idx="0"/>
          </p:cNvCxnSpPr>
          <p:nvPr/>
        </p:nvCxnSpPr>
        <p:spPr bwMode="auto">
          <a:xfrm>
            <a:off x="6378741" y="2953851"/>
            <a:ext cx="1080748"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B428F8D2-B869-4602-8889-957FB654F4B0}"/>
              </a:ext>
            </a:extLst>
          </p:cNvPr>
          <p:cNvCxnSpPr>
            <a:stCxn id="3" idx="2"/>
            <a:endCxn id="7" idx="0"/>
          </p:cNvCxnSpPr>
          <p:nvPr/>
        </p:nvCxnSpPr>
        <p:spPr bwMode="auto">
          <a:xfrm flipH="1">
            <a:off x="3134700" y="1857566"/>
            <a:ext cx="1733314" cy="801076"/>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4" name="Conector recto de flecha 43">
            <a:extLst>
              <a:ext uri="{FF2B5EF4-FFF2-40B4-BE49-F238E27FC236}">
                <a16:creationId xmlns:a16="http://schemas.microsoft.com/office/drawing/2014/main" id="{FD81DCD4-766E-4AFF-A39C-1EFEF730D5CB}"/>
              </a:ext>
            </a:extLst>
          </p:cNvPr>
          <p:cNvCxnSpPr>
            <a:stCxn id="3" idx="2"/>
            <a:endCxn id="27" idx="0"/>
          </p:cNvCxnSpPr>
          <p:nvPr/>
        </p:nvCxnSpPr>
        <p:spPr bwMode="auto">
          <a:xfrm>
            <a:off x="4868014" y="1857566"/>
            <a:ext cx="1510727" cy="788508"/>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6" name="CuadroTexto 45">
            <a:extLst>
              <a:ext uri="{FF2B5EF4-FFF2-40B4-BE49-F238E27FC236}">
                <a16:creationId xmlns:a16="http://schemas.microsoft.com/office/drawing/2014/main" id="{6785FD97-3784-480E-A82B-0DD64196B3EB}"/>
              </a:ext>
            </a:extLst>
          </p:cNvPr>
          <p:cNvSpPr txBox="1"/>
          <p:nvPr/>
        </p:nvSpPr>
        <p:spPr>
          <a:xfrm>
            <a:off x="3886997" y="4230006"/>
            <a:ext cx="1800200" cy="276999"/>
          </a:xfrm>
          <a:prstGeom prst="rect">
            <a:avLst/>
          </a:prstGeom>
          <a:solidFill>
            <a:srgbClr val="FFC000"/>
          </a:solidFill>
        </p:spPr>
        <p:txBody>
          <a:bodyPr wrap="square" rtlCol="0">
            <a:spAutoFit/>
          </a:bodyPr>
          <a:lstStyle/>
          <a:p>
            <a:pPr algn="ctr"/>
            <a:r>
              <a:rPr lang="es-AR" sz="1200" b="1" dirty="0">
                <a:solidFill>
                  <a:schemeClr val="bg1"/>
                </a:solidFill>
                <a:latin typeface="Calibri" panose="020F0502020204030204" pitchFamily="34" charset="0"/>
                <a:cs typeface="Calibri" panose="020F0502020204030204" pitchFamily="34" charset="0"/>
              </a:rPr>
              <a:t>Índice, escala o tipología</a:t>
            </a:r>
          </a:p>
        </p:txBody>
      </p:sp>
      <p:sp>
        <p:nvSpPr>
          <p:cNvPr id="45" name="Cerrar llave 44">
            <a:extLst>
              <a:ext uri="{FF2B5EF4-FFF2-40B4-BE49-F238E27FC236}">
                <a16:creationId xmlns:a16="http://schemas.microsoft.com/office/drawing/2014/main" id="{DC0529AD-2933-4BE5-A3B4-FB97463F7EF3}"/>
              </a:ext>
            </a:extLst>
          </p:cNvPr>
          <p:cNvSpPr/>
          <p:nvPr/>
        </p:nvSpPr>
        <p:spPr bwMode="auto">
          <a:xfrm rot="5400000">
            <a:off x="4636844" y="771868"/>
            <a:ext cx="246906" cy="6425266"/>
          </a:xfrm>
          <a:prstGeom prst="rightBrace">
            <a:avLst/>
          </a:prstGeom>
          <a:no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50" name="CuadroTexto 49">
            <a:extLst>
              <a:ext uri="{FF2B5EF4-FFF2-40B4-BE49-F238E27FC236}">
                <a16:creationId xmlns:a16="http://schemas.microsoft.com/office/drawing/2014/main" id="{2F477751-C161-4922-A74B-1DF282FD7A1A}"/>
              </a:ext>
            </a:extLst>
          </p:cNvPr>
          <p:cNvSpPr txBox="1"/>
          <p:nvPr/>
        </p:nvSpPr>
        <p:spPr>
          <a:xfrm rot="16200000">
            <a:off x="328374" y="1483770"/>
            <a:ext cx="884025"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nominal</a:t>
            </a:r>
          </a:p>
        </p:txBody>
      </p:sp>
      <p:sp>
        <p:nvSpPr>
          <p:cNvPr id="51" name="CuadroTexto 50">
            <a:extLst>
              <a:ext uri="{FF2B5EF4-FFF2-40B4-BE49-F238E27FC236}">
                <a16:creationId xmlns:a16="http://schemas.microsoft.com/office/drawing/2014/main" id="{D341247B-171B-4442-ACD0-FCC137DFC5EB}"/>
              </a:ext>
            </a:extLst>
          </p:cNvPr>
          <p:cNvSpPr txBox="1"/>
          <p:nvPr/>
        </p:nvSpPr>
        <p:spPr>
          <a:xfrm rot="16200000">
            <a:off x="326862" y="2416044"/>
            <a:ext cx="884023"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real</a:t>
            </a:r>
          </a:p>
        </p:txBody>
      </p:sp>
      <p:sp>
        <p:nvSpPr>
          <p:cNvPr id="52" name="CuadroTexto 51">
            <a:extLst>
              <a:ext uri="{FF2B5EF4-FFF2-40B4-BE49-F238E27FC236}">
                <a16:creationId xmlns:a16="http://schemas.microsoft.com/office/drawing/2014/main" id="{198D1484-029E-4198-98DD-65CBA5BC2F98}"/>
              </a:ext>
            </a:extLst>
          </p:cNvPr>
          <p:cNvSpPr txBox="1"/>
          <p:nvPr/>
        </p:nvSpPr>
        <p:spPr>
          <a:xfrm rot="16200000">
            <a:off x="267404" y="3405771"/>
            <a:ext cx="997534"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operacional</a:t>
            </a:r>
          </a:p>
        </p:txBody>
      </p:sp>
      <p:sp>
        <p:nvSpPr>
          <p:cNvPr id="53" name="CuadroTexto 52">
            <a:extLst>
              <a:ext uri="{FF2B5EF4-FFF2-40B4-BE49-F238E27FC236}">
                <a16:creationId xmlns:a16="http://schemas.microsoft.com/office/drawing/2014/main" id="{07575794-00F6-4D6E-89B2-5289FF662F37}"/>
              </a:ext>
            </a:extLst>
          </p:cNvPr>
          <p:cNvSpPr txBox="1"/>
          <p:nvPr/>
        </p:nvSpPr>
        <p:spPr>
          <a:xfrm rot="16200000">
            <a:off x="426430" y="4361536"/>
            <a:ext cx="679481"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Índices</a:t>
            </a:r>
          </a:p>
          <a:p>
            <a:pPr algn="ctr"/>
            <a:endParaRPr lang="es-AR" sz="1200" dirty="0">
              <a:solidFill>
                <a:schemeClr val="bg2"/>
              </a:solidFill>
            </a:endParaRPr>
          </a:p>
        </p:txBody>
      </p:sp>
      <p:sp>
        <p:nvSpPr>
          <p:cNvPr id="4" name="Marcador de número de diapositiva 3">
            <a:extLst>
              <a:ext uri="{FF2B5EF4-FFF2-40B4-BE49-F238E27FC236}">
                <a16:creationId xmlns:a16="http://schemas.microsoft.com/office/drawing/2014/main" id="{D91A59E6-455A-47FE-B2B5-941BD8E8F3B7}"/>
              </a:ext>
            </a:extLst>
          </p:cNvPr>
          <p:cNvSpPr>
            <a:spLocks noGrp="1"/>
          </p:cNvSpPr>
          <p:nvPr>
            <p:ph type="sldNum" sz="quarter" idx="12"/>
          </p:nvPr>
        </p:nvSpPr>
        <p:spPr/>
        <p:txBody>
          <a:bodyPr/>
          <a:lstStyle/>
          <a:p>
            <a:fld id="{E4801FF2-09AB-46FD-82F0-246320401FD0}" type="slidenum">
              <a:rPr lang="es-ES" altLang="en-US" smtClean="0"/>
              <a:pPr/>
              <a:t>5</a:t>
            </a:fld>
            <a:endParaRPr lang="es-ES" altLang="en-US"/>
          </a:p>
        </p:txBody>
      </p:sp>
      <p:sp>
        <p:nvSpPr>
          <p:cNvPr id="5" name="Marcador de pie de página 4">
            <a:extLst>
              <a:ext uri="{FF2B5EF4-FFF2-40B4-BE49-F238E27FC236}">
                <a16:creationId xmlns:a16="http://schemas.microsoft.com/office/drawing/2014/main" id="{37CCC23B-F4DC-4D47-BE08-FD52A8530A3D}"/>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55862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Las variables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6"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662013" y="1124744"/>
            <a:ext cx="778376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AR" altLang="es-AR" b="1" dirty="0">
                <a:solidFill>
                  <a:schemeClr val="bg1"/>
                </a:solidFill>
                <a:latin typeface="Calibri" panose="020F0502020204030204" pitchFamily="34" charset="0"/>
                <a:cs typeface="Calibri" panose="020F0502020204030204" pitchFamily="34" charset="0"/>
              </a:rPr>
              <a:t>“El lenguaje de las variables” (Lazarsfeld): tratar fenómenos sociales </a:t>
            </a:r>
            <a:r>
              <a:rPr lang="es-AR" altLang="es-AR" b="1" i="1" u="sng" dirty="0">
                <a:solidFill>
                  <a:schemeClr val="bg1"/>
                </a:solidFill>
                <a:latin typeface="Calibri" panose="020F0502020204030204" pitchFamily="34" charset="0"/>
                <a:cs typeface="Calibri" panose="020F0502020204030204" pitchFamily="34" charset="0"/>
              </a:rPr>
              <a:t>como</a:t>
            </a:r>
            <a:r>
              <a:rPr lang="es-AR" altLang="es-AR" b="1" dirty="0">
                <a:solidFill>
                  <a:schemeClr val="bg1"/>
                </a:solidFill>
                <a:latin typeface="Calibri" panose="020F0502020204030204" pitchFamily="34" charset="0"/>
                <a:cs typeface="Calibri" panose="020F0502020204030204" pitchFamily="34" charset="0"/>
              </a:rPr>
              <a:t> variables</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1"/>
                </a:solidFill>
                <a:latin typeface="Calibri" panose="020F0502020204030204" pitchFamily="34" charset="0"/>
                <a:cs typeface="Calibri" panose="020F0502020204030204" pitchFamily="34" charset="0"/>
              </a:rPr>
              <a:t>Una </a:t>
            </a:r>
            <a:r>
              <a:rPr lang="es-AR" altLang="es-AR" b="1" dirty="0">
                <a:solidFill>
                  <a:schemeClr val="accent1"/>
                </a:solidFill>
                <a:latin typeface="Calibri" panose="020F0502020204030204" pitchFamily="34" charset="0"/>
                <a:cs typeface="Calibri" panose="020F0502020204030204" pitchFamily="34" charset="0"/>
              </a:rPr>
              <a:t>variable</a:t>
            </a:r>
            <a:r>
              <a:rPr lang="es-AR" altLang="es-AR" dirty="0">
                <a:solidFill>
                  <a:schemeClr val="bg1"/>
                </a:solidFill>
                <a:latin typeface="Calibri" panose="020F0502020204030204" pitchFamily="34" charset="0"/>
                <a:cs typeface="Calibri" panose="020F0502020204030204" pitchFamily="34" charset="0"/>
              </a:rPr>
              <a:t> es cualquier cualidad o característica de un objeto (o evento) que contiene, al menos, dos atributos, en los cuales pueda clasificarse al objeto o evento determinado.</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1"/>
                </a:solidFill>
                <a:latin typeface="Calibri" panose="020F0502020204030204" pitchFamily="34" charset="0"/>
                <a:cs typeface="Calibri" panose="020F0502020204030204" pitchFamily="34" charset="0"/>
              </a:rPr>
              <a:t>Los atributos son las distintas </a:t>
            </a:r>
            <a:r>
              <a:rPr lang="es-AR" altLang="es-AR" b="1" dirty="0">
                <a:solidFill>
                  <a:schemeClr val="accent1"/>
                </a:solidFill>
                <a:latin typeface="Calibri" panose="020F0502020204030204" pitchFamily="34" charset="0"/>
                <a:cs typeface="Calibri" panose="020F0502020204030204" pitchFamily="34" charset="0"/>
              </a:rPr>
              <a:t>categorías o valores</a:t>
            </a:r>
            <a:r>
              <a:rPr lang="es-AR" altLang="es-AR" dirty="0">
                <a:solidFill>
                  <a:schemeClr val="accent1"/>
                </a:solidFill>
                <a:latin typeface="Calibri" panose="020F0502020204030204" pitchFamily="34" charset="0"/>
                <a:cs typeface="Calibri" panose="020F0502020204030204" pitchFamily="34" charset="0"/>
              </a:rPr>
              <a:t> </a:t>
            </a:r>
            <a:r>
              <a:rPr lang="es-AR" altLang="es-AR" dirty="0">
                <a:solidFill>
                  <a:schemeClr val="bg1"/>
                </a:solidFill>
                <a:latin typeface="Calibri" panose="020F0502020204030204" pitchFamily="34" charset="0"/>
                <a:cs typeface="Calibri" panose="020F0502020204030204" pitchFamily="34" charset="0"/>
              </a:rPr>
              <a:t>que componen a la variable. </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1"/>
                </a:solidFill>
                <a:latin typeface="Calibri" panose="020F0502020204030204" pitchFamily="34" charset="0"/>
                <a:cs typeface="Calibri" panose="020F0502020204030204" pitchFamily="34" charset="0"/>
              </a:rPr>
              <a:t>El proceso de investigación cuantitativo consiste en asignar valores o categorías a los objetos que son de interés en el estudio.</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1"/>
                </a:solidFill>
                <a:latin typeface="Calibri" panose="020F0502020204030204" pitchFamily="34" charset="0"/>
                <a:cs typeface="Calibri" panose="020F0502020204030204" pitchFamily="34" charset="0"/>
              </a:rPr>
              <a:t>Ejemplos de variables directamente observables: </a:t>
            </a:r>
            <a:r>
              <a:rPr lang="es-AR" altLang="es-AR" i="1" dirty="0">
                <a:solidFill>
                  <a:schemeClr val="bg1"/>
                </a:solidFill>
                <a:latin typeface="Calibri" panose="020F0502020204030204" pitchFamily="34" charset="0"/>
                <a:cs typeface="Calibri" panose="020F0502020204030204" pitchFamily="34" charset="0"/>
              </a:rPr>
              <a:t>edad, sexo, preferencia política, religión a la que pertenece</a:t>
            </a:r>
            <a:r>
              <a:rPr lang="es-AR" altLang="es-AR" dirty="0">
                <a:solidFill>
                  <a:schemeClr val="bg1"/>
                </a:solidFill>
                <a:latin typeface="Calibri" panose="020F0502020204030204" pitchFamily="34" charset="0"/>
                <a:cs typeface="Calibri" panose="020F0502020204030204" pitchFamily="34" charset="0"/>
              </a:rPr>
              <a:t>, etc.</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p:txBody>
      </p:sp>
      <p:sp>
        <p:nvSpPr>
          <p:cNvPr id="3" name="Marcador de número de diapositiva 2">
            <a:extLst>
              <a:ext uri="{FF2B5EF4-FFF2-40B4-BE49-F238E27FC236}">
                <a16:creationId xmlns:a16="http://schemas.microsoft.com/office/drawing/2014/main" id="{3C1A4641-0B87-4C60-8572-E42639A9A34C}"/>
              </a:ext>
            </a:extLst>
          </p:cNvPr>
          <p:cNvSpPr>
            <a:spLocks noGrp="1"/>
          </p:cNvSpPr>
          <p:nvPr>
            <p:ph type="sldNum" sz="quarter" idx="12"/>
          </p:nvPr>
        </p:nvSpPr>
        <p:spPr/>
        <p:txBody>
          <a:bodyPr/>
          <a:lstStyle/>
          <a:p>
            <a:fld id="{E4801FF2-09AB-46FD-82F0-246320401FD0}" type="slidenum">
              <a:rPr lang="es-ES" altLang="en-US" smtClean="0"/>
              <a:pPr/>
              <a:t>6</a:t>
            </a:fld>
            <a:endParaRPr lang="es-ES" altLang="en-US"/>
          </a:p>
        </p:txBody>
      </p:sp>
      <p:sp>
        <p:nvSpPr>
          <p:cNvPr id="4" name="Marcador de pie de página 3">
            <a:extLst>
              <a:ext uri="{FF2B5EF4-FFF2-40B4-BE49-F238E27FC236}">
                <a16:creationId xmlns:a16="http://schemas.microsoft.com/office/drawing/2014/main" id="{20A30C6E-A0DF-4043-838F-F6EEFA97A113}"/>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02780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up)">
                                      <p:cBhvr>
                                        <p:cTn id="7" dur="500"/>
                                        <p:tgtEl>
                                          <p:spTgt spid="6">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ipe(up)">
                                      <p:cBhvr>
                                        <p:cTn id="10" dur="500"/>
                                        <p:tgtEl>
                                          <p:spTgt spid="6">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wipe(up)">
                                      <p:cBhvr>
                                        <p:cTn id="13" dur="500"/>
                                        <p:tgtEl>
                                          <p:spTgt spid="6">
                                            <p:txEl>
                                              <p:pRg st="4" end="4"/>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6">
                                            <p:txEl>
                                              <p:pRg st="6" end="6"/>
                                            </p:txEl>
                                          </p:spTgt>
                                        </p:tgtEl>
                                        <p:attrNameLst>
                                          <p:attrName>style.visibility</p:attrName>
                                        </p:attrNameLst>
                                      </p:cBhvr>
                                      <p:to>
                                        <p:strVal val="visible"/>
                                      </p:to>
                                    </p:set>
                                    <p:animEffect transition="in" filter="wipe(up)">
                                      <p:cBhvr>
                                        <p:cTn id="16" dur="500"/>
                                        <p:tgtEl>
                                          <p:spTgt spid="6">
                                            <p:txEl>
                                              <p:pRg st="6" end="6"/>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6">
                                            <p:txEl>
                                              <p:pRg st="8" end="8"/>
                                            </p:txEl>
                                          </p:spTgt>
                                        </p:tgtEl>
                                        <p:attrNameLst>
                                          <p:attrName>style.visibility</p:attrName>
                                        </p:attrNameLst>
                                      </p:cBhvr>
                                      <p:to>
                                        <p:strVal val="visible"/>
                                      </p:to>
                                    </p:set>
                                    <p:animEffect transition="in" filter="wipe(up)">
                                      <p:cBhvr>
                                        <p:cTn id="19" dur="500"/>
                                        <p:tgtEl>
                                          <p:spTgt spid="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sistema de categorías de las variables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6"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662013" y="1124744"/>
            <a:ext cx="778376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1"/>
                </a:solidFill>
                <a:latin typeface="Calibri" panose="020F0502020204030204" pitchFamily="34" charset="0"/>
                <a:cs typeface="Calibri" panose="020F0502020204030204" pitchFamily="34" charset="0"/>
              </a:rPr>
              <a:t>Requisitos que debe cumplir el sistema de categorías o valores</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1"/>
                </a:solidFill>
                <a:latin typeface="Calibri" panose="020F0502020204030204" pitchFamily="34" charset="0"/>
                <a:cs typeface="Calibri" panose="020F0502020204030204" pitchFamily="34" charset="0"/>
              </a:rPr>
              <a:t>Para que una variable pueda medirse, su sistema de categorías debe cumplir las siguientes características:</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a:p>
            <a:pPr marL="1320800" lvl="3" algn="just">
              <a:buFont typeface="Arial" panose="020B0604020202020204" pitchFamily="34" charset="0"/>
              <a:buChar char="•"/>
            </a:pPr>
            <a:r>
              <a:rPr lang="es-AR" altLang="es-AR" b="1" dirty="0">
                <a:solidFill>
                  <a:schemeClr val="accent1"/>
                </a:solidFill>
                <a:latin typeface="Calibri" panose="020F0502020204030204" pitchFamily="34" charset="0"/>
                <a:cs typeface="Calibri" panose="020F0502020204030204" pitchFamily="34" charset="0"/>
              </a:rPr>
              <a:t>Exhaustividad</a:t>
            </a:r>
            <a:r>
              <a:rPr lang="es-AR" altLang="es-AR" dirty="0">
                <a:solidFill>
                  <a:schemeClr val="bg1"/>
                </a:solidFill>
                <a:latin typeface="Calibri" panose="020F0502020204030204" pitchFamily="34" charset="0"/>
                <a:cs typeface="Calibri" panose="020F0502020204030204" pitchFamily="34" charset="0"/>
              </a:rPr>
              <a:t>: el sistema de categorías o valores de una variable debe permitir que ninguna observación quede sin poder clasificarse.</a:t>
            </a:r>
          </a:p>
          <a:p>
            <a:pPr marL="1320800" lvl="3" algn="just">
              <a:buFont typeface="Arial" panose="020B0604020202020204" pitchFamily="34" charset="0"/>
              <a:buChar char="•"/>
            </a:pPr>
            <a:endParaRPr lang="es-AR" altLang="es-AR" b="1" dirty="0">
              <a:solidFill>
                <a:schemeClr val="bg1"/>
              </a:solidFill>
              <a:latin typeface="Calibri" panose="020F0502020204030204" pitchFamily="34" charset="0"/>
              <a:cs typeface="Calibri" panose="020F0502020204030204" pitchFamily="34" charset="0"/>
            </a:endParaRPr>
          </a:p>
          <a:p>
            <a:pPr marL="1320800" lvl="3" algn="just">
              <a:buFont typeface="Arial" panose="020B0604020202020204" pitchFamily="34" charset="0"/>
              <a:buChar char="•"/>
            </a:pPr>
            <a:r>
              <a:rPr lang="es-AR" altLang="es-AR" b="1" dirty="0">
                <a:solidFill>
                  <a:schemeClr val="accent1"/>
                </a:solidFill>
                <a:latin typeface="Calibri" panose="020F0502020204030204" pitchFamily="34" charset="0"/>
                <a:cs typeface="Calibri" panose="020F0502020204030204" pitchFamily="34" charset="0"/>
              </a:rPr>
              <a:t>Exclusividad</a:t>
            </a:r>
            <a:r>
              <a:rPr lang="es-AR" altLang="es-AR" b="1" dirty="0">
                <a:solidFill>
                  <a:schemeClr val="bg1"/>
                </a:solidFill>
                <a:latin typeface="Calibri" panose="020F0502020204030204" pitchFamily="34" charset="0"/>
                <a:cs typeface="Calibri" panose="020F0502020204030204" pitchFamily="34" charset="0"/>
              </a:rPr>
              <a:t>: </a:t>
            </a:r>
            <a:r>
              <a:rPr lang="es-AR" altLang="es-AR" dirty="0">
                <a:solidFill>
                  <a:schemeClr val="bg1"/>
                </a:solidFill>
                <a:latin typeface="Calibri" panose="020F0502020204030204" pitchFamily="34" charset="0"/>
                <a:cs typeface="Calibri" panose="020F0502020204030204" pitchFamily="34" charset="0"/>
              </a:rPr>
              <a:t>los distintos atributos que componen la variable deben ser mutuamente excluyentes. Por consiguiente, cada unidad de análisis sólo puede clasificarse en términos de un único atributo.</a:t>
            </a:r>
          </a:p>
          <a:p>
            <a:pPr marL="1320800" lvl="3" algn="just">
              <a:buFont typeface="Arial" panose="020B0604020202020204" pitchFamily="34" charset="0"/>
              <a:buChar char="•"/>
            </a:pPr>
            <a:endParaRPr lang="es-AR" altLang="es-AR" b="1" dirty="0">
              <a:solidFill>
                <a:schemeClr val="bg1"/>
              </a:solidFill>
              <a:latin typeface="Calibri" panose="020F0502020204030204" pitchFamily="34" charset="0"/>
              <a:cs typeface="Calibri" panose="020F0502020204030204" pitchFamily="34" charset="0"/>
            </a:endParaRPr>
          </a:p>
          <a:p>
            <a:pPr marL="1320800" lvl="3" algn="just">
              <a:buFont typeface="Arial" panose="020B0604020202020204" pitchFamily="34" charset="0"/>
              <a:buChar char="•"/>
            </a:pPr>
            <a:r>
              <a:rPr lang="es-AR" altLang="es-AR" b="1" dirty="0">
                <a:solidFill>
                  <a:schemeClr val="accent1"/>
                </a:solidFill>
                <a:latin typeface="Calibri" panose="020F0502020204030204" pitchFamily="34" charset="0"/>
                <a:cs typeface="Calibri" panose="020F0502020204030204" pitchFamily="34" charset="0"/>
              </a:rPr>
              <a:t>Precisión</a:t>
            </a:r>
            <a:r>
              <a:rPr lang="es-AR" altLang="es-AR" b="1" dirty="0">
                <a:solidFill>
                  <a:schemeClr val="bg1"/>
                </a:solidFill>
                <a:latin typeface="Calibri" panose="020F0502020204030204" pitchFamily="34" charset="0"/>
                <a:cs typeface="Calibri" panose="020F0502020204030204" pitchFamily="34" charset="0"/>
              </a:rPr>
              <a:t>: </a:t>
            </a:r>
            <a:r>
              <a:rPr lang="es-AR" altLang="es-AR" dirty="0">
                <a:solidFill>
                  <a:schemeClr val="bg1"/>
                </a:solidFill>
                <a:latin typeface="Calibri" panose="020F0502020204030204" pitchFamily="34" charset="0"/>
                <a:cs typeface="Calibri" panose="020F0502020204030204" pitchFamily="34" charset="0"/>
              </a:rPr>
              <a:t>se debe poder realizar el mayor número de distinciones posibles. </a:t>
            </a:r>
          </a:p>
        </p:txBody>
      </p:sp>
      <p:sp>
        <p:nvSpPr>
          <p:cNvPr id="4" name="Marcador de número de diapositiva 3">
            <a:extLst>
              <a:ext uri="{FF2B5EF4-FFF2-40B4-BE49-F238E27FC236}">
                <a16:creationId xmlns:a16="http://schemas.microsoft.com/office/drawing/2014/main" id="{B333F45B-17B2-49ED-98E0-8449C2FF4336}"/>
              </a:ext>
            </a:extLst>
          </p:cNvPr>
          <p:cNvSpPr>
            <a:spLocks noGrp="1"/>
          </p:cNvSpPr>
          <p:nvPr>
            <p:ph type="sldNum" sz="quarter" idx="12"/>
          </p:nvPr>
        </p:nvSpPr>
        <p:spPr/>
        <p:txBody>
          <a:bodyPr/>
          <a:lstStyle/>
          <a:p>
            <a:fld id="{E4801FF2-09AB-46FD-82F0-246320401FD0}" type="slidenum">
              <a:rPr lang="es-ES" altLang="en-US" smtClean="0"/>
              <a:pPr/>
              <a:t>7</a:t>
            </a:fld>
            <a:endParaRPr lang="es-ES" altLang="en-US"/>
          </a:p>
        </p:txBody>
      </p:sp>
      <p:sp>
        <p:nvSpPr>
          <p:cNvPr id="5" name="Marcador de pie de página 4">
            <a:extLst>
              <a:ext uri="{FF2B5EF4-FFF2-40B4-BE49-F238E27FC236}">
                <a16:creationId xmlns:a16="http://schemas.microsoft.com/office/drawing/2014/main" id="{A86C355D-529D-4FB0-905C-54DCA7704BF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071671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sistema de categorías de las variables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6"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662013" y="1124744"/>
            <a:ext cx="77837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1"/>
                </a:solidFill>
                <a:latin typeface="Calibri" panose="020F0502020204030204" pitchFamily="34" charset="0"/>
                <a:cs typeface="Calibri" panose="020F0502020204030204" pitchFamily="34" charset="0"/>
              </a:rPr>
              <a:t>Requisitos que debe cumplir el sistema de categorías o valores</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p:txBody>
      </p:sp>
      <p:sp>
        <p:nvSpPr>
          <p:cNvPr id="8" name="CuadroTexto 7">
            <a:extLst>
              <a:ext uri="{FF2B5EF4-FFF2-40B4-BE49-F238E27FC236}">
                <a16:creationId xmlns:a16="http://schemas.microsoft.com/office/drawing/2014/main" id="{9DC17B0A-B87B-43BE-9D2D-82358FBE59C6}"/>
              </a:ext>
            </a:extLst>
          </p:cNvPr>
          <p:cNvSpPr txBox="1"/>
          <p:nvPr/>
        </p:nvSpPr>
        <p:spPr>
          <a:xfrm>
            <a:off x="972514" y="1617186"/>
            <a:ext cx="1295623"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excluyente</a:t>
            </a:r>
          </a:p>
        </p:txBody>
      </p:sp>
      <p:cxnSp>
        <p:nvCxnSpPr>
          <p:cNvPr id="9" name="Conector recto de flecha 8">
            <a:extLst>
              <a:ext uri="{FF2B5EF4-FFF2-40B4-BE49-F238E27FC236}">
                <a16:creationId xmlns:a16="http://schemas.microsoft.com/office/drawing/2014/main" id="{898FA0E0-9786-4DD6-835C-E23213C5BB78}"/>
              </a:ext>
            </a:extLst>
          </p:cNvPr>
          <p:cNvCxnSpPr>
            <a:cxnSpLocks/>
            <a:stCxn id="8" idx="2"/>
            <a:endCxn id="7" idx="0"/>
          </p:cNvCxnSpPr>
          <p:nvPr/>
        </p:nvCxnSpPr>
        <p:spPr bwMode="auto">
          <a:xfrm>
            <a:off x="1620326" y="1924963"/>
            <a:ext cx="0" cy="221670"/>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3D90AFEF-EE34-4CB4-AA2D-BAA2587C7460}"/>
              </a:ext>
            </a:extLst>
          </p:cNvPr>
          <p:cNvSpPr txBox="1"/>
          <p:nvPr/>
        </p:nvSpPr>
        <p:spPr>
          <a:xfrm>
            <a:off x="3067389" y="1603205"/>
            <a:ext cx="1152128"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Excluyente</a:t>
            </a:r>
          </a:p>
        </p:txBody>
      </p:sp>
      <p:cxnSp>
        <p:nvCxnSpPr>
          <p:cNvPr id="16" name="Conector recto de flecha 15">
            <a:extLst>
              <a:ext uri="{FF2B5EF4-FFF2-40B4-BE49-F238E27FC236}">
                <a16:creationId xmlns:a16="http://schemas.microsoft.com/office/drawing/2014/main" id="{9D8F7983-2C07-4EAB-9727-CC0ABBEDF151}"/>
              </a:ext>
            </a:extLst>
          </p:cNvPr>
          <p:cNvCxnSpPr>
            <a:cxnSpLocks/>
            <a:stCxn id="15" idx="2"/>
            <a:endCxn id="17" idx="0"/>
          </p:cNvCxnSpPr>
          <p:nvPr/>
        </p:nvCxnSpPr>
        <p:spPr bwMode="auto">
          <a:xfrm>
            <a:off x="3643453" y="1910982"/>
            <a:ext cx="0" cy="23565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E4EE2F70-D542-4ED4-8BE7-AE7C70893AF7}"/>
              </a:ext>
            </a:extLst>
          </p:cNvPr>
          <p:cNvSpPr txBox="1"/>
          <p:nvPr/>
        </p:nvSpPr>
        <p:spPr>
          <a:xfrm>
            <a:off x="6872486" y="5661248"/>
            <a:ext cx="1611605"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Preciso</a:t>
            </a:r>
          </a:p>
        </p:txBody>
      </p:sp>
      <p:cxnSp>
        <p:nvCxnSpPr>
          <p:cNvPr id="19" name="Conector recto de flecha 18">
            <a:extLst>
              <a:ext uri="{FF2B5EF4-FFF2-40B4-BE49-F238E27FC236}">
                <a16:creationId xmlns:a16="http://schemas.microsoft.com/office/drawing/2014/main" id="{D15E5EF4-F407-418A-B934-809339C37D30}"/>
              </a:ext>
            </a:extLst>
          </p:cNvPr>
          <p:cNvCxnSpPr>
            <a:cxnSpLocks/>
          </p:cNvCxnSpPr>
          <p:nvPr/>
        </p:nvCxnSpPr>
        <p:spPr bwMode="auto">
          <a:xfrm flipV="1">
            <a:off x="7668862" y="5333645"/>
            <a:ext cx="0" cy="34429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7" name="Tabla 9">
            <a:extLst>
              <a:ext uri="{FF2B5EF4-FFF2-40B4-BE49-F238E27FC236}">
                <a16:creationId xmlns:a16="http://schemas.microsoft.com/office/drawing/2014/main" id="{F25A6A9A-63A5-4B04-ADC7-204EADED64F2}"/>
              </a:ext>
            </a:extLst>
          </p:cNvPr>
          <p:cNvGraphicFramePr>
            <a:graphicFrameLocks noGrp="1"/>
          </p:cNvGraphicFramePr>
          <p:nvPr>
            <p:extLst>
              <p:ext uri="{D42A27DB-BD31-4B8C-83A1-F6EECF244321}">
                <p14:modId xmlns:p14="http://schemas.microsoft.com/office/powerpoint/2010/main" val="3959185965"/>
              </p:ext>
            </p:extLst>
          </p:nvPr>
        </p:nvGraphicFramePr>
        <p:xfrm>
          <a:off x="691552" y="2146633"/>
          <a:ext cx="1857548" cy="15240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18 -25 años</a:t>
                      </a:r>
                    </a:p>
                  </a:txBody>
                  <a:tcPr/>
                </a:tc>
                <a:extLst>
                  <a:ext uri="{0D108BD9-81ED-4DB2-BD59-A6C34878D82A}">
                    <a16:rowId xmlns:a16="http://schemas.microsoft.com/office/drawing/2014/main" val="3504084569"/>
                  </a:ext>
                </a:extLst>
              </a:tr>
              <a:tr h="296974">
                <a:tc>
                  <a:txBody>
                    <a:bodyPr/>
                    <a:lstStyle/>
                    <a:p>
                      <a:r>
                        <a:rPr lang="es-AR" sz="1400" dirty="0"/>
                        <a:t>25-49 años</a:t>
                      </a:r>
                    </a:p>
                  </a:txBody>
                  <a:tcPr/>
                </a:tc>
                <a:extLst>
                  <a:ext uri="{0D108BD9-81ED-4DB2-BD59-A6C34878D82A}">
                    <a16:rowId xmlns:a16="http://schemas.microsoft.com/office/drawing/2014/main" val="4038726347"/>
                  </a:ext>
                </a:extLst>
              </a:tr>
              <a:tr h="296974">
                <a:tc>
                  <a:txBody>
                    <a:bodyPr/>
                    <a:lstStyle/>
                    <a:p>
                      <a:r>
                        <a:rPr lang="es-AR" sz="1400" dirty="0"/>
                        <a:t>50 años y más</a:t>
                      </a:r>
                    </a:p>
                  </a:txBody>
                  <a:tcPr/>
                </a:tc>
                <a:extLst>
                  <a:ext uri="{0D108BD9-81ED-4DB2-BD59-A6C34878D82A}">
                    <a16:rowId xmlns:a16="http://schemas.microsoft.com/office/drawing/2014/main" val="2317731594"/>
                  </a:ext>
                </a:extLst>
              </a:tr>
            </a:tbl>
          </a:graphicData>
        </a:graphic>
      </p:graphicFrame>
      <p:graphicFrame>
        <p:nvGraphicFramePr>
          <p:cNvPr id="17" name="Tabla 9">
            <a:extLst>
              <a:ext uri="{FF2B5EF4-FFF2-40B4-BE49-F238E27FC236}">
                <a16:creationId xmlns:a16="http://schemas.microsoft.com/office/drawing/2014/main" id="{799C4AFD-D73C-4656-A576-F741271B598F}"/>
              </a:ext>
            </a:extLst>
          </p:cNvPr>
          <p:cNvGraphicFramePr>
            <a:graphicFrameLocks noGrp="1"/>
          </p:cNvGraphicFramePr>
          <p:nvPr>
            <p:extLst>
              <p:ext uri="{D42A27DB-BD31-4B8C-83A1-F6EECF244321}">
                <p14:modId xmlns:p14="http://schemas.microsoft.com/office/powerpoint/2010/main" val="3706028403"/>
              </p:ext>
            </p:extLst>
          </p:nvPr>
        </p:nvGraphicFramePr>
        <p:xfrm>
          <a:off x="2714680" y="2146633"/>
          <a:ext cx="1857547" cy="15240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dirty="0"/>
                        <a:t>18 años y menos</a:t>
                      </a:r>
                    </a:p>
                  </a:txBody>
                  <a:tcPr/>
                </a:tc>
                <a:extLst>
                  <a:ext uri="{0D108BD9-81ED-4DB2-BD59-A6C34878D82A}">
                    <a16:rowId xmlns:a16="http://schemas.microsoft.com/office/drawing/2014/main" val="2440890905"/>
                  </a:ext>
                </a:extLst>
              </a:tr>
              <a:tr h="304800">
                <a:tc>
                  <a:txBody>
                    <a:bodyPr/>
                    <a:lstStyle/>
                    <a:p>
                      <a:r>
                        <a:rPr lang="es-AR" sz="1400" b="1" dirty="0"/>
                        <a:t>19</a:t>
                      </a:r>
                      <a:r>
                        <a:rPr lang="es-AR" sz="1400" dirty="0"/>
                        <a:t> -25 años</a:t>
                      </a:r>
                    </a:p>
                  </a:txBody>
                  <a:tcPr/>
                </a:tc>
                <a:extLst>
                  <a:ext uri="{0D108BD9-81ED-4DB2-BD59-A6C34878D82A}">
                    <a16:rowId xmlns:a16="http://schemas.microsoft.com/office/drawing/2014/main" val="3504084569"/>
                  </a:ext>
                </a:extLst>
              </a:tr>
              <a:tr h="304800">
                <a:tc>
                  <a:txBody>
                    <a:bodyPr/>
                    <a:lstStyle/>
                    <a:p>
                      <a:r>
                        <a:rPr lang="es-AR" sz="1400" b="1" dirty="0"/>
                        <a:t>26</a:t>
                      </a:r>
                      <a:r>
                        <a:rPr lang="es-AR" sz="1400" dirty="0"/>
                        <a:t>-49 años</a:t>
                      </a:r>
                    </a:p>
                  </a:txBody>
                  <a:tcPr/>
                </a:tc>
                <a:extLst>
                  <a:ext uri="{0D108BD9-81ED-4DB2-BD59-A6C34878D82A}">
                    <a16:rowId xmlns:a16="http://schemas.microsoft.com/office/drawing/2014/main" val="4038726347"/>
                  </a:ext>
                </a:extLst>
              </a:tr>
              <a:tr h="304800">
                <a:tc>
                  <a:txBody>
                    <a:bodyPr/>
                    <a:lstStyle/>
                    <a:p>
                      <a:r>
                        <a:rPr lang="es-AR" sz="1400" dirty="0"/>
                        <a:t>50 años y más</a:t>
                      </a:r>
                    </a:p>
                  </a:txBody>
                  <a:tcPr/>
                </a:tc>
                <a:extLst>
                  <a:ext uri="{0D108BD9-81ED-4DB2-BD59-A6C34878D82A}">
                    <a16:rowId xmlns:a16="http://schemas.microsoft.com/office/drawing/2014/main" val="2317731594"/>
                  </a:ext>
                </a:extLst>
              </a:tr>
            </a:tbl>
          </a:graphicData>
        </a:graphic>
      </p:graphicFrame>
      <p:graphicFrame>
        <p:nvGraphicFramePr>
          <p:cNvPr id="31" name="Tabla 9">
            <a:extLst>
              <a:ext uri="{FF2B5EF4-FFF2-40B4-BE49-F238E27FC236}">
                <a16:creationId xmlns:a16="http://schemas.microsoft.com/office/drawing/2014/main" id="{F16CB603-4404-42B8-B70F-08D43F84DB01}"/>
              </a:ext>
            </a:extLst>
          </p:cNvPr>
          <p:cNvGraphicFramePr>
            <a:graphicFrameLocks noGrp="1"/>
          </p:cNvGraphicFramePr>
          <p:nvPr>
            <p:extLst>
              <p:ext uri="{D42A27DB-BD31-4B8C-83A1-F6EECF244321}">
                <p14:modId xmlns:p14="http://schemas.microsoft.com/office/powerpoint/2010/main" val="3525145053"/>
              </p:ext>
            </p:extLst>
          </p:nvPr>
        </p:nvGraphicFramePr>
        <p:xfrm>
          <a:off x="691552" y="3919616"/>
          <a:ext cx="1857548" cy="15240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19 -25 años</a:t>
                      </a:r>
                    </a:p>
                  </a:txBody>
                  <a:tcPr/>
                </a:tc>
                <a:extLst>
                  <a:ext uri="{0D108BD9-81ED-4DB2-BD59-A6C34878D82A}">
                    <a16:rowId xmlns:a16="http://schemas.microsoft.com/office/drawing/2014/main" val="3504084569"/>
                  </a:ext>
                </a:extLst>
              </a:tr>
              <a:tr h="296974">
                <a:tc>
                  <a:txBody>
                    <a:bodyPr/>
                    <a:lstStyle/>
                    <a:p>
                      <a:r>
                        <a:rPr lang="es-AR" sz="1400" dirty="0"/>
                        <a:t>26-49 años</a:t>
                      </a:r>
                    </a:p>
                  </a:txBody>
                  <a:tcPr/>
                </a:tc>
                <a:extLst>
                  <a:ext uri="{0D108BD9-81ED-4DB2-BD59-A6C34878D82A}">
                    <a16:rowId xmlns:a16="http://schemas.microsoft.com/office/drawing/2014/main" val="4038726347"/>
                  </a:ext>
                </a:extLst>
              </a:tr>
              <a:tr h="296974">
                <a:tc>
                  <a:txBody>
                    <a:bodyPr/>
                    <a:lstStyle/>
                    <a:p>
                      <a:r>
                        <a:rPr lang="es-AR" sz="1400" dirty="0"/>
                        <a:t>50-65</a:t>
                      </a:r>
                    </a:p>
                  </a:txBody>
                  <a:tcPr/>
                </a:tc>
                <a:extLst>
                  <a:ext uri="{0D108BD9-81ED-4DB2-BD59-A6C34878D82A}">
                    <a16:rowId xmlns:a16="http://schemas.microsoft.com/office/drawing/2014/main" val="2317731594"/>
                  </a:ext>
                </a:extLst>
              </a:tr>
            </a:tbl>
          </a:graphicData>
        </a:graphic>
      </p:graphicFrame>
      <p:graphicFrame>
        <p:nvGraphicFramePr>
          <p:cNvPr id="32" name="Tabla 9">
            <a:extLst>
              <a:ext uri="{FF2B5EF4-FFF2-40B4-BE49-F238E27FC236}">
                <a16:creationId xmlns:a16="http://schemas.microsoft.com/office/drawing/2014/main" id="{73A25F63-F146-49C5-93E4-54AED817A647}"/>
              </a:ext>
            </a:extLst>
          </p:cNvPr>
          <p:cNvGraphicFramePr>
            <a:graphicFrameLocks noGrp="1"/>
          </p:cNvGraphicFramePr>
          <p:nvPr>
            <p:extLst>
              <p:ext uri="{D42A27DB-BD31-4B8C-83A1-F6EECF244321}">
                <p14:modId xmlns:p14="http://schemas.microsoft.com/office/powerpoint/2010/main" val="2183308848"/>
              </p:ext>
            </p:extLst>
          </p:nvPr>
        </p:nvGraphicFramePr>
        <p:xfrm>
          <a:off x="2714680" y="3919616"/>
          <a:ext cx="1857547" cy="18288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dirty="0"/>
                        <a:t>18 años y menos</a:t>
                      </a:r>
                    </a:p>
                  </a:txBody>
                  <a:tcPr/>
                </a:tc>
                <a:extLst>
                  <a:ext uri="{0D108BD9-81ED-4DB2-BD59-A6C34878D82A}">
                    <a16:rowId xmlns:a16="http://schemas.microsoft.com/office/drawing/2014/main" val="2440890905"/>
                  </a:ext>
                </a:extLst>
              </a:tr>
              <a:tr h="304800">
                <a:tc>
                  <a:txBody>
                    <a:bodyPr/>
                    <a:lstStyle/>
                    <a:p>
                      <a:r>
                        <a:rPr lang="es-AR" sz="1400" b="0" dirty="0"/>
                        <a:t>19 -25 años</a:t>
                      </a:r>
                    </a:p>
                  </a:txBody>
                  <a:tcPr/>
                </a:tc>
                <a:extLst>
                  <a:ext uri="{0D108BD9-81ED-4DB2-BD59-A6C34878D82A}">
                    <a16:rowId xmlns:a16="http://schemas.microsoft.com/office/drawing/2014/main" val="3504084569"/>
                  </a:ext>
                </a:extLst>
              </a:tr>
              <a:tr h="304800">
                <a:tc>
                  <a:txBody>
                    <a:bodyPr/>
                    <a:lstStyle/>
                    <a:p>
                      <a:r>
                        <a:rPr lang="es-AR" sz="1400" b="0" dirty="0"/>
                        <a:t>26-49 años</a:t>
                      </a:r>
                    </a:p>
                  </a:txBody>
                  <a:tcPr/>
                </a:tc>
                <a:extLst>
                  <a:ext uri="{0D108BD9-81ED-4DB2-BD59-A6C34878D82A}">
                    <a16:rowId xmlns:a16="http://schemas.microsoft.com/office/drawing/2014/main" val="4038726347"/>
                  </a:ext>
                </a:extLst>
              </a:tr>
              <a:tr h="304800">
                <a:tc>
                  <a:txBody>
                    <a:bodyPr/>
                    <a:lstStyle/>
                    <a:p>
                      <a:r>
                        <a:rPr lang="es-AR" sz="1400" dirty="0"/>
                        <a:t>50-65</a:t>
                      </a:r>
                    </a:p>
                  </a:txBody>
                  <a:tcPr/>
                </a:tc>
                <a:extLst>
                  <a:ext uri="{0D108BD9-81ED-4DB2-BD59-A6C34878D82A}">
                    <a16:rowId xmlns:a16="http://schemas.microsoft.com/office/drawing/2014/main" val="2317731594"/>
                  </a:ext>
                </a:extLst>
              </a:tr>
              <a:tr h="304800">
                <a:tc>
                  <a:txBody>
                    <a:bodyPr/>
                    <a:lstStyle/>
                    <a:p>
                      <a:r>
                        <a:rPr lang="es-AR" sz="1400" b="1" dirty="0"/>
                        <a:t>66 y más</a:t>
                      </a:r>
                    </a:p>
                  </a:txBody>
                  <a:tcPr/>
                </a:tc>
                <a:extLst>
                  <a:ext uri="{0D108BD9-81ED-4DB2-BD59-A6C34878D82A}">
                    <a16:rowId xmlns:a16="http://schemas.microsoft.com/office/drawing/2014/main" val="3341764916"/>
                  </a:ext>
                </a:extLst>
              </a:tr>
            </a:tbl>
          </a:graphicData>
        </a:graphic>
      </p:graphicFrame>
      <p:sp>
        <p:nvSpPr>
          <p:cNvPr id="37" name="CuadroTexto 36">
            <a:extLst>
              <a:ext uri="{FF2B5EF4-FFF2-40B4-BE49-F238E27FC236}">
                <a16:creationId xmlns:a16="http://schemas.microsoft.com/office/drawing/2014/main" id="{8945DA34-1516-44A1-85E3-77098E59D99F}"/>
              </a:ext>
            </a:extLst>
          </p:cNvPr>
          <p:cNvSpPr txBox="1"/>
          <p:nvPr/>
        </p:nvSpPr>
        <p:spPr>
          <a:xfrm>
            <a:off x="1044262" y="5749873"/>
            <a:ext cx="1152128" cy="523220"/>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exhaustivo</a:t>
            </a:r>
          </a:p>
        </p:txBody>
      </p:sp>
      <p:cxnSp>
        <p:nvCxnSpPr>
          <p:cNvPr id="38" name="Conector recto de flecha 37">
            <a:extLst>
              <a:ext uri="{FF2B5EF4-FFF2-40B4-BE49-F238E27FC236}">
                <a16:creationId xmlns:a16="http://schemas.microsoft.com/office/drawing/2014/main" id="{56D87478-C2D1-4966-8779-C8C057413615}"/>
              </a:ext>
            </a:extLst>
          </p:cNvPr>
          <p:cNvCxnSpPr>
            <a:cxnSpLocks/>
            <a:stCxn id="37" idx="0"/>
            <a:endCxn id="31" idx="2"/>
          </p:cNvCxnSpPr>
          <p:nvPr/>
        </p:nvCxnSpPr>
        <p:spPr bwMode="auto">
          <a:xfrm flipV="1">
            <a:off x="1620326" y="5443616"/>
            <a:ext cx="0" cy="306257"/>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30F0F1BE-345B-4EB9-B2ED-E8F9A8CDCC9A}"/>
              </a:ext>
            </a:extLst>
          </p:cNvPr>
          <p:cNvSpPr txBox="1"/>
          <p:nvPr/>
        </p:nvSpPr>
        <p:spPr>
          <a:xfrm>
            <a:off x="3046704" y="6042851"/>
            <a:ext cx="1152128"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Exhaustivo</a:t>
            </a:r>
          </a:p>
        </p:txBody>
      </p:sp>
      <p:cxnSp>
        <p:nvCxnSpPr>
          <p:cNvPr id="46" name="Conector recto de flecha 45">
            <a:extLst>
              <a:ext uri="{FF2B5EF4-FFF2-40B4-BE49-F238E27FC236}">
                <a16:creationId xmlns:a16="http://schemas.microsoft.com/office/drawing/2014/main" id="{42E4D296-4DF5-46F0-A0F8-D77F8956FD7C}"/>
              </a:ext>
            </a:extLst>
          </p:cNvPr>
          <p:cNvCxnSpPr>
            <a:cxnSpLocks/>
            <a:stCxn id="45" idx="0"/>
          </p:cNvCxnSpPr>
          <p:nvPr/>
        </p:nvCxnSpPr>
        <p:spPr bwMode="auto">
          <a:xfrm flipV="1">
            <a:off x="3622768" y="5736595"/>
            <a:ext cx="0" cy="306256"/>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50" name="Tabla 9">
            <a:extLst>
              <a:ext uri="{FF2B5EF4-FFF2-40B4-BE49-F238E27FC236}">
                <a16:creationId xmlns:a16="http://schemas.microsoft.com/office/drawing/2014/main" id="{24134A8F-E4A8-4ADB-8246-5E4750444D7B}"/>
              </a:ext>
            </a:extLst>
          </p:cNvPr>
          <p:cNvGraphicFramePr>
            <a:graphicFrameLocks noGrp="1"/>
          </p:cNvGraphicFramePr>
          <p:nvPr>
            <p:extLst>
              <p:ext uri="{D42A27DB-BD31-4B8C-83A1-F6EECF244321}">
                <p14:modId xmlns:p14="http://schemas.microsoft.com/office/powerpoint/2010/main" val="6504499"/>
              </p:ext>
            </p:extLst>
          </p:nvPr>
        </p:nvGraphicFramePr>
        <p:xfrm>
          <a:off x="4882499" y="2908633"/>
          <a:ext cx="1857548" cy="914400"/>
        </p:xfrm>
        <a:graphic>
          <a:graphicData uri="http://schemas.openxmlformats.org/drawingml/2006/table">
            <a:tbl>
              <a:tblPr firstRow="1" bandRow="1">
                <a:tableStyleId>{073A0DAA-6AF3-43AB-8588-CEC1D06C72B9}</a:tableStyleId>
              </a:tblPr>
              <a:tblGrid>
                <a:gridCol w="1857548">
                  <a:extLst>
                    <a:ext uri="{9D8B030D-6E8A-4147-A177-3AD203B41FA5}">
                      <a16:colId xmlns:a16="http://schemas.microsoft.com/office/drawing/2014/main" val="2803339655"/>
                    </a:ext>
                  </a:extLst>
                </a:gridCol>
              </a:tblGrid>
              <a:tr h="296974">
                <a:tc>
                  <a:txBody>
                    <a:bodyPr/>
                    <a:lstStyle/>
                    <a:p>
                      <a:r>
                        <a:rPr lang="es-AR" sz="1400" dirty="0"/>
                        <a:t>Edad</a:t>
                      </a:r>
                    </a:p>
                  </a:txBody>
                  <a:tcPr/>
                </a:tc>
                <a:extLst>
                  <a:ext uri="{0D108BD9-81ED-4DB2-BD59-A6C34878D82A}">
                    <a16:rowId xmlns:a16="http://schemas.microsoft.com/office/drawing/2014/main" val="1863529168"/>
                  </a:ext>
                </a:extLst>
              </a:tr>
              <a:tr h="296974">
                <a:tc>
                  <a:txBody>
                    <a:bodyPr/>
                    <a:lstStyle/>
                    <a:p>
                      <a:r>
                        <a:rPr lang="es-AR" sz="1400" dirty="0"/>
                        <a:t>18 años y menos</a:t>
                      </a:r>
                    </a:p>
                  </a:txBody>
                  <a:tcPr/>
                </a:tc>
                <a:extLst>
                  <a:ext uri="{0D108BD9-81ED-4DB2-BD59-A6C34878D82A}">
                    <a16:rowId xmlns:a16="http://schemas.microsoft.com/office/drawing/2014/main" val="2440890905"/>
                  </a:ext>
                </a:extLst>
              </a:tr>
              <a:tr h="296974">
                <a:tc>
                  <a:txBody>
                    <a:bodyPr/>
                    <a:lstStyle/>
                    <a:p>
                      <a:r>
                        <a:rPr lang="es-AR" sz="1400" dirty="0"/>
                        <a:t>19 años y más</a:t>
                      </a:r>
                    </a:p>
                  </a:txBody>
                  <a:tcPr/>
                </a:tc>
                <a:extLst>
                  <a:ext uri="{0D108BD9-81ED-4DB2-BD59-A6C34878D82A}">
                    <a16:rowId xmlns:a16="http://schemas.microsoft.com/office/drawing/2014/main" val="3504084569"/>
                  </a:ext>
                </a:extLst>
              </a:tr>
            </a:tbl>
          </a:graphicData>
        </a:graphic>
      </p:graphicFrame>
      <p:graphicFrame>
        <p:nvGraphicFramePr>
          <p:cNvPr id="51" name="Tabla 9">
            <a:extLst>
              <a:ext uri="{FF2B5EF4-FFF2-40B4-BE49-F238E27FC236}">
                <a16:creationId xmlns:a16="http://schemas.microsoft.com/office/drawing/2014/main" id="{4CB99DB6-B89F-40AA-9CC3-A257C9E97149}"/>
              </a:ext>
            </a:extLst>
          </p:cNvPr>
          <p:cNvGraphicFramePr>
            <a:graphicFrameLocks noGrp="1"/>
          </p:cNvGraphicFramePr>
          <p:nvPr>
            <p:extLst>
              <p:ext uri="{D42A27DB-BD31-4B8C-83A1-F6EECF244321}">
                <p14:modId xmlns:p14="http://schemas.microsoft.com/office/powerpoint/2010/main" val="3974749502"/>
              </p:ext>
            </p:extLst>
          </p:nvPr>
        </p:nvGraphicFramePr>
        <p:xfrm>
          <a:off x="6818141" y="2908633"/>
          <a:ext cx="1857547" cy="2438400"/>
        </p:xfrm>
        <a:graphic>
          <a:graphicData uri="http://schemas.openxmlformats.org/drawingml/2006/table">
            <a:tbl>
              <a:tblPr firstRow="1" bandRow="1">
                <a:tableStyleId>{073A0DAA-6AF3-43AB-8588-CEC1D06C72B9}</a:tableStyleId>
              </a:tblPr>
              <a:tblGrid>
                <a:gridCol w="1857547">
                  <a:extLst>
                    <a:ext uri="{9D8B030D-6E8A-4147-A177-3AD203B41FA5}">
                      <a16:colId xmlns:a16="http://schemas.microsoft.com/office/drawing/2014/main" val="2803339655"/>
                    </a:ext>
                  </a:extLst>
                </a:gridCol>
              </a:tblGrid>
              <a:tr h="304800">
                <a:tc>
                  <a:txBody>
                    <a:bodyPr/>
                    <a:lstStyle/>
                    <a:p>
                      <a:r>
                        <a:rPr lang="es-AR" sz="1400" dirty="0"/>
                        <a:t>Edad</a:t>
                      </a:r>
                    </a:p>
                  </a:txBody>
                  <a:tcPr/>
                </a:tc>
                <a:extLst>
                  <a:ext uri="{0D108BD9-81ED-4DB2-BD59-A6C34878D82A}">
                    <a16:rowId xmlns:a16="http://schemas.microsoft.com/office/drawing/2014/main" val="1863529168"/>
                  </a:ext>
                </a:extLst>
              </a:tr>
              <a:tr h="304800">
                <a:tc>
                  <a:txBody>
                    <a:bodyPr/>
                    <a:lstStyle/>
                    <a:p>
                      <a:r>
                        <a:rPr lang="es-AR" sz="1400" b="0" dirty="0"/>
                        <a:t>0-9 años</a:t>
                      </a:r>
                    </a:p>
                  </a:txBody>
                  <a:tcPr/>
                </a:tc>
                <a:extLst>
                  <a:ext uri="{0D108BD9-81ED-4DB2-BD59-A6C34878D82A}">
                    <a16:rowId xmlns:a16="http://schemas.microsoft.com/office/drawing/2014/main" val="2440890905"/>
                  </a:ext>
                </a:extLst>
              </a:tr>
              <a:tr h="304800">
                <a:tc>
                  <a:txBody>
                    <a:bodyPr/>
                    <a:lstStyle/>
                    <a:p>
                      <a:r>
                        <a:rPr lang="es-AR" sz="1400" b="0" dirty="0"/>
                        <a:t>10-17 años</a:t>
                      </a:r>
                    </a:p>
                  </a:txBody>
                  <a:tcPr/>
                </a:tc>
                <a:extLst>
                  <a:ext uri="{0D108BD9-81ED-4DB2-BD59-A6C34878D82A}">
                    <a16:rowId xmlns:a16="http://schemas.microsoft.com/office/drawing/2014/main" val="3504084569"/>
                  </a:ext>
                </a:extLst>
              </a:tr>
              <a:tr h="304800">
                <a:tc>
                  <a:txBody>
                    <a:bodyPr/>
                    <a:lstStyle/>
                    <a:p>
                      <a:r>
                        <a:rPr lang="es-AR" sz="1400" b="0" dirty="0"/>
                        <a:t>18-29 años</a:t>
                      </a:r>
                    </a:p>
                  </a:txBody>
                  <a:tcPr/>
                </a:tc>
                <a:extLst>
                  <a:ext uri="{0D108BD9-81ED-4DB2-BD59-A6C34878D82A}">
                    <a16:rowId xmlns:a16="http://schemas.microsoft.com/office/drawing/2014/main" val="4038726347"/>
                  </a:ext>
                </a:extLst>
              </a:tr>
              <a:tr h="304800">
                <a:tc>
                  <a:txBody>
                    <a:bodyPr/>
                    <a:lstStyle/>
                    <a:p>
                      <a:r>
                        <a:rPr lang="es-AR" sz="1400" b="0" dirty="0"/>
                        <a:t>30-45</a:t>
                      </a:r>
                    </a:p>
                  </a:txBody>
                  <a:tcPr/>
                </a:tc>
                <a:extLst>
                  <a:ext uri="{0D108BD9-81ED-4DB2-BD59-A6C34878D82A}">
                    <a16:rowId xmlns:a16="http://schemas.microsoft.com/office/drawing/2014/main" val="2317731594"/>
                  </a:ext>
                </a:extLst>
              </a:tr>
              <a:tr h="304800">
                <a:tc>
                  <a:txBody>
                    <a:bodyPr/>
                    <a:lstStyle/>
                    <a:p>
                      <a:r>
                        <a:rPr lang="es-AR" sz="1400" b="0" dirty="0"/>
                        <a:t>46-59 años</a:t>
                      </a:r>
                    </a:p>
                  </a:txBody>
                  <a:tcPr/>
                </a:tc>
                <a:extLst>
                  <a:ext uri="{0D108BD9-81ED-4DB2-BD59-A6C34878D82A}">
                    <a16:rowId xmlns:a16="http://schemas.microsoft.com/office/drawing/2014/main" val="3341764916"/>
                  </a:ext>
                </a:extLst>
              </a:tr>
              <a:tr h="304800">
                <a:tc>
                  <a:txBody>
                    <a:bodyPr/>
                    <a:lstStyle/>
                    <a:p>
                      <a:r>
                        <a:rPr lang="es-AR" sz="1400" b="0" dirty="0"/>
                        <a:t>60-74 años</a:t>
                      </a:r>
                    </a:p>
                  </a:txBody>
                  <a:tcPr/>
                </a:tc>
                <a:extLst>
                  <a:ext uri="{0D108BD9-81ED-4DB2-BD59-A6C34878D82A}">
                    <a16:rowId xmlns:a16="http://schemas.microsoft.com/office/drawing/2014/main" val="1117868083"/>
                  </a:ext>
                </a:extLst>
              </a:tr>
              <a:tr h="304800">
                <a:tc>
                  <a:txBody>
                    <a:bodyPr/>
                    <a:lstStyle/>
                    <a:p>
                      <a:r>
                        <a:rPr lang="es-AR" sz="1400" b="0" dirty="0"/>
                        <a:t>75 años y más</a:t>
                      </a:r>
                    </a:p>
                  </a:txBody>
                  <a:tcPr/>
                </a:tc>
                <a:extLst>
                  <a:ext uri="{0D108BD9-81ED-4DB2-BD59-A6C34878D82A}">
                    <a16:rowId xmlns:a16="http://schemas.microsoft.com/office/drawing/2014/main" val="547454264"/>
                  </a:ext>
                </a:extLst>
              </a:tr>
            </a:tbl>
          </a:graphicData>
        </a:graphic>
      </p:graphicFrame>
      <p:sp>
        <p:nvSpPr>
          <p:cNvPr id="52" name="CuadroTexto 51">
            <a:extLst>
              <a:ext uri="{FF2B5EF4-FFF2-40B4-BE49-F238E27FC236}">
                <a16:creationId xmlns:a16="http://schemas.microsoft.com/office/drawing/2014/main" id="{37EE8D64-7212-4406-9D15-EDFE04D7E4E1}"/>
              </a:ext>
            </a:extLst>
          </p:cNvPr>
          <p:cNvSpPr txBox="1"/>
          <p:nvPr/>
        </p:nvSpPr>
        <p:spPr>
          <a:xfrm>
            <a:off x="5004048" y="4170461"/>
            <a:ext cx="1611605"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Impreciso</a:t>
            </a:r>
          </a:p>
        </p:txBody>
      </p:sp>
      <p:cxnSp>
        <p:nvCxnSpPr>
          <p:cNvPr id="53" name="Conector recto de flecha 52">
            <a:extLst>
              <a:ext uri="{FF2B5EF4-FFF2-40B4-BE49-F238E27FC236}">
                <a16:creationId xmlns:a16="http://schemas.microsoft.com/office/drawing/2014/main" id="{EDD9DC5E-DAB8-4B90-B422-3BC417F2EA2F}"/>
              </a:ext>
            </a:extLst>
          </p:cNvPr>
          <p:cNvCxnSpPr>
            <a:cxnSpLocks/>
          </p:cNvCxnSpPr>
          <p:nvPr/>
        </p:nvCxnSpPr>
        <p:spPr bwMode="auto">
          <a:xfrm flipV="1">
            <a:off x="5800424" y="3842858"/>
            <a:ext cx="0" cy="344291"/>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 name="Marcador de número de diapositiva 3">
            <a:extLst>
              <a:ext uri="{FF2B5EF4-FFF2-40B4-BE49-F238E27FC236}">
                <a16:creationId xmlns:a16="http://schemas.microsoft.com/office/drawing/2014/main" id="{99F60C7D-02F1-4B8D-8617-A3723664FEC7}"/>
              </a:ext>
            </a:extLst>
          </p:cNvPr>
          <p:cNvSpPr>
            <a:spLocks noGrp="1"/>
          </p:cNvSpPr>
          <p:nvPr>
            <p:ph type="sldNum" sz="quarter" idx="12"/>
          </p:nvPr>
        </p:nvSpPr>
        <p:spPr/>
        <p:txBody>
          <a:bodyPr/>
          <a:lstStyle/>
          <a:p>
            <a:fld id="{E4801FF2-09AB-46FD-82F0-246320401FD0}" type="slidenum">
              <a:rPr lang="es-ES" altLang="en-US" smtClean="0"/>
              <a:pPr/>
              <a:t>8</a:t>
            </a:fld>
            <a:endParaRPr lang="es-ES" altLang="en-US"/>
          </a:p>
        </p:txBody>
      </p:sp>
      <p:sp>
        <p:nvSpPr>
          <p:cNvPr id="5" name="Marcador de pie de página 4">
            <a:extLst>
              <a:ext uri="{FF2B5EF4-FFF2-40B4-BE49-F238E27FC236}">
                <a16:creationId xmlns:a16="http://schemas.microsoft.com/office/drawing/2014/main" id="{3C652EA1-AF8B-4301-A266-06A748E122AB}"/>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4185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 presetClass="entr" presetSubtype="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7"/>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fade">
                                      <p:cBhvr>
                                        <p:cTn id="38" dur="500"/>
                                        <p:tgtEl>
                                          <p:spTgt spid="32"/>
                                        </p:tgtEl>
                                      </p:cBhvr>
                                    </p:animEffect>
                                  </p:childTnLst>
                                </p:cTn>
                              </p:par>
                              <p:par>
                                <p:cTn id="39" presetID="1" presetClass="entr" presetSubtype="0" fill="hold" grpId="0"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0"/>
                                        </p:tgtEl>
                                        <p:attrNameLst>
                                          <p:attrName>style.visibility</p:attrName>
                                        </p:attrNameLst>
                                      </p:cBhvr>
                                      <p:to>
                                        <p:strVal val="visible"/>
                                      </p:to>
                                    </p:set>
                                    <p:animEffect transition="in" filter="fade">
                                      <p:cBhvr>
                                        <p:cTn id="47" dur="500"/>
                                        <p:tgtEl>
                                          <p:spTgt spid="5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childTnLst>
                                </p:cTn>
                              </p:par>
                              <p:par>
                                <p:cTn id="52" presetID="1" presetClass="entr" presetSubtype="0" fill="hold" grpId="0" nodeType="withEffect">
                                  <p:stCondLst>
                                    <p:cond delay="0"/>
                                  </p:stCondLst>
                                  <p:childTnLst>
                                    <p:set>
                                      <p:cBhvr>
                                        <p:cTn id="53" dur="1" fill="hold">
                                          <p:stCondLst>
                                            <p:cond delay="0"/>
                                          </p:stCondLst>
                                        </p:cTn>
                                        <p:tgtEl>
                                          <p:spTgt spid="5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fade">
                                      <p:cBhvr>
                                        <p:cTn id="58" dur="500"/>
                                        <p:tgtEl>
                                          <p:spTgt spid="51"/>
                                        </p:tgtEl>
                                      </p:cBhvr>
                                    </p:animEffect>
                                  </p:childTnLst>
                                </p:cTn>
                              </p:par>
                              <p:par>
                                <p:cTn id="59" presetID="1" presetClass="entr" presetSubtype="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18" grpId="0" animBg="1"/>
      <p:bldP spid="37" grpId="0" animBg="1"/>
      <p:bldP spid="45" grpId="0" animBg="1"/>
      <p:bldP spid="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El sistema de categorías de las variables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6" name="5 CuadroTexto">
            <a:extLst>
              <a:ext uri="{FF2B5EF4-FFF2-40B4-BE49-F238E27FC236}">
                <a16:creationId xmlns:a16="http://schemas.microsoft.com/office/drawing/2014/main" id="{42703C3F-2E59-4071-B68B-8DFF6CDB764E}"/>
              </a:ext>
            </a:extLst>
          </p:cNvPr>
          <p:cNvSpPr txBox="1">
            <a:spLocks noChangeArrowheads="1"/>
          </p:cNvSpPr>
          <p:nvPr/>
        </p:nvSpPr>
        <p:spPr bwMode="auto">
          <a:xfrm>
            <a:off x="662013" y="1124744"/>
            <a:ext cx="77837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1"/>
                </a:solidFill>
                <a:latin typeface="Calibri" panose="020F0502020204030204" pitchFamily="34" charset="0"/>
                <a:cs typeface="Calibri" panose="020F0502020204030204" pitchFamily="34" charset="0"/>
              </a:rPr>
              <a:t>Requisitos que debe cumplir el sistema de categorías o valores</a:t>
            </a:r>
          </a:p>
          <a:p>
            <a:pPr marL="863600" lvl="2" algn="just">
              <a:buFont typeface="Arial" panose="020B0604020202020204" pitchFamily="34" charset="0"/>
              <a:buChar char="•"/>
            </a:pPr>
            <a:endParaRPr lang="es-AR" altLang="es-AR" dirty="0">
              <a:solidFill>
                <a:schemeClr val="bg1"/>
              </a:solidFill>
              <a:latin typeface="Calibri" panose="020F0502020204030204" pitchFamily="34" charset="0"/>
              <a:cs typeface="Calibri" panose="020F0502020204030204" pitchFamily="34" charset="0"/>
            </a:endParaRPr>
          </a:p>
        </p:txBody>
      </p:sp>
      <p:sp>
        <p:nvSpPr>
          <p:cNvPr id="8" name="CuadroTexto 7">
            <a:extLst>
              <a:ext uri="{FF2B5EF4-FFF2-40B4-BE49-F238E27FC236}">
                <a16:creationId xmlns:a16="http://schemas.microsoft.com/office/drawing/2014/main" id="{9DC17B0A-B87B-43BE-9D2D-82358FBE59C6}"/>
              </a:ext>
            </a:extLst>
          </p:cNvPr>
          <p:cNvSpPr txBox="1"/>
          <p:nvPr/>
        </p:nvSpPr>
        <p:spPr>
          <a:xfrm>
            <a:off x="2177123" y="1945479"/>
            <a:ext cx="1295623"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excluyente</a:t>
            </a:r>
          </a:p>
        </p:txBody>
      </p:sp>
      <p:cxnSp>
        <p:nvCxnSpPr>
          <p:cNvPr id="9" name="Conector recto de flecha 8">
            <a:extLst>
              <a:ext uri="{FF2B5EF4-FFF2-40B4-BE49-F238E27FC236}">
                <a16:creationId xmlns:a16="http://schemas.microsoft.com/office/drawing/2014/main" id="{898FA0E0-9786-4DD6-835C-E23213C5BB78}"/>
              </a:ext>
            </a:extLst>
          </p:cNvPr>
          <p:cNvCxnSpPr>
            <a:cxnSpLocks/>
            <a:stCxn id="8" idx="2"/>
          </p:cNvCxnSpPr>
          <p:nvPr/>
        </p:nvCxnSpPr>
        <p:spPr bwMode="auto">
          <a:xfrm flipH="1">
            <a:off x="2824934" y="2253256"/>
            <a:ext cx="1" cy="237903"/>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7" name="CuadroTexto 36">
            <a:extLst>
              <a:ext uri="{FF2B5EF4-FFF2-40B4-BE49-F238E27FC236}">
                <a16:creationId xmlns:a16="http://schemas.microsoft.com/office/drawing/2014/main" id="{8945DA34-1516-44A1-85E3-77098E59D99F}"/>
              </a:ext>
            </a:extLst>
          </p:cNvPr>
          <p:cNvSpPr txBox="1"/>
          <p:nvPr/>
        </p:nvSpPr>
        <p:spPr>
          <a:xfrm>
            <a:off x="2224390" y="5013315"/>
            <a:ext cx="1213307" cy="307777"/>
          </a:xfrm>
          <a:prstGeom prst="rect">
            <a:avLst/>
          </a:prstGeom>
          <a:solidFill>
            <a:schemeClr val="accent6">
              <a:lumMod val="20000"/>
              <a:lumOff val="80000"/>
            </a:schemeClr>
          </a:solidFill>
        </p:spPr>
        <p:txBody>
          <a:bodyPr wrap="square" rtlCol="0">
            <a:spAutoFit/>
          </a:bodyPr>
          <a:lstStyle/>
          <a:p>
            <a:pPr algn="ctr"/>
            <a:r>
              <a:rPr lang="es-AR" sz="1400" dirty="0">
                <a:solidFill>
                  <a:srgbClr val="C00000"/>
                </a:solidFill>
                <a:latin typeface="Calibri" panose="020F0502020204030204" pitchFamily="34" charset="0"/>
                <a:cs typeface="Calibri" panose="020F0502020204030204" pitchFamily="34" charset="0"/>
              </a:rPr>
              <a:t>No exhaustivo</a:t>
            </a:r>
          </a:p>
        </p:txBody>
      </p:sp>
      <p:cxnSp>
        <p:nvCxnSpPr>
          <p:cNvPr id="38" name="Conector recto de flecha 37">
            <a:extLst>
              <a:ext uri="{FF2B5EF4-FFF2-40B4-BE49-F238E27FC236}">
                <a16:creationId xmlns:a16="http://schemas.microsoft.com/office/drawing/2014/main" id="{56D87478-C2D1-4966-8779-C8C057413615}"/>
              </a:ext>
            </a:extLst>
          </p:cNvPr>
          <p:cNvCxnSpPr>
            <a:cxnSpLocks/>
          </p:cNvCxnSpPr>
          <p:nvPr/>
        </p:nvCxnSpPr>
        <p:spPr bwMode="auto">
          <a:xfrm flipV="1">
            <a:off x="2824934" y="4652643"/>
            <a:ext cx="0" cy="328786"/>
          </a:xfrm>
          <a:prstGeom prst="straightConnector1">
            <a:avLst/>
          </a:prstGeom>
          <a:ln w="38100">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51" name="Tabla 9">
            <a:extLst>
              <a:ext uri="{FF2B5EF4-FFF2-40B4-BE49-F238E27FC236}">
                <a16:creationId xmlns:a16="http://schemas.microsoft.com/office/drawing/2014/main" id="{4CB99DB6-B89F-40AA-9CC3-A257C9E97149}"/>
              </a:ext>
            </a:extLst>
          </p:cNvPr>
          <p:cNvGraphicFramePr>
            <a:graphicFrameLocks noGrp="1"/>
          </p:cNvGraphicFramePr>
          <p:nvPr>
            <p:extLst>
              <p:ext uri="{D42A27DB-BD31-4B8C-83A1-F6EECF244321}">
                <p14:modId xmlns:p14="http://schemas.microsoft.com/office/powerpoint/2010/main" val="133869015"/>
              </p:ext>
            </p:extLst>
          </p:nvPr>
        </p:nvGraphicFramePr>
        <p:xfrm>
          <a:off x="1835697" y="2539721"/>
          <a:ext cx="2110122" cy="2053007"/>
        </p:xfrm>
        <a:graphic>
          <a:graphicData uri="http://schemas.openxmlformats.org/drawingml/2006/table">
            <a:tbl>
              <a:tblPr firstRow="1" bandRow="1">
                <a:tableStyleId>{073A0DAA-6AF3-43AB-8588-CEC1D06C72B9}</a:tableStyleId>
              </a:tblPr>
              <a:tblGrid>
                <a:gridCol w="2110122">
                  <a:extLst>
                    <a:ext uri="{9D8B030D-6E8A-4147-A177-3AD203B41FA5}">
                      <a16:colId xmlns:a16="http://schemas.microsoft.com/office/drawing/2014/main" val="2803339655"/>
                    </a:ext>
                  </a:extLst>
                </a:gridCol>
              </a:tblGrid>
              <a:tr h="520912">
                <a:tc>
                  <a:txBody>
                    <a:bodyPr/>
                    <a:lstStyle/>
                    <a:p>
                      <a:pPr algn="l"/>
                      <a:r>
                        <a:rPr lang="es-AR" sz="1400" dirty="0"/>
                        <a:t>¿Dónde reside actualmente? </a:t>
                      </a:r>
                    </a:p>
                  </a:txBody>
                  <a:tcPr/>
                </a:tc>
                <a:extLst>
                  <a:ext uri="{0D108BD9-81ED-4DB2-BD59-A6C34878D82A}">
                    <a16:rowId xmlns:a16="http://schemas.microsoft.com/office/drawing/2014/main" val="1863529168"/>
                  </a:ext>
                </a:extLst>
              </a:tr>
              <a:tr h="306419">
                <a:tc>
                  <a:txBody>
                    <a:bodyPr/>
                    <a:lstStyle/>
                    <a:p>
                      <a:pPr algn="l"/>
                      <a:r>
                        <a:rPr lang="es-AR" sz="1400" dirty="0"/>
                        <a:t>Buenos Aires</a:t>
                      </a:r>
                    </a:p>
                  </a:txBody>
                  <a:tcPr/>
                </a:tc>
                <a:extLst>
                  <a:ext uri="{0D108BD9-81ED-4DB2-BD59-A6C34878D82A}">
                    <a16:rowId xmlns:a16="http://schemas.microsoft.com/office/drawing/2014/main" val="2440890905"/>
                  </a:ext>
                </a:extLst>
              </a:tr>
              <a:tr h="306419">
                <a:tc>
                  <a:txBody>
                    <a:bodyPr/>
                    <a:lstStyle/>
                    <a:p>
                      <a:pPr algn="l"/>
                      <a:r>
                        <a:rPr lang="es-AR" sz="1400" dirty="0"/>
                        <a:t>Pergamino </a:t>
                      </a:r>
                    </a:p>
                  </a:txBody>
                  <a:tcPr/>
                </a:tc>
                <a:extLst>
                  <a:ext uri="{0D108BD9-81ED-4DB2-BD59-A6C34878D82A}">
                    <a16:rowId xmlns:a16="http://schemas.microsoft.com/office/drawing/2014/main" val="3504084569"/>
                  </a:ext>
                </a:extLst>
              </a:tr>
              <a:tr h="306419">
                <a:tc>
                  <a:txBody>
                    <a:bodyPr/>
                    <a:lstStyle/>
                    <a:p>
                      <a:pPr algn="l"/>
                      <a:r>
                        <a:rPr lang="es-AR" sz="1400" dirty="0"/>
                        <a:t>En la ciudad </a:t>
                      </a:r>
                    </a:p>
                  </a:txBody>
                  <a:tcPr/>
                </a:tc>
                <a:extLst>
                  <a:ext uri="{0D108BD9-81ED-4DB2-BD59-A6C34878D82A}">
                    <a16:rowId xmlns:a16="http://schemas.microsoft.com/office/drawing/2014/main" val="4038726347"/>
                  </a:ext>
                </a:extLst>
              </a:tr>
              <a:tr h="306419">
                <a:tc>
                  <a:txBody>
                    <a:bodyPr/>
                    <a:lstStyle/>
                    <a:p>
                      <a:pPr algn="l"/>
                      <a:r>
                        <a:rPr lang="es-AR" sz="1400" dirty="0"/>
                        <a:t>En el campo </a:t>
                      </a:r>
                    </a:p>
                  </a:txBody>
                  <a:tcPr/>
                </a:tc>
                <a:extLst>
                  <a:ext uri="{0D108BD9-81ED-4DB2-BD59-A6C34878D82A}">
                    <a16:rowId xmlns:a16="http://schemas.microsoft.com/office/drawing/2014/main" val="2317731594"/>
                  </a:ext>
                </a:extLst>
              </a:tr>
              <a:tr h="306419">
                <a:tc>
                  <a:txBody>
                    <a:bodyPr/>
                    <a:lstStyle/>
                    <a:p>
                      <a:pPr algn="l"/>
                      <a:r>
                        <a:rPr lang="es-AR" sz="1400" b="0" dirty="0"/>
                        <a:t>En la provincia</a:t>
                      </a:r>
                    </a:p>
                  </a:txBody>
                  <a:tcPr/>
                </a:tc>
                <a:extLst>
                  <a:ext uri="{0D108BD9-81ED-4DB2-BD59-A6C34878D82A}">
                    <a16:rowId xmlns:a16="http://schemas.microsoft.com/office/drawing/2014/main" val="3341764916"/>
                  </a:ext>
                </a:extLst>
              </a:tr>
            </a:tbl>
          </a:graphicData>
        </a:graphic>
      </p:graphicFrame>
      <p:graphicFrame>
        <p:nvGraphicFramePr>
          <p:cNvPr id="30" name="Tabla 9">
            <a:extLst>
              <a:ext uri="{FF2B5EF4-FFF2-40B4-BE49-F238E27FC236}">
                <a16:creationId xmlns:a16="http://schemas.microsoft.com/office/drawing/2014/main" id="{6DBDE319-9092-49E7-A76E-02D2F48C8F13}"/>
              </a:ext>
            </a:extLst>
          </p:cNvPr>
          <p:cNvGraphicFramePr>
            <a:graphicFrameLocks noGrp="1"/>
          </p:cNvGraphicFramePr>
          <p:nvPr>
            <p:extLst>
              <p:ext uri="{D42A27DB-BD31-4B8C-83A1-F6EECF244321}">
                <p14:modId xmlns:p14="http://schemas.microsoft.com/office/powerpoint/2010/main" val="2982897180"/>
              </p:ext>
            </p:extLst>
          </p:nvPr>
        </p:nvGraphicFramePr>
        <p:xfrm>
          <a:off x="4860032" y="2852936"/>
          <a:ext cx="2304256" cy="1589915"/>
        </p:xfrm>
        <a:graphic>
          <a:graphicData uri="http://schemas.openxmlformats.org/drawingml/2006/table">
            <a:tbl>
              <a:tblPr firstRow="1" bandRow="1">
                <a:tableStyleId>{073A0DAA-6AF3-43AB-8588-CEC1D06C72B9}</a:tableStyleId>
              </a:tblPr>
              <a:tblGrid>
                <a:gridCol w="2304256">
                  <a:extLst>
                    <a:ext uri="{9D8B030D-6E8A-4147-A177-3AD203B41FA5}">
                      <a16:colId xmlns:a16="http://schemas.microsoft.com/office/drawing/2014/main" val="2803339655"/>
                    </a:ext>
                  </a:extLst>
                </a:gridCol>
              </a:tblGrid>
              <a:tr h="1589915">
                <a:tc>
                  <a:txBody>
                    <a:bodyPr/>
                    <a:lstStyle/>
                    <a:p>
                      <a:pPr algn="ctr"/>
                      <a:endParaRPr lang="es-AR" sz="1400" dirty="0"/>
                    </a:p>
                    <a:p>
                      <a:pPr algn="ctr"/>
                      <a:r>
                        <a:rPr lang="es-AR" sz="1400" dirty="0"/>
                        <a:t>La función de la categoría residual “Otros” para garantizar el criterio de exhaustividad</a:t>
                      </a:r>
                    </a:p>
                  </a:txBody>
                  <a:tcPr/>
                </a:tc>
                <a:extLst>
                  <a:ext uri="{0D108BD9-81ED-4DB2-BD59-A6C34878D82A}">
                    <a16:rowId xmlns:a16="http://schemas.microsoft.com/office/drawing/2014/main" val="1863529168"/>
                  </a:ext>
                </a:extLst>
              </a:tr>
            </a:tbl>
          </a:graphicData>
        </a:graphic>
      </p:graphicFrame>
      <p:sp>
        <p:nvSpPr>
          <p:cNvPr id="4" name="Marcador de número de diapositiva 3">
            <a:extLst>
              <a:ext uri="{FF2B5EF4-FFF2-40B4-BE49-F238E27FC236}">
                <a16:creationId xmlns:a16="http://schemas.microsoft.com/office/drawing/2014/main" id="{02A8A02C-BB04-4D39-AC56-4927FEBEFC4D}"/>
              </a:ext>
            </a:extLst>
          </p:cNvPr>
          <p:cNvSpPr>
            <a:spLocks noGrp="1"/>
          </p:cNvSpPr>
          <p:nvPr>
            <p:ph type="sldNum" sz="quarter" idx="12"/>
          </p:nvPr>
        </p:nvSpPr>
        <p:spPr/>
        <p:txBody>
          <a:bodyPr/>
          <a:lstStyle/>
          <a:p>
            <a:fld id="{E4801FF2-09AB-46FD-82F0-246320401FD0}" type="slidenum">
              <a:rPr lang="es-ES" altLang="en-US" smtClean="0"/>
              <a:pPr/>
              <a:t>9</a:t>
            </a:fld>
            <a:endParaRPr lang="es-ES" altLang="en-US"/>
          </a:p>
        </p:txBody>
      </p:sp>
      <p:sp>
        <p:nvSpPr>
          <p:cNvPr id="5" name="Marcador de pie de página 4">
            <a:extLst>
              <a:ext uri="{FF2B5EF4-FFF2-40B4-BE49-F238E27FC236}">
                <a16:creationId xmlns:a16="http://schemas.microsoft.com/office/drawing/2014/main" id="{3C4CA8F9-D3DD-4EAF-9904-A0C2DFEE4135}"/>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16770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8"/>
                                        </p:tgtEl>
                                        <p:attrNameLst>
                                          <p:attrName>style.visibility</p:attrName>
                                        </p:attrNameLst>
                                      </p:cBhvr>
                                      <p:to>
                                        <p:strVal val="visible"/>
                                      </p:to>
                                    </p:set>
                                  </p:childTnLst>
                                </p:cTn>
                              </p:par>
                            </p:childTnLst>
                          </p:cTn>
                        </p:par>
                        <p:par>
                          <p:cTn id="20" fill="hold">
                            <p:stCondLst>
                              <p:cond delay="500"/>
                            </p:stCondLst>
                            <p:childTnLst>
                              <p:par>
                                <p:cTn id="21" presetID="10" presetClass="entr" presetSubtype="0" fill="hold" nodeType="after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Tipos de variables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7" name="Tabla 6">
            <a:extLst>
              <a:ext uri="{FF2B5EF4-FFF2-40B4-BE49-F238E27FC236}">
                <a16:creationId xmlns:a16="http://schemas.microsoft.com/office/drawing/2014/main" id="{8BB57BA0-34AD-45A4-98A3-DDE8BEE89158}"/>
              </a:ext>
            </a:extLst>
          </p:cNvPr>
          <p:cNvGraphicFramePr>
            <a:graphicFrameLocks noGrp="1"/>
          </p:cNvGraphicFramePr>
          <p:nvPr>
            <p:extLst>
              <p:ext uri="{D42A27DB-BD31-4B8C-83A1-F6EECF244321}">
                <p14:modId xmlns:p14="http://schemas.microsoft.com/office/powerpoint/2010/main" val="539189787"/>
              </p:ext>
            </p:extLst>
          </p:nvPr>
        </p:nvGraphicFramePr>
        <p:xfrm>
          <a:off x="490118" y="1010724"/>
          <a:ext cx="8195420" cy="4836552"/>
        </p:xfrm>
        <a:graphic>
          <a:graphicData uri="http://schemas.openxmlformats.org/drawingml/2006/table">
            <a:tbl>
              <a:tblPr firstRow="1" firstCol="1" bandRow="1">
                <a:tableStyleId>{5C22544A-7EE6-4342-B048-85BDC9FD1C3A}</a:tableStyleId>
              </a:tblPr>
              <a:tblGrid>
                <a:gridCol w="1402582">
                  <a:extLst>
                    <a:ext uri="{9D8B030D-6E8A-4147-A177-3AD203B41FA5}">
                      <a16:colId xmlns:a16="http://schemas.microsoft.com/office/drawing/2014/main" val="3917490874"/>
                    </a:ext>
                  </a:extLst>
                </a:gridCol>
                <a:gridCol w="6792838">
                  <a:extLst>
                    <a:ext uri="{9D8B030D-6E8A-4147-A177-3AD203B41FA5}">
                      <a16:colId xmlns:a16="http://schemas.microsoft.com/office/drawing/2014/main" val="848226259"/>
                    </a:ext>
                  </a:extLst>
                </a:gridCol>
              </a:tblGrid>
              <a:tr h="504056">
                <a:tc>
                  <a:txBody>
                    <a:bodyPr/>
                    <a:lstStyle/>
                    <a:p>
                      <a:pPr marL="0" marR="0" lvl="0" indent="0" algn="l" defTabSz="914400" rtl="0" eaLnBrk="1" fontAlgn="auto" latinLnBrk="0" hangingPunct="1">
                        <a:lnSpc>
                          <a:spcPct val="115000"/>
                        </a:lnSpc>
                        <a:spcBef>
                          <a:spcPts val="0"/>
                        </a:spcBef>
                        <a:spcAft>
                          <a:spcPts val="0"/>
                        </a:spcAft>
                        <a:buClrTx/>
                        <a:buSzTx/>
                        <a:buFontTx/>
                        <a:buNone/>
                        <a:tabLst/>
                        <a:defRPr/>
                      </a:pPr>
                      <a:r>
                        <a:rPr lang="es-AR" sz="1400" dirty="0">
                          <a:solidFill>
                            <a:schemeClr val="bg1"/>
                          </a:solidFill>
                          <a:effectLst/>
                          <a:latin typeface="Calibri" panose="020F0502020204030204" pitchFamily="34" charset="0"/>
                          <a:cs typeface="Calibri" panose="020F0502020204030204" pitchFamily="34" charset="0"/>
                        </a:rPr>
                        <a:t>Nivel de abstracción</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lvl="0" indent="0" algn="just">
                        <a:spcAft>
                          <a:spcPts val="0"/>
                        </a:spcAft>
                        <a:buFont typeface="+mj-lt"/>
                        <a:buNone/>
                      </a:pPr>
                      <a:r>
                        <a:rPr lang="es-AR" sz="1400" b="0" dirty="0">
                          <a:solidFill>
                            <a:schemeClr val="bg1"/>
                          </a:solidFill>
                          <a:effectLst/>
                          <a:latin typeface="Calibri" panose="020F0502020204030204" pitchFamily="34" charset="0"/>
                          <a:cs typeface="Calibri" panose="020F0502020204030204" pitchFamily="34" charset="0"/>
                        </a:rPr>
                        <a:t>Abstractas</a:t>
                      </a:r>
                    </a:p>
                    <a:p>
                      <a:pPr marL="0" lvl="0" indent="0" algn="just">
                        <a:spcAft>
                          <a:spcPts val="0"/>
                        </a:spcAft>
                        <a:buFont typeface="+mj-lt"/>
                        <a:buNone/>
                      </a:pPr>
                      <a:r>
                        <a:rPr lang="es-AR" sz="1400" b="0" dirty="0">
                          <a:solidFill>
                            <a:schemeClr val="bg1"/>
                          </a:solidFill>
                          <a:effectLst/>
                          <a:latin typeface="Calibri" panose="020F0502020204030204" pitchFamily="34" charset="0"/>
                          <a:cs typeface="Calibri" panose="020F0502020204030204" pitchFamily="34" charset="0"/>
                        </a:rPr>
                        <a:t>Empíricas (indicadores)</a:t>
                      </a: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9883047"/>
                  </a:ext>
                </a:extLst>
              </a:tr>
              <a:tr h="2889140">
                <a:tc>
                  <a:txBody>
                    <a:bodyPr/>
                    <a:lstStyle/>
                    <a:p>
                      <a:pPr algn="l">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Nivel de medición</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lnSpc>
                          <a:spcPct val="115000"/>
                        </a:lnSpc>
                        <a:spcAft>
                          <a:spcPts val="0"/>
                        </a:spcAft>
                      </a:pPr>
                      <a:r>
                        <a:rPr lang="es-AR" sz="1400" b="0" dirty="0">
                          <a:solidFill>
                            <a:schemeClr val="bg1"/>
                          </a:solidFill>
                          <a:effectLst/>
                          <a:latin typeface="Calibri" panose="020F0502020204030204" pitchFamily="34" charset="0"/>
                          <a:cs typeface="Calibri" panose="020F0502020204030204" pitchFamily="34" charset="0"/>
                        </a:rPr>
                        <a:t>Cualitativas o no métricas</a:t>
                      </a:r>
                    </a:p>
                    <a:p>
                      <a:pPr marL="342900" lvl="0" indent="-342900" algn="just">
                        <a:spcAft>
                          <a:spcPts val="0"/>
                        </a:spcAft>
                        <a:buFont typeface="+mj-lt"/>
                        <a:buAutoNum type="arabicParenR"/>
                      </a:pPr>
                      <a:r>
                        <a:rPr lang="es-ES" sz="1400" b="0" u="sng" dirty="0">
                          <a:solidFill>
                            <a:schemeClr val="bg1"/>
                          </a:solidFill>
                          <a:effectLst/>
                          <a:latin typeface="Calibri" panose="020F0502020204030204" pitchFamily="34" charset="0"/>
                          <a:cs typeface="Calibri" panose="020F0502020204030204" pitchFamily="34" charset="0"/>
                        </a:rPr>
                        <a:t>Nominales:</a:t>
                      </a:r>
                      <a:r>
                        <a:rPr lang="es-ES" sz="1400" b="0" dirty="0">
                          <a:solidFill>
                            <a:schemeClr val="bg1"/>
                          </a:solidFill>
                          <a:effectLst/>
                          <a:latin typeface="Calibri" panose="020F0502020204030204" pitchFamily="34" charset="0"/>
                          <a:cs typeface="Calibri" panose="020F0502020204030204" pitchFamily="34" charset="0"/>
                        </a:rPr>
                        <a:t> son aquellas variables cuyos atributos no pueden ordenarse. Dan lugar a operaciones lógico-matemáticas del tipo “igual” o “diferente”.</a:t>
                      </a:r>
                      <a:endParaRPr lang="es-AR" sz="1400" b="0" dirty="0">
                        <a:solidFill>
                          <a:schemeClr val="bg1"/>
                        </a:solidFill>
                        <a:effectLst/>
                        <a:latin typeface="Calibri" panose="020F0502020204030204" pitchFamily="34" charset="0"/>
                        <a:cs typeface="Calibri" panose="020F0502020204030204" pitchFamily="34" charset="0"/>
                      </a:endParaRPr>
                    </a:p>
                    <a:p>
                      <a:pPr marL="342900" lvl="0" indent="-342900" algn="just">
                        <a:spcAft>
                          <a:spcPts val="0"/>
                        </a:spcAft>
                        <a:buFont typeface="+mj-lt"/>
                        <a:buAutoNum type="arabicParenR"/>
                      </a:pPr>
                      <a:r>
                        <a:rPr lang="es-ES" sz="1400" b="0" u="sng" dirty="0">
                          <a:solidFill>
                            <a:schemeClr val="bg1"/>
                          </a:solidFill>
                          <a:effectLst/>
                          <a:latin typeface="Calibri" panose="020F0502020204030204" pitchFamily="34" charset="0"/>
                          <a:cs typeface="Calibri" panose="020F0502020204030204" pitchFamily="34" charset="0"/>
                        </a:rPr>
                        <a:t>Ordinales:</a:t>
                      </a:r>
                      <a:r>
                        <a:rPr lang="es-ES" sz="1400" b="0" dirty="0">
                          <a:solidFill>
                            <a:schemeClr val="bg1"/>
                          </a:solidFill>
                          <a:effectLst/>
                          <a:latin typeface="Calibri" panose="020F0502020204030204" pitchFamily="34" charset="0"/>
                          <a:cs typeface="Calibri" panose="020F0502020204030204" pitchFamily="34" charset="0"/>
                        </a:rPr>
                        <a:t> son aquellas cuyos atributos pueden ordenarse, pero no puede establecerse la “distancia” entre ellas. Operaciones lógico-matemáticas del tipo “igual” o “diferente”; pero también “mayor, menor o igual”. </a:t>
                      </a:r>
                      <a:endParaRPr lang="es-AR" sz="1400" b="0" dirty="0">
                        <a:solidFill>
                          <a:schemeClr val="bg1"/>
                        </a:solidFill>
                        <a:effectLst/>
                        <a:latin typeface="Calibri" panose="020F0502020204030204" pitchFamily="34" charset="0"/>
                        <a:cs typeface="Calibri" panose="020F0502020204030204" pitchFamily="34" charset="0"/>
                      </a:endParaRPr>
                    </a:p>
                    <a:p>
                      <a:pPr algn="just">
                        <a:lnSpc>
                          <a:spcPct val="115000"/>
                        </a:lnSpc>
                        <a:spcAft>
                          <a:spcPts val="0"/>
                        </a:spcAft>
                      </a:pPr>
                      <a:r>
                        <a:rPr lang="es-AR" sz="1400" b="0" dirty="0">
                          <a:solidFill>
                            <a:schemeClr val="bg1"/>
                          </a:solidFill>
                          <a:effectLst/>
                          <a:latin typeface="Calibri" panose="020F0502020204030204" pitchFamily="34" charset="0"/>
                          <a:cs typeface="Calibri" panose="020F0502020204030204" pitchFamily="34" charset="0"/>
                        </a:rPr>
                        <a:t> </a:t>
                      </a:r>
                    </a:p>
                    <a:p>
                      <a:pPr algn="just">
                        <a:lnSpc>
                          <a:spcPct val="115000"/>
                        </a:lnSpc>
                        <a:spcAft>
                          <a:spcPts val="0"/>
                        </a:spcAft>
                      </a:pPr>
                      <a:r>
                        <a:rPr lang="es-AR" sz="1400" b="0" dirty="0">
                          <a:solidFill>
                            <a:schemeClr val="bg1"/>
                          </a:solidFill>
                          <a:effectLst/>
                          <a:latin typeface="Calibri" panose="020F0502020204030204" pitchFamily="34" charset="0"/>
                          <a:cs typeface="Calibri" panose="020F0502020204030204" pitchFamily="34" charset="0"/>
                        </a:rPr>
                        <a:t>Cuantitativas o métricas</a:t>
                      </a:r>
                    </a:p>
                    <a:p>
                      <a:pPr marL="342900" lvl="0" indent="-342900" algn="just">
                        <a:spcAft>
                          <a:spcPts val="0"/>
                        </a:spcAft>
                        <a:buFont typeface="+mj-lt"/>
                        <a:buAutoNum type="arabicParenR"/>
                      </a:pPr>
                      <a:r>
                        <a:rPr lang="es-ES" sz="1400" b="0" u="sng" dirty="0">
                          <a:solidFill>
                            <a:schemeClr val="bg1"/>
                          </a:solidFill>
                          <a:effectLst/>
                          <a:latin typeface="Calibri" panose="020F0502020204030204" pitchFamily="34" charset="0"/>
                          <a:cs typeface="Calibri" panose="020F0502020204030204" pitchFamily="34" charset="0"/>
                        </a:rPr>
                        <a:t>De intervalo</a:t>
                      </a:r>
                      <a:r>
                        <a:rPr lang="es-ES" sz="1400" b="0" dirty="0">
                          <a:solidFill>
                            <a:schemeClr val="bg1"/>
                          </a:solidFill>
                          <a:effectLst/>
                          <a:latin typeface="Calibri" panose="020F0502020204030204" pitchFamily="34" charset="0"/>
                          <a:cs typeface="Calibri" panose="020F0502020204030204" pitchFamily="34" charset="0"/>
                        </a:rPr>
                        <a:t>: son aquellas en las que puede “cuantificarse” la distancia entre los valores que la integran. </a:t>
                      </a:r>
                    </a:p>
                    <a:p>
                      <a:pPr marL="342900" lvl="0" indent="-342900" algn="just">
                        <a:spcAft>
                          <a:spcPts val="0"/>
                        </a:spcAft>
                        <a:buFont typeface="+mj-lt"/>
                        <a:buAutoNum type="arabicParenR"/>
                      </a:pPr>
                      <a:r>
                        <a:rPr lang="es-ES" sz="1400" b="0" u="sng" dirty="0">
                          <a:solidFill>
                            <a:schemeClr val="bg1"/>
                          </a:solidFill>
                          <a:effectLst/>
                          <a:latin typeface="Calibri" panose="020F0502020204030204" pitchFamily="34" charset="0"/>
                          <a:cs typeface="Calibri" panose="020F0502020204030204" pitchFamily="34" charset="0"/>
                        </a:rPr>
                        <a:t>De razón o proporción</a:t>
                      </a:r>
                      <a:r>
                        <a:rPr lang="es-ES" sz="1400" b="0" dirty="0">
                          <a:solidFill>
                            <a:schemeClr val="bg1"/>
                          </a:solidFill>
                          <a:effectLst/>
                          <a:latin typeface="Calibri" panose="020F0502020204030204" pitchFamily="34" charset="0"/>
                          <a:cs typeface="Calibri" panose="020F0502020204030204" pitchFamily="34" charset="0"/>
                        </a:rPr>
                        <a:t>: son las variables de intervalo que tienen un cero absoluto. Una variable que no tiene “cero absoluto” es la temperatura. </a:t>
                      </a:r>
                    </a:p>
                    <a:p>
                      <a:pPr marL="0" lvl="0" indent="0" algn="just">
                        <a:spcAft>
                          <a:spcPts val="0"/>
                        </a:spcAft>
                        <a:buFont typeface="+mj-lt"/>
                        <a:buNone/>
                      </a:pPr>
                      <a:r>
                        <a:rPr lang="es-AR" sz="1400" b="0" dirty="0">
                          <a:solidFill>
                            <a:schemeClr val="bg1"/>
                          </a:solidFill>
                          <a:effectLst/>
                          <a:latin typeface="Calibri" panose="020F0502020204030204" pitchFamily="34" charset="0"/>
                          <a:cs typeface="Calibri" panose="020F0502020204030204" pitchFamily="34" charset="0"/>
                        </a:rPr>
                        <a:t>         Operaciones matemáticas de todo tipo.</a:t>
                      </a: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407573"/>
                  </a:ext>
                </a:extLst>
              </a:tr>
              <a:tr h="698407">
                <a:tc>
                  <a:txBody>
                    <a:bodyPr/>
                    <a:lstStyle/>
                    <a:p>
                      <a:pPr algn="l">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Escala de medición</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lnSpc>
                          <a:spcPct val="115000"/>
                        </a:lnSpc>
                        <a:spcAft>
                          <a:spcPts val="0"/>
                        </a:spcAft>
                      </a:pPr>
                      <a:r>
                        <a:rPr lang="es-AR" sz="1400" u="sng" dirty="0">
                          <a:solidFill>
                            <a:schemeClr val="bg1"/>
                          </a:solidFill>
                          <a:effectLst/>
                          <a:latin typeface="Calibri" panose="020F0502020204030204" pitchFamily="34" charset="0"/>
                          <a:cs typeface="Calibri" panose="020F0502020204030204" pitchFamily="34" charset="0"/>
                        </a:rPr>
                        <a:t>Continuas</a:t>
                      </a:r>
                      <a:r>
                        <a:rPr lang="es-AR" sz="1400" dirty="0">
                          <a:solidFill>
                            <a:schemeClr val="bg1"/>
                          </a:solidFill>
                          <a:effectLst/>
                          <a:latin typeface="Calibri" panose="020F0502020204030204" pitchFamily="34" charset="0"/>
                          <a:cs typeface="Calibri" panose="020F0502020204030204" pitchFamily="34" charset="0"/>
                        </a:rPr>
                        <a:t>: son aquellas en las que se puede encontrar valores intermedios en el sistema de categorías.</a:t>
                      </a:r>
                    </a:p>
                    <a:p>
                      <a:pPr algn="just">
                        <a:lnSpc>
                          <a:spcPct val="115000"/>
                        </a:lnSpc>
                        <a:spcAft>
                          <a:spcPts val="0"/>
                        </a:spcAft>
                      </a:pPr>
                      <a:r>
                        <a:rPr lang="es-AR" sz="1400" u="sng" dirty="0">
                          <a:solidFill>
                            <a:schemeClr val="bg1"/>
                          </a:solidFill>
                          <a:effectLst/>
                          <a:latin typeface="Calibri" panose="020F0502020204030204" pitchFamily="34" charset="0"/>
                          <a:cs typeface="Calibri" panose="020F0502020204030204" pitchFamily="34" charset="0"/>
                        </a:rPr>
                        <a:t>Discretas:</a:t>
                      </a:r>
                      <a:r>
                        <a:rPr lang="es-AR" sz="1400" dirty="0">
                          <a:solidFill>
                            <a:schemeClr val="bg1"/>
                          </a:solidFill>
                          <a:effectLst/>
                          <a:latin typeface="Calibri" panose="020F0502020204030204" pitchFamily="34" charset="0"/>
                          <a:cs typeface="Calibri" panose="020F0502020204030204" pitchFamily="34" charset="0"/>
                        </a:rPr>
                        <a:t> son aquellas en las que no existen valores intermedios. Ejemplo: número de hijos. </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9148949"/>
                  </a:ext>
                </a:extLst>
              </a:tr>
              <a:tr h="698407">
                <a:tc>
                  <a:txBody>
                    <a:bodyPr/>
                    <a:lstStyle/>
                    <a:p>
                      <a:pPr algn="l">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Función en la investigación</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Independientes</a:t>
                      </a:r>
                    </a:p>
                    <a:p>
                      <a:pPr algn="just">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Dependientes</a:t>
                      </a:r>
                    </a:p>
                    <a:p>
                      <a:pPr algn="just">
                        <a:lnSpc>
                          <a:spcPct val="115000"/>
                        </a:lnSpc>
                        <a:spcAft>
                          <a:spcPts val="0"/>
                        </a:spcAft>
                      </a:pPr>
                      <a:r>
                        <a:rPr lang="es-AR" sz="1400" dirty="0">
                          <a:solidFill>
                            <a:schemeClr val="bg1"/>
                          </a:solidFill>
                          <a:effectLst/>
                          <a:latin typeface="Calibri" panose="020F0502020204030204" pitchFamily="34" charset="0"/>
                          <a:cs typeface="Calibri" panose="020F0502020204030204" pitchFamily="34" charset="0"/>
                        </a:rPr>
                        <a:t>Intervinientes o de control</a:t>
                      </a:r>
                      <a:endParaRPr lang="es-AR" sz="14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38580" marR="38580"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567060"/>
                  </a:ext>
                </a:extLst>
              </a:tr>
            </a:tbl>
          </a:graphicData>
        </a:graphic>
      </p:graphicFrame>
      <p:sp>
        <p:nvSpPr>
          <p:cNvPr id="4" name="Marcador de número de diapositiva 3">
            <a:extLst>
              <a:ext uri="{FF2B5EF4-FFF2-40B4-BE49-F238E27FC236}">
                <a16:creationId xmlns:a16="http://schemas.microsoft.com/office/drawing/2014/main" id="{32440C9B-ABBD-44BB-9FB8-E3166C092221}"/>
              </a:ext>
            </a:extLst>
          </p:cNvPr>
          <p:cNvSpPr>
            <a:spLocks noGrp="1"/>
          </p:cNvSpPr>
          <p:nvPr>
            <p:ph type="sldNum" sz="quarter" idx="12"/>
          </p:nvPr>
        </p:nvSpPr>
        <p:spPr/>
        <p:txBody>
          <a:bodyPr/>
          <a:lstStyle/>
          <a:p>
            <a:fld id="{E4801FF2-09AB-46FD-82F0-246320401FD0}" type="slidenum">
              <a:rPr lang="es-ES" altLang="en-US" smtClean="0"/>
              <a:pPr/>
              <a:t>10</a:t>
            </a:fld>
            <a:endParaRPr lang="es-ES" altLang="en-US"/>
          </a:p>
        </p:txBody>
      </p:sp>
      <p:sp>
        <p:nvSpPr>
          <p:cNvPr id="5" name="Marcador de pie de página 4">
            <a:extLst>
              <a:ext uri="{FF2B5EF4-FFF2-40B4-BE49-F238E27FC236}">
                <a16:creationId xmlns:a16="http://schemas.microsoft.com/office/drawing/2014/main" id="{DEA15E24-1F77-4E2B-9E60-7315290CB7CE}"/>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7354348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Título">
            <a:extLst>
              <a:ext uri="{FF2B5EF4-FFF2-40B4-BE49-F238E27FC236}">
                <a16:creationId xmlns:a16="http://schemas.microsoft.com/office/drawing/2014/main" id="{3715A49F-9BC7-4898-B060-FE47084CC378}"/>
              </a:ext>
            </a:extLst>
          </p:cNvPr>
          <p:cNvSpPr>
            <a:spLocks noGrp="1"/>
          </p:cNvSpPr>
          <p:nvPr>
            <p:ph type="title"/>
          </p:nvPr>
        </p:nvSpPr>
        <p:spPr/>
        <p:txBody>
          <a:bodyPr/>
          <a:lstStyle/>
          <a:p>
            <a:r>
              <a:rPr lang="es-AR" altLang="es-AR" b="1"/>
              <a:t>DETERMINANTES </a:t>
            </a:r>
          </a:p>
        </p:txBody>
      </p:sp>
      <p:graphicFrame>
        <p:nvGraphicFramePr>
          <p:cNvPr id="4" name="3 Marcador de contenido">
            <a:extLst>
              <a:ext uri="{FF2B5EF4-FFF2-40B4-BE49-F238E27FC236}">
                <a16:creationId xmlns:a16="http://schemas.microsoft.com/office/drawing/2014/main" id="{114710BA-B9F5-4CBE-9009-56A8C84DE804}"/>
              </a:ext>
            </a:extLst>
          </p:cNvPr>
          <p:cNvGraphicFramePr>
            <a:graphicFrameLocks noGrp="1"/>
          </p:cNvGraphicFramePr>
          <p:nvPr>
            <p:ph idx="1"/>
          </p:nvPr>
        </p:nvGraphicFramePr>
        <p:xfrm>
          <a:off x="1187624" y="1124744"/>
          <a:ext cx="70104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2">
            <a:extLst>
              <a:ext uri="{FF2B5EF4-FFF2-40B4-BE49-F238E27FC236}">
                <a16:creationId xmlns:a16="http://schemas.microsoft.com/office/drawing/2014/main" id="{C7A473C7-5520-4840-8AD3-120E2DEE8ED1}"/>
              </a:ext>
            </a:extLst>
          </p:cNvPr>
          <p:cNvSpPr txBox="1">
            <a:spLocks noChangeArrowheads="1"/>
          </p:cNvSpPr>
          <p:nvPr/>
        </p:nvSpPr>
        <p:spPr bwMode="auto">
          <a:xfrm>
            <a:off x="457200" y="277813"/>
            <a:ext cx="8435280" cy="558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eaLnBrk="1" hangingPunct="1"/>
            <a:r>
              <a:rPr lang="es-AR" altLang="es-AR" sz="3200" b="1" kern="0" dirty="0">
                <a:solidFill>
                  <a:srgbClr val="0070C0"/>
                </a:solidFill>
                <a:latin typeface="Calibri" panose="020F0502020204030204" pitchFamily="34" charset="0"/>
                <a:cs typeface="Calibri" panose="020F0502020204030204" pitchFamily="34" charset="0"/>
              </a:rPr>
              <a:t>La cuestión de la medición</a:t>
            </a:r>
            <a:endParaRPr lang="es-ES" altLang="es-AR" sz="3200" b="1" kern="0" dirty="0">
              <a:solidFill>
                <a:srgbClr val="0070C0"/>
              </a:solidFill>
              <a:latin typeface="Calibri" panose="020F0502020204030204" pitchFamily="34" charset="0"/>
              <a:cs typeface="Calibri" panose="020F0502020204030204" pitchFamily="34" charset="0"/>
            </a:endParaRPr>
          </a:p>
        </p:txBody>
      </p:sp>
      <p:sp>
        <p:nvSpPr>
          <p:cNvPr id="2" name="Marcador de número de diapositiva 1">
            <a:extLst>
              <a:ext uri="{FF2B5EF4-FFF2-40B4-BE49-F238E27FC236}">
                <a16:creationId xmlns:a16="http://schemas.microsoft.com/office/drawing/2014/main" id="{ABAF5A31-9E6C-49A3-B2E8-DF5BFC3BDD17}"/>
              </a:ext>
            </a:extLst>
          </p:cNvPr>
          <p:cNvSpPr>
            <a:spLocks noGrp="1"/>
          </p:cNvSpPr>
          <p:nvPr>
            <p:ph type="sldNum" sz="quarter" idx="12"/>
          </p:nvPr>
        </p:nvSpPr>
        <p:spPr/>
        <p:txBody>
          <a:bodyPr/>
          <a:lstStyle/>
          <a:p>
            <a:fld id="{DBA09A25-A9A4-4F8D-9A63-C26CE6EC84B5}" type="slidenum">
              <a:rPr lang="es-ES" altLang="en-US" smtClean="0"/>
              <a:pPr/>
              <a:t>11</a:t>
            </a:fld>
            <a:endParaRPr lang="es-ES" altLang="en-US"/>
          </a:p>
        </p:txBody>
      </p:sp>
      <p:sp>
        <p:nvSpPr>
          <p:cNvPr id="3" name="Marcador de pie de página 2">
            <a:extLst>
              <a:ext uri="{FF2B5EF4-FFF2-40B4-BE49-F238E27FC236}">
                <a16:creationId xmlns:a16="http://schemas.microsoft.com/office/drawing/2014/main" id="{6B1F54D8-0D42-4480-894B-1845E9571712}"/>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540874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La validez de la medición</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Diagrama 3">
            <a:extLst>
              <a:ext uri="{FF2B5EF4-FFF2-40B4-BE49-F238E27FC236}">
                <a16:creationId xmlns:a16="http://schemas.microsoft.com/office/drawing/2014/main" id="{2EC723D1-3585-482A-B428-F86404EF0800}"/>
              </a:ext>
            </a:extLst>
          </p:cNvPr>
          <p:cNvGraphicFramePr/>
          <p:nvPr>
            <p:extLst>
              <p:ext uri="{D42A27DB-BD31-4B8C-83A1-F6EECF244321}">
                <p14:modId xmlns:p14="http://schemas.microsoft.com/office/powerpoint/2010/main" val="203745383"/>
              </p:ext>
            </p:extLst>
          </p:nvPr>
        </p:nvGraphicFramePr>
        <p:xfrm>
          <a:off x="611560" y="739556"/>
          <a:ext cx="7848872" cy="5281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Marcador de número de diapositiva 4">
            <a:extLst>
              <a:ext uri="{FF2B5EF4-FFF2-40B4-BE49-F238E27FC236}">
                <a16:creationId xmlns:a16="http://schemas.microsoft.com/office/drawing/2014/main" id="{67E45B49-DCA7-4A4A-A6BE-9E7E7C619801}"/>
              </a:ext>
            </a:extLst>
          </p:cNvPr>
          <p:cNvSpPr>
            <a:spLocks noGrp="1"/>
          </p:cNvSpPr>
          <p:nvPr>
            <p:ph type="sldNum" sz="quarter" idx="12"/>
          </p:nvPr>
        </p:nvSpPr>
        <p:spPr/>
        <p:txBody>
          <a:bodyPr/>
          <a:lstStyle/>
          <a:p>
            <a:fld id="{E4801FF2-09AB-46FD-82F0-246320401FD0}" type="slidenum">
              <a:rPr lang="es-ES" altLang="en-US" smtClean="0"/>
              <a:pPr/>
              <a:t>12</a:t>
            </a:fld>
            <a:endParaRPr lang="es-ES" altLang="en-US"/>
          </a:p>
        </p:txBody>
      </p:sp>
      <p:sp>
        <p:nvSpPr>
          <p:cNvPr id="6" name="Marcador de pie de página 5">
            <a:extLst>
              <a:ext uri="{FF2B5EF4-FFF2-40B4-BE49-F238E27FC236}">
                <a16:creationId xmlns:a16="http://schemas.microsoft.com/office/drawing/2014/main" id="{FB6A7396-CBD3-4B6A-9B55-A38752232DBB}"/>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200542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Título">
            <a:extLst>
              <a:ext uri="{FF2B5EF4-FFF2-40B4-BE49-F238E27FC236}">
                <a16:creationId xmlns:a16="http://schemas.microsoft.com/office/drawing/2014/main" id="{8B5D4525-CCD1-469B-B689-524D050FD259}"/>
              </a:ext>
            </a:extLst>
          </p:cNvPr>
          <p:cNvSpPr>
            <a:spLocks noGrp="1"/>
          </p:cNvSpPr>
          <p:nvPr>
            <p:ph type="title"/>
          </p:nvPr>
        </p:nvSpPr>
        <p:spPr/>
        <p:txBody>
          <a:bodyPr/>
          <a:lstStyle/>
          <a:p>
            <a:r>
              <a:rPr lang="es-AR" altLang="es-AR" sz="3600" b="1"/>
              <a:t>COMPROBACIÓN  DE LA FIABILIDAD – ACCIONES:</a:t>
            </a:r>
            <a:endParaRPr lang="es-AR" altLang="es-AR" sz="3600"/>
          </a:p>
        </p:txBody>
      </p:sp>
      <p:graphicFrame>
        <p:nvGraphicFramePr>
          <p:cNvPr id="4" name="3 Marcador de contenido">
            <a:extLst>
              <a:ext uri="{FF2B5EF4-FFF2-40B4-BE49-F238E27FC236}">
                <a16:creationId xmlns:a16="http://schemas.microsoft.com/office/drawing/2014/main" id="{E21C3979-367A-4875-94BC-A629A114C2CE}"/>
              </a:ext>
            </a:extLst>
          </p:cNvPr>
          <p:cNvGraphicFramePr>
            <a:graphicFrameLocks noGrp="1"/>
          </p:cNvGraphicFramePr>
          <p:nvPr>
            <p:ph idx="1"/>
          </p:nvPr>
        </p:nvGraphicFramePr>
        <p:xfrm>
          <a:off x="1331640" y="1052736"/>
          <a:ext cx="70104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2">
            <a:extLst>
              <a:ext uri="{FF2B5EF4-FFF2-40B4-BE49-F238E27FC236}">
                <a16:creationId xmlns:a16="http://schemas.microsoft.com/office/drawing/2014/main" id="{D0E82676-9B88-495D-AEE7-B93B4F587E77}"/>
              </a:ext>
            </a:extLst>
          </p:cNvPr>
          <p:cNvSpPr txBox="1">
            <a:spLocks noChangeArrowheads="1"/>
          </p:cNvSpPr>
          <p:nvPr/>
        </p:nvSpPr>
        <p:spPr bwMode="auto">
          <a:xfrm>
            <a:off x="457200" y="277813"/>
            <a:ext cx="8435280" cy="5588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eaLnBrk="1" hangingPunct="1"/>
            <a:r>
              <a:rPr lang="es-AR" altLang="es-AR" sz="3200" b="1" kern="0" dirty="0">
                <a:solidFill>
                  <a:srgbClr val="0070C0"/>
                </a:solidFill>
                <a:latin typeface="Calibri" panose="020F0502020204030204" pitchFamily="34" charset="0"/>
                <a:cs typeface="Calibri" panose="020F0502020204030204" pitchFamily="34" charset="0"/>
              </a:rPr>
              <a:t>Fiabilidad de las mediciones</a:t>
            </a:r>
            <a:endParaRPr lang="es-ES" altLang="es-AR" sz="3200" b="1" kern="0" dirty="0">
              <a:solidFill>
                <a:srgbClr val="0070C0"/>
              </a:solidFill>
              <a:latin typeface="Calibri" panose="020F0502020204030204" pitchFamily="34" charset="0"/>
              <a:cs typeface="Calibri" panose="020F0502020204030204" pitchFamily="34" charset="0"/>
            </a:endParaRPr>
          </a:p>
        </p:txBody>
      </p:sp>
      <p:sp>
        <p:nvSpPr>
          <p:cNvPr id="2" name="Marcador de número de diapositiva 1">
            <a:extLst>
              <a:ext uri="{FF2B5EF4-FFF2-40B4-BE49-F238E27FC236}">
                <a16:creationId xmlns:a16="http://schemas.microsoft.com/office/drawing/2014/main" id="{E90C8C09-611A-47A2-9F5B-FA3FDE1AE051}"/>
              </a:ext>
            </a:extLst>
          </p:cNvPr>
          <p:cNvSpPr>
            <a:spLocks noGrp="1"/>
          </p:cNvSpPr>
          <p:nvPr>
            <p:ph type="sldNum" sz="quarter" idx="12"/>
          </p:nvPr>
        </p:nvSpPr>
        <p:spPr/>
        <p:txBody>
          <a:bodyPr/>
          <a:lstStyle/>
          <a:p>
            <a:fld id="{DBA09A25-A9A4-4F8D-9A63-C26CE6EC84B5}" type="slidenum">
              <a:rPr lang="es-ES" altLang="en-US" smtClean="0"/>
              <a:pPr/>
              <a:t>13</a:t>
            </a:fld>
            <a:endParaRPr lang="es-ES" altLang="en-US"/>
          </a:p>
        </p:txBody>
      </p:sp>
      <p:sp>
        <p:nvSpPr>
          <p:cNvPr id="3" name="Marcador de pie de página 2">
            <a:extLst>
              <a:ext uri="{FF2B5EF4-FFF2-40B4-BE49-F238E27FC236}">
                <a16:creationId xmlns:a16="http://schemas.microsoft.com/office/drawing/2014/main" id="{19B953AF-E22A-4AF9-A9C5-238E0995708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874830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1 Título">
            <a:extLst>
              <a:ext uri="{FF2B5EF4-FFF2-40B4-BE49-F238E27FC236}">
                <a16:creationId xmlns:a16="http://schemas.microsoft.com/office/drawing/2014/main" id="{0BADDD22-4502-4F29-99B4-D8F2074CCE0D}"/>
              </a:ext>
            </a:extLst>
          </p:cNvPr>
          <p:cNvSpPr>
            <a:spLocks noGrp="1"/>
          </p:cNvSpPr>
          <p:nvPr>
            <p:ph type="title"/>
          </p:nvPr>
        </p:nvSpPr>
        <p:spPr>
          <a:xfrm>
            <a:off x="1500188" y="357188"/>
            <a:ext cx="7010400" cy="1143000"/>
          </a:xfrm>
        </p:spPr>
        <p:txBody>
          <a:bodyPr/>
          <a:lstStyle/>
          <a:p>
            <a:r>
              <a:rPr lang="es-AR" altLang="es-AR" sz="2800" b="1"/>
              <a:t>Evolución de indicadores de maltrato en niños/as 0 a 4 años (ESTABILIDAD)</a:t>
            </a:r>
          </a:p>
        </p:txBody>
      </p:sp>
      <p:sp>
        <p:nvSpPr>
          <p:cNvPr id="7" name="1 Título">
            <a:extLst>
              <a:ext uri="{FF2B5EF4-FFF2-40B4-BE49-F238E27FC236}">
                <a16:creationId xmlns:a16="http://schemas.microsoft.com/office/drawing/2014/main" id="{EDA49DF9-C599-4450-A4A5-C38FFDDCD8F9}"/>
              </a:ext>
            </a:extLst>
          </p:cNvPr>
          <p:cNvSpPr txBox="1">
            <a:spLocks/>
          </p:cNvSpPr>
          <p:nvPr/>
        </p:nvSpPr>
        <p:spPr bwMode="auto">
          <a:xfrm>
            <a:off x="633412" y="357188"/>
            <a:ext cx="7877176"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r>
              <a:rPr lang="es-AR" altLang="es-AR" sz="2400" b="1" kern="0" dirty="0">
                <a:solidFill>
                  <a:srgbClr val="0070C0"/>
                </a:solidFill>
                <a:latin typeface="Calibri" panose="020F0502020204030204" pitchFamily="34" charset="0"/>
                <a:cs typeface="Calibri" panose="020F0502020204030204" pitchFamily="34" charset="0"/>
              </a:rPr>
              <a:t>Fiabilidad de las mediciones: estabilidad</a:t>
            </a:r>
          </a:p>
          <a:p>
            <a:r>
              <a:rPr lang="es-AR" altLang="es-AR" sz="2000" b="1" kern="0" dirty="0">
                <a:solidFill>
                  <a:srgbClr val="3366CC"/>
                </a:solidFill>
                <a:latin typeface="Calibri" panose="020F0502020204030204" pitchFamily="34" charset="0"/>
                <a:cs typeface="Calibri" panose="020F0502020204030204" pitchFamily="34" charset="0"/>
              </a:rPr>
              <a:t>Evolución de indicadores de maltrato en niños/as 0 a 4 años</a:t>
            </a:r>
          </a:p>
        </p:txBody>
      </p:sp>
      <p:graphicFrame>
        <p:nvGraphicFramePr>
          <p:cNvPr id="8" name="3 Marcador de contenido">
            <a:extLst>
              <a:ext uri="{FF2B5EF4-FFF2-40B4-BE49-F238E27FC236}">
                <a16:creationId xmlns:a16="http://schemas.microsoft.com/office/drawing/2014/main" id="{2BD3EDC1-361A-4440-A48D-3D6D4E88660F}"/>
              </a:ext>
            </a:extLst>
          </p:cNvPr>
          <p:cNvGraphicFramePr>
            <a:graphicFrameLocks noGrp="1"/>
          </p:cNvGraphicFramePr>
          <p:nvPr>
            <p:ph idx="1"/>
            <p:extLst>
              <p:ext uri="{D42A27DB-BD31-4B8C-83A1-F6EECF244321}">
                <p14:modId xmlns:p14="http://schemas.microsoft.com/office/powerpoint/2010/main" val="2226613740"/>
              </p:ext>
            </p:extLst>
          </p:nvPr>
        </p:nvGraphicFramePr>
        <p:xfrm>
          <a:off x="1137208" y="1844824"/>
          <a:ext cx="6869584" cy="3817094"/>
        </p:xfrm>
        <a:graphic>
          <a:graphicData uri="http://schemas.openxmlformats.org/presentationml/2006/ole">
            <mc:AlternateContent xmlns:mc="http://schemas.openxmlformats.org/markup-compatibility/2006">
              <mc:Choice xmlns:v="urn:schemas-microsoft-com:vml" Requires="v">
                <p:oleObj name="Chart" r:id="rId2" imgW="8724948" imgH="4886325" progId="Excel.Chart.8">
                  <p:embed/>
                </p:oleObj>
              </mc:Choice>
              <mc:Fallback>
                <p:oleObj name="Chart" r:id="rId2" imgW="8724948" imgH="4886325" progId="Excel.Chart.8">
                  <p:embed/>
                  <p:pic>
                    <p:nvPicPr>
                      <p:cNvPr id="8" name="3 Marcador de contenido">
                        <a:extLst>
                          <a:ext uri="{FF2B5EF4-FFF2-40B4-BE49-F238E27FC236}">
                            <a16:creationId xmlns:a16="http://schemas.microsoft.com/office/drawing/2014/main" id="{2BD3EDC1-361A-4440-A48D-3D6D4E88660F}"/>
                          </a:ext>
                        </a:extLst>
                      </p:cNvPr>
                      <p:cNvPicPr>
                        <a:picLocks noGrp="1" noChangeArrowheads="1"/>
                      </p:cNvPicPr>
                      <p:nvPr/>
                    </p:nvPicPr>
                    <p:blipFill>
                      <a:blip r:embed="rId3"/>
                      <a:srcRect/>
                      <a:stretch>
                        <a:fillRect/>
                      </a:stretch>
                    </p:blipFill>
                    <p:spPr bwMode="auto">
                      <a:xfrm>
                        <a:off x="1137208" y="1844824"/>
                        <a:ext cx="6869584" cy="3817094"/>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E571A3D1-5BC7-441C-8B04-5D3BBBE040F5}"/>
              </a:ext>
            </a:extLst>
          </p:cNvPr>
          <p:cNvSpPr>
            <a:spLocks noGrp="1"/>
          </p:cNvSpPr>
          <p:nvPr>
            <p:ph type="sldNum" sz="quarter" idx="12"/>
          </p:nvPr>
        </p:nvSpPr>
        <p:spPr/>
        <p:txBody>
          <a:bodyPr/>
          <a:lstStyle/>
          <a:p>
            <a:fld id="{DBA09A25-A9A4-4F8D-9A63-C26CE6EC84B5}" type="slidenum">
              <a:rPr lang="es-ES" altLang="en-US" smtClean="0"/>
              <a:pPr/>
              <a:t>14</a:t>
            </a:fld>
            <a:endParaRPr lang="es-ES" altLang="en-US"/>
          </a:p>
        </p:txBody>
      </p:sp>
      <p:sp>
        <p:nvSpPr>
          <p:cNvPr id="3" name="Marcador de pie de página 2">
            <a:extLst>
              <a:ext uri="{FF2B5EF4-FFF2-40B4-BE49-F238E27FC236}">
                <a16:creationId xmlns:a16="http://schemas.microsoft.com/office/drawing/2014/main" id="{0BD3E758-EFE1-44E5-8D1A-92B9B306149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705096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40A24FEC-A095-4916-822A-02AE02228684}"/>
              </a:ext>
            </a:extLst>
          </p:cNvPr>
          <p:cNvSpPr>
            <a:spLocks noGrp="1" noChangeArrowheads="1"/>
          </p:cNvSpPr>
          <p:nvPr>
            <p:ph type="title"/>
          </p:nvPr>
        </p:nvSpPr>
        <p:spPr>
          <a:xfrm>
            <a:off x="539552" y="314500"/>
            <a:ext cx="7793037" cy="1144587"/>
          </a:xfrm>
        </p:spPr>
        <p:txBody>
          <a:bodyPr/>
          <a:lstStyle/>
          <a:p>
            <a:pPr eaLnBrk="1" hangingPunct="1"/>
            <a:r>
              <a:rPr lang="es-MX" altLang="es-AR" sz="2500" b="1" dirty="0">
                <a:solidFill>
                  <a:srgbClr val="3366CC"/>
                </a:solidFill>
                <a:latin typeface="Calibri" panose="020F0502020204030204" pitchFamily="34" charset="0"/>
                <a:cs typeface="Calibri" panose="020F0502020204030204" pitchFamily="34" charset="0"/>
              </a:rPr>
              <a:t>Fiabilidad de las mediciones: consistencia interna</a:t>
            </a:r>
            <a:endParaRPr lang="es-ES" altLang="es-AR" sz="2000" b="1" dirty="0">
              <a:solidFill>
                <a:srgbClr val="3366CC"/>
              </a:solidFill>
              <a:latin typeface="Calibri" panose="020F0502020204030204" pitchFamily="34" charset="0"/>
              <a:cs typeface="Calibri" panose="020F0502020204030204" pitchFamily="34" charset="0"/>
            </a:endParaRPr>
          </a:p>
        </p:txBody>
      </p:sp>
      <p:sp>
        <p:nvSpPr>
          <p:cNvPr id="33795" name="Oval 4">
            <a:extLst>
              <a:ext uri="{FF2B5EF4-FFF2-40B4-BE49-F238E27FC236}">
                <a16:creationId xmlns:a16="http://schemas.microsoft.com/office/drawing/2014/main" id="{42F7476D-0BAA-4C69-8DD7-A0BAD7990E8B}"/>
              </a:ext>
            </a:extLst>
          </p:cNvPr>
          <p:cNvSpPr>
            <a:spLocks noChangeArrowheads="1"/>
          </p:cNvSpPr>
          <p:nvPr/>
        </p:nvSpPr>
        <p:spPr bwMode="auto">
          <a:xfrm>
            <a:off x="900361" y="1700213"/>
            <a:ext cx="1728787" cy="1079500"/>
          </a:xfrm>
          <a:prstGeom prst="ellipse">
            <a:avLst/>
          </a:prstGeom>
          <a:solidFill>
            <a:schemeClr val="accent1"/>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s-MX" altLang="es-AR" b="1">
                <a:solidFill>
                  <a:schemeClr val="tx2"/>
                </a:solidFill>
                <a:latin typeface="Tahoma" panose="020B0604030504040204" pitchFamily="34" charset="0"/>
              </a:rPr>
              <a:t>EDAD</a:t>
            </a:r>
          </a:p>
        </p:txBody>
      </p:sp>
      <p:sp>
        <p:nvSpPr>
          <p:cNvPr id="33796" name="Oval 5">
            <a:extLst>
              <a:ext uri="{FF2B5EF4-FFF2-40B4-BE49-F238E27FC236}">
                <a16:creationId xmlns:a16="http://schemas.microsoft.com/office/drawing/2014/main" id="{671BC674-CDCA-4DCE-93CB-C465807BF589}"/>
              </a:ext>
            </a:extLst>
          </p:cNvPr>
          <p:cNvSpPr>
            <a:spLocks noChangeArrowheads="1"/>
          </p:cNvSpPr>
          <p:nvPr/>
        </p:nvSpPr>
        <p:spPr bwMode="auto">
          <a:xfrm>
            <a:off x="5724773" y="1700213"/>
            <a:ext cx="2663825" cy="1368425"/>
          </a:xfrm>
          <a:prstGeom prst="ellipse">
            <a:avLst/>
          </a:prstGeom>
          <a:solidFill>
            <a:schemeClr val="accent1"/>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s-MX" altLang="es-AR" b="1">
                <a:solidFill>
                  <a:schemeClr val="tx2"/>
                </a:solidFill>
                <a:latin typeface="Tahoma" panose="020B0604030504040204" pitchFamily="34" charset="0"/>
              </a:rPr>
              <a:t>FECHA DE </a:t>
            </a:r>
          </a:p>
          <a:p>
            <a:pPr algn="ctr" eaLnBrk="1" hangingPunct="1"/>
            <a:r>
              <a:rPr lang="es-MX" altLang="es-AR" b="1">
                <a:solidFill>
                  <a:schemeClr val="tx2"/>
                </a:solidFill>
                <a:latin typeface="Tahoma" panose="020B0604030504040204" pitchFamily="34" charset="0"/>
              </a:rPr>
              <a:t>NACIMIENTO </a:t>
            </a:r>
          </a:p>
        </p:txBody>
      </p:sp>
      <p:sp>
        <p:nvSpPr>
          <p:cNvPr id="33797" name="Line 16">
            <a:extLst>
              <a:ext uri="{FF2B5EF4-FFF2-40B4-BE49-F238E27FC236}">
                <a16:creationId xmlns:a16="http://schemas.microsoft.com/office/drawing/2014/main" id="{D82CD70C-7D5E-4375-9051-080085FDE072}"/>
              </a:ext>
            </a:extLst>
          </p:cNvPr>
          <p:cNvSpPr>
            <a:spLocks noChangeShapeType="1"/>
          </p:cNvSpPr>
          <p:nvPr/>
        </p:nvSpPr>
        <p:spPr bwMode="auto">
          <a:xfrm>
            <a:off x="2843461" y="2347913"/>
            <a:ext cx="2665412"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s-AR"/>
          </a:p>
        </p:txBody>
      </p:sp>
      <p:sp>
        <p:nvSpPr>
          <p:cNvPr id="33798" name="Oval 17">
            <a:extLst>
              <a:ext uri="{FF2B5EF4-FFF2-40B4-BE49-F238E27FC236}">
                <a16:creationId xmlns:a16="http://schemas.microsoft.com/office/drawing/2014/main" id="{C98A6332-0811-4700-AACE-32BB6CD2D94A}"/>
              </a:ext>
            </a:extLst>
          </p:cNvPr>
          <p:cNvSpPr>
            <a:spLocks noChangeArrowheads="1"/>
          </p:cNvSpPr>
          <p:nvPr/>
        </p:nvSpPr>
        <p:spPr bwMode="auto">
          <a:xfrm>
            <a:off x="395536" y="3500438"/>
            <a:ext cx="3529012" cy="1439863"/>
          </a:xfrm>
          <a:prstGeom prst="ellipse">
            <a:avLst/>
          </a:prstGeom>
          <a:solidFill>
            <a:schemeClr val="accent1"/>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s-MX" altLang="es-AR" b="1">
                <a:solidFill>
                  <a:schemeClr val="tx2"/>
                </a:solidFill>
                <a:latin typeface="Tahoma" panose="020B0604030504040204" pitchFamily="34" charset="0"/>
              </a:rPr>
              <a:t>MAXIMO NIVEL </a:t>
            </a:r>
          </a:p>
          <a:p>
            <a:pPr algn="ctr" eaLnBrk="1" hangingPunct="1"/>
            <a:r>
              <a:rPr lang="es-MX" altLang="es-AR" b="1">
                <a:solidFill>
                  <a:schemeClr val="tx2"/>
                </a:solidFill>
                <a:latin typeface="Tahoma" panose="020B0604030504040204" pitchFamily="34" charset="0"/>
              </a:rPr>
              <a:t>EDUCATIVO ALCANZADO </a:t>
            </a:r>
          </a:p>
        </p:txBody>
      </p:sp>
      <p:sp>
        <p:nvSpPr>
          <p:cNvPr id="33799" name="Oval 18">
            <a:extLst>
              <a:ext uri="{FF2B5EF4-FFF2-40B4-BE49-F238E27FC236}">
                <a16:creationId xmlns:a16="http://schemas.microsoft.com/office/drawing/2014/main" id="{0D9EDE5B-DC3F-4DF7-B87E-565A45347FE7}"/>
              </a:ext>
            </a:extLst>
          </p:cNvPr>
          <p:cNvSpPr>
            <a:spLocks noChangeArrowheads="1"/>
          </p:cNvSpPr>
          <p:nvPr/>
        </p:nvSpPr>
        <p:spPr bwMode="auto">
          <a:xfrm>
            <a:off x="5796211" y="3500438"/>
            <a:ext cx="2663825" cy="1368425"/>
          </a:xfrm>
          <a:prstGeom prst="ellipse">
            <a:avLst/>
          </a:prstGeom>
          <a:solidFill>
            <a:schemeClr val="accent1"/>
          </a:solidFill>
          <a:ln w="9525">
            <a:solidFill>
              <a:schemeClr val="tx1"/>
            </a:solidFill>
            <a:miter lim="800000"/>
            <a:headEnd/>
            <a:tailEnd/>
          </a:ln>
        </p:spPr>
        <p:txBody>
          <a:bodyPr wrap="none" anchor="ct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algn="ctr" eaLnBrk="1" hangingPunct="1"/>
            <a:r>
              <a:rPr lang="es-MX" altLang="es-AR" b="1">
                <a:solidFill>
                  <a:schemeClr val="tx2"/>
                </a:solidFill>
                <a:latin typeface="Tahoma" panose="020B0604030504040204" pitchFamily="34" charset="0"/>
              </a:rPr>
              <a:t>AÑOS DE </a:t>
            </a:r>
          </a:p>
          <a:p>
            <a:pPr algn="ctr" eaLnBrk="1" hangingPunct="1"/>
            <a:r>
              <a:rPr lang="es-MX" altLang="es-AR" b="1">
                <a:solidFill>
                  <a:schemeClr val="tx2"/>
                </a:solidFill>
                <a:latin typeface="Tahoma" panose="020B0604030504040204" pitchFamily="34" charset="0"/>
              </a:rPr>
              <a:t>ESCOLARIDAD </a:t>
            </a:r>
          </a:p>
        </p:txBody>
      </p:sp>
      <p:sp>
        <p:nvSpPr>
          <p:cNvPr id="33800" name="Line 19">
            <a:extLst>
              <a:ext uri="{FF2B5EF4-FFF2-40B4-BE49-F238E27FC236}">
                <a16:creationId xmlns:a16="http://schemas.microsoft.com/office/drawing/2014/main" id="{C65EC68E-1633-42D3-8E59-FD4C4F8D25FE}"/>
              </a:ext>
            </a:extLst>
          </p:cNvPr>
          <p:cNvSpPr>
            <a:spLocks noChangeShapeType="1"/>
          </p:cNvSpPr>
          <p:nvPr/>
        </p:nvSpPr>
        <p:spPr bwMode="auto">
          <a:xfrm>
            <a:off x="4067423" y="4221163"/>
            <a:ext cx="1368425" cy="0"/>
          </a:xfrm>
          <a:prstGeom prst="line">
            <a:avLst/>
          </a:prstGeom>
          <a:noFill/>
          <a:ln w="381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s-AR"/>
          </a:p>
        </p:txBody>
      </p:sp>
      <p:sp>
        <p:nvSpPr>
          <p:cNvPr id="2" name="Flecha: a la derecha 1">
            <a:extLst>
              <a:ext uri="{FF2B5EF4-FFF2-40B4-BE49-F238E27FC236}">
                <a16:creationId xmlns:a16="http://schemas.microsoft.com/office/drawing/2014/main" id="{2FE3A2C7-1624-4F73-844A-3B054B29B1DD}"/>
              </a:ext>
            </a:extLst>
          </p:cNvPr>
          <p:cNvSpPr/>
          <p:nvPr/>
        </p:nvSpPr>
        <p:spPr bwMode="auto">
          <a:xfrm>
            <a:off x="3694659" y="2031381"/>
            <a:ext cx="978408" cy="484632"/>
          </a:xfrm>
          <a:prstGeom prst="rightArrow">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0" name="Flecha: a la derecha 9">
            <a:extLst>
              <a:ext uri="{FF2B5EF4-FFF2-40B4-BE49-F238E27FC236}">
                <a16:creationId xmlns:a16="http://schemas.microsoft.com/office/drawing/2014/main" id="{07CA877E-4137-4779-AD53-6B0D202E65B2}"/>
              </a:ext>
            </a:extLst>
          </p:cNvPr>
          <p:cNvSpPr/>
          <p:nvPr/>
        </p:nvSpPr>
        <p:spPr bwMode="auto">
          <a:xfrm>
            <a:off x="4284911" y="4076750"/>
            <a:ext cx="978408" cy="484632"/>
          </a:xfrm>
          <a:prstGeom prst="rightArrow">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dirty="0">
              <a:ln>
                <a:noFill/>
              </a:ln>
              <a:solidFill>
                <a:schemeClr val="tx1"/>
              </a:solidFill>
              <a:effectLst/>
              <a:highlight>
                <a:srgbClr val="4D4D4D"/>
              </a:highlight>
              <a:latin typeface="Arial" charset="0"/>
              <a:cs typeface="Arial" charset="0"/>
            </a:endParaRPr>
          </a:p>
        </p:txBody>
      </p:sp>
      <p:sp>
        <p:nvSpPr>
          <p:cNvPr id="3" name="Marcador de número de diapositiva 2">
            <a:extLst>
              <a:ext uri="{FF2B5EF4-FFF2-40B4-BE49-F238E27FC236}">
                <a16:creationId xmlns:a16="http://schemas.microsoft.com/office/drawing/2014/main" id="{C6CDFB09-75D3-4EA9-8ECC-F41636CC6CDD}"/>
              </a:ext>
            </a:extLst>
          </p:cNvPr>
          <p:cNvSpPr>
            <a:spLocks noGrp="1"/>
          </p:cNvSpPr>
          <p:nvPr>
            <p:ph type="sldNum" sz="quarter" idx="12"/>
          </p:nvPr>
        </p:nvSpPr>
        <p:spPr/>
        <p:txBody>
          <a:bodyPr/>
          <a:lstStyle/>
          <a:p>
            <a:fld id="{DBA09A25-A9A4-4F8D-9A63-C26CE6EC84B5}" type="slidenum">
              <a:rPr lang="es-ES" altLang="en-US" smtClean="0"/>
              <a:pPr/>
              <a:t>15</a:t>
            </a:fld>
            <a:endParaRPr lang="es-ES" altLang="en-US"/>
          </a:p>
        </p:txBody>
      </p:sp>
      <p:sp>
        <p:nvSpPr>
          <p:cNvPr id="4" name="Marcador de pie de página 3">
            <a:extLst>
              <a:ext uri="{FF2B5EF4-FFF2-40B4-BE49-F238E27FC236}">
                <a16:creationId xmlns:a16="http://schemas.microsoft.com/office/drawing/2014/main" id="{4BD32A37-835E-4762-93DE-8B6E0CA27F0C}"/>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262155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Título">
            <a:extLst>
              <a:ext uri="{FF2B5EF4-FFF2-40B4-BE49-F238E27FC236}">
                <a16:creationId xmlns:a16="http://schemas.microsoft.com/office/drawing/2014/main" id="{B8359243-FEE4-4501-9FD7-4F9D1EB9E44D}"/>
              </a:ext>
            </a:extLst>
          </p:cNvPr>
          <p:cNvSpPr>
            <a:spLocks noGrp="1"/>
          </p:cNvSpPr>
          <p:nvPr>
            <p:ph type="title"/>
          </p:nvPr>
        </p:nvSpPr>
        <p:spPr/>
        <p:txBody>
          <a:bodyPr/>
          <a:lstStyle/>
          <a:p>
            <a:r>
              <a:rPr lang="es-AR" altLang="es-AR" sz="3600" b="1"/>
              <a:t>ADECUACIÓN DE LA MEDIDA AL CONCEPTO - VALIDEZ</a:t>
            </a:r>
          </a:p>
        </p:txBody>
      </p:sp>
      <p:graphicFrame>
        <p:nvGraphicFramePr>
          <p:cNvPr id="4" name="3 Marcador de contenido">
            <a:extLst>
              <a:ext uri="{FF2B5EF4-FFF2-40B4-BE49-F238E27FC236}">
                <a16:creationId xmlns:a16="http://schemas.microsoft.com/office/drawing/2014/main" id="{6BD3E076-C1AF-4996-A36B-072CFAB03183}"/>
              </a:ext>
            </a:extLst>
          </p:cNvPr>
          <p:cNvGraphicFramePr>
            <a:graphicFrameLocks noGrp="1"/>
          </p:cNvGraphicFramePr>
          <p:nvPr>
            <p:ph idx="1"/>
            <p:extLst>
              <p:ext uri="{D42A27DB-BD31-4B8C-83A1-F6EECF244321}">
                <p14:modId xmlns:p14="http://schemas.microsoft.com/office/powerpoint/2010/main" val="2162252806"/>
              </p:ext>
            </p:extLst>
          </p:nvPr>
        </p:nvGraphicFramePr>
        <p:xfrm>
          <a:off x="1066800" y="1371600"/>
          <a:ext cx="7010400" cy="4114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2">
            <a:extLst>
              <a:ext uri="{FF2B5EF4-FFF2-40B4-BE49-F238E27FC236}">
                <a16:creationId xmlns:a16="http://schemas.microsoft.com/office/drawing/2014/main" id="{AD3499B6-B3FF-44D6-8A55-446B7C926BE3}"/>
              </a:ext>
            </a:extLst>
          </p:cNvPr>
          <p:cNvSpPr txBox="1">
            <a:spLocks noChangeArrowheads="1"/>
          </p:cNvSpPr>
          <p:nvPr/>
        </p:nvSpPr>
        <p:spPr bwMode="auto">
          <a:xfrm>
            <a:off x="539552" y="314500"/>
            <a:ext cx="7793037" cy="114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cs typeface="Arial" charset="0"/>
              </a:defRPr>
            </a:lvl2pPr>
            <a:lvl3pPr algn="l" rtl="0" eaLnBrk="0" fontAlgn="base" hangingPunct="0">
              <a:spcBef>
                <a:spcPct val="0"/>
              </a:spcBef>
              <a:spcAft>
                <a:spcPct val="0"/>
              </a:spcAft>
              <a:defRPr sz="4200">
                <a:solidFill>
                  <a:schemeClr val="tx2"/>
                </a:solidFill>
                <a:latin typeface="Garamond" pitchFamily="18" charset="0"/>
                <a:cs typeface="Arial" charset="0"/>
              </a:defRPr>
            </a:lvl3pPr>
            <a:lvl4pPr algn="l" rtl="0" eaLnBrk="0" fontAlgn="base" hangingPunct="0">
              <a:spcBef>
                <a:spcPct val="0"/>
              </a:spcBef>
              <a:spcAft>
                <a:spcPct val="0"/>
              </a:spcAft>
              <a:defRPr sz="4200">
                <a:solidFill>
                  <a:schemeClr val="tx2"/>
                </a:solidFill>
                <a:latin typeface="Garamond" pitchFamily="18" charset="0"/>
                <a:cs typeface="Arial" charset="0"/>
              </a:defRPr>
            </a:lvl4pPr>
            <a:lvl5pPr algn="l" rtl="0" eaLnBrk="0" fontAlgn="base" hangingPunct="0">
              <a:spcBef>
                <a:spcPct val="0"/>
              </a:spcBef>
              <a:spcAft>
                <a:spcPct val="0"/>
              </a:spcAft>
              <a:defRPr sz="4200">
                <a:solidFill>
                  <a:schemeClr val="tx2"/>
                </a:solidFill>
                <a:latin typeface="Garamond" pitchFamily="18" charset="0"/>
                <a:cs typeface="Arial" charset="0"/>
              </a:defRPr>
            </a:lvl5pPr>
            <a:lvl6pPr marL="457200" algn="l" rtl="0" eaLnBrk="0" fontAlgn="base" hangingPunct="0">
              <a:spcBef>
                <a:spcPct val="0"/>
              </a:spcBef>
              <a:spcAft>
                <a:spcPct val="0"/>
              </a:spcAft>
              <a:defRPr sz="4200">
                <a:solidFill>
                  <a:schemeClr val="tx2"/>
                </a:solidFill>
                <a:latin typeface="Garamond" pitchFamily="18" charset="0"/>
                <a:cs typeface="Arial" charset="0"/>
              </a:defRPr>
            </a:lvl6pPr>
            <a:lvl7pPr marL="914400" algn="l" rtl="0" eaLnBrk="0" fontAlgn="base" hangingPunct="0">
              <a:spcBef>
                <a:spcPct val="0"/>
              </a:spcBef>
              <a:spcAft>
                <a:spcPct val="0"/>
              </a:spcAft>
              <a:defRPr sz="4200">
                <a:solidFill>
                  <a:schemeClr val="tx2"/>
                </a:solidFill>
                <a:latin typeface="Garamond" pitchFamily="18" charset="0"/>
                <a:cs typeface="Arial" charset="0"/>
              </a:defRPr>
            </a:lvl7pPr>
            <a:lvl8pPr marL="1371600" algn="l" rtl="0" eaLnBrk="0" fontAlgn="base" hangingPunct="0">
              <a:spcBef>
                <a:spcPct val="0"/>
              </a:spcBef>
              <a:spcAft>
                <a:spcPct val="0"/>
              </a:spcAft>
              <a:defRPr sz="4200">
                <a:solidFill>
                  <a:schemeClr val="tx2"/>
                </a:solidFill>
                <a:latin typeface="Garamond" pitchFamily="18" charset="0"/>
                <a:cs typeface="Arial" charset="0"/>
              </a:defRPr>
            </a:lvl8pPr>
            <a:lvl9pPr marL="1828800" algn="l" rtl="0" eaLnBrk="0" fontAlgn="base" hangingPunct="0">
              <a:spcBef>
                <a:spcPct val="0"/>
              </a:spcBef>
              <a:spcAft>
                <a:spcPct val="0"/>
              </a:spcAft>
              <a:defRPr sz="4200">
                <a:solidFill>
                  <a:schemeClr val="tx2"/>
                </a:solidFill>
                <a:latin typeface="Garamond" pitchFamily="18" charset="0"/>
                <a:cs typeface="Arial" charset="0"/>
              </a:defRPr>
            </a:lvl9pPr>
          </a:lstStyle>
          <a:p>
            <a:pPr eaLnBrk="1" hangingPunct="1"/>
            <a:r>
              <a:rPr lang="es-MX" altLang="es-AR" sz="2500" b="1" kern="0" dirty="0">
                <a:solidFill>
                  <a:srgbClr val="3366CC"/>
                </a:solidFill>
                <a:latin typeface="Calibri" panose="020F0502020204030204" pitchFamily="34" charset="0"/>
                <a:cs typeface="Calibri" panose="020F0502020204030204" pitchFamily="34" charset="0"/>
              </a:rPr>
              <a:t>Validez concurrente y equivalencia en la medición </a:t>
            </a:r>
            <a:endParaRPr lang="es-ES" altLang="es-AR" sz="2000" b="1" kern="0" dirty="0">
              <a:solidFill>
                <a:srgbClr val="3366CC"/>
              </a:solidFill>
              <a:latin typeface="Calibri" panose="020F0502020204030204" pitchFamily="34" charset="0"/>
              <a:cs typeface="Calibri" panose="020F0502020204030204" pitchFamily="34" charset="0"/>
            </a:endParaRPr>
          </a:p>
        </p:txBody>
      </p:sp>
      <p:sp>
        <p:nvSpPr>
          <p:cNvPr id="2" name="Marcador de número de diapositiva 1">
            <a:extLst>
              <a:ext uri="{FF2B5EF4-FFF2-40B4-BE49-F238E27FC236}">
                <a16:creationId xmlns:a16="http://schemas.microsoft.com/office/drawing/2014/main" id="{1A1509FC-0DBB-4A1E-9207-36586DFD6C9B}"/>
              </a:ext>
            </a:extLst>
          </p:cNvPr>
          <p:cNvSpPr>
            <a:spLocks noGrp="1"/>
          </p:cNvSpPr>
          <p:nvPr>
            <p:ph type="sldNum" sz="quarter" idx="12"/>
          </p:nvPr>
        </p:nvSpPr>
        <p:spPr/>
        <p:txBody>
          <a:bodyPr/>
          <a:lstStyle/>
          <a:p>
            <a:fld id="{DBA09A25-A9A4-4F8D-9A63-C26CE6EC84B5}" type="slidenum">
              <a:rPr lang="es-ES" altLang="en-US" smtClean="0"/>
              <a:pPr/>
              <a:t>16</a:t>
            </a:fld>
            <a:endParaRPr lang="es-ES" altLang="en-US"/>
          </a:p>
        </p:txBody>
      </p:sp>
      <p:sp>
        <p:nvSpPr>
          <p:cNvPr id="3" name="Marcador de pie de página 2">
            <a:extLst>
              <a:ext uri="{FF2B5EF4-FFF2-40B4-BE49-F238E27FC236}">
                <a16:creationId xmlns:a16="http://schemas.microsoft.com/office/drawing/2014/main" id="{651BB1F0-F110-48C1-944E-72E22016137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690390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a:extLst>
              <a:ext uri="{FF2B5EF4-FFF2-40B4-BE49-F238E27FC236}">
                <a16:creationId xmlns:a16="http://schemas.microsoft.com/office/drawing/2014/main" id="{B1720FEF-4A91-424F-9CF7-14BFB532A3D3}"/>
              </a:ext>
            </a:extLst>
          </p:cNvPr>
          <p:cNvGraphicFramePr>
            <a:graphicFrameLocks noGrp="1"/>
          </p:cNvGraphicFramePr>
          <p:nvPr>
            <p:ph idx="1"/>
          </p:nvPr>
        </p:nvGraphicFramePr>
        <p:xfrm>
          <a:off x="857224" y="404664"/>
          <a:ext cx="7531200" cy="5616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Marcador de número de diapositiva 1">
            <a:extLst>
              <a:ext uri="{FF2B5EF4-FFF2-40B4-BE49-F238E27FC236}">
                <a16:creationId xmlns:a16="http://schemas.microsoft.com/office/drawing/2014/main" id="{1A3FAA5C-1506-4EA9-A127-04CE777986E0}"/>
              </a:ext>
            </a:extLst>
          </p:cNvPr>
          <p:cNvSpPr>
            <a:spLocks noGrp="1"/>
          </p:cNvSpPr>
          <p:nvPr>
            <p:ph type="sldNum" sz="quarter" idx="12"/>
          </p:nvPr>
        </p:nvSpPr>
        <p:spPr/>
        <p:txBody>
          <a:bodyPr/>
          <a:lstStyle/>
          <a:p>
            <a:fld id="{DBA09A25-A9A4-4F8D-9A63-C26CE6EC84B5}" type="slidenum">
              <a:rPr lang="es-ES" altLang="en-US" smtClean="0"/>
              <a:pPr/>
              <a:t>17</a:t>
            </a:fld>
            <a:endParaRPr lang="es-ES" altLang="en-US"/>
          </a:p>
        </p:txBody>
      </p:sp>
      <p:sp>
        <p:nvSpPr>
          <p:cNvPr id="3" name="Marcador de pie de página 2">
            <a:extLst>
              <a:ext uri="{FF2B5EF4-FFF2-40B4-BE49-F238E27FC236}">
                <a16:creationId xmlns:a16="http://schemas.microsoft.com/office/drawing/2014/main" id="{56216EE5-3504-40A5-8CCB-6212DA5FD4BD}"/>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9143336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Título">
            <a:extLst>
              <a:ext uri="{FF2B5EF4-FFF2-40B4-BE49-F238E27FC236}">
                <a16:creationId xmlns:a16="http://schemas.microsoft.com/office/drawing/2014/main" id="{E9FF3241-F3D5-494A-89F5-745AD325B934}"/>
              </a:ext>
            </a:extLst>
          </p:cNvPr>
          <p:cNvSpPr>
            <a:spLocks noGrp="1"/>
          </p:cNvSpPr>
          <p:nvPr>
            <p:ph type="title"/>
          </p:nvPr>
        </p:nvSpPr>
        <p:spPr>
          <a:xfrm>
            <a:off x="457200" y="277813"/>
            <a:ext cx="8229600" cy="558899"/>
          </a:xfrm>
        </p:spPr>
        <p:txBody>
          <a:bodyPr/>
          <a:lstStyle/>
          <a:p>
            <a:r>
              <a:rPr lang="es-ES" altLang="es-AR" sz="1400" b="1" dirty="0">
                <a:solidFill>
                  <a:schemeClr val="bg1"/>
                </a:solidFill>
              </a:rPr>
              <a:t>Se ha definido a la </a:t>
            </a:r>
            <a:r>
              <a:rPr lang="es-ES" altLang="es-AR" sz="1400" b="1" i="1" dirty="0">
                <a:solidFill>
                  <a:schemeClr val="bg1"/>
                </a:solidFill>
              </a:rPr>
              <a:t>seguridad alimentaria</a:t>
            </a:r>
            <a:r>
              <a:rPr lang="es-ES" altLang="es-AR" sz="1400" b="1" dirty="0">
                <a:solidFill>
                  <a:schemeClr val="bg1"/>
                </a:solidFill>
              </a:rPr>
              <a:t> como el acceso por parte de todas las personas y en todo momento a alimentos suficientes y nutritivos para llevar adelante una vida activa y saludable (FAO, 2008)</a:t>
            </a:r>
            <a:br>
              <a:rPr lang="es-AR" altLang="es-AR" sz="1400" b="1" dirty="0">
                <a:solidFill>
                  <a:schemeClr val="bg1"/>
                </a:solidFill>
              </a:rPr>
            </a:br>
            <a:endParaRPr lang="es-AR" altLang="es-AR" sz="1400" b="1" dirty="0">
              <a:solidFill>
                <a:schemeClr val="bg1"/>
              </a:solidFill>
            </a:endParaRPr>
          </a:p>
        </p:txBody>
      </p:sp>
      <p:graphicFrame>
        <p:nvGraphicFramePr>
          <p:cNvPr id="4" name="3 Marcador de contenido">
            <a:extLst>
              <a:ext uri="{FF2B5EF4-FFF2-40B4-BE49-F238E27FC236}">
                <a16:creationId xmlns:a16="http://schemas.microsoft.com/office/drawing/2014/main" id="{BE650286-5E37-497A-806E-913311BBD274}"/>
              </a:ext>
            </a:extLst>
          </p:cNvPr>
          <p:cNvGraphicFramePr>
            <a:graphicFrameLocks noGrp="1"/>
          </p:cNvGraphicFramePr>
          <p:nvPr>
            <p:ph idx="1"/>
          </p:nvPr>
        </p:nvGraphicFramePr>
        <p:xfrm>
          <a:off x="457200" y="928670"/>
          <a:ext cx="8229600" cy="50926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Marcador de número de diapositiva 1">
            <a:extLst>
              <a:ext uri="{FF2B5EF4-FFF2-40B4-BE49-F238E27FC236}">
                <a16:creationId xmlns:a16="http://schemas.microsoft.com/office/drawing/2014/main" id="{FB6720ED-8776-4EC0-A18A-2B23859D5809}"/>
              </a:ext>
            </a:extLst>
          </p:cNvPr>
          <p:cNvSpPr>
            <a:spLocks noGrp="1"/>
          </p:cNvSpPr>
          <p:nvPr>
            <p:ph type="sldNum" sz="quarter" idx="12"/>
          </p:nvPr>
        </p:nvSpPr>
        <p:spPr/>
        <p:txBody>
          <a:bodyPr/>
          <a:lstStyle/>
          <a:p>
            <a:fld id="{DBA09A25-A9A4-4F8D-9A63-C26CE6EC84B5}" type="slidenum">
              <a:rPr lang="es-ES" altLang="en-US" smtClean="0"/>
              <a:pPr/>
              <a:t>18</a:t>
            </a:fld>
            <a:endParaRPr lang="es-ES" altLang="en-US"/>
          </a:p>
        </p:txBody>
      </p:sp>
      <p:sp>
        <p:nvSpPr>
          <p:cNvPr id="3" name="Marcador de pie de página 2">
            <a:extLst>
              <a:ext uri="{FF2B5EF4-FFF2-40B4-BE49-F238E27FC236}">
                <a16:creationId xmlns:a16="http://schemas.microsoft.com/office/drawing/2014/main" id="{D9EDA227-E6E8-48FF-8C9E-30BF30441F83}"/>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5298402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a:extLst>
              <a:ext uri="{FF2B5EF4-FFF2-40B4-BE49-F238E27FC236}">
                <a16:creationId xmlns:a16="http://schemas.microsoft.com/office/drawing/2014/main" id="{CD738D47-41B1-42A9-8FA8-F1207F59D8B3}"/>
              </a:ext>
            </a:extLst>
          </p:cNvPr>
          <p:cNvGraphicFramePr>
            <a:graphicFrameLocks noGrp="1"/>
          </p:cNvGraphicFramePr>
          <p:nvPr>
            <p:ph idx="1"/>
          </p:nvPr>
        </p:nvGraphicFramePr>
        <p:xfrm>
          <a:off x="1524000" y="357166"/>
          <a:ext cx="6936432" cy="5736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Marcador de número de diapositiva 1">
            <a:extLst>
              <a:ext uri="{FF2B5EF4-FFF2-40B4-BE49-F238E27FC236}">
                <a16:creationId xmlns:a16="http://schemas.microsoft.com/office/drawing/2014/main" id="{9BDE821A-AF00-407F-91B9-F8D32A32ADA4}"/>
              </a:ext>
            </a:extLst>
          </p:cNvPr>
          <p:cNvSpPr>
            <a:spLocks noGrp="1"/>
          </p:cNvSpPr>
          <p:nvPr>
            <p:ph type="sldNum" sz="quarter" idx="12"/>
          </p:nvPr>
        </p:nvSpPr>
        <p:spPr/>
        <p:txBody>
          <a:bodyPr/>
          <a:lstStyle/>
          <a:p>
            <a:fld id="{DBA09A25-A9A4-4F8D-9A63-C26CE6EC84B5}" type="slidenum">
              <a:rPr lang="es-ES" altLang="en-US" smtClean="0"/>
              <a:pPr/>
              <a:t>19</a:t>
            </a:fld>
            <a:endParaRPr lang="es-ES" altLang="en-US"/>
          </a:p>
        </p:txBody>
      </p:sp>
      <p:sp>
        <p:nvSpPr>
          <p:cNvPr id="3" name="Marcador de pie de página 2">
            <a:extLst>
              <a:ext uri="{FF2B5EF4-FFF2-40B4-BE49-F238E27FC236}">
                <a16:creationId xmlns:a16="http://schemas.microsoft.com/office/drawing/2014/main" id="{08F7304A-183F-4AC6-81F6-64DCE6F7935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2622995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1 Título">
            <a:extLst>
              <a:ext uri="{FF2B5EF4-FFF2-40B4-BE49-F238E27FC236}">
                <a16:creationId xmlns:a16="http://schemas.microsoft.com/office/drawing/2014/main" id="{519E95C3-91C3-4FB5-B0C6-102B6CA99496}"/>
              </a:ext>
            </a:extLst>
          </p:cNvPr>
          <p:cNvSpPr>
            <a:spLocks noGrp="1"/>
          </p:cNvSpPr>
          <p:nvPr>
            <p:ph type="title"/>
          </p:nvPr>
        </p:nvSpPr>
        <p:spPr/>
        <p:txBody>
          <a:bodyPr/>
          <a:lstStyle/>
          <a:p>
            <a:r>
              <a:rPr lang="es-AR" altLang="es-AR" sz="3200" b="1" dirty="0">
                <a:solidFill>
                  <a:srgbClr val="3366CC"/>
                </a:solidFill>
                <a:latin typeface="Calibri" panose="020F0502020204030204" pitchFamily="34" charset="0"/>
                <a:cs typeface="Calibri" panose="020F0502020204030204" pitchFamily="34" charset="0"/>
              </a:rPr>
              <a:t>Inseguridad alimentaria 0-17 años </a:t>
            </a:r>
            <a:r>
              <a:rPr lang="es-AR" altLang="es-AR" sz="2400" b="1" dirty="0">
                <a:solidFill>
                  <a:srgbClr val="3366CC"/>
                </a:solidFill>
                <a:latin typeface="Calibri" panose="020F0502020204030204" pitchFamily="34" charset="0"/>
                <a:cs typeface="Calibri" panose="020F0502020204030204" pitchFamily="34" charset="0"/>
              </a:rPr>
              <a:t>(EQUIVALENCIA-CONSISTENCIA INTERNA)</a:t>
            </a:r>
          </a:p>
        </p:txBody>
      </p:sp>
      <p:graphicFrame>
        <p:nvGraphicFramePr>
          <p:cNvPr id="2050" name="3 Marcador de contenido">
            <a:extLst>
              <a:ext uri="{FF2B5EF4-FFF2-40B4-BE49-F238E27FC236}">
                <a16:creationId xmlns:a16="http://schemas.microsoft.com/office/drawing/2014/main" id="{3BCFF89C-ACB4-40A8-9ADF-1CBC4A79ABB3}"/>
              </a:ext>
            </a:extLst>
          </p:cNvPr>
          <p:cNvGraphicFramePr>
            <a:graphicFrameLocks noGrp="1"/>
          </p:cNvGraphicFramePr>
          <p:nvPr>
            <p:ph idx="1"/>
          </p:nvPr>
        </p:nvGraphicFramePr>
        <p:xfrm>
          <a:off x="614363" y="1479550"/>
          <a:ext cx="7934325" cy="4308475"/>
        </p:xfrm>
        <a:graphic>
          <a:graphicData uri="http://schemas.openxmlformats.org/presentationml/2006/ole">
            <mc:AlternateContent xmlns:mc="http://schemas.openxmlformats.org/markup-compatibility/2006">
              <mc:Choice xmlns:v="urn:schemas-microsoft-com:vml" Requires="v">
                <p:oleObj name="Chart" r:id="rId2" imgW="7858089" imgH="4267186" progId="Excel.Chart.8">
                  <p:embed/>
                </p:oleObj>
              </mc:Choice>
              <mc:Fallback>
                <p:oleObj name="Chart" r:id="rId2" imgW="7858089" imgH="4267186" progId="Excel.Chart.8">
                  <p:embed/>
                  <p:pic>
                    <p:nvPicPr>
                      <p:cNvPr id="2050" name="3 Marcador de contenido">
                        <a:extLst>
                          <a:ext uri="{FF2B5EF4-FFF2-40B4-BE49-F238E27FC236}">
                            <a16:creationId xmlns:a16="http://schemas.microsoft.com/office/drawing/2014/main" id="{3BCFF89C-ACB4-40A8-9ADF-1CBC4A79ABB3}"/>
                          </a:ext>
                        </a:extLst>
                      </p:cNvPr>
                      <p:cNvPicPr>
                        <a:picLocks noGrp="1" noChangeArrowheads="1"/>
                      </p:cNvPicPr>
                      <p:nvPr/>
                    </p:nvPicPr>
                    <p:blipFill>
                      <a:blip r:embed="rId3"/>
                      <a:srcRect/>
                      <a:stretch>
                        <a:fillRect/>
                      </a:stretch>
                    </p:blipFill>
                    <p:spPr bwMode="auto">
                      <a:xfrm>
                        <a:off x="614363" y="1479550"/>
                        <a:ext cx="7934325" cy="4308475"/>
                      </a:xfrm>
                      <a:prstGeom prst="rect">
                        <a:avLst/>
                      </a:prstGeom>
                    </p:spPr>
                  </p:pic>
                </p:oleObj>
              </mc:Fallback>
            </mc:AlternateContent>
          </a:graphicData>
        </a:graphic>
      </p:graphicFrame>
      <p:sp>
        <p:nvSpPr>
          <p:cNvPr id="2" name="Marcador de número de diapositiva 1">
            <a:extLst>
              <a:ext uri="{FF2B5EF4-FFF2-40B4-BE49-F238E27FC236}">
                <a16:creationId xmlns:a16="http://schemas.microsoft.com/office/drawing/2014/main" id="{0F5AC428-9F6A-459E-A5D1-32B275E65822}"/>
              </a:ext>
            </a:extLst>
          </p:cNvPr>
          <p:cNvSpPr>
            <a:spLocks noGrp="1"/>
          </p:cNvSpPr>
          <p:nvPr>
            <p:ph type="sldNum" sz="quarter" idx="12"/>
          </p:nvPr>
        </p:nvSpPr>
        <p:spPr/>
        <p:txBody>
          <a:bodyPr/>
          <a:lstStyle/>
          <a:p>
            <a:fld id="{DBA09A25-A9A4-4F8D-9A63-C26CE6EC84B5}" type="slidenum">
              <a:rPr lang="es-ES" altLang="en-US" smtClean="0"/>
              <a:pPr/>
              <a:t>20</a:t>
            </a:fld>
            <a:endParaRPr lang="es-ES" altLang="en-US"/>
          </a:p>
        </p:txBody>
      </p:sp>
      <p:sp>
        <p:nvSpPr>
          <p:cNvPr id="3" name="Marcador de pie de página 2">
            <a:extLst>
              <a:ext uri="{FF2B5EF4-FFF2-40B4-BE49-F238E27FC236}">
                <a16:creationId xmlns:a16="http://schemas.microsoft.com/office/drawing/2014/main" id="{0B68F29F-F6BD-4C35-B638-99F366334C53}"/>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60778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E3AE51B-0D9F-429E-87F8-86D5EA339E4E}"/>
              </a:ext>
            </a:extLst>
          </p:cNvPr>
          <p:cNvSpPr>
            <a:spLocks noGrp="1" noChangeArrowheads="1"/>
          </p:cNvSpPr>
          <p:nvPr>
            <p:ph type="title"/>
          </p:nvPr>
        </p:nvSpPr>
        <p:spPr>
          <a:xfrm>
            <a:off x="539552" y="260648"/>
            <a:ext cx="8296473" cy="575345"/>
          </a:xfrm>
        </p:spPr>
        <p:txBody>
          <a:bodyPr/>
          <a:lstStyle/>
          <a:p>
            <a:pPr eaLnBrk="1" hangingPunct="1"/>
            <a:r>
              <a:rPr lang="es-MX" altLang="es-AR" sz="3600" b="1" dirty="0">
                <a:solidFill>
                  <a:srgbClr val="3366CC"/>
                </a:solidFill>
                <a:latin typeface="Calibri" panose="020F0502020204030204" pitchFamily="34" charset="0"/>
                <a:ea typeface="+mn-ea"/>
                <a:cs typeface="Calibri" panose="020F0502020204030204" pitchFamily="34" charset="0"/>
              </a:rPr>
              <a:t>CONTROL DE SESGOS / ERRORES</a:t>
            </a:r>
            <a:endParaRPr lang="es-ES" altLang="es-AR" sz="3600" b="1" dirty="0">
              <a:solidFill>
                <a:srgbClr val="3366CC"/>
              </a:solidFill>
              <a:latin typeface="Calibri" panose="020F0502020204030204" pitchFamily="34" charset="0"/>
              <a:ea typeface="+mn-ea"/>
              <a:cs typeface="Calibri" panose="020F0502020204030204" pitchFamily="34" charset="0"/>
            </a:endParaRPr>
          </a:p>
        </p:txBody>
      </p:sp>
      <p:sp>
        <p:nvSpPr>
          <p:cNvPr id="38915" name="Rectangle 3">
            <a:extLst>
              <a:ext uri="{FF2B5EF4-FFF2-40B4-BE49-F238E27FC236}">
                <a16:creationId xmlns:a16="http://schemas.microsoft.com/office/drawing/2014/main" id="{442D6DE2-26EB-4D9F-832F-0F8A44FAA3B1}"/>
              </a:ext>
            </a:extLst>
          </p:cNvPr>
          <p:cNvSpPr>
            <a:spLocks noGrp="1" noChangeArrowheads="1"/>
          </p:cNvSpPr>
          <p:nvPr>
            <p:ph type="body" idx="1"/>
          </p:nvPr>
        </p:nvSpPr>
        <p:spPr>
          <a:xfrm>
            <a:off x="612329" y="1340768"/>
            <a:ext cx="3749675" cy="4535487"/>
          </a:xfrm>
          <a:solidFill>
            <a:schemeClr val="bg1"/>
          </a:solidFill>
        </p:spPr>
        <p:txBody>
          <a:bodyPr/>
          <a:lstStyle/>
          <a:p>
            <a:pPr marL="0" indent="0" eaLnBrk="1" hangingPunct="1">
              <a:lnSpc>
                <a:spcPct val="80000"/>
              </a:lnSpc>
              <a:spcBef>
                <a:spcPct val="80000"/>
              </a:spcBef>
              <a:buNone/>
            </a:pPr>
            <a:endParaRPr lang="es-MX" altLang="es-AR" sz="2100" b="1" dirty="0">
              <a:latin typeface="Calibri" panose="020F0502020204030204" pitchFamily="34" charset="0"/>
              <a:cs typeface="Calibri" panose="020F0502020204030204" pitchFamily="34" charset="0"/>
            </a:endParaRPr>
          </a:p>
          <a:p>
            <a:pPr marL="0" indent="0" eaLnBrk="1" hangingPunct="1">
              <a:lnSpc>
                <a:spcPct val="80000"/>
              </a:lnSpc>
              <a:spcBef>
                <a:spcPct val="80000"/>
              </a:spcBef>
              <a:buNone/>
            </a:pPr>
            <a:r>
              <a:rPr lang="es-MX" altLang="es-AR" sz="2100" b="1" dirty="0">
                <a:latin typeface="Calibri" panose="020F0502020204030204" pitchFamily="34" charset="0"/>
                <a:cs typeface="Calibri" panose="020F0502020204030204" pitchFamily="34" charset="0"/>
              </a:rPr>
              <a:t>CONTROLES INTERNOS</a:t>
            </a:r>
          </a:p>
          <a:p>
            <a:pPr eaLnBrk="1" hangingPunct="1">
              <a:lnSpc>
                <a:spcPct val="80000"/>
              </a:lnSpc>
              <a:spcBef>
                <a:spcPct val="80000"/>
              </a:spcBef>
              <a:buClr>
                <a:schemeClr val="tx1"/>
              </a:buClr>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Incluir un mismo indicador bajo dos formulaciones en una misma encuesta. </a:t>
            </a:r>
          </a:p>
          <a:p>
            <a:pPr eaLnBrk="1" hangingPunct="1">
              <a:lnSpc>
                <a:spcPct val="80000"/>
              </a:lnSpc>
              <a:spcBef>
                <a:spcPct val="80000"/>
              </a:spcBef>
              <a:buClr>
                <a:schemeClr val="tx1"/>
              </a:buClr>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Consistencia de datos estructurales en el marco de un estudio longitudinal. </a:t>
            </a:r>
          </a:p>
          <a:p>
            <a:pPr eaLnBrk="1" hangingPunct="1">
              <a:lnSpc>
                <a:spcPct val="80000"/>
              </a:lnSpc>
              <a:spcBef>
                <a:spcPct val="80000"/>
              </a:spcBef>
              <a:buClr>
                <a:schemeClr val="tx1"/>
              </a:buClr>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Pruebas de consistencia interna del instrumento. </a:t>
            </a:r>
            <a:endParaRPr lang="es-ES" altLang="es-AR" sz="2100" b="1" dirty="0">
              <a:latin typeface="Calibri" panose="020F0502020204030204" pitchFamily="34" charset="0"/>
              <a:cs typeface="Calibri" panose="020F0502020204030204" pitchFamily="34" charset="0"/>
            </a:endParaRPr>
          </a:p>
        </p:txBody>
      </p:sp>
      <p:sp>
        <p:nvSpPr>
          <p:cNvPr id="38916" name="Rectangle 4">
            <a:extLst>
              <a:ext uri="{FF2B5EF4-FFF2-40B4-BE49-F238E27FC236}">
                <a16:creationId xmlns:a16="http://schemas.microsoft.com/office/drawing/2014/main" id="{95182D54-CA34-44E8-BF43-79D8A03FE6F8}"/>
              </a:ext>
            </a:extLst>
          </p:cNvPr>
          <p:cNvSpPr>
            <a:spLocks noChangeArrowheads="1"/>
          </p:cNvSpPr>
          <p:nvPr/>
        </p:nvSpPr>
        <p:spPr bwMode="auto">
          <a:xfrm>
            <a:off x="4716016" y="1340768"/>
            <a:ext cx="3749675" cy="4535487"/>
          </a:xfrm>
          <a:prstGeom prst="rect">
            <a:avLst/>
          </a:prstGeom>
          <a:solidFill>
            <a:schemeClr val="bg1"/>
          </a:solidFill>
          <a:ln>
            <a:noFill/>
          </a:ln>
        </p:spPr>
        <p:txBody>
          <a:bodyPr/>
          <a:lstStyle>
            <a:lvl1pPr marL="342900" indent="-342900"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marL="0" indent="0" eaLnBrk="1" hangingPunct="1">
              <a:spcBef>
                <a:spcPct val="35000"/>
              </a:spcBef>
              <a:buClr>
                <a:schemeClr val="tx1"/>
              </a:buClr>
              <a:buSzPct val="70000"/>
            </a:pPr>
            <a:endParaRPr lang="es-MX" altLang="es-AR" sz="2100" b="1" dirty="0">
              <a:latin typeface="Calibri" panose="020F0502020204030204" pitchFamily="34" charset="0"/>
              <a:cs typeface="Calibri" panose="020F0502020204030204" pitchFamily="34" charset="0"/>
            </a:endParaRPr>
          </a:p>
          <a:p>
            <a:pPr marL="0" indent="0" eaLnBrk="1" hangingPunct="1">
              <a:spcBef>
                <a:spcPct val="35000"/>
              </a:spcBef>
              <a:buClr>
                <a:schemeClr val="tx1"/>
              </a:buClr>
              <a:buSzPct val="70000"/>
            </a:pPr>
            <a:r>
              <a:rPr lang="es-MX" altLang="es-AR" sz="2100" b="1" dirty="0">
                <a:latin typeface="Calibri" panose="020F0502020204030204" pitchFamily="34" charset="0"/>
                <a:cs typeface="Calibri" panose="020F0502020204030204" pitchFamily="34" charset="0"/>
              </a:rPr>
              <a:t>CONTROLES EXTERNOS</a:t>
            </a:r>
          </a:p>
          <a:p>
            <a:pPr eaLnBrk="1" hangingPunct="1">
              <a:spcBef>
                <a:spcPct val="20000"/>
              </a:spcBef>
              <a:buClr>
                <a:schemeClr val="tx1"/>
              </a:buClr>
              <a:buSzPct val="70000"/>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PRETEST / PRUEBA</a:t>
            </a:r>
          </a:p>
          <a:p>
            <a:pPr eaLnBrk="1" hangingPunct="1">
              <a:spcBef>
                <a:spcPct val="20000"/>
              </a:spcBef>
              <a:buClr>
                <a:schemeClr val="tx1"/>
              </a:buClr>
              <a:buSzPct val="70000"/>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RETEST  / </a:t>
            </a:r>
            <a:r>
              <a:rPr lang="es-MX" altLang="es-AR" sz="1500" b="1" i="1" dirty="0">
                <a:latin typeface="Calibri" panose="020F0502020204030204" pitchFamily="34" charset="0"/>
                <a:cs typeface="Calibri" panose="020F0502020204030204" pitchFamily="34" charset="0"/>
              </a:rPr>
              <a:t>APLICACIÓN REPETIDA EN EL TIEMPO A LAS MISMAS PERSONAS</a:t>
            </a:r>
          </a:p>
          <a:p>
            <a:pPr eaLnBrk="1" hangingPunct="1">
              <a:spcBef>
                <a:spcPct val="20000"/>
              </a:spcBef>
              <a:buClr>
                <a:schemeClr val="tx1"/>
              </a:buClr>
              <a:buSzPct val="70000"/>
              <a:buFont typeface="Wingdings" panose="05000000000000000000" pitchFamily="2" charset="2"/>
              <a:buChar char="v"/>
            </a:pPr>
            <a:r>
              <a:rPr lang="es-MX" altLang="es-AR" dirty="0">
                <a:latin typeface="Calibri" panose="020F0502020204030204" pitchFamily="34" charset="0"/>
                <a:cs typeface="Calibri" panose="020F0502020204030204" pitchFamily="34" charset="0"/>
              </a:rPr>
              <a:t>MÉTODO DE DOS MITADES</a:t>
            </a:r>
          </a:p>
          <a:p>
            <a:pPr eaLnBrk="1" hangingPunct="1">
              <a:spcBef>
                <a:spcPct val="20000"/>
              </a:spcBef>
              <a:buClr>
                <a:schemeClr val="tx1"/>
              </a:buClr>
              <a:buSzPct val="70000"/>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PRUEBA EN GRUPOS CONOCIDOS</a:t>
            </a:r>
          </a:p>
          <a:p>
            <a:pPr eaLnBrk="1" hangingPunct="1">
              <a:spcBef>
                <a:spcPct val="20000"/>
              </a:spcBef>
              <a:buClr>
                <a:schemeClr val="tx1"/>
              </a:buClr>
              <a:buSzPct val="70000"/>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MUESTRA DE COMPARACIÓN  </a:t>
            </a:r>
          </a:p>
          <a:p>
            <a:pPr eaLnBrk="1" hangingPunct="1">
              <a:spcBef>
                <a:spcPct val="35000"/>
              </a:spcBef>
              <a:buClr>
                <a:schemeClr val="tx1"/>
              </a:buClr>
              <a:buSzPct val="70000"/>
              <a:buFont typeface="Wingdings" panose="05000000000000000000" pitchFamily="2" charset="2"/>
              <a:buChar char="v"/>
            </a:pPr>
            <a:r>
              <a:rPr lang="es-MX" altLang="es-AR" sz="2100" dirty="0">
                <a:latin typeface="Calibri" panose="020F0502020204030204" pitchFamily="34" charset="0"/>
                <a:cs typeface="Calibri" panose="020F0502020204030204" pitchFamily="34" charset="0"/>
              </a:rPr>
              <a:t>FUENTES EXTERNAS</a:t>
            </a:r>
            <a:endParaRPr lang="es-ES" altLang="es-AR" sz="2100" dirty="0">
              <a:latin typeface="Calibri" panose="020F0502020204030204" pitchFamily="34" charset="0"/>
              <a:cs typeface="Calibri" panose="020F0502020204030204" pitchFamily="34" charset="0"/>
            </a:endParaRPr>
          </a:p>
        </p:txBody>
      </p:sp>
      <p:sp>
        <p:nvSpPr>
          <p:cNvPr id="2" name="Marcador de número de diapositiva 1">
            <a:extLst>
              <a:ext uri="{FF2B5EF4-FFF2-40B4-BE49-F238E27FC236}">
                <a16:creationId xmlns:a16="http://schemas.microsoft.com/office/drawing/2014/main" id="{B1D44CAB-15CC-4C9C-804A-4CB3FF490245}"/>
              </a:ext>
            </a:extLst>
          </p:cNvPr>
          <p:cNvSpPr>
            <a:spLocks noGrp="1"/>
          </p:cNvSpPr>
          <p:nvPr>
            <p:ph type="sldNum" sz="quarter" idx="12"/>
          </p:nvPr>
        </p:nvSpPr>
        <p:spPr/>
        <p:txBody>
          <a:bodyPr/>
          <a:lstStyle/>
          <a:p>
            <a:fld id="{DBA09A25-A9A4-4F8D-9A63-C26CE6EC84B5}" type="slidenum">
              <a:rPr lang="es-ES" altLang="en-US" smtClean="0"/>
              <a:pPr/>
              <a:t>21</a:t>
            </a:fld>
            <a:endParaRPr lang="es-ES" altLang="en-US"/>
          </a:p>
        </p:txBody>
      </p:sp>
      <p:sp>
        <p:nvSpPr>
          <p:cNvPr id="3" name="Marcador de pie de página 2">
            <a:extLst>
              <a:ext uri="{FF2B5EF4-FFF2-40B4-BE49-F238E27FC236}">
                <a16:creationId xmlns:a16="http://schemas.microsoft.com/office/drawing/2014/main" id="{4C3C2519-0F4A-45C8-8CB5-E7460353CA5A}"/>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6803999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F4F04492-2A97-45A3-94D0-EA8C4F3975E3}"/>
              </a:ext>
            </a:extLst>
          </p:cNvPr>
          <p:cNvSpPr>
            <a:spLocks noGrp="1" noChangeArrowheads="1"/>
          </p:cNvSpPr>
          <p:nvPr>
            <p:ph type="body" idx="4294967295"/>
          </p:nvPr>
        </p:nvSpPr>
        <p:spPr>
          <a:xfrm>
            <a:off x="1043608" y="2096294"/>
            <a:ext cx="7272338" cy="2808288"/>
          </a:xfrm>
        </p:spPr>
        <p:txBody>
          <a:bodyPr/>
          <a:lstStyle/>
          <a:p>
            <a:pPr marL="571500" indent="-571500" algn="ctr" eaLnBrk="1" hangingPunct="1">
              <a:buFont typeface="Wingdings" panose="05000000000000000000" pitchFamily="2" charset="2"/>
              <a:buNone/>
            </a:pPr>
            <a:endParaRPr lang="es-AR" altLang="es-AR" sz="3200" b="1" dirty="0">
              <a:solidFill>
                <a:srgbClr val="3366CC"/>
              </a:solidFill>
              <a:latin typeface="Calibri" panose="020F0502020204030204" pitchFamily="34" charset="0"/>
              <a:cs typeface="Calibri" panose="020F0502020204030204" pitchFamily="34" charset="0"/>
            </a:endParaRPr>
          </a:p>
          <a:p>
            <a:pPr marL="0" indent="0" algn="ctr" eaLnBrk="1" hangingPunct="1">
              <a:buNone/>
            </a:pPr>
            <a:r>
              <a:rPr lang="es-AR" altLang="es-AR" sz="4200" b="1" dirty="0">
                <a:solidFill>
                  <a:srgbClr val="3366CC"/>
                </a:solidFill>
                <a:latin typeface="Calibri" panose="020F0502020204030204" pitchFamily="34" charset="0"/>
                <a:cs typeface="Calibri" panose="020F0502020204030204" pitchFamily="34" charset="0"/>
              </a:rPr>
              <a:t>De la conceptualización a la operacionalización</a:t>
            </a:r>
          </a:p>
        </p:txBody>
      </p:sp>
      <p:sp>
        <p:nvSpPr>
          <p:cNvPr id="3" name="Marcador de número de diapositiva 2">
            <a:extLst>
              <a:ext uri="{FF2B5EF4-FFF2-40B4-BE49-F238E27FC236}">
                <a16:creationId xmlns:a16="http://schemas.microsoft.com/office/drawing/2014/main" id="{5CD5313C-6B35-433F-BF54-71A02976768A}"/>
              </a:ext>
            </a:extLst>
          </p:cNvPr>
          <p:cNvSpPr>
            <a:spLocks noGrp="1"/>
          </p:cNvSpPr>
          <p:nvPr>
            <p:ph type="sldNum" sz="quarter" idx="12"/>
          </p:nvPr>
        </p:nvSpPr>
        <p:spPr/>
        <p:txBody>
          <a:bodyPr/>
          <a:lstStyle/>
          <a:p>
            <a:fld id="{E4801FF2-09AB-46FD-82F0-246320401FD0}" type="slidenum">
              <a:rPr lang="es-ES" altLang="en-US" smtClean="0"/>
              <a:pPr/>
              <a:t>22</a:t>
            </a:fld>
            <a:endParaRPr lang="es-ES" altLang="en-US"/>
          </a:p>
        </p:txBody>
      </p:sp>
      <p:sp>
        <p:nvSpPr>
          <p:cNvPr id="4" name="Marcador de pie de página 3">
            <a:extLst>
              <a:ext uri="{FF2B5EF4-FFF2-40B4-BE49-F238E27FC236}">
                <a16:creationId xmlns:a16="http://schemas.microsoft.com/office/drawing/2014/main" id="{A58EF6F5-3EF4-45C2-9C55-247B65A8E910}"/>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226084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 la pobreza infantil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82376" y="975579"/>
            <a:ext cx="819331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¿Qué es la pobreza infantil? ¿Cómo se conceptualiza y cómo se mide?</a:t>
            </a:r>
          </a:p>
        </p:txBody>
      </p:sp>
      <p:pic>
        <p:nvPicPr>
          <p:cNvPr id="3" name="Imagen 2">
            <a:extLst>
              <a:ext uri="{FF2B5EF4-FFF2-40B4-BE49-F238E27FC236}">
                <a16:creationId xmlns:a16="http://schemas.microsoft.com/office/drawing/2014/main" id="{C08FCEAB-CD65-4B3E-9793-ED3C24A0F829}"/>
              </a:ext>
            </a:extLst>
          </p:cNvPr>
          <p:cNvPicPr>
            <a:picLocks noChangeAspect="1"/>
          </p:cNvPicPr>
          <p:nvPr/>
        </p:nvPicPr>
        <p:blipFill>
          <a:blip r:embed="rId2"/>
          <a:stretch>
            <a:fillRect/>
          </a:stretch>
        </p:blipFill>
        <p:spPr>
          <a:xfrm>
            <a:off x="1553184" y="2056744"/>
            <a:ext cx="6051696" cy="3627185"/>
          </a:xfrm>
          <a:prstGeom prst="rect">
            <a:avLst/>
          </a:prstGeom>
        </p:spPr>
      </p:pic>
      <p:sp>
        <p:nvSpPr>
          <p:cNvPr id="9" name="CuadroTexto 8">
            <a:extLst>
              <a:ext uri="{FF2B5EF4-FFF2-40B4-BE49-F238E27FC236}">
                <a16:creationId xmlns:a16="http://schemas.microsoft.com/office/drawing/2014/main" id="{5583548D-0BC1-45E4-B1C7-AD9836E2CC90}"/>
              </a:ext>
            </a:extLst>
          </p:cNvPr>
          <p:cNvSpPr txBox="1"/>
          <p:nvPr/>
        </p:nvSpPr>
        <p:spPr>
          <a:xfrm>
            <a:off x="1246804" y="1427277"/>
            <a:ext cx="7342284" cy="400110"/>
          </a:xfrm>
          <a:prstGeom prst="rect">
            <a:avLst/>
          </a:prstGeom>
          <a:noFill/>
        </p:spPr>
        <p:txBody>
          <a:bodyPr wrap="square" rtlCol="0">
            <a:spAutoFit/>
          </a:bodyPr>
          <a:lstStyle/>
          <a:p>
            <a:r>
              <a:rPr lang="es-AR" sz="2000" dirty="0">
                <a:solidFill>
                  <a:schemeClr val="bg1"/>
                </a:solidFill>
                <a:latin typeface="Calibri" panose="020F0502020204030204" pitchFamily="34" charset="0"/>
                <a:cs typeface="Calibri" panose="020F0502020204030204" pitchFamily="34" charset="0"/>
              </a:rPr>
              <a:t>Distintas aproximaciones a la pobreza infantil</a:t>
            </a:r>
          </a:p>
        </p:txBody>
      </p:sp>
      <p:sp>
        <p:nvSpPr>
          <p:cNvPr id="12" name="6 CuadroTexto">
            <a:extLst>
              <a:ext uri="{FF2B5EF4-FFF2-40B4-BE49-F238E27FC236}">
                <a16:creationId xmlns:a16="http://schemas.microsoft.com/office/drawing/2014/main" id="{9B658C93-A6A7-4044-9C0E-49A943D60020}"/>
              </a:ext>
            </a:extLst>
          </p:cNvPr>
          <p:cNvSpPr txBox="1"/>
          <p:nvPr/>
        </p:nvSpPr>
        <p:spPr>
          <a:xfrm>
            <a:off x="1241125" y="1748967"/>
            <a:ext cx="7325514" cy="307777"/>
          </a:xfrm>
          <a:prstGeom prst="rect">
            <a:avLst/>
          </a:prstGeom>
          <a:noFill/>
        </p:spPr>
        <p:txBody>
          <a:bodyPr wrap="square" rtlCol="0">
            <a:spAutoFit/>
          </a:bodyPr>
          <a:lstStyle/>
          <a:p>
            <a:r>
              <a:rPr lang="es-AR" sz="1400" i="1" dirty="0">
                <a:solidFill>
                  <a:schemeClr val="bg1"/>
                </a:solidFill>
                <a:latin typeface="Calibri" panose="020F0502020204030204" pitchFamily="34" charset="0"/>
                <a:cs typeface="Calibri" panose="020F0502020204030204" pitchFamily="34" charset="0"/>
              </a:rPr>
              <a:t>Evolución en porcentaje de niños/as de 0 a 17 años (11,8 mil. a nivel urbano). Años 2010-2018</a:t>
            </a:r>
          </a:p>
        </p:txBody>
      </p:sp>
      <p:pic>
        <p:nvPicPr>
          <p:cNvPr id="4" name="Imagen 3">
            <a:extLst>
              <a:ext uri="{FF2B5EF4-FFF2-40B4-BE49-F238E27FC236}">
                <a16:creationId xmlns:a16="http://schemas.microsoft.com/office/drawing/2014/main" id="{A1716BA5-13EC-410B-AEBB-24310C3987DC}"/>
              </a:ext>
            </a:extLst>
          </p:cNvPr>
          <p:cNvPicPr>
            <a:picLocks noChangeAspect="1"/>
          </p:cNvPicPr>
          <p:nvPr/>
        </p:nvPicPr>
        <p:blipFill>
          <a:blip r:embed="rId3"/>
          <a:stretch>
            <a:fillRect/>
          </a:stretch>
        </p:blipFill>
        <p:spPr>
          <a:xfrm>
            <a:off x="482376" y="5770017"/>
            <a:ext cx="7797460" cy="286537"/>
          </a:xfrm>
          <a:prstGeom prst="rect">
            <a:avLst/>
          </a:prstGeom>
        </p:spPr>
      </p:pic>
      <p:sp>
        <p:nvSpPr>
          <p:cNvPr id="5" name="Marcador de número de diapositiva 4">
            <a:extLst>
              <a:ext uri="{FF2B5EF4-FFF2-40B4-BE49-F238E27FC236}">
                <a16:creationId xmlns:a16="http://schemas.microsoft.com/office/drawing/2014/main" id="{82631C7D-E2AD-4B6B-B049-94BCFF4BC129}"/>
              </a:ext>
            </a:extLst>
          </p:cNvPr>
          <p:cNvSpPr>
            <a:spLocks noGrp="1"/>
          </p:cNvSpPr>
          <p:nvPr>
            <p:ph type="sldNum" sz="quarter" idx="12"/>
          </p:nvPr>
        </p:nvSpPr>
        <p:spPr/>
        <p:txBody>
          <a:bodyPr/>
          <a:lstStyle/>
          <a:p>
            <a:fld id="{E4801FF2-09AB-46FD-82F0-246320401FD0}" type="slidenum">
              <a:rPr lang="es-ES" altLang="en-US" smtClean="0"/>
              <a:pPr/>
              <a:t>23</a:t>
            </a:fld>
            <a:endParaRPr lang="es-ES" altLang="en-US"/>
          </a:p>
        </p:txBody>
      </p:sp>
      <p:sp>
        <p:nvSpPr>
          <p:cNvPr id="6" name="Marcador de pie de página 5">
            <a:extLst>
              <a:ext uri="{FF2B5EF4-FFF2-40B4-BE49-F238E27FC236}">
                <a16:creationId xmlns:a16="http://schemas.microsoft.com/office/drawing/2014/main" id="{54CFD39D-6DA3-4F1D-855D-CF532972E55D}"/>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561808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childTnLst>
                                </p:cTn>
                              </p:par>
                            </p:childTnLst>
                          </p:cTn>
                        </p:par>
                        <p:par>
                          <p:cTn id="15" fill="hold">
                            <p:stCondLst>
                              <p:cond delay="1000"/>
                            </p:stCondLst>
                            <p:childTnLst>
                              <p:par>
                                <p:cTn id="16" presetID="10"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 la pobreza infantil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82376" y="975579"/>
            <a:ext cx="819331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El enfoque conceptual</a:t>
            </a:r>
          </a:p>
        </p:txBody>
      </p:sp>
      <p:sp>
        <p:nvSpPr>
          <p:cNvPr id="13" name="CuadroTexto 12">
            <a:extLst>
              <a:ext uri="{FF2B5EF4-FFF2-40B4-BE49-F238E27FC236}">
                <a16:creationId xmlns:a16="http://schemas.microsoft.com/office/drawing/2014/main" id="{07009F11-17ED-4C4D-A332-EFF961D7EDD8}"/>
              </a:ext>
            </a:extLst>
          </p:cNvPr>
          <p:cNvSpPr txBox="1"/>
          <p:nvPr/>
        </p:nvSpPr>
        <p:spPr>
          <a:xfrm>
            <a:off x="484404" y="1450310"/>
            <a:ext cx="8191284" cy="4031873"/>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pPr>
            <a:r>
              <a:rPr lang="es-AR" sz="1800" b="0" i="0" u="none" strike="noStrike" baseline="0" dirty="0">
                <a:solidFill>
                  <a:schemeClr val="bg1"/>
                </a:solidFill>
                <a:latin typeface="Calibri" panose="020F0502020204030204" pitchFamily="34" charset="0"/>
                <a:cs typeface="Calibri" panose="020F0502020204030204" pitchFamily="34" charset="0"/>
              </a:rPr>
              <a:t>Se exploraron diferentes metodologías multidimensionales para la medición de la pobreza de las infancias en Argentina. El enfoque conceptual global es la perspectiva del </a:t>
            </a:r>
            <a:r>
              <a:rPr lang="es-AR" sz="1800" b="0" i="1" u="none" strike="noStrike" baseline="0" dirty="0">
                <a:solidFill>
                  <a:schemeClr val="bg1"/>
                </a:solidFill>
                <a:latin typeface="Calibri" panose="020F0502020204030204" pitchFamily="34" charset="0"/>
                <a:cs typeface="Calibri" panose="020F0502020204030204" pitchFamily="34" charset="0"/>
              </a:rPr>
              <a:t>desarrollo humano</a:t>
            </a:r>
            <a:r>
              <a:rPr lang="es-AR" sz="1800" b="0" i="0" u="none" strike="noStrike" baseline="0" dirty="0">
                <a:solidFill>
                  <a:schemeClr val="bg1"/>
                </a:solidFill>
                <a:latin typeface="Calibri" panose="020F0502020204030204" pitchFamily="34" charset="0"/>
                <a:cs typeface="Calibri" panose="020F0502020204030204" pitchFamily="34" charset="0"/>
              </a:rPr>
              <a:t> (Tuñón &amp; Poy, 2017).</a:t>
            </a:r>
          </a:p>
          <a:p>
            <a:pPr marL="285750" indent="-285750" algn="just">
              <a:spcBef>
                <a:spcPts val="600"/>
              </a:spcBef>
              <a:spcAft>
                <a:spcPts val="600"/>
              </a:spcAft>
              <a:buFont typeface="Arial" panose="020B0604020202020204" pitchFamily="34" charset="0"/>
              <a:buChar char="•"/>
            </a:pPr>
            <a:r>
              <a:rPr lang="es-AR" sz="1800" b="0" i="0" u="none" strike="noStrike" baseline="0" dirty="0">
                <a:solidFill>
                  <a:schemeClr val="bg1"/>
                </a:solidFill>
                <a:latin typeface="Calibri" panose="020F0502020204030204" pitchFamily="34" charset="0"/>
                <a:cs typeface="Calibri" panose="020F0502020204030204" pitchFamily="34" charset="0"/>
              </a:rPr>
              <a:t>Para la construcción de medidas de pobreza, se apela a una estrategia de medición organizada alrededor del llamado “enfoque de derechos”: se definen umbrales exigibles de manera legítima. </a:t>
            </a:r>
          </a:p>
          <a:p>
            <a:pPr marL="285750" indent="-285750" algn="just">
              <a:spcBef>
                <a:spcPts val="600"/>
              </a:spcBef>
              <a:spcAft>
                <a:spcPts val="600"/>
              </a:spcAft>
              <a:buFont typeface="Arial" panose="020B0604020202020204" pitchFamily="34" charset="0"/>
              <a:buChar char="•"/>
            </a:pPr>
            <a:r>
              <a:rPr lang="es-AR" sz="1800" b="0" i="0" u="none" strike="noStrike" baseline="0" dirty="0">
                <a:solidFill>
                  <a:schemeClr val="bg1"/>
                </a:solidFill>
                <a:latin typeface="Calibri" panose="020F0502020204030204" pitchFamily="34" charset="0"/>
                <a:cs typeface="Calibri" panose="020F0502020204030204" pitchFamily="34" charset="0"/>
              </a:rPr>
              <a:t>El marco normativo central es la Convención de los Derechos de NNYA. El Estado argentino adhirió a la Convención y a la Ley de Protección Integral de Derechos de NNYA y a los ODS (2015-2030).</a:t>
            </a:r>
          </a:p>
          <a:p>
            <a:pPr marL="285750" indent="-285750" algn="just">
              <a:spcBef>
                <a:spcPts val="600"/>
              </a:spcBef>
              <a:spcAft>
                <a:spcPts val="600"/>
              </a:spcAft>
              <a:buFont typeface="Arial" panose="020B0604020202020204" pitchFamily="34" charset="0"/>
              <a:buChar char="•"/>
            </a:pPr>
            <a:r>
              <a:rPr lang="es-AR" sz="1800" b="0" i="0" u="none" strike="noStrike" baseline="0" dirty="0">
                <a:solidFill>
                  <a:schemeClr val="bg1"/>
                </a:solidFill>
                <a:latin typeface="Calibri" panose="020F0502020204030204" pitchFamily="34" charset="0"/>
                <a:cs typeface="Calibri" panose="020F0502020204030204" pitchFamily="34" charset="0"/>
              </a:rPr>
              <a:t>Los ODS convocan a “poner fin a la pobreza”. </a:t>
            </a:r>
          </a:p>
          <a:p>
            <a:pPr marL="285750" indent="-285750" algn="just">
              <a:spcBef>
                <a:spcPts val="600"/>
              </a:spcBef>
              <a:spcAft>
                <a:spcPts val="600"/>
              </a:spcAft>
              <a:buFont typeface="Arial" panose="020B0604020202020204" pitchFamily="34" charset="0"/>
              <a:buChar char="•"/>
            </a:pPr>
            <a:r>
              <a:rPr lang="es-AR" sz="1800" b="0" i="0" u="none" strike="noStrike" baseline="0" dirty="0">
                <a:solidFill>
                  <a:schemeClr val="bg1"/>
                </a:solidFill>
                <a:latin typeface="Calibri" panose="020F0502020204030204" pitchFamily="34" charset="0"/>
                <a:cs typeface="Calibri" panose="020F0502020204030204" pitchFamily="34" charset="0"/>
              </a:rPr>
              <a:t>Por sus características, los ODS estimulan mediciones multidimensionales que permitan hacer seguimiento.</a:t>
            </a:r>
          </a:p>
        </p:txBody>
      </p:sp>
      <p:sp>
        <p:nvSpPr>
          <p:cNvPr id="3" name="Marcador de número de diapositiva 2">
            <a:extLst>
              <a:ext uri="{FF2B5EF4-FFF2-40B4-BE49-F238E27FC236}">
                <a16:creationId xmlns:a16="http://schemas.microsoft.com/office/drawing/2014/main" id="{5F18A60A-340D-4290-818C-93E87743E33D}"/>
              </a:ext>
            </a:extLst>
          </p:cNvPr>
          <p:cNvSpPr>
            <a:spLocks noGrp="1"/>
          </p:cNvSpPr>
          <p:nvPr>
            <p:ph type="sldNum" sz="quarter" idx="12"/>
          </p:nvPr>
        </p:nvSpPr>
        <p:spPr/>
        <p:txBody>
          <a:bodyPr/>
          <a:lstStyle/>
          <a:p>
            <a:fld id="{E4801FF2-09AB-46FD-82F0-246320401FD0}" type="slidenum">
              <a:rPr lang="es-ES" altLang="en-US" smtClean="0"/>
              <a:pPr/>
              <a:t>24</a:t>
            </a:fld>
            <a:endParaRPr lang="es-ES" altLang="en-US"/>
          </a:p>
        </p:txBody>
      </p:sp>
      <p:sp>
        <p:nvSpPr>
          <p:cNvPr id="4" name="Marcador de pie de página 3">
            <a:extLst>
              <a:ext uri="{FF2B5EF4-FFF2-40B4-BE49-F238E27FC236}">
                <a16:creationId xmlns:a16="http://schemas.microsoft.com/office/drawing/2014/main" id="{F423A700-68F3-42C2-B6BB-65A8916FF1E3}"/>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40569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fade">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fade">
                                      <p:cBhvr>
                                        <p:cTn id="12" dur="500"/>
                                        <p:tgtEl>
                                          <p:spTgt spid="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animEffect transition="in" filter="fade">
                                      <p:cBhvr>
                                        <p:cTn id="17" dur="500"/>
                                        <p:tgtEl>
                                          <p:spTgt spid="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xEl>
                                              <p:pRg st="3" end="3"/>
                                            </p:txEl>
                                          </p:spTgt>
                                        </p:tgtEl>
                                        <p:attrNameLst>
                                          <p:attrName>style.visibility</p:attrName>
                                        </p:attrNameLst>
                                      </p:cBhvr>
                                      <p:to>
                                        <p:strVal val="visible"/>
                                      </p:to>
                                    </p:set>
                                    <p:animEffect transition="in" filter="fade">
                                      <p:cBhvr>
                                        <p:cTn id="22" dur="500"/>
                                        <p:tgtEl>
                                          <p:spTgt spid="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xEl>
                                              <p:pRg st="4" end="4"/>
                                            </p:txEl>
                                          </p:spTgt>
                                        </p:tgtEl>
                                        <p:attrNameLst>
                                          <p:attrName>style.visibility</p:attrName>
                                        </p:attrNameLst>
                                      </p:cBhvr>
                                      <p:to>
                                        <p:strVal val="visible"/>
                                      </p:to>
                                    </p:set>
                                    <p:animEffect transition="in" filter="fade">
                                      <p:cBhvr>
                                        <p:cTn id="27"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82376" y="1119133"/>
            <a:ext cx="5961832" cy="4524315"/>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nominal</a:t>
            </a:r>
          </a:p>
          <a:p>
            <a:pPr algn="just"/>
            <a:endParaRPr lang="es-AR" sz="1800" b="0" i="0" u="none" strike="noStrike" baseline="0" dirty="0">
              <a:solidFill>
                <a:schemeClr val="bg1"/>
              </a:solidFill>
              <a:latin typeface="Calibri" panose="020F0502020204030204" pitchFamily="34" charset="0"/>
              <a:cs typeface="Calibri" panose="020F0502020204030204" pitchFamily="34" charset="0"/>
            </a:endParaRPr>
          </a:p>
          <a:p>
            <a:pPr algn="just"/>
            <a:r>
              <a:rPr lang="es-AR" sz="1800" b="0" i="0" u="none" strike="noStrike" baseline="0" dirty="0">
                <a:solidFill>
                  <a:schemeClr val="bg1"/>
                </a:solidFill>
                <a:latin typeface="Calibri" panose="020F0502020204030204" pitchFamily="34" charset="0"/>
                <a:cs typeface="Calibri" panose="020F0502020204030204" pitchFamily="34" charset="0"/>
              </a:rPr>
              <a:t>En los últimos años han ganado impulso las mediciones multidimensionales de pobreza. Se reconoce, de modo cada vez más amplio, que la pobreza es un fenómeno que involucra diversas dimensiones relativas al desarrollo humano. En este sentido, y para el caso específico de la infancia y la adolescencia, la definición de pobreza adoptada por UNICEF asume explícitamente un carácter multidimensional:</a:t>
            </a:r>
          </a:p>
          <a:p>
            <a:pPr algn="just"/>
            <a:endParaRPr lang="es-AR" sz="1800" b="0" i="0" u="none" strike="noStrike" baseline="0" dirty="0">
              <a:solidFill>
                <a:schemeClr val="bg1"/>
              </a:solidFill>
              <a:latin typeface="Calibri" panose="020F0502020204030204" pitchFamily="34" charset="0"/>
              <a:cs typeface="Calibri" panose="020F0502020204030204" pitchFamily="34" charset="0"/>
            </a:endParaRPr>
          </a:p>
          <a:p>
            <a:pPr algn="just"/>
            <a:r>
              <a:rPr lang="es-AR" sz="1800" b="0" i="0" u="none" strike="noStrike" baseline="0" dirty="0">
                <a:solidFill>
                  <a:schemeClr val="bg1"/>
                </a:solidFill>
                <a:latin typeface="Calibri" panose="020F0502020204030204" pitchFamily="34" charset="0"/>
                <a:cs typeface="Calibri" panose="020F0502020204030204" pitchFamily="34" charset="0"/>
              </a:rPr>
              <a:t>“Los niños y las niñas que viven en la pobreza son los que sufren una privación de los recursos materiales, espirituales y emocionales necesarios para sobrevivir, desarrollarse y prosperar, lo que les impide disfrutar sus derechos, alcanzar su pleno potencial o participar como miembros plenos y en pie de igualdad en la sociedad (2005: 18)”.</a:t>
            </a:r>
            <a:endParaRPr lang="es-AR" dirty="0">
              <a:solidFill>
                <a:schemeClr val="bg1"/>
              </a:solidFill>
              <a:latin typeface="Calibri" panose="020F0502020204030204" pitchFamily="34" charset="0"/>
              <a:cs typeface="Calibri" panose="020F0502020204030204" pitchFamily="34" charset="0"/>
            </a:endParaRPr>
          </a:p>
        </p:txBody>
      </p:sp>
      <p:pic>
        <p:nvPicPr>
          <p:cNvPr id="11" name="Imagen 10">
            <a:extLst>
              <a:ext uri="{FF2B5EF4-FFF2-40B4-BE49-F238E27FC236}">
                <a16:creationId xmlns:a16="http://schemas.microsoft.com/office/drawing/2014/main" id="{3F07B3A3-E070-4B59-9682-562ACF82EFB1}"/>
              </a:ext>
            </a:extLst>
          </p:cNvPr>
          <p:cNvPicPr>
            <a:picLocks noChangeAspect="1"/>
          </p:cNvPicPr>
          <p:nvPr/>
        </p:nvPicPr>
        <p:blipFill>
          <a:blip r:embed="rId2"/>
          <a:stretch>
            <a:fillRect/>
          </a:stretch>
        </p:blipFill>
        <p:spPr>
          <a:xfrm>
            <a:off x="6711580" y="548680"/>
            <a:ext cx="1970604" cy="2520280"/>
          </a:xfrm>
          <a:prstGeom prst="rect">
            <a:avLst/>
          </a:prstGeom>
        </p:spPr>
      </p:pic>
      <p:pic>
        <p:nvPicPr>
          <p:cNvPr id="13" name="Imagen 12">
            <a:extLst>
              <a:ext uri="{FF2B5EF4-FFF2-40B4-BE49-F238E27FC236}">
                <a16:creationId xmlns:a16="http://schemas.microsoft.com/office/drawing/2014/main" id="{BB0C5205-829E-4856-BBEA-09D2C994F099}"/>
              </a:ext>
            </a:extLst>
          </p:cNvPr>
          <p:cNvPicPr>
            <a:picLocks noChangeAspect="1"/>
          </p:cNvPicPr>
          <p:nvPr/>
        </p:nvPicPr>
        <p:blipFill>
          <a:blip r:embed="rId3"/>
          <a:stretch>
            <a:fillRect/>
          </a:stretch>
        </p:blipFill>
        <p:spPr>
          <a:xfrm>
            <a:off x="6709171" y="3393311"/>
            <a:ext cx="1952453" cy="2520280"/>
          </a:xfrm>
          <a:prstGeom prst="rect">
            <a:avLst/>
          </a:prstGeom>
        </p:spPr>
      </p:pic>
      <p:sp>
        <p:nvSpPr>
          <p:cNvPr id="3" name="Marcador de número de diapositiva 2">
            <a:extLst>
              <a:ext uri="{FF2B5EF4-FFF2-40B4-BE49-F238E27FC236}">
                <a16:creationId xmlns:a16="http://schemas.microsoft.com/office/drawing/2014/main" id="{066DBC63-FA4F-4CF3-AA95-8F3B52BBE197}"/>
              </a:ext>
            </a:extLst>
          </p:cNvPr>
          <p:cNvSpPr>
            <a:spLocks noGrp="1"/>
          </p:cNvSpPr>
          <p:nvPr>
            <p:ph type="sldNum" sz="quarter" idx="12"/>
          </p:nvPr>
        </p:nvSpPr>
        <p:spPr/>
        <p:txBody>
          <a:bodyPr/>
          <a:lstStyle/>
          <a:p>
            <a:fld id="{E4801FF2-09AB-46FD-82F0-246320401FD0}" type="slidenum">
              <a:rPr lang="es-ES" altLang="en-US" smtClean="0"/>
              <a:pPr/>
              <a:t>25</a:t>
            </a:fld>
            <a:endParaRPr lang="es-ES" altLang="en-US"/>
          </a:p>
        </p:txBody>
      </p:sp>
      <p:sp>
        <p:nvSpPr>
          <p:cNvPr id="4" name="Marcador de pie de página 3">
            <a:extLst>
              <a:ext uri="{FF2B5EF4-FFF2-40B4-BE49-F238E27FC236}">
                <a16:creationId xmlns:a16="http://schemas.microsoft.com/office/drawing/2014/main" id="{390691C8-81A6-4B83-888D-045AE0CB5894}"/>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188005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82376" y="1119133"/>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real (dimensiones)</a:t>
            </a:r>
          </a:p>
        </p:txBody>
      </p:sp>
      <p:graphicFrame>
        <p:nvGraphicFramePr>
          <p:cNvPr id="8" name="3 Diagrama">
            <a:extLst>
              <a:ext uri="{FF2B5EF4-FFF2-40B4-BE49-F238E27FC236}">
                <a16:creationId xmlns:a16="http://schemas.microsoft.com/office/drawing/2014/main" id="{FDD54DD7-6F35-4372-9817-52D2DAADE4D9}"/>
              </a:ext>
            </a:extLst>
          </p:cNvPr>
          <p:cNvGraphicFramePr/>
          <p:nvPr>
            <p:extLst>
              <p:ext uri="{D42A27DB-BD31-4B8C-83A1-F6EECF244321}">
                <p14:modId xmlns:p14="http://schemas.microsoft.com/office/powerpoint/2010/main" val="1955677810"/>
              </p:ext>
            </p:extLst>
          </p:nvPr>
        </p:nvGraphicFramePr>
        <p:xfrm>
          <a:off x="125760" y="1327329"/>
          <a:ext cx="8892480" cy="46805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Marcador de número de diapositiva 2">
            <a:extLst>
              <a:ext uri="{FF2B5EF4-FFF2-40B4-BE49-F238E27FC236}">
                <a16:creationId xmlns:a16="http://schemas.microsoft.com/office/drawing/2014/main" id="{95F4333E-0411-4B92-A7A4-2C8539785CF0}"/>
              </a:ext>
            </a:extLst>
          </p:cNvPr>
          <p:cNvSpPr>
            <a:spLocks noGrp="1"/>
          </p:cNvSpPr>
          <p:nvPr>
            <p:ph type="sldNum" sz="quarter" idx="12"/>
          </p:nvPr>
        </p:nvSpPr>
        <p:spPr/>
        <p:txBody>
          <a:bodyPr/>
          <a:lstStyle/>
          <a:p>
            <a:fld id="{E4801FF2-09AB-46FD-82F0-246320401FD0}" type="slidenum">
              <a:rPr lang="es-ES" altLang="en-US" smtClean="0"/>
              <a:pPr/>
              <a:t>26</a:t>
            </a:fld>
            <a:endParaRPr lang="es-ES" altLang="en-US"/>
          </a:p>
        </p:txBody>
      </p:sp>
      <p:sp>
        <p:nvSpPr>
          <p:cNvPr id="4" name="Marcador de pie de página 3">
            <a:extLst>
              <a:ext uri="{FF2B5EF4-FFF2-40B4-BE49-F238E27FC236}">
                <a16:creationId xmlns:a16="http://schemas.microsoft.com/office/drawing/2014/main" id="{42AF0BC1-CD21-4FDA-8D21-50F024C386C0}"/>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444904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AsOne/>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57809" y="1020932"/>
            <a:ext cx="740199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real (dimensiones): relación con el marco normativo</a:t>
            </a:r>
          </a:p>
        </p:txBody>
      </p:sp>
      <p:graphicFrame>
        <p:nvGraphicFramePr>
          <p:cNvPr id="6" name="2 Tabla">
            <a:extLst>
              <a:ext uri="{FF2B5EF4-FFF2-40B4-BE49-F238E27FC236}">
                <a16:creationId xmlns:a16="http://schemas.microsoft.com/office/drawing/2014/main" id="{EDA2C89C-5E61-4CA8-85C1-9978727F93E2}"/>
              </a:ext>
            </a:extLst>
          </p:cNvPr>
          <p:cNvGraphicFramePr>
            <a:graphicFrameLocks noGrp="1"/>
          </p:cNvGraphicFramePr>
          <p:nvPr>
            <p:extLst>
              <p:ext uri="{D42A27DB-BD31-4B8C-83A1-F6EECF244321}">
                <p14:modId xmlns:p14="http://schemas.microsoft.com/office/powerpoint/2010/main" val="3380229390"/>
              </p:ext>
            </p:extLst>
          </p:nvPr>
        </p:nvGraphicFramePr>
        <p:xfrm>
          <a:off x="514495" y="1512115"/>
          <a:ext cx="8161193" cy="4454887"/>
        </p:xfrm>
        <a:graphic>
          <a:graphicData uri="http://schemas.openxmlformats.org/drawingml/2006/table">
            <a:tbl>
              <a:tblPr/>
              <a:tblGrid>
                <a:gridCol w="1280437">
                  <a:extLst>
                    <a:ext uri="{9D8B030D-6E8A-4147-A177-3AD203B41FA5}">
                      <a16:colId xmlns:a16="http://schemas.microsoft.com/office/drawing/2014/main" val="20000"/>
                    </a:ext>
                  </a:extLst>
                </a:gridCol>
                <a:gridCol w="6880756">
                  <a:extLst>
                    <a:ext uri="{9D8B030D-6E8A-4147-A177-3AD203B41FA5}">
                      <a16:colId xmlns:a16="http://schemas.microsoft.com/office/drawing/2014/main" val="20001"/>
                    </a:ext>
                  </a:extLst>
                </a:gridCol>
              </a:tblGrid>
              <a:tr h="430085">
                <a:tc>
                  <a:txBody>
                    <a:bodyPr/>
                    <a:lstStyle/>
                    <a:p>
                      <a:pPr algn="ctr" fontAlgn="b"/>
                      <a:r>
                        <a:rPr lang="es-AR" sz="1400" b="1" i="0" u="none" strike="noStrike" dirty="0">
                          <a:solidFill>
                            <a:schemeClr val="tx1"/>
                          </a:solidFill>
                          <a:effectLst>
                            <a:outerShdw blurRad="38100" dist="38100" dir="2700000" algn="tl">
                              <a:srgbClr val="000000">
                                <a:alpha val="43137"/>
                              </a:srgbClr>
                            </a:outerShdw>
                          </a:effectLst>
                          <a:latin typeface="Calibri"/>
                        </a:rPr>
                        <a:t>ALIMENTACIÓN</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ODS 2:  "Hambre cero: poner fin al hambre". Consecuencias de largo plazo en la falta de satisfacción de necesidades nutricionales.</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0"/>
                  </a:ext>
                </a:extLst>
              </a:tr>
              <a:tr h="229868">
                <a:tc>
                  <a:txBody>
                    <a:bodyPr/>
                    <a:lstStyle/>
                    <a:p>
                      <a:pPr algn="ctr" fontAlgn="b"/>
                      <a:r>
                        <a:rPr lang="es-AR" sz="1400" b="1" i="0" u="none" strike="noStrike" dirty="0">
                          <a:solidFill>
                            <a:schemeClr val="tx1"/>
                          </a:solidFill>
                          <a:effectLst>
                            <a:outerShdw blurRad="38100" dist="38100" dir="2700000" algn="tl">
                              <a:srgbClr val="000000">
                                <a:alpha val="43137"/>
                              </a:srgbClr>
                            </a:outerShdw>
                          </a:effectLst>
                          <a:latin typeface="Calibri"/>
                        </a:rPr>
                        <a:t>SANEAMIENTO</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ODS 6: </a:t>
                      </a:r>
                      <a:r>
                        <a:rPr lang="es-AR" sz="1400" b="0" i="0" u="none" strike="noStrike">
                          <a:solidFill>
                            <a:srgbClr val="000000"/>
                          </a:solidFill>
                          <a:latin typeface="Calibri"/>
                        </a:rPr>
                        <a:t>"Garantizar </a:t>
                      </a:r>
                      <a:r>
                        <a:rPr lang="es-AR" sz="1400" b="0" i="0" u="none" strike="noStrike" dirty="0">
                          <a:solidFill>
                            <a:srgbClr val="000000"/>
                          </a:solidFill>
                          <a:latin typeface="Calibri"/>
                        </a:rPr>
                        <a:t>disponibilidad de agua y saneamiento para todos"</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1"/>
                  </a:ext>
                </a:extLst>
              </a:tr>
              <a:tr h="723447">
                <a:tc>
                  <a:txBody>
                    <a:bodyPr/>
                    <a:lstStyle/>
                    <a:p>
                      <a:pPr algn="ctr" fontAlgn="ctr"/>
                      <a:r>
                        <a:rPr lang="es-AR" sz="1400" b="1" i="0" u="none" strike="noStrike" dirty="0">
                          <a:solidFill>
                            <a:schemeClr val="tx1"/>
                          </a:solidFill>
                          <a:effectLst>
                            <a:outerShdw blurRad="38100" dist="38100" dir="2700000" algn="tl">
                              <a:srgbClr val="000000">
                                <a:alpha val="43137"/>
                              </a:srgbClr>
                            </a:outerShdw>
                          </a:effectLst>
                          <a:latin typeface="Calibri"/>
                        </a:rPr>
                        <a:t>VIVIENDA</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ODS 11: "asegurar el acceso de todas las personas a viviendas y servicios básicos adecuados, seguros y asequibles"</a:t>
                      </a:r>
                      <a:br>
                        <a:rPr lang="es-AR" sz="1400" b="0" i="0" u="none" strike="noStrike" dirty="0">
                          <a:solidFill>
                            <a:srgbClr val="000000"/>
                          </a:solidFill>
                          <a:latin typeface="Calibri"/>
                        </a:rPr>
                      </a:br>
                      <a:r>
                        <a:rPr lang="es-AR" sz="1400" b="0" i="0" u="none" strike="noStrike" dirty="0">
                          <a:solidFill>
                            <a:srgbClr val="000000"/>
                          </a:solidFill>
                          <a:latin typeface="Calibri"/>
                        </a:rPr>
                        <a:t>Art. 14 Bis, Constitución Nacional</a:t>
                      </a:r>
                      <a:br>
                        <a:rPr lang="es-AR" sz="1400" b="0" i="0" u="none" strike="noStrike" dirty="0">
                          <a:solidFill>
                            <a:srgbClr val="000000"/>
                          </a:solidFill>
                          <a:latin typeface="Calibri"/>
                        </a:rPr>
                      </a:br>
                      <a:r>
                        <a:rPr lang="es-AR" sz="1400" b="0" i="0" u="none" strike="noStrike" dirty="0">
                          <a:solidFill>
                            <a:srgbClr val="000000"/>
                          </a:solidFill>
                          <a:latin typeface="Calibri"/>
                        </a:rPr>
                        <a:t>Art. 25, Declaración Universal de los DDHH</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2"/>
                  </a:ext>
                </a:extLst>
              </a:tr>
              <a:tr h="689608">
                <a:tc>
                  <a:txBody>
                    <a:bodyPr/>
                    <a:lstStyle/>
                    <a:p>
                      <a:pPr algn="ctr" fontAlgn="ctr"/>
                      <a:r>
                        <a:rPr lang="es-AR" sz="1400" b="1" i="0" u="none" strike="noStrike" dirty="0">
                          <a:solidFill>
                            <a:schemeClr val="tx1"/>
                          </a:solidFill>
                          <a:effectLst>
                            <a:outerShdw blurRad="38100" dist="38100" dir="2700000" algn="tl">
                              <a:srgbClr val="000000">
                                <a:alpha val="43137"/>
                              </a:srgbClr>
                            </a:outerShdw>
                          </a:effectLst>
                          <a:latin typeface="Calibri"/>
                        </a:rPr>
                        <a:t>SALUD</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ODS 3: "Garantizar una vida sana y (…) lograr la cobertura sanitaria </a:t>
                      </a:r>
                      <a:r>
                        <a:rPr lang="es-AR" sz="1400" b="0" i="0" u="none" strike="noStrike" dirty="0" err="1">
                          <a:solidFill>
                            <a:srgbClr val="000000"/>
                          </a:solidFill>
                          <a:latin typeface="Calibri"/>
                        </a:rPr>
                        <a:t>universa</a:t>
                      </a:r>
                      <a:r>
                        <a:rPr lang="es-AR" sz="1400" b="0" i="0" u="none" strike="noStrike" dirty="0">
                          <a:solidFill>
                            <a:srgbClr val="000000"/>
                          </a:solidFill>
                          <a:latin typeface="Calibri"/>
                        </a:rPr>
                        <a:t> (…) el acceso a servicios de salud esenciales de calidad y el acceso a medicamentos y vacuna"</a:t>
                      </a:r>
                      <a:br>
                        <a:rPr lang="es-AR" sz="1400" b="0" i="0" u="none" strike="noStrike" dirty="0">
                          <a:solidFill>
                            <a:srgbClr val="000000"/>
                          </a:solidFill>
                          <a:latin typeface="Calibri"/>
                        </a:rPr>
                      </a:br>
                      <a:r>
                        <a:rPr lang="es-AR" sz="1400" b="0" i="0" u="none" strike="noStrike" dirty="0">
                          <a:solidFill>
                            <a:srgbClr val="000000"/>
                          </a:solidFill>
                          <a:latin typeface="Calibri"/>
                        </a:rPr>
                        <a:t>Arts. 14 y 27, Ley 26.061</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723447">
                <a:tc>
                  <a:txBody>
                    <a:bodyPr/>
                    <a:lstStyle/>
                    <a:p>
                      <a:pPr algn="ctr" fontAlgn="ctr"/>
                      <a:r>
                        <a:rPr lang="es-AR" sz="1400" b="1" i="0" u="none" strike="noStrike" dirty="0">
                          <a:solidFill>
                            <a:schemeClr val="tx1"/>
                          </a:solidFill>
                          <a:effectLst>
                            <a:outerShdw blurRad="38100" dist="38100" dir="2700000" algn="tl">
                              <a:srgbClr val="000000">
                                <a:alpha val="43137"/>
                              </a:srgbClr>
                            </a:outerShdw>
                          </a:effectLst>
                          <a:latin typeface="Calibri"/>
                        </a:rPr>
                        <a:t>INFORMACIÓN</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Art. 31, Convención de los Derechos del Niño</a:t>
                      </a:r>
                      <a:br>
                        <a:rPr lang="es-AR" sz="1400" b="0" i="0" u="none" strike="noStrike" dirty="0">
                          <a:solidFill>
                            <a:srgbClr val="000000"/>
                          </a:solidFill>
                          <a:latin typeface="Calibri"/>
                        </a:rPr>
                      </a:br>
                      <a:r>
                        <a:rPr lang="es-AR" sz="1400" b="0" i="0" u="none" strike="noStrike" dirty="0">
                          <a:solidFill>
                            <a:srgbClr val="000000"/>
                          </a:solidFill>
                          <a:latin typeface="Calibri"/>
                        </a:rPr>
                        <a:t>Art. 20, Ley 26.061: derecho a la libertad de expresión e información</a:t>
                      </a:r>
                      <a:br>
                        <a:rPr lang="es-AR" sz="1400" b="0" i="0" u="none" strike="noStrike" dirty="0">
                          <a:solidFill>
                            <a:srgbClr val="000000"/>
                          </a:solidFill>
                          <a:latin typeface="Calibri"/>
                        </a:rPr>
                      </a:br>
                      <a:r>
                        <a:rPr lang="es-AR" sz="1400" b="0" i="0" u="none" strike="noStrike" dirty="0">
                          <a:solidFill>
                            <a:srgbClr val="000000"/>
                          </a:solidFill>
                          <a:latin typeface="Calibri"/>
                        </a:rPr>
                        <a:t>ODS 9: aumentar de forma significativa el acceso a la tecnología de la información y las comunicaciones.</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1379215">
                <a:tc>
                  <a:txBody>
                    <a:bodyPr/>
                    <a:lstStyle/>
                    <a:p>
                      <a:pPr algn="ctr" fontAlgn="ctr"/>
                      <a:r>
                        <a:rPr lang="es-AR" sz="1400" b="1" i="0" u="none" strike="noStrike" dirty="0">
                          <a:solidFill>
                            <a:schemeClr val="tx1"/>
                          </a:solidFill>
                          <a:effectLst>
                            <a:outerShdw blurRad="38100" dist="38100" dir="2700000" algn="tl">
                              <a:srgbClr val="000000">
                                <a:alpha val="43137"/>
                              </a:srgbClr>
                            </a:outerShdw>
                          </a:effectLst>
                          <a:latin typeface="Calibri"/>
                        </a:rPr>
                        <a:t>EDUCACIÓN</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l" fontAlgn="b"/>
                      <a:r>
                        <a:rPr lang="es-AR" sz="1400" b="0" i="0" u="none" strike="noStrike" dirty="0">
                          <a:solidFill>
                            <a:srgbClr val="000000"/>
                          </a:solidFill>
                          <a:latin typeface="Calibri"/>
                        </a:rPr>
                        <a:t>Art. 18, Convención de los Derechos del Niño</a:t>
                      </a:r>
                      <a:br>
                        <a:rPr lang="es-AR" sz="1400" b="0" i="0" u="none" strike="noStrike" dirty="0">
                          <a:solidFill>
                            <a:srgbClr val="000000"/>
                          </a:solidFill>
                          <a:latin typeface="Calibri"/>
                        </a:rPr>
                      </a:br>
                      <a:r>
                        <a:rPr lang="es-AR" sz="1400" b="0" i="0" u="none" strike="noStrike" dirty="0">
                          <a:solidFill>
                            <a:srgbClr val="000000"/>
                          </a:solidFill>
                          <a:latin typeface="Calibri"/>
                        </a:rPr>
                        <a:t>Ley 26.233 de Centros de Desarrollo Infantil (educación inicial entre 45 días y 5 años)</a:t>
                      </a:r>
                      <a:br>
                        <a:rPr lang="es-AR" sz="1400" b="0" i="0" u="none" strike="noStrike" dirty="0">
                          <a:solidFill>
                            <a:srgbClr val="000000"/>
                          </a:solidFill>
                          <a:latin typeface="Calibri"/>
                        </a:rPr>
                      </a:br>
                      <a:r>
                        <a:rPr lang="es-AR" sz="1400" b="0" i="0" u="none" strike="noStrike" dirty="0">
                          <a:solidFill>
                            <a:srgbClr val="000000"/>
                          </a:solidFill>
                          <a:latin typeface="Calibri"/>
                        </a:rPr>
                        <a:t>Arts. 11 y 15 Ley 26.206: derecho a la educación</a:t>
                      </a:r>
                      <a:br>
                        <a:rPr lang="es-AR" sz="1400" b="0" i="0" u="none" strike="noStrike" dirty="0">
                          <a:solidFill>
                            <a:srgbClr val="000000"/>
                          </a:solidFill>
                          <a:latin typeface="Calibri"/>
                        </a:rPr>
                      </a:br>
                      <a:r>
                        <a:rPr lang="es-AR" sz="1400" b="0" i="0" u="none" strike="noStrike" dirty="0">
                          <a:solidFill>
                            <a:srgbClr val="000000"/>
                          </a:solidFill>
                          <a:latin typeface="Calibri"/>
                        </a:rPr>
                        <a:t>Arts. 16 (</a:t>
                      </a:r>
                      <a:r>
                        <a:rPr lang="es-AR" sz="1400" b="0" i="0" u="none" strike="noStrike" dirty="0" err="1">
                          <a:solidFill>
                            <a:srgbClr val="000000"/>
                          </a:solidFill>
                          <a:latin typeface="Calibri"/>
                        </a:rPr>
                        <a:t>modif</a:t>
                      </a:r>
                      <a:r>
                        <a:rPr lang="es-AR" sz="1400" b="0" i="0" u="none" strike="noStrike" dirty="0">
                          <a:solidFill>
                            <a:srgbClr val="000000"/>
                          </a:solidFill>
                          <a:latin typeface="Calibri"/>
                        </a:rPr>
                        <a:t>. 2015), 26 y 29: obligatoriedad de la sala de 4, educación primaria y secundaria.</a:t>
                      </a:r>
                      <a:br>
                        <a:rPr lang="es-AR" sz="1400" b="0" i="0" u="none" strike="noStrike" dirty="0">
                          <a:solidFill>
                            <a:srgbClr val="000000"/>
                          </a:solidFill>
                          <a:latin typeface="Calibri"/>
                        </a:rPr>
                      </a:br>
                      <a:r>
                        <a:rPr lang="es-AR" sz="1400" b="0" i="0" u="none" strike="noStrike" dirty="0">
                          <a:solidFill>
                            <a:srgbClr val="000000"/>
                          </a:solidFill>
                          <a:latin typeface="Calibri"/>
                        </a:rPr>
                        <a:t>Art. 87, Ley 26.206: enseñanza de idioma extranjero.</a:t>
                      </a:r>
                      <a:br>
                        <a:rPr lang="es-AR" sz="1400" b="0" i="0" u="none" strike="noStrike" dirty="0">
                          <a:solidFill>
                            <a:srgbClr val="000000"/>
                          </a:solidFill>
                          <a:latin typeface="Calibri"/>
                        </a:rPr>
                      </a:br>
                      <a:r>
                        <a:rPr lang="es-AR" sz="1400" b="0" i="0" u="none" strike="noStrike" dirty="0">
                          <a:solidFill>
                            <a:srgbClr val="000000"/>
                          </a:solidFill>
                          <a:latin typeface="Calibri"/>
                        </a:rPr>
                        <a:t>Art. 88: acceso y dominio de tecnologías de la información.</a:t>
                      </a:r>
                    </a:p>
                  </a:txBody>
                  <a:tcPr marL="7532" marR="7532" marT="7532"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Marcador de número de diapositiva 2">
            <a:extLst>
              <a:ext uri="{FF2B5EF4-FFF2-40B4-BE49-F238E27FC236}">
                <a16:creationId xmlns:a16="http://schemas.microsoft.com/office/drawing/2014/main" id="{75BDC454-A19D-49CC-AEFF-049B3D2FED48}"/>
              </a:ext>
            </a:extLst>
          </p:cNvPr>
          <p:cNvSpPr>
            <a:spLocks noGrp="1"/>
          </p:cNvSpPr>
          <p:nvPr>
            <p:ph type="sldNum" sz="quarter" idx="12"/>
          </p:nvPr>
        </p:nvSpPr>
        <p:spPr/>
        <p:txBody>
          <a:bodyPr/>
          <a:lstStyle/>
          <a:p>
            <a:fld id="{E4801FF2-09AB-46FD-82F0-246320401FD0}" type="slidenum">
              <a:rPr lang="es-ES" altLang="en-US" smtClean="0"/>
              <a:pPr/>
              <a:t>27</a:t>
            </a:fld>
            <a:endParaRPr lang="es-ES" altLang="en-US"/>
          </a:p>
        </p:txBody>
      </p:sp>
      <p:sp>
        <p:nvSpPr>
          <p:cNvPr id="4" name="Marcador de pie de página 3">
            <a:extLst>
              <a:ext uri="{FF2B5EF4-FFF2-40B4-BE49-F238E27FC236}">
                <a16:creationId xmlns:a16="http://schemas.microsoft.com/office/drawing/2014/main" id="{1A9EF6C7-4736-41BF-9707-C93D8BD5375C}"/>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4458401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57809" y="1020932"/>
            <a:ext cx="740199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real (dimensiones):</a:t>
            </a:r>
          </a:p>
        </p:txBody>
      </p:sp>
      <p:pic>
        <p:nvPicPr>
          <p:cNvPr id="7" name="Imagen 6">
            <a:extLst>
              <a:ext uri="{FF2B5EF4-FFF2-40B4-BE49-F238E27FC236}">
                <a16:creationId xmlns:a16="http://schemas.microsoft.com/office/drawing/2014/main" id="{CED52307-234E-4455-BEF5-E25FB94ECE50}"/>
              </a:ext>
            </a:extLst>
          </p:cNvPr>
          <p:cNvPicPr>
            <a:picLocks noChangeAspect="1"/>
          </p:cNvPicPr>
          <p:nvPr/>
        </p:nvPicPr>
        <p:blipFill>
          <a:blip r:embed="rId2"/>
          <a:stretch>
            <a:fillRect/>
          </a:stretch>
        </p:blipFill>
        <p:spPr>
          <a:xfrm>
            <a:off x="562426" y="1425355"/>
            <a:ext cx="8034235" cy="3761814"/>
          </a:xfrm>
          <a:prstGeom prst="rect">
            <a:avLst/>
          </a:prstGeom>
        </p:spPr>
      </p:pic>
      <p:sp>
        <p:nvSpPr>
          <p:cNvPr id="3" name="Marcador de número de diapositiva 2">
            <a:extLst>
              <a:ext uri="{FF2B5EF4-FFF2-40B4-BE49-F238E27FC236}">
                <a16:creationId xmlns:a16="http://schemas.microsoft.com/office/drawing/2014/main" id="{4E2B06CB-779B-4035-86B9-26EB6EF550EA}"/>
              </a:ext>
            </a:extLst>
          </p:cNvPr>
          <p:cNvSpPr>
            <a:spLocks noGrp="1"/>
          </p:cNvSpPr>
          <p:nvPr>
            <p:ph type="sldNum" sz="quarter" idx="12"/>
          </p:nvPr>
        </p:nvSpPr>
        <p:spPr/>
        <p:txBody>
          <a:bodyPr/>
          <a:lstStyle/>
          <a:p>
            <a:fld id="{E4801FF2-09AB-46FD-82F0-246320401FD0}" type="slidenum">
              <a:rPr lang="es-ES" altLang="en-US" smtClean="0"/>
              <a:pPr/>
              <a:t>28</a:t>
            </a:fld>
            <a:endParaRPr lang="es-ES" altLang="en-US"/>
          </a:p>
        </p:txBody>
      </p:sp>
      <p:sp>
        <p:nvSpPr>
          <p:cNvPr id="4" name="Marcador de pie de página 3">
            <a:extLst>
              <a:ext uri="{FF2B5EF4-FFF2-40B4-BE49-F238E27FC236}">
                <a16:creationId xmlns:a16="http://schemas.microsoft.com/office/drawing/2014/main" id="{483DE39B-A891-4357-B750-A43D12E5F9F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7927597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57809" y="1020932"/>
            <a:ext cx="740199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real (dimensiones):</a:t>
            </a:r>
          </a:p>
        </p:txBody>
      </p:sp>
      <p:pic>
        <p:nvPicPr>
          <p:cNvPr id="8" name="Imagen 7">
            <a:extLst>
              <a:ext uri="{FF2B5EF4-FFF2-40B4-BE49-F238E27FC236}">
                <a16:creationId xmlns:a16="http://schemas.microsoft.com/office/drawing/2014/main" id="{448AAD65-8600-4255-BC1A-D90D016804A6}"/>
              </a:ext>
            </a:extLst>
          </p:cNvPr>
          <p:cNvPicPr>
            <a:picLocks noChangeAspect="1"/>
          </p:cNvPicPr>
          <p:nvPr/>
        </p:nvPicPr>
        <p:blipFill rotWithShape="1">
          <a:blip r:embed="rId2"/>
          <a:srcRect t="2170"/>
          <a:stretch/>
        </p:blipFill>
        <p:spPr>
          <a:xfrm>
            <a:off x="550336" y="1339864"/>
            <a:ext cx="7910096" cy="2054271"/>
          </a:xfrm>
          <a:prstGeom prst="rect">
            <a:avLst/>
          </a:prstGeom>
        </p:spPr>
      </p:pic>
      <p:pic>
        <p:nvPicPr>
          <p:cNvPr id="9" name="Imagen 8">
            <a:extLst>
              <a:ext uri="{FF2B5EF4-FFF2-40B4-BE49-F238E27FC236}">
                <a16:creationId xmlns:a16="http://schemas.microsoft.com/office/drawing/2014/main" id="{326DE85C-93E1-4279-95E6-816B6A21BD74}"/>
              </a:ext>
            </a:extLst>
          </p:cNvPr>
          <p:cNvPicPr>
            <a:picLocks noChangeAspect="1"/>
          </p:cNvPicPr>
          <p:nvPr/>
        </p:nvPicPr>
        <p:blipFill rotWithShape="1">
          <a:blip r:embed="rId3"/>
          <a:srcRect b="36445"/>
          <a:stretch/>
        </p:blipFill>
        <p:spPr>
          <a:xfrm>
            <a:off x="600223" y="3429000"/>
            <a:ext cx="7810322" cy="2828653"/>
          </a:xfrm>
          <a:prstGeom prst="rect">
            <a:avLst/>
          </a:prstGeom>
        </p:spPr>
      </p:pic>
      <p:sp>
        <p:nvSpPr>
          <p:cNvPr id="3" name="Marcador de número de diapositiva 2">
            <a:extLst>
              <a:ext uri="{FF2B5EF4-FFF2-40B4-BE49-F238E27FC236}">
                <a16:creationId xmlns:a16="http://schemas.microsoft.com/office/drawing/2014/main" id="{3D73B598-FA41-414A-852E-57E5AB04A175}"/>
              </a:ext>
            </a:extLst>
          </p:cNvPr>
          <p:cNvSpPr>
            <a:spLocks noGrp="1"/>
          </p:cNvSpPr>
          <p:nvPr>
            <p:ph type="sldNum" sz="quarter" idx="12"/>
          </p:nvPr>
        </p:nvSpPr>
        <p:spPr/>
        <p:txBody>
          <a:bodyPr/>
          <a:lstStyle/>
          <a:p>
            <a:fld id="{E4801FF2-09AB-46FD-82F0-246320401FD0}" type="slidenum">
              <a:rPr lang="es-ES" altLang="en-US" smtClean="0"/>
              <a:pPr/>
              <a:t>29</a:t>
            </a:fld>
            <a:endParaRPr lang="es-ES" altLang="en-US"/>
          </a:p>
        </p:txBody>
      </p:sp>
      <p:sp>
        <p:nvSpPr>
          <p:cNvPr id="4" name="Marcador de pie de página 3">
            <a:extLst>
              <a:ext uri="{FF2B5EF4-FFF2-40B4-BE49-F238E27FC236}">
                <a16:creationId xmlns:a16="http://schemas.microsoft.com/office/drawing/2014/main" id="{2DA239DD-07AE-44F8-9FAF-679CE05214E4}"/>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56242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4572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0" name="CuadroTexto 9">
            <a:extLst>
              <a:ext uri="{FF2B5EF4-FFF2-40B4-BE49-F238E27FC236}">
                <a16:creationId xmlns:a16="http://schemas.microsoft.com/office/drawing/2014/main" id="{9DD2E8C5-7642-418E-BC2F-C4E9F3BD78D7}"/>
              </a:ext>
            </a:extLst>
          </p:cNvPr>
          <p:cNvSpPr txBox="1"/>
          <p:nvPr/>
        </p:nvSpPr>
        <p:spPr>
          <a:xfrm>
            <a:off x="457809" y="1020932"/>
            <a:ext cx="740199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real (dimensiones):</a:t>
            </a:r>
          </a:p>
        </p:txBody>
      </p:sp>
      <p:pic>
        <p:nvPicPr>
          <p:cNvPr id="7" name="Imagen 6">
            <a:extLst>
              <a:ext uri="{FF2B5EF4-FFF2-40B4-BE49-F238E27FC236}">
                <a16:creationId xmlns:a16="http://schemas.microsoft.com/office/drawing/2014/main" id="{5D3A895C-3510-44C8-B4A5-142A4D668969}"/>
              </a:ext>
            </a:extLst>
          </p:cNvPr>
          <p:cNvPicPr>
            <a:picLocks noChangeAspect="1"/>
          </p:cNvPicPr>
          <p:nvPr/>
        </p:nvPicPr>
        <p:blipFill>
          <a:blip r:embed="rId2"/>
          <a:stretch>
            <a:fillRect/>
          </a:stretch>
        </p:blipFill>
        <p:spPr>
          <a:xfrm>
            <a:off x="684213" y="1390670"/>
            <a:ext cx="7665192" cy="4733925"/>
          </a:xfrm>
          <a:prstGeom prst="rect">
            <a:avLst/>
          </a:prstGeom>
        </p:spPr>
      </p:pic>
      <p:sp>
        <p:nvSpPr>
          <p:cNvPr id="3" name="Marcador de número de diapositiva 2">
            <a:extLst>
              <a:ext uri="{FF2B5EF4-FFF2-40B4-BE49-F238E27FC236}">
                <a16:creationId xmlns:a16="http://schemas.microsoft.com/office/drawing/2014/main" id="{B61AE7B7-C048-409B-818C-F3906008AE8F}"/>
              </a:ext>
            </a:extLst>
          </p:cNvPr>
          <p:cNvSpPr>
            <a:spLocks noGrp="1"/>
          </p:cNvSpPr>
          <p:nvPr>
            <p:ph type="sldNum" sz="quarter" idx="12"/>
          </p:nvPr>
        </p:nvSpPr>
        <p:spPr/>
        <p:txBody>
          <a:bodyPr/>
          <a:lstStyle/>
          <a:p>
            <a:fld id="{E4801FF2-09AB-46FD-82F0-246320401FD0}" type="slidenum">
              <a:rPr lang="es-ES" altLang="en-US" smtClean="0"/>
              <a:pPr/>
              <a:t>30</a:t>
            </a:fld>
            <a:endParaRPr lang="es-ES" altLang="en-US"/>
          </a:p>
        </p:txBody>
      </p:sp>
      <p:sp>
        <p:nvSpPr>
          <p:cNvPr id="4" name="Marcador de pie de página 3">
            <a:extLst>
              <a:ext uri="{FF2B5EF4-FFF2-40B4-BE49-F238E27FC236}">
                <a16:creationId xmlns:a16="http://schemas.microsoft.com/office/drawing/2014/main" id="{421D900A-1A3E-419B-AEA5-52B7EFF94BD0}"/>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528057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1400499940"/>
              </p:ext>
            </p:extLst>
          </p:nvPr>
        </p:nvGraphicFramePr>
        <p:xfrm>
          <a:off x="494920" y="1412776"/>
          <a:ext cx="7749488" cy="1640109"/>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rPr>
                        <a:t>DIMENSIÓN</a:t>
                      </a: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algn="ctr" fontAlgn="ctr"/>
                      <a:r>
                        <a:rPr lang="es-AR" sz="1000" b="1" u="none" strike="noStrike" dirty="0">
                          <a:effectLst/>
                        </a:rPr>
                        <a:t>INDICADORES</a:t>
                      </a: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algn="ctr" fontAlgn="ctr"/>
                      <a:r>
                        <a:rPr lang="es-AR" sz="1000" b="1" u="none" strike="noStrike" dirty="0">
                          <a:effectLst/>
                        </a:rPr>
                        <a:t>CATEGORIAS</a:t>
                      </a:r>
                      <a:endParaRPr lang="es-AR" sz="1000" b="1" i="0" u="none" strike="noStrike" dirty="0">
                        <a:solidFill>
                          <a:srgbClr val="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0000"/>
                  </a:ext>
                </a:extLst>
              </a:tr>
              <a:tr h="494503">
                <a:tc rowSpan="3">
                  <a:txBody>
                    <a:bodyPr/>
                    <a:lstStyle/>
                    <a:p>
                      <a:pPr algn="l" fontAlgn="ctr"/>
                      <a:r>
                        <a:rPr lang="es-AR" sz="1000" b="1" u="none" strike="noStrike" dirty="0">
                          <a:effectLst/>
                        </a:rPr>
                        <a:t>ALIMENTACIÓN (0-17 años)</a:t>
                      </a:r>
                    </a:p>
                    <a:p>
                      <a:pPr algn="l" fontAlgn="ctr"/>
                      <a:r>
                        <a:rPr lang="es-AR" sz="1000" b="1" u="none" strike="noStrike" dirty="0">
                          <a:effectLst/>
                        </a:rPr>
                        <a:t> </a:t>
                      </a: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rPr>
                        <a:t>Reducción del consumo de alimentos en el hogar en los últimos 12 meses por problemas económicos.</a:t>
                      </a:r>
                      <a:endParaRPr lang="es-AR" sz="1000" u="none" strike="noStrike" dirty="0">
                        <a:effectLst/>
                        <a:latin typeface="Calibri" panose="020F0502020204030204" pitchFamily="34" charset="0"/>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rPr>
                        <a:t>Sí</a:t>
                      </a:r>
                    </a:p>
                    <a:p>
                      <a:pPr marL="628650" lvl="1" indent="-171450" algn="just" fontAlgn="ctr">
                        <a:buFont typeface="Arial" panose="020B0604020202020204" pitchFamily="34" charset="0"/>
                        <a:buChar char="•"/>
                      </a:pPr>
                      <a:r>
                        <a:rPr lang="es-AR" sz="1000" b="0" u="none" strike="noStrike" dirty="0">
                          <a:solidFill>
                            <a:srgbClr val="000000"/>
                          </a:solidFill>
                          <a:effectLst/>
                        </a:rPr>
                        <a:t>No</a:t>
                      </a:r>
                      <a:endParaRPr lang="es-AR" sz="1000" b="0" i="0" u="none" strike="noStrike" dirty="0">
                        <a:solidFill>
                          <a:srgbClr val="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0001"/>
                  </a:ext>
                </a:extLst>
              </a:tr>
              <a:tr h="494503">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rPr>
                        <a:t>Experiencia de hambre entre los miembros del hogar por falta de alimentos en los últimos 12 meses.</a:t>
                      </a:r>
                      <a:endParaRPr lang="es-AR" sz="1000" u="none" strike="noStrike" dirty="0">
                        <a:effectLst/>
                        <a:latin typeface="Calibri" panose="020F0502020204030204" pitchFamily="34" charset="0"/>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rPr>
                        <a:t>Sí</a:t>
                      </a:r>
                    </a:p>
                    <a:p>
                      <a:pPr marL="628650" lvl="1" indent="-171450" algn="just" fontAlgn="ctr">
                        <a:buFont typeface="Arial" panose="020B0604020202020204" pitchFamily="34" charset="0"/>
                        <a:buChar char="•"/>
                      </a:pPr>
                      <a:r>
                        <a:rPr lang="es-AR" sz="1000" b="0" u="none" strike="noStrike" dirty="0">
                          <a:solidFill>
                            <a:srgbClr val="000000"/>
                          </a:solidFill>
                          <a:effectLst/>
                        </a:rPr>
                        <a:t>No</a:t>
                      </a:r>
                      <a:endParaRPr lang="es-AR" sz="1000" b="0" i="0" u="none" strike="noStrike" dirty="0">
                        <a:solidFill>
                          <a:srgbClr val="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163649800"/>
                  </a:ext>
                </a:extLst>
              </a:tr>
              <a:tr h="492445">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rPr>
                        <a:t>Recepción de alimentación gratuita</a:t>
                      </a:r>
                      <a:endParaRPr lang="es-AR" sz="1000" u="none" strike="noStrike" dirty="0">
                        <a:effectLst/>
                        <a:latin typeface="Calibri" panose="020F0502020204030204" pitchFamily="34" charset="0"/>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rPr>
                        <a:t>Sí</a:t>
                      </a:r>
                    </a:p>
                    <a:p>
                      <a:pPr marL="628650" lvl="1" indent="-171450" algn="just" fontAlgn="ctr">
                        <a:buFont typeface="Arial" panose="020B0604020202020204" pitchFamily="34" charset="0"/>
                        <a:buChar char="•"/>
                      </a:pPr>
                      <a:r>
                        <a:rPr lang="es-AR" sz="1000" b="0" u="none" strike="noStrike" dirty="0">
                          <a:solidFill>
                            <a:srgbClr val="000000"/>
                          </a:solidFill>
                          <a:effectLst/>
                        </a:rPr>
                        <a:t>No</a:t>
                      </a:r>
                      <a:endParaRPr lang="es-AR" sz="1000" b="0" i="0" u="none" strike="noStrike" dirty="0">
                        <a:solidFill>
                          <a:srgbClr val="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526555583"/>
                  </a:ext>
                </a:extLst>
              </a:tr>
            </a:tbl>
          </a:graphicData>
        </a:graphic>
      </p:graphicFrame>
      <p:sp>
        <p:nvSpPr>
          <p:cNvPr id="7" name="CuadroTexto 6">
            <a:extLst>
              <a:ext uri="{FF2B5EF4-FFF2-40B4-BE49-F238E27FC236}">
                <a16:creationId xmlns:a16="http://schemas.microsoft.com/office/drawing/2014/main" id="{57C5EED9-0EA6-4F5C-A708-098D98FC9FCD}"/>
              </a:ext>
            </a:extLst>
          </p:cNvPr>
          <p:cNvSpPr txBox="1"/>
          <p:nvPr/>
        </p:nvSpPr>
        <p:spPr>
          <a:xfrm>
            <a:off x="474368" y="854811"/>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operacional (indicadores)</a:t>
            </a:r>
            <a:endParaRPr lang="es-AR" b="0" i="0" u="none" strike="noStrike" baseline="0" dirty="0">
              <a:solidFill>
                <a:schemeClr val="bg1"/>
              </a:solidFill>
              <a:latin typeface="Calibri" panose="020F0502020204030204" pitchFamily="34" charset="0"/>
              <a:cs typeface="Calibri" panose="020F0502020204030204" pitchFamily="34" charset="0"/>
            </a:endParaRPr>
          </a:p>
        </p:txBody>
      </p:sp>
      <p:graphicFrame>
        <p:nvGraphicFramePr>
          <p:cNvPr id="8" name="3 Tabla">
            <a:extLst>
              <a:ext uri="{FF2B5EF4-FFF2-40B4-BE49-F238E27FC236}">
                <a16:creationId xmlns:a16="http://schemas.microsoft.com/office/drawing/2014/main" id="{E271B562-57FA-4CAF-960B-92DBA7D1C77B}"/>
              </a:ext>
            </a:extLst>
          </p:cNvPr>
          <p:cNvGraphicFramePr>
            <a:graphicFrameLocks noGrp="1"/>
          </p:cNvGraphicFramePr>
          <p:nvPr>
            <p:extLst>
              <p:ext uri="{D42A27DB-BD31-4B8C-83A1-F6EECF244321}">
                <p14:modId xmlns:p14="http://schemas.microsoft.com/office/powerpoint/2010/main" val="2461541953"/>
              </p:ext>
            </p:extLst>
          </p:nvPr>
        </p:nvGraphicFramePr>
        <p:xfrm>
          <a:off x="494920" y="3356992"/>
          <a:ext cx="7749488" cy="1237974"/>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3820202">
                  <a:extLst>
                    <a:ext uri="{9D8B030D-6E8A-4147-A177-3AD203B41FA5}">
                      <a16:colId xmlns:a16="http://schemas.microsoft.com/office/drawing/2014/main" val="20002"/>
                    </a:ext>
                  </a:extLst>
                </a:gridCol>
              </a:tblGrid>
              <a:tr h="143904">
                <a:tc>
                  <a:txBody>
                    <a:bodyPr/>
                    <a:lstStyle/>
                    <a:p>
                      <a:pPr algn="ctr" fontAlgn="ctr"/>
                      <a:r>
                        <a:rPr lang="es-AR" sz="1000" b="1" u="none" strike="noStrike" dirty="0">
                          <a:solidFill>
                            <a:sysClr val="windowText" lastClr="000000"/>
                          </a:solidFill>
                          <a:effectLst/>
                        </a:rPr>
                        <a:t>DIMENSIÓN</a:t>
                      </a:r>
                      <a:endParaRPr lang="es-AR" sz="1000" b="1" i="0" u="none" strike="noStrike" dirty="0">
                        <a:solidFill>
                          <a:sysClr val="windowText" lastClr="000000"/>
                        </a:solidFill>
                        <a:effectLst/>
                        <a:latin typeface="Calibri" panose="020F0502020204030204" pitchFamily="34" charset="0"/>
                      </a:endParaRPr>
                    </a:p>
                  </a:txBody>
                  <a:tcPr marL="6258" marR="6258" marT="6258" marB="0" anchor="ctr"/>
                </a:tc>
                <a:tc>
                  <a:txBody>
                    <a:bodyPr/>
                    <a:lstStyle/>
                    <a:p>
                      <a:pPr algn="ctr" fontAlgn="ctr"/>
                      <a:r>
                        <a:rPr lang="es-AR" sz="1000" b="1" u="none" strike="noStrike" dirty="0">
                          <a:solidFill>
                            <a:sysClr val="windowText" lastClr="000000"/>
                          </a:solidFill>
                          <a:effectLst/>
                        </a:rPr>
                        <a:t>INDICADORES</a:t>
                      </a:r>
                      <a:endParaRPr lang="es-AR" sz="1000" b="1" i="0" u="none" strike="noStrike" dirty="0">
                        <a:solidFill>
                          <a:sysClr val="windowText" lastClr="000000"/>
                        </a:solidFill>
                        <a:effectLst/>
                        <a:latin typeface="Calibri" panose="020F0502020204030204" pitchFamily="34" charset="0"/>
                      </a:endParaRPr>
                    </a:p>
                  </a:txBody>
                  <a:tcPr marL="6258" marR="6258" marT="6258" marB="0" anchor="ctr"/>
                </a:tc>
                <a:tc>
                  <a:txBody>
                    <a:bodyPr/>
                    <a:lstStyle/>
                    <a:p>
                      <a:pPr algn="ctr" fontAlgn="ctr"/>
                      <a:r>
                        <a:rPr lang="es-AR" sz="1000" b="1" u="none" strike="noStrike" dirty="0">
                          <a:solidFill>
                            <a:sysClr val="windowText" lastClr="000000"/>
                          </a:solidFill>
                          <a:effectLst/>
                        </a:rPr>
                        <a:t>CATEGORIAS</a:t>
                      </a:r>
                      <a:endParaRPr lang="es-AR" sz="1000" b="1" i="0" u="none" strike="noStrike" dirty="0">
                        <a:solidFill>
                          <a:sysClr val="windowText" lastClr="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0000"/>
                  </a:ext>
                </a:extLst>
              </a:tr>
              <a:tr h="0">
                <a:tc rowSpan="2">
                  <a:txBody>
                    <a:bodyPr/>
                    <a:lstStyle/>
                    <a:p>
                      <a:pPr algn="l" fontAlgn="ctr"/>
                      <a:r>
                        <a:rPr lang="es-AR" sz="1000" b="1" u="none" strike="noStrike" dirty="0">
                          <a:solidFill>
                            <a:sysClr val="windowText" lastClr="000000"/>
                          </a:solidFill>
                          <a:effectLst/>
                        </a:rPr>
                        <a:t>SANEAMIENTO (0-17 años)</a:t>
                      </a:r>
                    </a:p>
                    <a:p>
                      <a:pPr algn="l" fontAlgn="ctr"/>
                      <a:r>
                        <a:rPr lang="es-AR" sz="1000" b="1" u="none" strike="noStrike" dirty="0">
                          <a:solidFill>
                            <a:sysClr val="windowText" lastClr="000000"/>
                          </a:solidFill>
                          <a:effectLst/>
                        </a:rPr>
                        <a:t> </a:t>
                      </a:r>
                      <a:endParaRPr lang="es-AR" sz="1000" b="1" i="0" u="none" strike="noStrike" dirty="0">
                        <a:solidFill>
                          <a:sysClr val="windowText" lastClr="000000"/>
                        </a:solidFill>
                        <a:effectLst/>
                        <a:latin typeface="Calibri" panose="020F0502020204030204" pitchFamily="34" charset="0"/>
                      </a:endParaRPr>
                    </a:p>
                  </a:txBody>
                  <a:tcPr marL="6258" marR="6258" marT="6258" marB="0" anchor="ctr"/>
                </a:tc>
                <a:tc>
                  <a:txBody>
                    <a:bodyPr/>
                    <a:lstStyle/>
                    <a:p>
                      <a:pPr algn="just" fontAlgn="ctr"/>
                      <a:r>
                        <a:rPr lang="es-AR" sz="1000" u="none" strike="noStrike" dirty="0">
                          <a:solidFill>
                            <a:sysClr val="windowText" lastClr="000000"/>
                          </a:solidFill>
                          <a:effectLst/>
                        </a:rPr>
                        <a:t>Forma de acceso al agua corriente en la vivienda</a:t>
                      </a:r>
                      <a:endParaRPr lang="es-AR" sz="1000" b="0" i="0" u="none" strike="noStrike" dirty="0">
                        <a:solidFill>
                          <a:sysClr val="windowText" lastClr="000000"/>
                        </a:solidFill>
                        <a:effectLst/>
                        <a:latin typeface="Calibri" panose="020F0502020204030204" pitchFamily="34" charset="0"/>
                      </a:endParaRPr>
                    </a:p>
                  </a:txBody>
                  <a:tcPr marL="6258" marR="6258" marT="6258" marB="0" anchor="ctr"/>
                </a:tc>
                <a:tc>
                  <a:txBody>
                    <a:bodyPr/>
                    <a:lstStyle/>
                    <a:p>
                      <a:pPr marL="628650" lvl="1" indent="-171450" algn="just" fontAlgn="ctr">
                        <a:buFont typeface="Arial" panose="020B0604020202020204" pitchFamily="34" charset="0"/>
                        <a:buChar char="•"/>
                      </a:pPr>
                      <a:r>
                        <a:rPr lang="es-AR" sz="1000" u="none" strike="noStrike" dirty="0">
                          <a:solidFill>
                            <a:sysClr val="windowText" lastClr="000000"/>
                          </a:solidFill>
                          <a:effectLst/>
                        </a:rPr>
                        <a:t>Con acceso al agua corriente dentro de la vivienda</a:t>
                      </a:r>
                    </a:p>
                    <a:p>
                      <a:pPr marL="628650" lvl="1" indent="-171450" algn="just" fontAlgn="ctr">
                        <a:buFont typeface="Arial" panose="020B0604020202020204" pitchFamily="34" charset="0"/>
                        <a:buChar char="•"/>
                      </a:pPr>
                      <a:r>
                        <a:rPr lang="es-AR" sz="1000" b="0" u="none" strike="noStrike" dirty="0">
                          <a:solidFill>
                            <a:sysClr val="windowText" lastClr="000000"/>
                          </a:solidFill>
                          <a:effectLst/>
                        </a:rPr>
                        <a:t>Con acceso al agua corriente fuera de la vivienda, pero dentro del terreno</a:t>
                      </a:r>
                    </a:p>
                    <a:p>
                      <a:pPr marL="628650" lvl="1" indent="-171450" algn="just" fontAlgn="ctr">
                        <a:buFont typeface="Arial" panose="020B0604020202020204" pitchFamily="34" charset="0"/>
                        <a:buChar char="•"/>
                      </a:pPr>
                      <a:r>
                        <a:rPr lang="es-AR" sz="1000" b="0" u="none" strike="noStrike" dirty="0">
                          <a:solidFill>
                            <a:sysClr val="windowText" lastClr="000000"/>
                          </a:solidFill>
                          <a:effectLst/>
                        </a:rPr>
                        <a:t>Sin acceso al agua corriente</a:t>
                      </a:r>
                      <a:endParaRPr lang="es-AR" sz="1000" b="0" i="0" u="none" strike="noStrike" dirty="0">
                        <a:solidFill>
                          <a:sysClr val="windowText" lastClr="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0003"/>
                  </a:ext>
                </a:extLst>
              </a:tr>
              <a:tr h="0">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algn="just" fontAlgn="ctr"/>
                      <a:r>
                        <a:rPr lang="es-AR" sz="1000" b="0" u="none" strike="noStrike" dirty="0">
                          <a:solidFill>
                            <a:sysClr val="windowText" lastClr="000000"/>
                          </a:solidFill>
                          <a:effectLst/>
                        </a:rPr>
                        <a:t>Servicio sanitario (forma de eliminación de excretas)</a:t>
                      </a:r>
                      <a:endParaRPr lang="es-AR" sz="1000" b="0" i="0" u="none" strike="noStrike" dirty="0">
                        <a:solidFill>
                          <a:sysClr val="windowText" lastClr="000000"/>
                        </a:solidFill>
                        <a:effectLst/>
                        <a:latin typeface="Calibri" panose="020F0502020204030204" pitchFamily="34" charset="0"/>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ysClr val="windowText" lastClr="000000"/>
                          </a:solidFill>
                          <a:effectLst/>
                        </a:rPr>
                        <a:t>Inodoro con descarga de agua</a:t>
                      </a:r>
                    </a:p>
                    <a:p>
                      <a:pPr marL="628650" lvl="1" indent="-171450" algn="just" fontAlgn="ctr">
                        <a:buFont typeface="Arial" panose="020B0604020202020204" pitchFamily="34" charset="0"/>
                        <a:buChar char="•"/>
                      </a:pPr>
                      <a:r>
                        <a:rPr lang="es-AR" sz="1000" b="0" u="none" strike="noStrike" dirty="0">
                          <a:solidFill>
                            <a:sysClr val="windowText" lastClr="000000"/>
                          </a:solidFill>
                          <a:effectLst/>
                        </a:rPr>
                        <a:t>Inodoro sin descarga de agua</a:t>
                      </a:r>
                    </a:p>
                    <a:p>
                      <a:pPr marL="628650" lvl="1" indent="-171450" algn="just" fontAlgn="ctr">
                        <a:buFont typeface="Arial" panose="020B0604020202020204" pitchFamily="34" charset="0"/>
                        <a:buChar char="•"/>
                      </a:pPr>
                      <a:r>
                        <a:rPr lang="es-AR" sz="1000" b="0" u="none" strike="noStrike" dirty="0">
                          <a:solidFill>
                            <a:sysClr val="windowText" lastClr="000000"/>
                          </a:solidFill>
                          <a:effectLst/>
                        </a:rPr>
                        <a:t>Sin inodoro</a:t>
                      </a:r>
                      <a:endParaRPr lang="es-AR" sz="1000" b="0" i="0" u="none" strike="noStrike" dirty="0">
                        <a:solidFill>
                          <a:sysClr val="windowText" lastClr="000000"/>
                        </a:solidFill>
                        <a:effectLst/>
                        <a:latin typeface="Calibri" panose="020F0502020204030204" pitchFamily="34" charset="0"/>
                      </a:endParaRPr>
                    </a:p>
                  </a:txBody>
                  <a:tcPr marL="6258" marR="6258" marT="6258" marB="0" anchor="ctr"/>
                </a:tc>
                <a:extLst>
                  <a:ext uri="{0D108BD9-81ED-4DB2-BD59-A6C34878D82A}">
                    <a16:rowId xmlns:a16="http://schemas.microsoft.com/office/drawing/2014/main" val="1311064373"/>
                  </a:ext>
                </a:extLst>
              </a:tr>
            </a:tbl>
          </a:graphicData>
        </a:graphic>
      </p:graphicFrame>
      <p:sp>
        <p:nvSpPr>
          <p:cNvPr id="5" name="Marcador de número de diapositiva 4">
            <a:extLst>
              <a:ext uri="{FF2B5EF4-FFF2-40B4-BE49-F238E27FC236}">
                <a16:creationId xmlns:a16="http://schemas.microsoft.com/office/drawing/2014/main" id="{1BF56D82-82DE-430E-AF92-412E429DA5BD}"/>
              </a:ext>
            </a:extLst>
          </p:cNvPr>
          <p:cNvSpPr>
            <a:spLocks noGrp="1"/>
          </p:cNvSpPr>
          <p:nvPr>
            <p:ph type="sldNum" sz="quarter" idx="12"/>
          </p:nvPr>
        </p:nvSpPr>
        <p:spPr/>
        <p:txBody>
          <a:bodyPr/>
          <a:lstStyle/>
          <a:p>
            <a:fld id="{E4801FF2-09AB-46FD-82F0-246320401FD0}" type="slidenum">
              <a:rPr lang="es-ES" altLang="en-US" smtClean="0"/>
              <a:pPr/>
              <a:t>31</a:t>
            </a:fld>
            <a:endParaRPr lang="es-ES" altLang="en-US"/>
          </a:p>
        </p:txBody>
      </p:sp>
      <p:sp>
        <p:nvSpPr>
          <p:cNvPr id="6" name="Marcador de pie de página 5">
            <a:extLst>
              <a:ext uri="{FF2B5EF4-FFF2-40B4-BE49-F238E27FC236}">
                <a16:creationId xmlns:a16="http://schemas.microsoft.com/office/drawing/2014/main" id="{44891FCE-84D5-46B5-9EAE-83A675555F55}"/>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886784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921258006"/>
              </p:ext>
            </p:extLst>
          </p:nvPr>
        </p:nvGraphicFramePr>
        <p:xfrm>
          <a:off x="494920" y="1412776"/>
          <a:ext cx="7749488" cy="1573819"/>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DIMENSIÓN</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rowSpan="2">
                  <a:txBody>
                    <a:bodyPr/>
                    <a:lstStyle/>
                    <a:p>
                      <a:pPr algn="l" fontAlgn="ctr"/>
                      <a:r>
                        <a:rPr lang="es-AR" sz="1000" b="1" u="none" strike="noStrike" dirty="0">
                          <a:effectLst/>
                          <a:latin typeface="+mn-lt"/>
                        </a:rPr>
                        <a:t>VIVIENDA (0-17 años)</a:t>
                      </a:r>
                    </a:p>
                    <a:p>
                      <a:pPr algn="l" fontAlgn="ctr"/>
                      <a:r>
                        <a:rPr lang="es-AR" sz="1000" b="1" u="none" strike="noStrike" dirty="0">
                          <a:effectLst/>
                          <a:latin typeface="+mn-lt"/>
                        </a:rPr>
                        <a:t> </a:t>
                      </a: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Cantidad de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1-3 personas por cuarto</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4 personas por cuarto (hacinamiento)</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5 o más personas por cuarto (hacinamiento crítico)</a:t>
                      </a:r>
                    </a:p>
                  </a:txBody>
                  <a:tcPr marL="6258" marR="6258" marT="6258" marB="0" anchor="ctr"/>
                </a:tc>
                <a:extLst>
                  <a:ext uri="{0D108BD9-81ED-4DB2-BD59-A6C34878D82A}">
                    <a16:rowId xmlns:a16="http://schemas.microsoft.com/office/drawing/2014/main" val="10001"/>
                  </a:ext>
                </a:extLst>
              </a:tr>
              <a:tr h="494503">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Tipo de material predominante en las paredes de la vivienda</a:t>
                      </a: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Ladrillo con revoque</a:t>
                      </a:r>
                    </a:p>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Ladrillo sin revoque</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Adobe</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Madera</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Chapa de metal o fibrocemento, </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Chorizo, cartón, palma, paja o materiales de desechos</a:t>
                      </a:r>
                    </a:p>
                  </a:txBody>
                  <a:tcPr marL="6258" marR="6258" marT="6258" marB="0" anchor="ctr"/>
                </a:tc>
                <a:extLst>
                  <a:ext uri="{0D108BD9-81ED-4DB2-BD59-A6C34878D82A}">
                    <a16:rowId xmlns:a16="http://schemas.microsoft.com/office/drawing/2014/main" val="1163649800"/>
                  </a:ext>
                </a:extLst>
              </a:tr>
            </a:tbl>
          </a:graphicData>
        </a:graphic>
      </p:graphicFrame>
      <p:sp>
        <p:nvSpPr>
          <p:cNvPr id="7" name="CuadroTexto 6">
            <a:extLst>
              <a:ext uri="{FF2B5EF4-FFF2-40B4-BE49-F238E27FC236}">
                <a16:creationId xmlns:a16="http://schemas.microsoft.com/office/drawing/2014/main" id="{57C5EED9-0EA6-4F5C-A708-098D98FC9FCD}"/>
              </a:ext>
            </a:extLst>
          </p:cNvPr>
          <p:cNvSpPr txBox="1"/>
          <p:nvPr/>
        </p:nvSpPr>
        <p:spPr>
          <a:xfrm>
            <a:off x="474368" y="854811"/>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operacional (indicadores)</a:t>
            </a:r>
            <a:endParaRPr lang="es-AR" b="0" i="0" u="none" strike="noStrike" baseline="0" dirty="0">
              <a:solidFill>
                <a:schemeClr val="bg1"/>
              </a:solidFill>
              <a:latin typeface="Calibri" panose="020F0502020204030204" pitchFamily="34" charset="0"/>
              <a:cs typeface="Calibri" panose="020F0502020204030204" pitchFamily="34" charset="0"/>
            </a:endParaRPr>
          </a:p>
        </p:txBody>
      </p:sp>
      <p:graphicFrame>
        <p:nvGraphicFramePr>
          <p:cNvPr id="8" name="3 Tabla">
            <a:extLst>
              <a:ext uri="{FF2B5EF4-FFF2-40B4-BE49-F238E27FC236}">
                <a16:creationId xmlns:a16="http://schemas.microsoft.com/office/drawing/2014/main" id="{E271B562-57FA-4CAF-960B-92DBA7D1C77B}"/>
              </a:ext>
            </a:extLst>
          </p:cNvPr>
          <p:cNvGraphicFramePr>
            <a:graphicFrameLocks noGrp="1"/>
          </p:cNvGraphicFramePr>
          <p:nvPr>
            <p:extLst>
              <p:ext uri="{D42A27DB-BD31-4B8C-83A1-F6EECF244321}">
                <p14:modId xmlns:p14="http://schemas.microsoft.com/office/powerpoint/2010/main" val="886468250"/>
              </p:ext>
            </p:extLst>
          </p:nvPr>
        </p:nvGraphicFramePr>
        <p:xfrm>
          <a:off x="494920" y="3356992"/>
          <a:ext cx="7749488" cy="780774"/>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48272">
                  <a:extLst>
                    <a:ext uri="{9D8B030D-6E8A-4147-A177-3AD203B41FA5}">
                      <a16:colId xmlns:a16="http://schemas.microsoft.com/office/drawing/2014/main" val="20001"/>
                    </a:ext>
                  </a:extLst>
                </a:gridCol>
                <a:gridCol w="3820202">
                  <a:extLst>
                    <a:ext uri="{9D8B030D-6E8A-4147-A177-3AD203B41FA5}">
                      <a16:colId xmlns:a16="http://schemas.microsoft.com/office/drawing/2014/main" val="20002"/>
                    </a:ext>
                  </a:extLst>
                </a:gridCol>
              </a:tblGrid>
              <a:tr h="143904">
                <a:tc>
                  <a:txBody>
                    <a:bodyPr/>
                    <a:lstStyle/>
                    <a:p>
                      <a:pPr algn="ctr" fontAlgn="ctr"/>
                      <a:r>
                        <a:rPr lang="es-AR" sz="1000" b="1" u="none" strike="noStrike" dirty="0">
                          <a:solidFill>
                            <a:sysClr val="windowText" lastClr="000000"/>
                          </a:solidFill>
                          <a:effectLst/>
                          <a:latin typeface="+mn-lt"/>
                        </a:rPr>
                        <a:t>DIMENSIÓN</a:t>
                      </a:r>
                      <a:endParaRPr lang="es-AR" sz="1000" b="1" i="0" u="none" strike="noStrike" dirty="0">
                        <a:solidFill>
                          <a:sysClr val="windowText" lastClr="000000"/>
                        </a:solidFill>
                        <a:effectLst/>
                        <a:latin typeface="+mn-lt"/>
                      </a:endParaRPr>
                    </a:p>
                  </a:txBody>
                  <a:tcPr marL="6258" marR="6258" marT="6258" marB="0" anchor="ctr"/>
                </a:tc>
                <a:tc>
                  <a:txBody>
                    <a:bodyPr/>
                    <a:lstStyle/>
                    <a:p>
                      <a:pPr algn="ctr" fontAlgn="ctr"/>
                      <a:r>
                        <a:rPr lang="es-AR" sz="1000" b="1" u="none" strike="noStrike" dirty="0">
                          <a:solidFill>
                            <a:sysClr val="windowText" lastClr="000000"/>
                          </a:solidFill>
                          <a:effectLst/>
                          <a:latin typeface="+mn-lt"/>
                        </a:rPr>
                        <a:t>INDICADORES</a:t>
                      </a:r>
                      <a:endParaRPr lang="es-AR" sz="1000" b="1" i="0" u="none" strike="noStrike" dirty="0">
                        <a:solidFill>
                          <a:sysClr val="windowText" lastClr="000000"/>
                        </a:solidFill>
                        <a:effectLst/>
                        <a:latin typeface="+mn-lt"/>
                      </a:endParaRPr>
                    </a:p>
                  </a:txBody>
                  <a:tcPr marL="6258" marR="6258" marT="6258" marB="0" anchor="ctr"/>
                </a:tc>
                <a:tc>
                  <a:txBody>
                    <a:bodyPr/>
                    <a:lstStyle/>
                    <a:p>
                      <a:pPr algn="ctr" fontAlgn="ctr"/>
                      <a:r>
                        <a:rPr lang="es-AR" sz="1000" b="1" u="none" strike="noStrike" dirty="0">
                          <a:solidFill>
                            <a:sysClr val="windowText" lastClr="000000"/>
                          </a:solidFill>
                          <a:effectLst/>
                          <a:latin typeface="+mn-lt"/>
                        </a:rPr>
                        <a:t>CATEGORIAS</a:t>
                      </a:r>
                      <a:endParaRPr lang="es-AR" sz="1000" b="1" i="0" u="none" strike="noStrike" dirty="0">
                        <a:solidFill>
                          <a:sysClr val="windowText" lastClr="000000"/>
                        </a:solidFill>
                        <a:effectLst/>
                        <a:latin typeface="+mn-lt"/>
                      </a:endParaRPr>
                    </a:p>
                  </a:txBody>
                  <a:tcPr marL="6258" marR="6258" marT="6258" marB="0" anchor="ctr"/>
                </a:tc>
                <a:extLst>
                  <a:ext uri="{0D108BD9-81ED-4DB2-BD59-A6C34878D82A}">
                    <a16:rowId xmlns:a16="http://schemas.microsoft.com/office/drawing/2014/main" val="10000"/>
                  </a:ext>
                </a:extLst>
              </a:tr>
              <a:tr h="0">
                <a:tc rowSpan="2">
                  <a:txBody>
                    <a:bodyPr/>
                    <a:lstStyle/>
                    <a:p>
                      <a:pPr algn="l" fontAlgn="ctr"/>
                      <a:r>
                        <a:rPr lang="es-AR" sz="1000" b="1" u="none" strike="noStrike" dirty="0">
                          <a:effectLst/>
                          <a:latin typeface="+mn-lt"/>
                        </a:rPr>
                        <a:t>SALUD </a:t>
                      </a:r>
                      <a:r>
                        <a:rPr lang="es-AR" sz="1000" b="1" u="none" strike="noStrike" dirty="0">
                          <a:solidFill>
                            <a:sysClr val="windowText" lastClr="000000"/>
                          </a:solidFill>
                          <a:effectLst/>
                          <a:latin typeface="+mn-lt"/>
                        </a:rPr>
                        <a:t> (0-17 años)</a:t>
                      </a:r>
                    </a:p>
                    <a:p>
                      <a:pPr algn="l" fontAlgn="ctr"/>
                      <a:r>
                        <a:rPr lang="es-AR" sz="1000" b="1" u="none" strike="noStrike" dirty="0">
                          <a:solidFill>
                            <a:sysClr val="windowText" lastClr="000000"/>
                          </a:solidFill>
                          <a:effectLst/>
                          <a:latin typeface="+mn-lt"/>
                        </a:rPr>
                        <a:t> </a:t>
                      </a:r>
                      <a:endParaRPr lang="es-AR" sz="1000" b="1" i="0" u="none" strike="noStrike" dirty="0">
                        <a:solidFill>
                          <a:sysClr val="windowText" lastClr="000000"/>
                        </a:solidFill>
                        <a:effectLst/>
                        <a:latin typeface="+mn-lt"/>
                      </a:endParaRPr>
                    </a:p>
                  </a:txBody>
                  <a:tcPr marL="6258" marR="6258" marT="6258" marB="0" anchor="ctr"/>
                </a:tc>
                <a:tc>
                  <a:txBody>
                    <a:bodyPr/>
                    <a:lstStyle/>
                    <a:p>
                      <a:pPr algn="just" fontAlgn="ctr"/>
                      <a:r>
                        <a:rPr lang="es-AR" sz="1000" b="0" i="0" u="none" strike="noStrike" dirty="0">
                          <a:solidFill>
                            <a:sysClr val="windowText" lastClr="000000"/>
                          </a:solidFill>
                          <a:effectLst/>
                          <a:latin typeface="+mn-lt"/>
                        </a:rPr>
                        <a:t>Tiempo transcurrido desde la última visita al médico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ysClr val="windowText" lastClr="000000"/>
                          </a:solidFill>
                          <a:effectLst/>
                          <a:latin typeface="+mn-lt"/>
                        </a:rPr>
                        <a:t>Menos de un año</a:t>
                      </a:r>
                    </a:p>
                    <a:p>
                      <a:pPr marL="628650" lvl="1" indent="-171450" algn="just" fontAlgn="ctr">
                        <a:buFont typeface="Arial" panose="020B0604020202020204" pitchFamily="34" charset="0"/>
                        <a:buChar char="•"/>
                      </a:pPr>
                      <a:r>
                        <a:rPr lang="es-AR" sz="1000" b="0" i="0" u="none" strike="noStrike" dirty="0">
                          <a:solidFill>
                            <a:sysClr val="windowText" lastClr="000000"/>
                          </a:solidFill>
                          <a:effectLst/>
                          <a:latin typeface="+mn-lt"/>
                        </a:rPr>
                        <a:t>Un año o más</a:t>
                      </a:r>
                    </a:p>
                  </a:txBody>
                  <a:tcPr marL="6258" marR="6258" marT="6258" marB="0" anchor="ctr"/>
                </a:tc>
                <a:extLst>
                  <a:ext uri="{0D108BD9-81ED-4DB2-BD59-A6C34878D82A}">
                    <a16:rowId xmlns:a16="http://schemas.microsoft.com/office/drawing/2014/main" val="10003"/>
                  </a:ext>
                </a:extLst>
              </a:tr>
              <a:tr h="0">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algn="just" fontAlgn="ctr"/>
                      <a:r>
                        <a:rPr lang="es-AR" sz="1000" b="0" i="0" u="none" strike="noStrike" dirty="0">
                          <a:solidFill>
                            <a:sysClr val="windowText" lastClr="000000"/>
                          </a:solidFill>
                          <a:effectLst/>
                          <a:latin typeface="+mn-lt"/>
                        </a:rPr>
                        <a:t>Cumplimiento del calendario de vacunación</a:t>
                      </a: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ysClr val="windowText" lastClr="000000"/>
                          </a:solidFill>
                          <a:effectLst/>
                          <a:latin typeface="+mn-lt"/>
                        </a:rPr>
                        <a:t>Tiene todas las vacunas correspondientes a su edad</a:t>
                      </a:r>
                    </a:p>
                    <a:p>
                      <a:pPr marL="628650" lvl="1" indent="-171450" algn="just" fontAlgn="ctr">
                        <a:buFont typeface="Arial" panose="020B0604020202020204" pitchFamily="34" charset="0"/>
                        <a:buChar char="•"/>
                      </a:pPr>
                      <a:r>
                        <a:rPr lang="es-AR" sz="1000" b="0" i="0" u="none" strike="noStrike" dirty="0">
                          <a:solidFill>
                            <a:sysClr val="windowText" lastClr="000000"/>
                          </a:solidFill>
                          <a:effectLst/>
                          <a:latin typeface="+mn-lt"/>
                        </a:rPr>
                        <a:t>No tiene todas las vacunas correspondientes a su edad</a:t>
                      </a:r>
                    </a:p>
                  </a:txBody>
                  <a:tcPr marL="6258" marR="6258" marT="6258" marB="0" anchor="ctr"/>
                </a:tc>
                <a:extLst>
                  <a:ext uri="{0D108BD9-81ED-4DB2-BD59-A6C34878D82A}">
                    <a16:rowId xmlns:a16="http://schemas.microsoft.com/office/drawing/2014/main" val="1311064373"/>
                  </a:ext>
                </a:extLst>
              </a:tr>
            </a:tbl>
          </a:graphicData>
        </a:graphic>
      </p:graphicFrame>
      <p:sp>
        <p:nvSpPr>
          <p:cNvPr id="5" name="Marcador de número de diapositiva 4">
            <a:extLst>
              <a:ext uri="{FF2B5EF4-FFF2-40B4-BE49-F238E27FC236}">
                <a16:creationId xmlns:a16="http://schemas.microsoft.com/office/drawing/2014/main" id="{D58532C1-CD33-4D78-9A03-5AF731190679}"/>
              </a:ext>
            </a:extLst>
          </p:cNvPr>
          <p:cNvSpPr>
            <a:spLocks noGrp="1"/>
          </p:cNvSpPr>
          <p:nvPr>
            <p:ph type="sldNum" sz="quarter" idx="12"/>
          </p:nvPr>
        </p:nvSpPr>
        <p:spPr/>
        <p:txBody>
          <a:bodyPr/>
          <a:lstStyle/>
          <a:p>
            <a:fld id="{E4801FF2-09AB-46FD-82F0-246320401FD0}" type="slidenum">
              <a:rPr lang="es-ES" altLang="en-US" smtClean="0"/>
              <a:pPr/>
              <a:t>32</a:t>
            </a:fld>
            <a:endParaRPr lang="es-ES" altLang="en-US"/>
          </a:p>
        </p:txBody>
      </p:sp>
      <p:sp>
        <p:nvSpPr>
          <p:cNvPr id="6" name="Marcador de pie de página 5">
            <a:extLst>
              <a:ext uri="{FF2B5EF4-FFF2-40B4-BE49-F238E27FC236}">
                <a16:creationId xmlns:a16="http://schemas.microsoft.com/office/drawing/2014/main" id="{7C576426-6CB5-4A48-8C08-85F62F25ACA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49167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600078558"/>
              </p:ext>
            </p:extLst>
          </p:nvPr>
        </p:nvGraphicFramePr>
        <p:xfrm>
          <a:off x="494920" y="1412776"/>
          <a:ext cx="7749488" cy="3125676"/>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DIMENSIÓN</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rowSpan="6">
                  <a:txBody>
                    <a:bodyPr/>
                    <a:lstStyle/>
                    <a:p>
                      <a:pPr algn="l" fontAlgn="ctr"/>
                      <a:r>
                        <a:rPr lang="es-AR" sz="1000" b="1" u="none" strike="noStrike" dirty="0">
                          <a:effectLst/>
                          <a:latin typeface="+mn-lt"/>
                        </a:rPr>
                        <a:t>INFORMACIÓN (0-17 años)</a:t>
                      </a: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Existencia de teléfono fijo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0001"/>
                  </a:ext>
                </a:extLst>
              </a:tr>
              <a:tr h="494503">
                <a:tc vMerge="1">
                  <a:txBody>
                    <a:bodyPr/>
                    <a:lstStyle/>
                    <a:p>
                      <a:endParaRPr lang="es-AR"/>
                    </a:p>
                  </a:txBody>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Existencia de teléfono celular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2383572465"/>
                  </a:ext>
                </a:extLst>
              </a:tr>
              <a:tr h="494503">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Acceso a Internet</a:t>
                      </a: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Tiene conexión a Internet</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 tiene conexión a Internet</a:t>
                      </a:r>
                    </a:p>
                  </a:txBody>
                  <a:tcPr marL="6258" marR="6258" marT="6258" marB="0" anchor="ctr"/>
                </a:tc>
                <a:extLst>
                  <a:ext uri="{0D108BD9-81ED-4DB2-BD59-A6C34878D82A}">
                    <a16:rowId xmlns:a16="http://schemas.microsoft.com/office/drawing/2014/main" val="1163649800"/>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biblioteca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2137632578"/>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libros infantiles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286177405"/>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computadora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3212547867"/>
                  </a:ext>
                </a:extLst>
              </a:tr>
            </a:tbl>
          </a:graphicData>
        </a:graphic>
      </p:graphicFrame>
      <p:sp>
        <p:nvSpPr>
          <p:cNvPr id="7" name="CuadroTexto 6">
            <a:extLst>
              <a:ext uri="{FF2B5EF4-FFF2-40B4-BE49-F238E27FC236}">
                <a16:creationId xmlns:a16="http://schemas.microsoft.com/office/drawing/2014/main" id="{57C5EED9-0EA6-4F5C-A708-098D98FC9FCD}"/>
              </a:ext>
            </a:extLst>
          </p:cNvPr>
          <p:cNvSpPr txBox="1"/>
          <p:nvPr/>
        </p:nvSpPr>
        <p:spPr>
          <a:xfrm>
            <a:off x="474368" y="854811"/>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operacional (indicadores)</a:t>
            </a:r>
            <a:endParaRPr lang="es-AR" b="0" i="0" u="none" strike="noStrike" baseline="0" dirty="0">
              <a:solidFill>
                <a:schemeClr val="bg1"/>
              </a:solidFill>
              <a:latin typeface="Calibri" panose="020F0502020204030204" pitchFamily="34" charset="0"/>
              <a:cs typeface="Calibri" panose="020F0502020204030204" pitchFamily="34" charset="0"/>
            </a:endParaRPr>
          </a:p>
        </p:txBody>
      </p:sp>
      <p:sp>
        <p:nvSpPr>
          <p:cNvPr id="5" name="Marcador de número de diapositiva 4">
            <a:extLst>
              <a:ext uri="{FF2B5EF4-FFF2-40B4-BE49-F238E27FC236}">
                <a16:creationId xmlns:a16="http://schemas.microsoft.com/office/drawing/2014/main" id="{1F19E71A-C002-4CAE-AB04-99839D0DC53A}"/>
              </a:ext>
            </a:extLst>
          </p:cNvPr>
          <p:cNvSpPr>
            <a:spLocks noGrp="1"/>
          </p:cNvSpPr>
          <p:nvPr>
            <p:ph type="sldNum" sz="quarter" idx="12"/>
          </p:nvPr>
        </p:nvSpPr>
        <p:spPr/>
        <p:txBody>
          <a:bodyPr/>
          <a:lstStyle/>
          <a:p>
            <a:fld id="{E4801FF2-09AB-46FD-82F0-246320401FD0}" type="slidenum">
              <a:rPr lang="es-ES" altLang="en-US" smtClean="0"/>
              <a:pPr/>
              <a:t>33</a:t>
            </a:fld>
            <a:endParaRPr lang="es-ES" altLang="en-US"/>
          </a:p>
        </p:txBody>
      </p:sp>
      <p:sp>
        <p:nvSpPr>
          <p:cNvPr id="6" name="Marcador de pie de página 5">
            <a:extLst>
              <a:ext uri="{FF2B5EF4-FFF2-40B4-BE49-F238E27FC236}">
                <a16:creationId xmlns:a16="http://schemas.microsoft.com/office/drawing/2014/main" id="{21269E99-F370-479D-B883-A6DC55820FE4}"/>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178164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585120170"/>
              </p:ext>
            </p:extLst>
          </p:nvPr>
        </p:nvGraphicFramePr>
        <p:xfrm>
          <a:off x="494920" y="1412776"/>
          <a:ext cx="7749488" cy="2258025"/>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DIMENSIÓN</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rowSpan="4">
                  <a:txBody>
                    <a:bodyPr/>
                    <a:lstStyle/>
                    <a:p>
                      <a:pPr algn="l" fontAlgn="ctr"/>
                      <a:r>
                        <a:rPr lang="es-AR" sz="1000" b="1" u="none" strike="noStrike" dirty="0">
                          <a:effectLst/>
                          <a:latin typeface="+mn-lt"/>
                        </a:rPr>
                        <a:t>ESTIMULACIÓN TEMPRANA (0-4 años)</a:t>
                      </a: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Compartir lectura de cuentos con adultos de referencia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0001"/>
                  </a:ext>
                </a:extLst>
              </a:tr>
              <a:tr h="494503">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Compartir juegos con adultos de referencia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163649800"/>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Asistencia a centros educativos</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2137632578"/>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Modos de </a:t>
                      </a:r>
                      <a:r>
                        <a:rPr kumimoji="0" lang="es-AR" sz="1000" b="0" i="0" u="none" strike="noStrike" kern="1200" cap="none" spc="0" normalizeH="0" baseline="0" noProof="0" dirty="0" err="1">
                          <a:ln>
                            <a:noFill/>
                          </a:ln>
                          <a:solidFill>
                            <a:srgbClr val="333333"/>
                          </a:solidFill>
                          <a:effectLst/>
                          <a:uLnTx/>
                          <a:uFillTx/>
                          <a:latin typeface="Calibri" panose="020F0502020204030204" pitchFamily="34" charset="0"/>
                          <a:ea typeface="+mn-ea"/>
                          <a:cs typeface="Arial"/>
                        </a:rPr>
                        <a:t>disciplinamiento</a:t>
                      </a: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 utilizados en el hogar</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Maltrato físico</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Maltrato verbal</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Ambos</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Ninguno</a:t>
                      </a:r>
                    </a:p>
                  </a:txBody>
                  <a:tcPr marL="6258" marR="6258" marT="6258" marB="0" anchor="ctr"/>
                </a:tc>
                <a:extLst>
                  <a:ext uri="{0D108BD9-81ED-4DB2-BD59-A6C34878D82A}">
                    <a16:rowId xmlns:a16="http://schemas.microsoft.com/office/drawing/2014/main" val="1286177405"/>
                  </a:ext>
                </a:extLst>
              </a:tr>
            </a:tbl>
          </a:graphicData>
        </a:graphic>
      </p:graphicFrame>
      <p:sp>
        <p:nvSpPr>
          <p:cNvPr id="7" name="CuadroTexto 6">
            <a:extLst>
              <a:ext uri="{FF2B5EF4-FFF2-40B4-BE49-F238E27FC236}">
                <a16:creationId xmlns:a16="http://schemas.microsoft.com/office/drawing/2014/main" id="{57C5EED9-0EA6-4F5C-A708-098D98FC9FCD}"/>
              </a:ext>
            </a:extLst>
          </p:cNvPr>
          <p:cNvSpPr txBox="1"/>
          <p:nvPr/>
        </p:nvSpPr>
        <p:spPr>
          <a:xfrm>
            <a:off x="474368" y="854811"/>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operacional (indicadores)</a:t>
            </a:r>
            <a:endParaRPr lang="es-AR" b="0" i="0" u="none" strike="noStrike" baseline="0" dirty="0">
              <a:solidFill>
                <a:schemeClr val="bg1"/>
              </a:solidFill>
              <a:latin typeface="Calibri" panose="020F0502020204030204" pitchFamily="34" charset="0"/>
              <a:cs typeface="Calibri" panose="020F0502020204030204" pitchFamily="34" charset="0"/>
            </a:endParaRPr>
          </a:p>
        </p:txBody>
      </p:sp>
      <p:sp>
        <p:nvSpPr>
          <p:cNvPr id="5" name="Marcador de número de diapositiva 4">
            <a:extLst>
              <a:ext uri="{FF2B5EF4-FFF2-40B4-BE49-F238E27FC236}">
                <a16:creationId xmlns:a16="http://schemas.microsoft.com/office/drawing/2014/main" id="{0967DEFB-86A5-45E6-8AF4-9F47CFB55CD0}"/>
              </a:ext>
            </a:extLst>
          </p:cNvPr>
          <p:cNvSpPr>
            <a:spLocks noGrp="1"/>
          </p:cNvSpPr>
          <p:nvPr>
            <p:ph type="sldNum" sz="quarter" idx="12"/>
          </p:nvPr>
        </p:nvSpPr>
        <p:spPr/>
        <p:txBody>
          <a:bodyPr/>
          <a:lstStyle/>
          <a:p>
            <a:fld id="{E4801FF2-09AB-46FD-82F0-246320401FD0}" type="slidenum">
              <a:rPr lang="es-ES" altLang="en-US" smtClean="0"/>
              <a:pPr/>
              <a:t>34</a:t>
            </a:fld>
            <a:endParaRPr lang="es-ES" altLang="en-US"/>
          </a:p>
        </p:txBody>
      </p:sp>
      <p:sp>
        <p:nvSpPr>
          <p:cNvPr id="6" name="Marcador de pie de página 5">
            <a:extLst>
              <a:ext uri="{FF2B5EF4-FFF2-40B4-BE49-F238E27FC236}">
                <a16:creationId xmlns:a16="http://schemas.microsoft.com/office/drawing/2014/main" id="{2223915A-DB4C-4E03-955F-2CE95F6EB27D}"/>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643247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Un ejemplo</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4" name="3 Tabla"/>
          <p:cNvGraphicFramePr>
            <a:graphicFrameLocks noGrp="1"/>
          </p:cNvGraphicFramePr>
          <p:nvPr>
            <p:extLst>
              <p:ext uri="{D42A27DB-BD31-4B8C-83A1-F6EECF244321}">
                <p14:modId xmlns:p14="http://schemas.microsoft.com/office/powerpoint/2010/main" val="2070740138"/>
              </p:ext>
            </p:extLst>
          </p:nvPr>
        </p:nvGraphicFramePr>
        <p:xfrm>
          <a:off x="494920" y="1412776"/>
          <a:ext cx="7749488" cy="3620179"/>
        </p:xfrm>
        <a:graphic>
          <a:graphicData uri="http://schemas.openxmlformats.org/drawingml/2006/table">
            <a:tbl>
              <a:tblPr>
                <a:tableStyleId>{B301B821-A1FF-4177-AEE7-76D212191A09}</a:tableStyleId>
              </a:tblPr>
              <a:tblGrid>
                <a:gridCol w="1481014">
                  <a:extLst>
                    <a:ext uri="{9D8B030D-6E8A-4147-A177-3AD203B41FA5}">
                      <a16:colId xmlns:a16="http://schemas.microsoft.com/office/drawing/2014/main" val="20000"/>
                    </a:ext>
                  </a:extLst>
                </a:gridCol>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DIMENSIÓN</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rowSpan="7">
                  <a:txBody>
                    <a:bodyPr/>
                    <a:lstStyle/>
                    <a:p>
                      <a:pPr algn="l" fontAlgn="ctr"/>
                      <a:r>
                        <a:rPr lang="es-AR" sz="1000" b="1" u="none" strike="noStrike" dirty="0">
                          <a:effectLst/>
                          <a:latin typeface="+mn-lt"/>
                        </a:rPr>
                        <a:t>EDUCACIÓN (5-17 años)</a:t>
                      </a: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Asistencia a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0001"/>
                  </a:ext>
                </a:extLst>
              </a:tr>
              <a:tr h="494503">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Arial"/>
                        </a:rPr>
                        <a:t>Existencia de música en la oferta educativa de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163649800"/>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mn-cs"/>
                        </a:rPr>
                        <a:t>Existencia de plástica en la oferta educativa de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2137632578"/>
                  </a:ext>
                </a:extLst>
              </a:tr>
              <a:tr h="494503">
                <a:tc vMerge="1">
                  <a:txBody>
                    <a:bodyPr/>
                    <a:lstStyle/>
                    <a:p>
                      <a:endParaRPr lang="es-AR"/>
                    </a:p>
                  </a:txBody>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mn-cs"/>
                        </a:rPr>
                        <a:t>Existencia de educación física en la oferta educativa de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273514508"/>
                  </a:ext>
                </a:extLst>
              </a:tr>
              <a:tr h="494503">
                <a:tc vMerge="1">
                  <a:txBody>
                    <a:bodyPr/>
                    <a:lstStyle/>
                    <a:p>
                      <a:endParaRPr lang="es-AR"/>
                    </a:p>
                  </a:txBody>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mn-cs"/>
                        </a:rPr>
                        <a:t>Existencia de idioma extranjero en la oferta educativa de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3058127552"/>
                  </a:ext>
                </a:extLst>
              </a:tr>
              <a:tr h="494503">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kumimoji="0" lang="es-AR" sz="1000" b="0" i="0" u="none" strike="noStrike" kern="1200" cap="none" spc="0" normalizeH="0" baseline="0" noProof="0" dirty="0">
                          <a:ln>
                            <a:noFill/>
                          </a:ln>
                          <a:solidFill>
                            <a:srgbClr val="333333"/>
                          </a:solidFill>
                          <a:effectLst/>
                          <a:uLnTx/>
                          <a:uFillTx/>
                          <a:latin typeface="Calibri" panose="020F0502020204030204" pitchFamily="34" charset="0"/>
                          <a:ea typeface="+mn-ea"/>
                          <a:cs typeface="+mn-cs"/>
                        </a:rPr>
                        <a:t>Existencia de computación en la oferta educativa de la escuela</a:t>
                      </a:r>
                      <a:endParaRPr lang="es-AR" sz="1000" u="none" strike="noStrike" dirty="0">
                        <a:effectLst/>
                        <a:latin typeface="+mn-lt"/>
                      </a:endParaRP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extLst>
                  <a:ext uri="{0D108BD9-81ED-4DB2-BD59-A6C34878D82A}">
                    <a16:rowId xmlns:a16="http://schemas.microsoft.com/office/drawing/2014/main" val="1286177405"/>
                  </a:ext>
                </a:extLst>
              </a:tr>
              <a:tr h="494503">
                <a:tc vMerge="1">
                  <a:txBody>
                    <a:bodyPr/>
                    <a:lstStyle/>
                    <a:p>
                      <a:pPr algn="l" fontAlgn="ctr"/>
                      <a:endParaRPr lang="es-AR" sz="1000" b="1" u="none" strike="noStrike" dirty="0">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Adecuación de la edad al grado en que asiste</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Asiste sin sobreedad</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Asiste con sobreedad</a:t>
                      </a:r>
                    </a:p>
                  </a:txBody>
                  <a:tcPr marL="6258" marR="6258" marT="6258" marB="0" anchor="ctr"/>
                </a:tc>
                <a:extLst>
                  <a:ext uri="{0D108BD9-81ED-4DB2-BD59-A6C34878D82A}">
                    <a16:rowId xmlns:a16="http://schemas.microsoft.com/office/drawing/2014/main" val="4266635776"/>
                  </a:ext>
                </a:extLst>
              </a:tr>
            </a:tbl>
          </a:graphicData>
        </a:graphic>
      </p:graphicFrame>
      <p:sp>
        <p:nvSpPr>
          <p:cNvPr id="7" name="CuadroTexto 6">
            <a:extLst>
              <a:ext uri="{FF2B5EF4-FFF2-40B4-BE49-F238E27FC236}">
                <a16:creationId xmlns:a16="http://schemas.microsoft.com/office/drawing/2014/main" id="{57C5EED9-0EA6-4F5C-A708-098D98FC9FCD}"/>
              </a:ext>
            </a:extLst>
          </p:cNvPr>
          <p:cNvSpPr txBox="1"/>
          <p:nvPr/>
        </p:nvSpPr>
        <p:spPr>
          <a:xfrm>
            <a:off x="474368" y="854811"/>
            <a:ext cx="5961832" cy="369332"/>
          </a:xfrm>
          <a:prstGeom prst="rect">
            <a:avLst/>
          </a:prstGeom>
          <a:noFill/>
        </p:spPr>
        <p:txBody>
          <a:bodyPr wrap="square">
            <a:spAutoFit/>
          </a:bodyPr>
          <a:lstStyle/>
          <a:p>
            <a:pPr algn="just"/>
            <a:r>
              <a:rPr lang="es-AR" sz="1800" b="1" i="0" u="none" strike="noStrike" baseline="0" dirty="0">
                <a:solidFill>
                  <a:schemeClr val="accent1"/>
                </a:solidFill>
                <a:latin typeface="Calibri" panose="020F0502020204030204" pitchFamily="34" charset="0"/>
                <a:cs typeface="Calibri" panose="020F0502020204030204" pitchFamily="34" charset="0"/>
              </a:rPr>
              <a:t>Definición operacional (indicadores)</a:t>
            </a:r>
            <a:endParaRPr lang="es-AR" b="0" i="0" u="none" strike="noStrike" baseline="0" dirty="0">
              <a:solidFill>
                <a:schemeClr val="bg1"/>
              </a:solidFill>
              <a:latin typeface="Calibri" panose="020F0502020204030204" pitchFamily="34" charset="0"/>
              <a:cs typeface="Calibri" panose="020F0502020204030204" pitchFamily="34" charset="0"/>
            </a:endParaRPr>
          </a:p>
        </p:txBody>
      </p:sp>
      <p:sp>
        <p:nvSpPr>
          <p:cNvPr id="5" name="Marcador de número de diapositiva 4">
            <a:extLst>
              <a:ext uri="{FF2B5EF4-FFF2-40B4-BE49-F238E27FC236}">
                <a16:creationId xmlns:a16="http://schemas.microsoft.com/office/drawing/2014/main" id="{09AF5798-72CC-4F08-950A-282C97D37625}"/>
              </a:ext>
            </a:extLst>
          </p:cNvPr>
          <p:cNvSpPr>
            <a:spLocks noGrp="1"/>
          </p:cNvSpPr>
          <p:nvPr>
            <p:ph type="sldNum" sz="quarter" idx="12"/>
          </p:nvPr>
        </p:nvSpPr>
        <p:spPr/>
        <p:txBody>
          <a:bodyPr/>
          <a:lstStyle/>
          <a:p>
            <a:fld id="{E4801FF2-09AB-46FD-82F0-246320401FD0}" type="slidenum">
              <a:rPr lang="es-ES" altLang="en-US" smtClean="0"/>
              <a:pPr/>
              <a:t>35</a:t>
            </a:fld>
            <a:endParaRPr lang="es-ES" altLang="en-US"/>
          </a:p>
        </p:txBody>
      </p:sp>
      <p:sp>
        <p:nvSpPr>
          <p:cNvPr id="6" name="Marcador de pie de página 5">
            <a:extLst>
              <a:ext uri="{FF2B5EF4-FFF2-40B4-BE49-F238E27FC236}">
                <a16:creationId xmlns:a16="http://schemas.microsoft.com/office/drawing/2014/main" id="{40120024-687E-4009-9B57-6AAFBF2210F1}"/>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12472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F4F04492-2A97-45A3-94D0-EA8C4F3975E3}"/>
              </a:ext>
            </a:extLst>
          </p:cNvPr>
          <p:cNvSpPr>
            <a:spLocks noGrp="1" noChangeArrowheads="1"/>
          </p:cNvSpPr>
          <p:nvPr>
            <p:ph type="body" idx="4294967295"/>
          </p:nvPr>
        </p:nvSpPr>
        <p:spPr>
          <a:xfrm>
            <a:off x="919513" y="2024856"/>
            <a:ext cx="7272338" cy="2808288"/>
          </a:xfrm>
        </p:spPr>
        <p:txBody>
          <a:bodyPr/>
          <a:lstStyle/>
          <a:p>
            <a:pPr marL="571500" indent="-571500" algn="ctr" eaLnBrk="1" hangingPunct="1">
              <a:buFont typeface="Wingdings" panose="05000000000000000000" pitchFamily="2" charset="2"/>
              <a:buNone/>
            </a:pPr>
            <a:endParaRPr lang="es-AR" altLang="es-AR" sz="3200" b="1" dirty="0">
              <a:solidFill>
                <a:srgbClr val="3366CC"/>
              </a:solidFill>
              <a:latin typeface="Calibri" panose="020F0502020204030204" pitchFamily="34" charset="0"/>
              <a:cs typeface="Calibri" panose="020F0502020204030204" pitchFamily="34" charset="0"/>
            </a:endParaRPr>
          </a:p>
          <a:p>
            <a:pPr marL="0" indent="0" algn="ctr" eaLnBrk="1" hangingPunct="1">
              <a:buNone/>
            </a:pPr>
            <a:r>
              <a:rPr lang="es-AR" altLang="es-AR" sz="4200" b="1" dirty="0">
                <a:solidFill>
                  <a:srgbClr val="3366CC"/>
                </a:solidFill>
                <a:latin typeface="Calibri" panose="020F0502020204030204" pitchFamily="34" charset="0"/>
                <a:cs typeface="Calibri" panose="020F0502020204030204" pitchFamily="34" charset="0"/>
              </a:rPr>
              <a:t>La construcción de índices y tipologías</a:t>
            </a:r>
          </a:p>
        </p:txBody>
      </p:sp>
      <p:sp>
        <p:nvSpPr>
          <p:cNvPr id="3" name="Marcador de número de diapositiva 2">
            <a:extLst>
              <a:ext uri="{FF2B5EF4-FFF2-40B4-BE49-F238E27FC236}">
                <a16:creationId xmlns:a16="http://schemas.microsoft.com/office/drawing/2014/main" id="{5CD5313C-6B35-433F-BF54-71A02976768A}"/>
              </a:ext>
            </a:extLst>
          </p:cNvPr>
          <p:cNvSpPr>
            <a:spLocks noGrp="1"/>
          </p:cNvSpPr>
          <p:nvPr>
            <p:ph type="sldNum" sz="quarter" idx="12"/>
          </p:nvPr>
        </p:nvSpPr>
        <p:spPr/>
        <p:txBody>
          <a:bodyPr/>
          <a:lstStyle/>
          <a:p>
            <a:fld id="{E4801FF2-09AB-46FD-82F0-246320401FD0}" type="slidenum">
              <a:rPr lang="es-ES" altLang="en-US" smtClean="0"/>
              <a:pPr/>
              <a:t>36</a:t>
            </a:fld>
            <a:endParaRPr lang="es-ES" altLang="en-US"/>
          </a:p>
        </p:txBody>
      </p:sp>
      <p:sp>
        <p:nvSpPr>
          <p:cNvPr id="4" name="Marcador de pie de página 3">
            <a:extLst>
              <a:ext uri="{FF2B5EF4-FFF2-40B4-BE49-F238E27FC236}">
                <a16:creationId xmlns:a16="http://schemas.microsoft.com/office/drawing/2014/main" id="{2401FD38-2D0F-450E-8492-D65E495FDE7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029866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Índices y tipologías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9" name="CuadroTexto 8">
            <a:extLst>
              <a:ext uri="{FF2B5EF4-FFF2-40B4-BE49-F238E27FC236}">
                <a16:creationId xmlns:a16="http://schemas.microsoft.com/office/drawing/2014/main" id="{03045559-F24B-4500-A02A-BBEBDC7BC45B}"/>
              </a:ext>
            </a:extLst>
          </p:cNvPr>
          <p:cNvSpPr txBox="1"/>
          <p:nvPr/>
        </p:nvSpPr>
        <p:spPr>
          <a:xfrm>
            <a:off x="4001058" y="1754536"/>
            <a:ext cx="1800200" cy="369332"/>
          </a:xfrm>
          <a:prstGeom prst="rect">
            <a:avLst/>
          </a:prstGeom>
          <a:solidFill>
            <a:srgbClr val="FFC000"/>
          </a:solidFill>
        </p:spPr>
        <p:txBody>
          <a:bodyPr wrap="square" rtlCol="0">
            <a:spAutoFit/>
          </a:bodyPr>
          <a:lstStyle/>
          <a:p>
            <a:pPr algn="ctr"/>
            <a:r>
              <a:rPr lang="es-AR" b="1" dirty="0">
                <a:solidFill>
                  <a:schemeClr val="bg1"/>
                </a:solidFill>
                <a:latin typeface="Calibri" panose="020F0502020204030204" pitchFamily="34" charset="0"/>
                <a:cs typeface="Calibri" panose="020F0502020204030204" pitchFamily="34" charset="0"/>
              </a:rPr>
              <a:t>CONCEPTO</a:t>
            </a:r>
          </a:p>
        </p:txBody>
      </p:sp>
      <p:sp>
        <p:nvSpPr>
          <p:cNvPr id="10" name="CuadroTexto 9">
            <a:extLst>
              <a:ext uri="{FF2B5EF4-FFF2-40B4-BE49-F238E27FC236}">
                <a16:creationId xmlns:a16="http://schemas.microsoft.com/office/drawing/2014/main" id="{608C2628-BB5E-4741-BF7C-D38797183E1A}"/>
              </a:ext>
            </a:extLst>
          </p:cNvPr>
          <p:cNvSpPr txBox="1"/>
          <p:nvPr/>
        </p:nvSpPr>
        <p:spPr>
          <a:xfrm>
            <a:off x="2555776" y="2924944"/>
            <a:ext cx="1224136"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Dimensión 1</a:t>
            </a:r>
          </a:p>
        </p:txBody>
      </p:sp>
      <p:sp>
        <p:nvSpPr>
          <p:cNvPr id="11" name="CuadroTexto 10">
            <a:extLst>
              <a:ext uri="{FF2B5EF4-FFF2-40B4-BE49-F238E27FC236}">
                <a16:creationId xmlns:a16="http://schemas.microsoft.com/office/drawing/2014/main" id="{C3749CA8-4077-4500-8EF1-B1D8A7748AD0}"/>
              </a:ext>
            </a:extLst>
          </p:cNvPr>
          <p:cNvSpPr txBox="1"/>
          <p:nvPr/>
        </p:nvSpPr>
        <p:spPr>
          <a:xfrm>
            <a:off x="1576200" y="3645024"/>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1</a:t>
            </a:r>
          </a:p>
        </p:txBody>
      </p:sp>
      <p:sp>
        <p:nvSpPr>
          <p:cNvPr id="12" name="CuadroTexto 11">
            <a:extLst>
              <a:ext uri="{FF2B5EF4-FFF2-40B4-BE49-F238E27FC236}">
                <a16:creationId xmlns:a16="http://schemas.microsoft.com/office/drawing/2014/main" id="{5E0563C9-ADA9-416F-91FE-01A21EDA7D09}"/>
              </a:ext>
            </a:extLst>
          </p:cNvPr>
          <p:cNvSpPr txBox="1"/>
          <p:nvPr/>
        </p:nvSpPr>
        <p:spPr>
          <a:xfrm>
            <a:off x="2655675" y="3639312"/>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2</a:t>
            </a:r>
          </a:p>
        </p:txBody>
      </p:sp>
      <p:sp>
        <p:nvSpPr>
          <p:cNvPr id="13" name="CuadroTexto 12">
            <a:extLst>
              <a:ext uri="{FF2B5EF4-FFF2-40B4-BE49-F238E27FC236}">
                <a16:creationId xmlns:a16="http://schemas.microsoft.com/office/drawing/2014/main" id="{ACF02295-35C0-45BF-B1A5-653D8BEE6793}"/>
              </a:ext>
            </a:extLst>
          </p:cNvPr>
          <p:cNvSpPr txBox="1"/>
          <p:nvPr/>
        </p:nvSpPr>
        <p:spPr>
          <a:xfrm>
            <a:off x="3735150" y="3639312"/>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3</a:t>
            </a:r>
          </a:p>
        </p:txBody>
      </p:sp>
      <p:cxnSp>
        <p:nvCxnSpPr>
          <p:cNvPr id="14" name="Conector recto de flecha 13">
            <a:extLst>
              <a:ext uri="{FF2B5EF4-FFF2-40B4-BE49-F238E27FC236}">
                <a16:creationId xmlns:a16="http://schemas.microsoft.com/office/drawing/2014/main" id="{694B7EC0-B6F7-409A-835B-C90991F7F2A9}"/>
              </a:ext>
            </a:extLst>
          </p:cNvPr>
          <p:cNvCxnSpPr>
            <a:cxnSpLocks/>
            <a:stCxn id="10" idx="2"/>
            <a:endCxn id="11" idx="0"/>
          </p:cNvCxnSpPr>
          <p:nvPr/>
        </p:nvCxnSpPr>
        <p:spPr bwMode="auto">
          <a:xfrm flipH="1">
            <a:off x="2089642" y="3232721"/>
            <a:ext cx="1078202" cy="412303"/>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1119A70-922C-402B-9364-F01375802AF5}"/>
              </a:ext>
            </a:extLst>
          </p:cNvPr>
          <p:cNvCxnSpPr>
            <a:cxnSpLocks/>
            <a:stCxn id="10" idx="2"/>
            <a:endCxn id="12" idx="0"/>
          </p:cNvCxnSpPr>
          <p:nvPr/>
        </p:nvCxnSpPr>
        <p:spPr bwMode="auto">
          <a:xfrm>
            <a:off x="3167844" y="3232721"/>
            <a:ext cx="1273"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6" name="Conector recto de flecha 15">
            <a:extLst>
              <a:ext uri="{FF2B5EF4-FFF2-40B4-BE49-F238E27FC236}">
                <a16:creationId xmlns:a16="http://schemas.microsoft.com/office/drawing/2014/main" id="{35CD9AA6-94C2-42B0-9225-1B92250C212E}"/>
              </a:ext>
            </a:extLst>
          </p:cNvPr>
          <p:cNvCxnSpPr>
            <a:cxnSpLocks/>
            <a:stCxn id="10" idx="2"/>
            <a:endCxn id="13" idx="0"/>
          </p:cNvCxnSpPr>
          <p:nvPr/>
        </p:nvCxnSpPr>
        <p:spPr bwMode="auto">
          <a:xfrm>
            <a:off x="3167844" y="3232721"/>
            <a:ext cx="1080748"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B1EC1385-CD76-4084-9548-A8AC56E1CA9F}"/>
              </a:ext>
            </a:extLst>
          </p:cNvPr>
          <p:cNvSpPr txBox="1"/>
          <p:nvPr/>
        </p:nvSpPr>
        <p:spPr>
          <a:xfrm>
            <a:off x="5799817" y="2912376"/>
            <a:ext cx="1224136"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Dimensión 2</a:t>
            </a:r>
          </a:p>
        </p:txBody>
      </p:sp>
      <p:sp>
        <p:nvSpPr>
          <p:cNvPr id="18" name="CuadroTexto 17">
            <a:extLst>
              <a:ext uri="{FF2B5EF4-FFF2-40B4-BE49-F238E27FC236}">
                <a16:creationId xmlns:a16="http://schemas.microsoft.com/office/drawing/2014/main" id="{319CB739-2689-46A0-BCD4-E83A97B3B64E}"/>
              </a:ext>
            </a:extLst>
          </p:cNvPr>
          <p:cNvSpPr txBox="1"/>
          <p:nvPr/>
        </p:nvSpPr>
        <p:spPr>
          <a:xfrm>
            <a:off x="4820241" y="3632456"/>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1</a:t>
            </a:r>
          </a:p>
        </p:txBody>
      </p:sp>
      <p:sp>
        <p:nvSpPr>
          <p:cNvPr id="19" name="CuadroTexto 18">
            <a:extLst>
              <a:ext uri="{FF2B5EF4-FFF2-40B4-BE49-F238E27FC236}">
                <a16:creationId xmlns:a16="http://schemas.microsoft.com/office/drawing/2014/main" id="{D70645AB-EC2B-4576-9FF3-E55D588C7C13}"/>
              </a:ext>
            </a:extLst>
          </p:cNvPr>
          <p:cNvSpPr txBox="1"/>
          <p:nvPr/>
        </p:nvSpPr>
        <p:spPr>
          <a:xfrm>
            <a:off x="5899716" y="3626744"/>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2</a:t>
            </a:r>
          </a:p>
        </p:txBody>
      </p:sp>
      <p:sp>
        <p:nvSpPr>
          <p:cNvPr id="20" name="CuadroTexto 19">
            <a:extLst>
              <a:ext uri="{FF2B5EF4-FFF2-40B4-BE49-F238E27FC236}">
                <a16:creationId xmlns:a16="http://schemas.microsoft.com/office/drawing/2014/main" id="{055ED918-4661-410C-BCDC-C0BB34C84384}"/>
              </a:ext>
            </a:extLst>
          </p:cNvPr>
          <p:cNvSpPr txBox="1"/>
          <p:nvPr/>
        </p:nvSpPr>
        <p:spPr>
          <a:xfrm>
            <a:off x="6979191" y="3626744"/>
            <a:ext cx="1026883" cy="307777"/>
          </a:xfrm>
          <a:prstGeom prst="rect">
            <a:avLst/>
          </a:prstGeom>
          <a:solidFill>
            <a:srgbClr val="FFC000"/>
          </a:solidFill>
        </p:spPr>
        <p:txBody>
          <a:bodyPr wrap="square" rtlCol="0">
            <a:spAutoFit/>
          </a:bodyPr>
          <a:lstStyle/>
          <a:p>
            <a:pPr algn="ctr"/>
            <a:r>
              <a:rPr lang="es-AR" sz="1400" b="1" dirty="0">
                <a:solidFill>
                  <a:schemeClr val="bg1"/>
                </a:solidFill>
                <a:latin typeface="Calibri" panose="020F0502020204030204" pitchFamily="34" charset="0"/>
                <a:cs typeface="Calibri" panose="020F0502020204030204" pitchFamily="34" charset="0"/>
              </a:rPr>
              <a:t>Indicador 3</a:t>
            </a:r>
          </a:p>
        </p:txBody>
      </p:sp>
      <p:cxnSp>
        <p:nvCxnSpPr>
          <p:cNvPr id="21" name="Conector recto de flecha 20">
            <a:extLst>
              <a:ext uri="{FF2B5EF4-FFF2-40B4-BE49-F238E27FC236}">
                <a16:creationId xmlns:a16="http://schemas.microsoft.com/office/drawing/2014/main" id="{D623F703-7F0D-4A3D-9BF7-510EF8A8FBF7}"/>
              </a:ext>
            </a:extLst>
          </p:cNvPr>
          <p:cNvCxnSpPr>
            <a:cxnSpLocks/>
            <a:stCxn id="17" idx="2"/>
            <a:endCxn id="18" idx="0"/>
          </p:cNvCxnSpPr>
          <p:nvPr/>
        </p:nvCxnSpPr>
        <p:spPr bwMode="auto">
          <a:xfrm flipH="1">
            <a:off x="5333683" y="3220153"/>
            <a:ext cx="1078202" cy="412303"/>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Conector recto de flecha 21">
            <a:extLst>
              <a:ext uri="{FF2B5EF4-FFF2-40B4-BE49-F238E27FC236}">
                <a16:creationId xmlns:a16="http://schemas.microsoft.com/office/drawing/2014/main" id="{6BC6B312-0269-438B-AE59-8ADCC22284B2}"/>
              </a:ext>
            </a:extLst>
          </p:cNvPr>
          <p:cNvCxnSpPr>
            <a:cxnSpLocks/>
            <a:stCxn id="17" idx="2"/>
            <a:endCxn id="19" idx="0"/>
          </p:cNvCxnSpPr>
          <p:nvPr/>
        </p:nvCxnSpPr>
        <p:spPr bwMode="auto">
          <a:xfrm>
            <a:off x="6411885" y="3220153"/>
            <a:ext cx="1273"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3E42655F-A267-4BC3-B816-6FD4FA9E6484}"/>
              </a:ext>
            </a:extLst>
          </p:cNvPr>
          <p:cNvCxnSpPr>
            <a:cxnSpLocks/>
            <a:stCxn id="17" idx="2"/>
            <a:endCxn id="20" idx="0"/>
          </p:cNvCxnSpPr>
          <p:nvPr/>
        </p:nvCxnSpPr>
        <p:spPr bwMode="auto">
          <a:xfrm>
            <a:off x="6411885" y="3220153"/>
            <a:ext cx="1080748" cy="406591"/>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Conector recto de flecha 23">
            <a:extLst>
              <a:ext uri="{FF2B5EF4-FFF2-40B4-BE49-F238E27FC236}">
                <a16:creationId xmlns:a16="http://schemas.microsoft.com/office/drawing/2014/main" id="{3A868AA6-E93B-4618-B924-7586BDC7F326}"/>
              </a:ext>
            </a:extLst>
          </p:cNvPr>
          <p:cNvCxnSpPr>
            <a:stCxn id="9" idx="2"/>
            <a:endCxn id="10" idx="0"/>
          </p:cNvCxnSpPr>
          <p:nvPr/>
        </p:nvCxnSpPr>
        <p:spPr bwMode="auto">
          <a:xfrm flipH="1">
            <a:off x="3167844" y="2123868"/>
            <a:ext cx="1733314" cy="801076"/>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de flecha 24">
            <a:extLst>
              <a:ext uri="{FF2B5EF4-FFF2-40B4-BE49-F238E27FC236}">
                <a16:creationId xmlns:a16="http://schemas.microsoft.com/office/drawing/2014/main" id="{CEC4BE36-CB5A-4F9E-BC2A-9F766203F0CB}"/>
              </a:ext>
            </a:extLst>
          </p:cNvPr>
          <p:cNvCxnSpPr>
            <a:stCxn id="9" idx="2"/>
            <a:endCxn id="17" idx="0"/>
          </p:cNvCxnSpPr>
          <p:nvPr/>
        </p:nvCxnSpPr>
        <p:spPr bwMode="auto">
          <a:xfrm>
            <a:off x="4901158" y="2123868"/>
            <a:ext cx="1510727" cy="788508"/>
          </a:xfrm>
          <a:prstGeom prst="straightConnector1">
            <a:avLst/>
          </a:prstGeom>
          <a:ln>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6" name="CuadroTexto 25">
            <a:extLst>
              <a:ext uri="{FF2B5EF4-FFF2-40B4-BE49-F238E27FC236}">
                <a16:creationId xmlns:a16="http://schemas.microsoft.com/office/drawing/2014/main" id="{142B0A58-5B62-45C3-9E55-701BF6FC6844}"/>
              </a:ext>
            </a:extLst>
          </p:cNvPr>
          <p:cNvSpPr txBox="1"/>
          <p:nvPr/>
        </p:nvSpPr>
        <p:spPr>
          <a:xfrm>
            <a:off x="3920141" y="4496308"/>
            <a:ext cx="1800200" cy="276999"/>
          </a:xfrm>
          <a:prstGeom prst="rect">
            <a:avLst/>
          </a:prstGeom>
          <a:solidFill>
            <a:srgbClr val="FFC000"/>
          </a:solidFill>
        </p:spPr>
        <p:txBody>
          <a:bodyPr wrap="square" rtlCol="0">
            <a:spAutoFit/>
          </a:bodyPr>
          <a:lstStyle/>
          <a:p>
            <a:pPr algn="ctr"/>
            <a:r>
              <a:rPr lang="es-AR" sz="1200" b="1" dirty="0">
                <a:solidFill>
                  <a:schemeClr val="bg1"/>
                </a:solidFill>
                <a:latin typeface="Calibri" panose="020F0502020204030204" pitchFamily="34" charset="0"/>
                <a:cs typeface="Calibri" panose="020F0502020204030204" pitchFamily="34" charset="0"/>
              </a:rPr>
              <a:t>Índice o tipología</a:t>
            </a:r>
          </a:p>
        </p:txBody>
      </p:sp>
      <p:sp>
        <p:nvSpPr>
          <p:cNvPr id="27" name="Cerrar llave 26">
            <a:extLst>
              <a:ext uri="{FF2B5EF4-FFF2-40B4-BE49-F238E27FC236}">
                <a16:creationId xmlns:a16="http://schemas.microsoft.com/office/drawing/2014/main" id="{3AD7A518-C8D5-4703-99FE-A180DC4D0729}"/>
              </a:ext>
            </a:extLst>
          </p:cNvPr>
          <p:cNvSpPr/>
          <p:nvPr/>
        </p:nvSpPr>
        <p:spPr bwMode="auto">
          <a:xfrm rot="5400000">
            <a:off x="4669988" y="1038170"/>
            <a:ext cx="246906" cy="6425266"/>
          </a:xfrm>
          <a:prstGeom prst="rightBrace">
            <a:avLst/>
          </a:prstGeom>
          <a:no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8" name="CuadroTexto 27">
            <a:extLst>
              <a:ext uri="{FF2B5EF4-FFF2-40B4-BE49-F238E27FC236}">
                <a16:creationId xmlns:a16="http://schemas.microsoft.com/office/drawing/2014/main" id="{397CAE8A-CEB3-4F97-B274-4CE80F43D3A4}"/>
              </a:ext>
            </a:extLst>
          </p:cNvPr>
          <p:cNvSpPr txBox="1"/>
          <p:nvPr/>
        </p:nvSpPr>
        <p:spPr>
          <a:xfrm rot="16200000">
            <a:off x="361518" y="1750072"/>
            <a:ext cx="884025"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nominal</a:t>
            </a:r>
          </a:p>
        </p:txBody>
      </p:sp>
      <p:sp>
        <p:nvSpPr>
          <p:cNvPr id="29" name="CuadroTexto 28">
            <a:extLst>
              <a:ext uri="{FF2B5EF4-FFF2-40B4-BE49-F238E27FC236}">
                <a16:creationId xmlns:a16="http://schemas.microsoft.com/office/drawing/2014/main" id="{7BD3BB09-75A5-4809-9E46-D9E5F839E802}"/>
              </a:ext>
            </a:extLst>
          </p:cNvPr>
          <p:cNvSpPr txBox="1"/>
          <p:nvPr/>
        </p:nvSpPr>
        <p:spPr>
          <a:xfrm rot="16200000">
            <a:off x="360006" y="2682346"/>
            <a:ext cx="884023"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real</a:t>
            </a:r>
          </a:p>
        </p:txBody>
      </p:sp>
      <p:sp>
        <p:nvSpPr>
          <p:cNvPr id="30" name="CuadroTexto 29">
            <a:extLst>
              <a:ext uri="{FF2B5EF4-FFF2-40B4-BE49-F238E27FC236}">
                <a16:creationId xmlns:a16="http://schemas.microsoft.com/office/drawing/2014/main" id="{239475B6-5FD6-4D2F-B255-9C19AE6B71EB}"/>
              </a:ext>
            </a:extLst>
          </p:cNvPr>
          <p:cNvSpPr txBox="1"/>
          <p:nvPr/>
        </p:nvSpPr>
        <p:spPr>
          <a:xfrm rot="16200000">
            <a:off x="300548" y="3672073"/>
            <a:ext cx="997534"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Definición </a:t>
            </a:r>
          </a:p>
          <a:p>
            <a:pPr algn="ctr"/>
            <a:r>
              <a:rPr lang="es-AR" sz="1200" dirty="0">
                <a:solidFill>
                  <a:schemeClr val="bg2"/>
                </a:solidFill>
              </a:rPr>
              <a:t>operacional</a:t>
            </a:r>
          </a:p>
        </p:txBody>
      </p:sp>
      <p:sp>
        <p:nvSpPr>
          <p:cNvPr id="31" name="CuadroTexto 30">
            <a:extLst>
              <a:ext uri="{FF2B5EF4-FFF2-40B4-BE49-F238E27FC236}">
                <a16:creationId xmlns:a16="http://schemas.microsoft.com/office/drawing/2014/main" id="{43D9EC36-DB9C-4060-AB5C-B6B09D10FBFC}"/>
              </a:ext>
            </a:extLst>
          </p:cNvPr>
          <p:cNvSpPr txBox="1"/>
          <p:nvPr/>
        </p:nvSpPr>
        <p:spPr>
          <a:xfrm rot="16200000">
            <a:off x="459574" y="4627838"/>
            <a:ext cx="679481" cy="461665"/>
          </a:xfrm>
          <a:prstGeom prst="rect">
            <a:avLst/>
          </a:prstGeom>
          <a:solidFill>
            <a:schemeClr val="bg1">
              <a:lumMod val="10000"/>
              <a:lumOff val="90000"/>
            </a:schemeClr>
          </a:solidFill>
        </p:spPr>
        <p:txBody>
          <a:bodyPr wrap="square" rtlCol="0">
            <a:spAutoFit/>
          </a:bodyPr>
          <a:lstStyle/>
          <a:p>
            <a:pPr algn="ctr"/>
            <a:r>
              <a:rPr lang="es-AR" sz="1200" dirty="0">
                <a:solidFill>
                  <a:schemeClr val="bg2"/>
                </a:solidFill>
              </a:rPr>
              <a:t>Índices</a:t>
            </a:r>
          </a:p>
          <a:p>
            <a:pPr algn="ctr"/>
            <a:endParaRPr lang="es-AR" sz="1200" dirty="0">
              <a:solidFill>
                <a:schemeClr val="bg2"/>
              </a:solidFill>
            </a:endParaRPr>
          </a:p>
        </p:txBody>
      </p:sp>
      <p:sp>
        <p:nvSpPr>
          <p:cNvPr id="3" name="Marcador de número de diapositiva 2">
            <a:extLst>
              <a:ext uri="{FF2B5EF4-FFF2-40B4-BE49-F238E27FC236}">
                <a16:creationId xmlns:a16="http://schemas.microsoft.com/office/drawing/2014/main" id="{DFF8DE60-F0ED-47D6-829B-8E88ACF562AA}"/>
              </a:ext>
            </a:extLst>
          </p:cNvPr>
          <p:cNvSpPr>
            <a:spLocks noGrp="1"/>
          </p:cNvSpPr>
          <p:nvPr>
            <p:ph type="sldNum" sz="quarter" idx="12"/>
          </p:nvPr>
        </p:nvSpPr>
        <p:spPr/>
        <p:txBody>
          <a:bodyPr/>
          <a:lstStyle/>
          <a:p>
            <a:fld id="{E4801FF2-09AB-46FD-82F0-246320401FD0}" type="slidenum">
              <a:rPr lang="es-ES" altLang="en-US" smtClean="0"/>
              <a:pPr/>
              <a:t>37</a:t>
            </a:fld>
            <a:endParaRPr lang="es-ES" altLang="en-US"/>
          </a:p>
        </p:txBody>
      </p:sp>
      <p:sp>
        <p:nvSpPr>
          <p:cNvPr id="4" name="Marcador de pie de página 3">
            <a:extLst>
              <a:ext uri="{FF2B5EF4-FFF2-40B4-BE49-F238E27FC236}">
                <a16:creationId xmlns:a16="http://schemas.microsoft.com/office/drawing/2014/main" id="{D6C51E10-C557-4017-BED2-E011F9CC4755}"/>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0138318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Concepto de espacio de propiedades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Espacio de propiedades</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El </a:t>
            </a:r>
            <a:r>
              <a:rPr lang="es-AR" altLang="es-AR" b="1" dirty="0">
                <a:solidFill>
                  <a:schemeClr val="accent1"/>
                </a:solidFill>
                <a:latin typeface="Calibri" panose="020F0502020204030204" pitchFamily="34" charset="0"/>
                <a:cs typeface="Calibri" panose="020F0502020204030204" pitchFamily="34" charset="0"/>
              </a:rPr>
              <a:t>espacio de propiedades </a:t>
            </a:r>
            <a:r>
              <a:rPr lang="es-AR" altLang="es-AR" dirty="0">
                <a:solidFill>
                  <a:schemeClr val="bg2"/>
                </a:solidFill>
                <a:latin typeface="Calibri" panose="020F0502020204030204" pitchFamily="34" charset="0"/>
                <a:cs typeface="Calibri" panose="020F0502020204030204" pitchFamily="34" charset="0"/>
              </a:rPr>
              <a:t>es el conjunto de las posiciones que pueden tener las unidades de análisis en un sistema de una o más variables (</a:t>
            </a:r>
            <a:r>
              <a:rPr lang="es-AR" altLang="es-AR" dirty="0" err="1">
                <a:solidFill>
                  <a:schemeClr val="bg2"/>
                </a:solidFill>
                <a:latin typeface="Calibri" panose="020F0502020204030204" pitchFamily="34" charset="0"/>
                <a:cs typeface="Calibri" panose="020F0502020204030204" pitchFamily="34" charset="0"/>
              </a:rPr>
              <a:t>Borsotti</a:t>
            </a:r>
            <a:r>
              <a:rPr lang="es-AR" altLang="es-AR" dirty="0">
                <a:solidFill>
                  <a:schemeClr val="bg2"/>
                </a:solidFill>
                <a:latin typeface="Calibri" panose="020F0502020204030204" pitchFamily="34" charset="0"/>
                <a:cs typeface="Calibri" panose="020F0502020204030204" pitchFamily="34" charset="0"/>
              </a:rPr>
              <a:t>, en Padua, 1979: 239).</a:t>
            </a:r>
            <a:endParaRPr lang="es-AR" altLang="es-AR" dirty="0">
              <a:solidFill>
                <a:schemeClr val="bg1"/>
              </a:solidFill>
              <a:latin typeface="Calibri" panose="020F0502020204030204" pitchFamily="34" charset="0"/>
              <a:cs typeface="Calibri" panose="020F0502020204030204" pitchFamily="34" charset="0"/>
            </a:endParaRPr>
          </a:p>
        </p:txBody>
      </p:sp>
      <p:grpSp>
        <p:nvGrpSpPr>
          <p:cNvPr id="3" name="Grupo 2">
            <a:extLst>
              <a:ext uri="{FF2B5EF4-FFF2-40B4-BE49-F238E27FC236}">
                <a16:creationId xmlns:a16="http://schemas.microsoft.com/office/drawing/2014/main" id="{C900461F-8BC9-44E2-AF07-DF8BAB4A1B77}"/>
              </a:ext>
            </a:extLst>
          </p:cNvPr>
          <p:cNvGrpSpPr/>
          <p:nvPr/>
        </p:nvGrpSpPr>
        <p:grpSpPr>
          <a:xfrm>
            <a:off x="880007" y="2780358"/>
            <a:ext cx="2099433" cy="2094766"/>
            <a:chOff x="880007" y="2780358"/>
            <a:chExt cx="2099433" cy="2094766"/>
          </a:xfrm>
        </p:grpSpPr>
        <p:cxnSp>
          <p:nvCxnSpPr>
            <p:cNvPr id="4" name="Conector recto de flecha 3">
              <a:extLst>
                <a:ext uri="{FF2B5EF4-FFF2-40B4-BE49-F238E27FC236}">
                  <a16:creationId xmlns:a16="http://schemas.microsoft.com/office/drawing/2014/main" id="{D09D9CCB-E6E3-4452-87EB-3E2B3DD3EE2E}"/>
                </a:ext>
              </a:extLst>
            </p:cNvPr>
            <p:cNvCxnSpPr>
              <a:cxnSpLocks/>
            </p:cNvCxnSpPr>
            <p:nvPr/>
          </p:nvCxnSpPr>
          <p:spPr bwMode="auto">
            <a:xfrm flipV="1">
              <a:off x="1259632" y="2780358"/>
              <a:ext cx="0" cy="1728762"/>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cxnSp>
          <p:nvCxnSpPr>
            <p:cNvPr id="10" name="Conector recto de flecha 9">
              <a:extLst>
                <a:ext uri="{FF2B5EF4-FFF2-40B4-BE49-F238E27FC236}">
                  <a16:creationId xmlns:a16="http://schemas.microsoft.com/office/drawing/2014/main" id="{50A6C043-A4CD-440F-8A9A-77C682690889}"/>
                </a:ext>
              </a:extLst>
            </p:cNvPr>
            <p:cNvCxnSpPr>
              <a:cxnSpLocks/>
            </p:cNvCxnSpPr>
            <p:nvPr/>
          </p:nvCxnSpPr>
          <p:spPr bwMode="auto">
            <a:xfrm>
              <a:off x="1259632" y="4509120"/>
              <a:ext cx="1719808" cy="0"/>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sp>
          <p:nvSpPr>
            <p:cNvPr id="12" name="Elipse 11">
              <a:extLst>
                <a:ext uri="{FF2B5EF4-FFF2-40B4-BE49-F238E27FC236}">
                  <a16:creationId xmlns:a16="http://schemas.microsoft.com/office/drawing/2014/main" id="{130084F0-5BC2-4A01-8D9E-2746BDB8D3F5}"/>
                </a:ext>
              </a:extLst>
            </p:cNvPr>
            <p:cNvSpPr/>
            <p:nvPr/>
          </p:nvSpPr>
          <p:spPr bwMode="auto">
            <a:xfrm>
              <a:off x="1547664" y="3167257"/>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5" name="Elipse 14">
              <a:extLst>
                <a:ext uri="{FF2B5EF4-FFF2-40B4-BE49-F238E27FC236}">
                  <a16:creationId xmlns:a16="http://schemas.microsoft.com/office/drawing/2014/main" id="{A6F25AD4-1AED-44B9-BA28-B91933424BAA}"/>
                </a:ext>
              </a:extLst>
            </p:cNvPr>
            <p:cNvSpPr/>
            <p:nvPr/>
          </p:nvSpPr>
          <p:spPr bwMode="auto">
            <a:xfrm>
              <a:off x="1763688" y="3743321"/>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6" name="Elipse 15">
              <a:extLst>
                <a:ext uri="{FF2B5EF4-FFF2-40B4-BE49-F238E27FC236}">
                  <a16:creationId xmlns:a16="http://schemas.microsoft.com/office/drawing/2014/main" id="{37EF9F5F-AEA2-444E-B6E5-BD977C1A4F45}"/>
                </a:ext>
              </a:extLst>
            </p:cNvPr>
            <p:cNvSpPr/>
            <p:nvPr/>
          </p:nvSpPr>
          <p:spPr bwMode="auto">
            <a:xfrm>
              <a:off x="2411772" y="3284984"/>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7" name="Elipse 16">
              <a:extLst>
                <a:ext uri="{FF2B5EF4-FFF2-40B4-BE49-F238E27FC236}">
                  <a16:creationId xmlns:a16="http://schemas.microsoft.com/office/drawing/2014/main" id="{E429C028-9106-4C2F-85C5-171EAF48766C}"/>
                </a:ext>
              </a:extLst>
            </p:cNvPr>
            <p:cNvSpPr/>
            <p:nvPr/>
          </p:nvSpPr>
          <p:spPr bwMode="auto">
            <a:xfrm>
              <a:off x="2123728" y="3573016"/>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8" name="Elipse 17">
              <a:extLst>
                <a:ext uri="{FF2B5EF4-FFF2-40B4-BE49-F238E27FC236}">
                  <a16:creationId xmlns:a16="http://schemas.microsoft.com/office/drawing/2014/main" id="{FE669790-CA0F-4E45-97F9-AC84DC2D101A}"/>
                </a:ext>
              </a:extLst>
            </p:cNvPr>
            <p:cNvSpPr/>
            <p:nvPr/>
          </p:nvSpPr>
          <p:spPr bwMode="auto">
            <a:xfrm>
              <a:off x="1547664" y="4175369"/>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9" name="Elipse 18">
              <a:extLst>
                <a:ext uri="{FF2B5EF4-FFF2-40B4-BE49-F238E27FC236}">
                  <a16:creationId xmlns:a16="http://schemas.microsoft.com/office/drawing/2014/main" id="{59CFF15C-B12C-4993-9FC1-F1455024A34F}"/>
                </a:ext>
              </a:extLst>
            </p:cNvPr>
            <p:cNvSpPr/>
            <p:nvPr/>
          </p:nvSpPr>
          <p:spPr bwMode="auto">
            <a:xfrm>
              <a:off x="2483768" y="3717032"/>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3" name="CuadroTexto 12">
              <a:extLst>
                <a:ext uri="{FF2B5EF4-FFF2-40B4-BE49-F238E27FC236}">
                  <a16:creationId xmlns:a16="http://schemas.microsoft.com/office/drawing/2014/main" id="{C72CE515-0D45-472A-BE77-CC54470A21D6}"/>
                </a:ext>
              </a:extLst>
            </p:cNvPr>
            <p:cNvSpPr txBox="1"/>
            <p:nvPr/>
          </p:nvSpPr>
          <p:spPr>
            <a:xfrm>
              <a:off x="1439646" y="4598125"/>
              <a:ext cx="1440160" cy="276999"/>
            </a:xfrm>
            <a:prstGeom prst="rect">
              <a:avLst/>
            </a:prstGeom>
            <a:noFill/>
          </p:spPr>
          <p:txBody>
            <a:bodyPr wrap="square" rtlCol="0">
              <a:spAutoFit/>
            </a:bodyPr>
            <a:lstStyle/>
            <a:p>
              <a:pPr algn="ctr"/>
              <a:r>
                <a:rPr lang="es-AR" sz="1200" dirty="0">
                  <a:solidFill>
                    <a:schemeClr val="bg2"/>
                  </a:solidFill>
                </a:rPr>
                <a:t>Edad</a:t>
              </a:r>
            </a:p>
          </p:txBody>
        </p:sp>
        <p:sp>
          <p:nvSpPr>
            <p:cNvPr id="21" name="CuadroTexto 20">
              <a:extLst>
                <a:ext uri="{FF2B5EF4-FFF2-40B4-BE49-F238E27FC236}">
                  <a16:creationId xmlns:a16="http://schemas.microsoft.com/office/drawing/2014/main" id="{5419FDF7-7B4F-472C-9B0A-0D00637CC8DD}"/>
                </a:ext>
              </a:extLst>
            </p:cNvPr>
            <p:cNvSpPr txBox="1"/>
            <p:nvPr/>
          </p:nvSpPr>
          <p:spPr>
            <a:xfrm rot="16200000">
              <a:off x="298427" y="3457375"/>
              <a:ext cx="1440160" cy="276999"/>
            </a:xfrm>
            <a:prstGeom prst="rect">
              <a:avLst/>
            </a:prstGeom>
            <a:noFill/>
          </p:spPr>
          <p:txBody>
            <a:bodyPr wrap="square" rtlCol="0">
              <a:spAutoFit/>
            </a:bodyPr>
            <a:lstStyle/>
            <a:p>
              <a:pPr algn="ctr"/>
              <a:r>
                <a:rPr lang="es-AR" sz="1200" dirty="0">
                  <a:solidFill>
                    <a:schemeClr val="bg2"/>
                  </a:solidFill>
                </a:rPr>
                <a:t>Salario</a:t>
              </a:r>
            </a:p>
          </p:txBody>
        </p:sp>
      </p:grpSp>
      <p:grpSp>
        <p:nvGrpSpPr>
          <p:cNvPr id="6" name="Grupo 5">
            <a:extLst>
              <a:ext uri="{FF2B5EF4-FFF2-40B4-BE49-F238E27FC236}">
                <a16:creationId xmlns:a16="http://schemas.microsoft.com/office/drawing/2014/main" id="{696F94D6-C891-4C0F-BE77-B3F67BEE2B55}"/>
              </a:ext>
            </a:extLst>
          </p:cNvPr>
          <p:cNvGrpSpPr/>
          <p:nvPr/>
        </p:nvGrpSpPr>
        <p:grpSpPr>
          <a:xfrm>
            <a:off x="3307454" y="2804166"/>
            <a:ext cx="2039878" cy="2094766"/>
            <a:chOff x="3307454" y="2804166"/>
            <a:chExt cx="2039878" cy="2094766"/>
          </a:xfrm>
        </p:grpSpPr>
        <p:cxnSp>
          <p:nvCxnSpPr>
            <p:cNvPr id="22" name="Conector recto de flecha 21">
              <a:extLst>
                <a:ext uri="{FF2B5EF4-FFF2-40B4-BE49-F238E27FC236}">
                  <a16:creationId xmlns:a16="http://schemas.microsoft.com/office/drawing/2014/main" id="{34EC1C65-6BE5-457A-840C-5E3E74915606}"/>
                </a:ext>
              </a:extLst>
            </p:cNvPr>
            <p:cNvCxnSpPr>
              <a:cxnSpLocks/>
            </p:cNvCxnSpPr>
            <p:nvPr/>
          </p:nvCxnSpPr>
          <p:spPr bwMode="auto">
            <a:xfrm flipV="1">
              <a:off x="3627524" y="2804166"/>
              <a:ext cx="0" cy="1728762"/>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cxnSp>
          <p:nvCxnSpPr>
            <p:cNvPr id="23" name="Conector recto de flecha 22">
              <a:extLst>
                <a:ext uri="{FF2B5EF4-FFF2-40B4-BE49-F238E27FC236}">
                  <a16:creationId xmlns:a16="http://schemas.microsoft.com/office/drawing/2014/main" id="{3285065A-A95D-417D-B94D-1B1C5DEE8BDD}"/>
                </a:ext>
              </a:extLst>
            </p:cNvPr>
            <p:cNvCxnSpPr>
              <a:cxnSpLocks/>
            </p:cNvCxnSpPr>
            <p:nvPr/>
          </p:nvCxnSpPr>
          <p:spPr bwMode="auto">
            <a:xfrm>
              <a:off x="3627524" y="4532928"/>
              <a:ext cx="1719808" cy="0"/>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sp>
          <p:nvSpPr>
            <p:cNvPr id="24" name="Elipse 23">
              <a:extLst>
                <a:ext uri="{FF2B5EF4-FFF2-40B4-BE49-F238E27FC236}">
                  <a16:creationId xmlns:a16="http://schemas.microsoft.com/office/drawing/2014/main" id="{4DCEBD48-4CC9-4CEF-94E6-059CB6EAA7F2}"/>
                </a:ext>
              </a:extLst>
            </p:cNvPr>
            <p:cNvSpPr/>
            <p:nvPr/>
          </p:nvSpPr>
          <p:spPr bwMode="auto">
            <a:xfrm>
              <a:off x="4180636" y="2875717"/>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5" name="Elipse 24">
              <a:extLst>
                <a:ext uri="{FF2B5EF4-FFF2-40B4-BE49-F238E27FC236}">
                  <a16:creationId xmlns:a16="http://schemas.microsoft.com/office/drawing/2014/main" id="{A590708B-0F26-4D00-8C05-805F133E1BA4}"/>
                </a:ext>
              </a:extLst>
            </p:cNvPr>
            <p:cNvSpPr/>
            <p:nvPr/>
          </p:nvSpPr>
          <p:spPr bwMode="auto">
            <a:xfrm>
              <a:off x="4198554" y="4152509"/>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6" name="Elipse 25">
              <a:extLst>
                <a:ext uri="{FF2B5EF4-FFF2-40B4-BE49-F238E27FC236}">
                  <a16:creationId xmlns:a16="http://schemas.microsoft.com/office/drawing/2014/main" id="{E34EB850-F2C8-478D-96BF-90084D3CC0DA}"/>
                </a:ext>
              </a:extLst>
            </p:cNvPr>
            <p:cNvSpPr/>
            <p:nvPr/>
          </p:nvSpPr>
          <p:spPr bwMode="auto">
            <a:xfrm>
              <a:off x="5200252" y="3789040"/>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7" name="Elipse 26">
              <a:extLst>
                <a:ext uri="{FF2B5EF4-FFF2-40B4-BE49-F238E27FC236}">
                  <a16:creationId xmlns:a16="http://schemas.microsoft.com/office/drawing/2014/main" id="{48F710B3-6911-4183-841C-A894FB6E357A}"/>
                </a:ext>
              </a:extLst>
            </p:cNvPr>
            <p:cNvSpPr/>
            <p:nvPr/>
          </p:nvSpPr>
          <p:spPr bwMode="auto">
            <a:xfrm>
              <a:off x="4491620" y="3596824"/>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8" name="Elipse 27">
              <a:extLst>
                <a:ext uri="{FF2B5EF4-FFF2-40B4-BE49-F238E27FC236}">
                  <a16:creationId xmlns:a16="http://schemas.microsoft.com/office/drawing/2014/main" id="{D14B9986-2EA3-4F4A-B8D9-BCB7F60C1519}"/>
                </a:ext>
              </a:extLst>
            </p:cNvPr>
            <p:cNvSpPr/>
            <p:nvPr/>
          </p:nvSpPr>
          <p:spPr bwMode="auto">
            <a:xfrm>
              <a:off x="4783348" y="4047212"/>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29" name="Elipse 28">
              <a:extLst>
                <a:ext uri="{FF2B5EF4-FFF2-40B4-BE49-F238E27FC236}">
                  <a16:creationId xmlns:a16="http://schemas.microsoft.com/office/drawing/2014/main" id="{DB96F9DF-E59C-4565-ABB8-D9089BA563DF}"/>
                </a:ext>
              </a:extLst>
            </p:cNvPr>
            <p:cNvSpPr/>
            <p:nvPr/>
          </p:nvSpPr>
          <p:spPr bwMode="auto">
            <a:xfrm>
              <a:off x="5020226" y="3527297"/>
              <a:ext cx="71996" cy="45719"/>
            </a:xfrm>
            <a:prstGeom prst="ellipse">
              <a:avLst/>
            </a:prstGeom>
            <a:solidFill>
              <a:schemeClr val="accent1"/>
            </a:solidFill>
            <a:ln w="9525" cap="flat" cmpd="sng" algn="ctr">
              <a:solidFill>
                <a:schemeClr val="accent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30" name="CuadroTexto 29">
              <a:extLst>
                <a:ext uri="{FF2B5EF4-FFF2-40B4-BE49-F238E27FC236}">
                  <a16:creationId xmlns:a16="http://schemas.microsoft.com/office/drawing/2014/main" id="{2821B438-D37C-414C-9FA3-229F9527D43D}"/>
                </a:ext>
              </a:extLst>
            </p:cNvPr>
            <p:cNvSpPr txBox="1"/>
            <p:nvPr/>
          </p:nvSpPr>
          <p:spPr>
            <a:xfrm>
              <a:off x="3807538" y="4621933"/>
              <a:ext cx="1440160" cy="276999"/>
            </a:xfrm>
            <a:prstGeom prst="rect">
              <a:avLst/>
            </a:prstGeom>
            <a:noFill/>
          </p:spPr>
          <p:txBody>
            <a:bodyPr wrap="square" rtlCol="0">
              <a:spAutoFit/>
            </a:bodyPr>
            <a:lstStyle/>
            <a:p>
              <a:pPr algn="ctr"/>
              <a:r>
                <a:rPr lang="es-AR" sz="1200" dirty="0">
                  <a:solidFill>
                    <a:schemeClr val="bg2"/>
                  </a:solidFill>
                </a:rPr>
                <a:t>Edad</a:t>
              </a:r>
            </a:p>
          </p:txBody>
        </p:sp>
        <p:sp>
          <p:nvSpPr>
            <p:cNvPr id="31" name="CuadroTexto 30">
              <a:extLst>
                <a:ext uri="{FF2B5EF4-FFF2-40B4-BE49-F238E27FC236}">
                  <a16:creationId xmlns:a16="http://schemas.microsoft.com/office/drawing/2014/main" id="{5674BD47-B923-4F24-8738-92B57E6B5D50}"/>
                </a:ext>
              </a:extLst>
            </p:cNvPr>
            <p:cNvSpPr txBox="1"/>
            <p:nvPr/>
          </p:nvSpPr>
          <p:spPr>
            <a:xfrm rot="16200000">
              <a:off x="2725874" y="3530047"/>
              <a:ext cx="1440160" cy="276999"/>
            </a:xfrm>
            <a:prstGeom prst="rect">
              <a:avLst/>
            </a:prstGeom>
            <a:noFill/>
          </p:spPr>
          <p:txBody>
            <a:bodyPr wrap="square" rtlCol="0">
              <a:spAutoFit/>
            </a:bodyPr>
            <a:lstStyle/>
            <a:p>
              <a:pPr algn="ctr"/>
              <a:r>
                <a:rPr lang="es-AR" sz="1200" dirty="0">
                  <a:solidFill>
                    <a:schemeClr val="bg2"/>
                  </a:solidFill>
                </a:rPr>
                <a:t>Salario</a:t>
              </a:r>
            </a:p>
          </p:txBody>
        </p:sp>
        <p:cxnSp>
          <p:nvCxnSpPr>
            <p:cNvPr id="32" name="Conector recto de flecha 31">
              <a:extLst>
                <a:ext uri="{FF2B5EF4-FFF2-40B4-BE49-F238E27FC236}">
                  <a16:creationId xmlns:a16="http://schemas.microsoft.com/office/drawing/2014/main" id="{57EDADFC-D38B-4D9C-9CF6-116AFCBD2E70}"/>
                </a:ext>
              </a:extLst>
            </p:cNvPr>
            <p:cNvCxnSpPr>
              <a:cxnSpLocks/>
            </p:cNvCxnSpPr>
            <p:nvPr/>
          </p:nvCxnSpPr>
          <p:spPr bwMode="auto">
            <a:xfrm flipV="1">
              <a:off x="3638892" y="3647739"/>
              <a:ext cx="1016484" cy="890385"/>
            </a:xfrm>
            <a:prstGeom prst="straightConnector1">
              <a:avLst/>
            </a:prstGeom>
            <a:solidFill>
              <a:schemeClr val="accent1"/>
            </a:solidFill>
            <a:ln w="9525" cap="flat" cmpd="sng" algn="ctr">
              <a:solidFill>
                <a:schemeClr val="bg1"/>
              </a:solidFill>
              <a:prstDash val="solid"/>
              <a:round/>
              <a:headEnd type="none" w="med" len="med"/>
              <a:tailEnd type="triangle"/>
            </a:ln>
            <a:effectLst/>
          </p:spPr>
        </p:cxnSp>
        <p:sp>
          <p:nvSpPr>
            <p:cNvPr id="35" name="CuadroTexto 34">
              <a:extLst>
                <a:ext uri="{FF2B5EF4-FFF2-40B4-BE49-F238E27FC236}">
                  <a16:creationId xmlns:a16="http://schemas.microsoft.com/office/drawing/2014/main" id="{2F99A9F1-5658-4DC4-BFE8-A0759AB7C0B6}"/>
                </a:ext>
              </a:extLst>
            </p:cNvPr>
            <p:cNvSpPr txBox="1"/>
            <p:nvPr/>
          </p:nvSpPr>
          <p:spPr>
            <a:xfrm rot="19165913">
              <a:off x="3363869" y="3738637"/>
              <a:ext cx="1440160" cy="261610"/>
            </a:xfrm>
            <a:prstGeom prst="rect">
              <a:avLst/>
            </a:prstGeom>
            <a:noFill/>
          </p:spPr>
          <p:txBody>
            <a:bodyPr wrap="square" rtlCol="0">
              <a:spAutoFit/>
            </a:bodyPr>
            <a:lstStyle/>
            <a:p>
              <a:pPr algn="ctr"/>
              <a:r>
                <a:rPr lang="es-AR" sz="1100" dirty="0">
                  <a:solidFill>
                    <a:schemeClr val="bg2"/>
                  </a:solidFill>
                </a:rPr>
                <a:t>Años escolaridad</a:t>
              </a:r>
            </a:p>
          </p:txBody>
        </p:sp>
      </p:grpSp>
      <p:grpSp>
        <p:nvGrpSpPr>
          <p:cNvPr id="7" name="Grupo 6">
            <a:extLst>
              <a:ext uri="{FF2B5EF4-FFF2-40B4-BE49-F238E27FC236}">
                <a16:creationId xmlns:a16="http://schemas.microsoft.com/office/drawing/2014/main" id="{787170D8-3119-4488-9B65-8295C3314502}"/>
              </a:ext>
            </a:extLst>
          </p:cNvPr>
          <p:cNvGrpSpPr/>
          <p:nvPr/>
        </p:nvGrpSpPr>
        <p:grpSpPr>
          <a:xfrm>
            <a:off x="5805981" y="2731662"/>
            <a:ext cx="2419198" cy="2098350"/>
            <a:chOff x="5805981" y="2731662"/>
            <a:chExt cx="2419198" cy="2098350"/>
          </a:xfrm>
        </p:grpSpPr>
        <p:cxnSp>
          <p:nvCxnSpPr>
            <p:cNvPr id="36" name="Conector recto 35">
              <a:extLst>
                <a:ext uri="{FF2B5EF4-FFF2-40B4-BE49-F238E27FC236}">
                  <a16:creationId xmlns:a16="http://schemas.microsoft.com/office/drawing/2014/main" id="{330FF8F1-64F6-4EC7-A46A-B4F1BBCCA211}"/>
                </a:ext>
              </a:extLst>
            </p:cNvPr>
            <p:cNvCxnSpPr>
              <a:cxnSpLocks/>
            </p:cNvCxnSpPr>
            <p:nvPr/>
          </p:nvCxnSpPr>
          <p:spPr bwMode="auto">
            <a:xfrm>
              <a:off x="6156176" y="4501366"/>
              <a:ext cx="2016224" cy="0"/>
            </a:xfrm>
            <a:prstGeom prst="line">
              <a:avLst/>
            </a:prstGeom>
            <a:ln w="19050">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38" name="Conector recto 37">
              <a:extLst>
                <a:ext uri="{FF2B5EF4-FFF2-40B4-BE49-F238E27FC236}">
                  <a16:creationId xmlns:a16="http://schemas.microsoft.com/office/drawing/2014/main" id="{C54092B0-8CBE-4E33-9B73-9ED1F102260E}"/>
                </a:ext>
              </a:extLst>
            </p:cNvPr>
            <p:cNvCxnSpPr/>
            <p:nvPr/>
          </p:nvCxnSpPr>
          <p:spPr bwMode="auto">
            <a:xfrm flipV="1">
              <a:off x="6156176" y="2731663"/>
              <a:ext cx="0" cy="1584292"/>
            </a:xfrm>
            <a:prstGeom prst="line">
              <a:avLst/>
            </a:prstGeom>
            <a:solidFill>
              <a:schemeClr val="accent1"/>
            </a:solidFill>
            <a:ln w="19050" cap="flat" cmpd="sng" algn="ctr">
              <a:solidFill>
                <a:schemeClr val="bg1"/>
              </a:solidFill>
              <a:prstDash val="solid"/>
              <a:round/>
              <a:headEnd type="none" w="med" len="med"/>
              <a:tailEnd type="none" w="med" len="med"/>
            </a:ln>
            <a:effectLst/>
          </p:spPr>
        </p:cxnSp>
        <p:sp>
          <p:nvSpPr>
            <p:cNvPr id="41" name="CuadroTexto 40">
              <a:extLst>
                <a:ext uri="{FF2B5EF4-FFF2-40B4-BE49-F238E27FC236}">
                  <a16:creationId xmlns:a16="http://schemas.microsoft.com/office/drawing/2014/main" id="{88D2AF48-D2E7-4C37-BB96-F096BCE61383}"/>
                </a:ext>
              </a:extLst>
            </p:cNvPr>
            <p:cNvSpPr txBox="1"/>
            <p:nvPr/>
          </p:nvSpPr>
          <p:spPr>
            <a:xfrm rot="16200000">
              <a:off x="5080100" y="3457544"/>
              <a:ext cx="1728762" cy="276999"/>
            </a:xfrm>
            <a:prstGeom prst="rect">
              <a:avLst/>
            </a:prstGeom>
            <a:noFill/>
          </p:spPr>
          <p:txBody>
            <a:bodyPr wrap="square" rtlCol="0">
              <a:spAutoFit/>
            </a:bodyPr>
            <a:lstStyle/>
            <a:p>
              <a:pPr algn="ctr"/>
              <a:r>
                <a:rPr lang="es-AR" sz="1200" dirty="0">
                  <a:solidFill>
                    <a:schemeClr val="bg2"/>
                  </a:solidFill>
                </a:rPr>
                <a:t>Orientación política</a:t>
              </a:r>
            </a:p>
          </p:txBody>
        </p:sp>
        <p:sp>
          <p:nvSpPr>
            <p:cNvPr id="42" name="CuadroTexto 41">
              <a:extLst>
                <a:ext uri="{FF2B5EF4-FFF2-40B4-BE49-F238E27FC236}">
                  <a16:creationId xmlns:a16="http://schemas.microsoft.com/office/drawing/2014/main" id="{2DC083DB-BAAE-428A-947B-A17887898D86}"/>
                </a:ext>
              </a:extLst>
            </p:cNvPr>
            <p:cNvSpPr txBox="1"/>
            <p:nvPr/>
          </p:nvSpPr>
          <p:spPr>
            <a:xfrm>
              <a:off x="6516216" y="4553013"/>
              <a:ext cx="1440160" cy="276999"/>
            </a:xfrm>
            <a:prstGeom prst="rect">
              <a:avLst/>
            </a:prstGeom>
            <a:noFill/>
          </p:spPr>
          <p:txBody>
            <a:bodyPr wrap="square" rtlCol="0">
              <a:spAutoFit/>
            </a:bodyPr>
            <a:lstStyle/>
            <a:p>
              <a:pPr algn="ctr"/>
              <a:r>
                <a:rPr lang="es-AR" sz="1200" dirty="0">
                  <a:solidFill>
                    <a:schemeClr val="bg2"/>
                  </a:solidFill>
                </a:rPr>
                <a:t>Nivel educativo</a:t>
              </a:r>
            </a:p>
          </p:txBody>
        </p:sp>
        <p:sp>
          <p:nvSpPr>
            <p:cNvPr id="40" name="Rectángulo 39">
              <a:extLst>
                <a:ext uri="{FF2B5EF4-FFF2-40B4-BE49-F238E27FC236}">
                  <a16:creationId xmlns:a16="http://schemas.microsoft.com/office/drawing/2014/main" id="{79E6EA37-37F3-4FBF-8FEC-C24461E78538}"/>
                </a:ext>
              </a:extLst>
            </p:cNvPr>
            <p:cNvSpPr/>
            <p:nvPr/>
          </p:nvSpPr>
          <p:spPr bwMode="auto">
            <a:xfrm>
              <a:off x="6228184" y="2731662"/>
              <a:ext cx="980569" cy="795635"/>
            </a:xfrm>
            <a:prstGeom prst="rect">
              <a:avLst/>
            </a:prstGeom>
            <a:solidFill>
              <a:schemeClr val="tx2">
                <a:lumMod val="7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44" name="Rectángulo 43">
              <a:extLst>
                <a:ext uri="{FF2B5EF4-FFF2-40B4-BE49-F238E27FC236}">
                  <a16:creationId xmlns:a16="http://schemas.microsoft.com/office/drawing/2014/main" id="{449DF991-5E8C-444B-8A46-15155BD81DC1}"/>
                </a:ext>
              </a:extLst>
            </p:cNvPr>
            <p:cNvSpPr/>
            <p:nvPr/>
          </p:nvSpPr>
          <p:spPr bwMode="auto">
            <a:xfrm>
              <a:off x="6229372" y="3588026"/>
              <a:ext cx="980569" cy="795635"/>
            </a:xfrm>
            <a:prstGeom prst="rect">
              <a:avLst/>
            </a:prstGeom>
            <a:solidFill>
              <a:schemeClr val="tx2">
                <a:lumMod val="85000"/>
              </a:schemeClr>
            </a:solidFill>
            <a:ln w="9525" cap="flat" cmpd="sng" algn="ctr">
              <a:solidFill>
                <a:schemeClr val="tx2">
                  <a:lumMod val="95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45" name="Rectángulo 44">
              <a:extLst>
                <a:ext uri="{FF2B5EF4-FFF2-40B4-BE49-F238E27FC236}">
                  <a16:creationId xmlns:a16="http://schemas.microsoft.com/office/drawing/2014/main" id="{60007D49-C513-4CA6-93BE-56CF41E75657}"/>
                </a:ext>
              </a:extLst>
            </p:cNvPr>
            <p:cNvSpPr/>
            <p:nvPr/>
          </p:nvSpPr>
          <p:spPr bwMode="auto">
            <a:xfrm>
              <a:off x="7244610" y="2731662"/>
              <a:ext cx="980569" cy="795635"/>
            </a:xfrm>
            <a:prstGeom prst="rect">
              <a:avLst/>
            </a:prstGeom>
            <a:solidFill>
              <a:schemeClr val="tx2">
                <a:lumMod val="5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46" name="Rectángulo 45">
              <a:extLst>
                <a:ext uri="{FF2B5EF4-FFF2-40B4-BE49-F238E27FC236}">
                  <a16:creationId xmlns:a16="http://schemas.microsoft.com/office/drawing/2014/main" id="{4292A1A5-D3EC-450A-A548-DD14D092B34B}"/>
                </a:ext>
              </a:extLst>
            </p:cNvPr>
            <p:cNvSpPr/>
            <p:nvPr/>
          </p:nvSpPr>
          <p:spPr bwMode="auto">
            <a:xfrm>
              <a:off x="7236296" y="3578087"/>
              <a:ext cx="980569" cy="795635"/>
            </a:xfrm>
            <a:prstGeom prst="rect">
              <a:avLst/>
            </a:prstGeom>
            <a:solidFill>
              <a:schemeClr val="tx2">
                <a:lumMod val="65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grpSp>
      <mc:AlternateContent xmlns:mc="http://schemas.openxmlformats.org/markup-compatibility/2006" xmlns:a14="http://schemas.microsoft.com/office/drawing/2010/main">
        <mc:Choice Requires="a14">
          <p:sp>
            <p:nvSpPr>
              <p:cNvPr id="47" name="5 CuadroTexto">
                <a:extLst>
                  <a:ext uri="{FF2B5EF4-FFF2-40B4-BE49-F238E27FC236}">
                    <a16:creationId xmlns:a16="http://schemas.microsoft.com/office/drawing/2014/main" id="{47215BF6-40B4-4F40-81AD-EB1516D0248D}"/>
                  </a:ext>
                </a:extLst>
              </p:cNvPr>
              <p:cNvSpPr txBox="1">
                <a:spLocks noChangeArrowheads="1"/>
              </p:cNvSpPr>
              <p:nvPr/>
            </p:nvSpPr>
            <p:spPr bwMode="auto">
              <a:xfrm>
                <a:off x="457199" y="5204806"/>
                <a:ext cx="7988561" cy="122007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AR" altLang="es-AR" dirty="0">
                    <a:solidFill>
                      <a:schemeClr val="bg2"/>
                    </a:solidFill>
                    <a:latin typeface="Calibri" panose="020F0502020204030204" pitchFamily="34" charset="0"/>
                    <a:cs typeface="Calibri" panose="020F0502020204030204" pitchFamily="34" charset="0"/>
                  </a:rPr>
                  <a:t>Cuando las variables son cualitativas, el tamaño del espacio de propiedades viene dado por </a:t>
                </a:r>
                <a14:m>
                  <m:oMath xmlns:m="http://schemas.openxmlformats.org/officeDocument/2006/math">
                    <m:sSup>
                      <m:sSupPr>
                        <m:ctrlPr>
                          <a:rPr lang="es-AR" altLang="es-AR" i="1" smtClean="0">
                            <a:solidFill>
                              <a:schemeClr val="bg2"/>
                            </a:solidFill>
                            <a:latin typeface="Cambria Math" panose="02040503050406030204" pitchFamily="18" charset="0"/>
                            <a:cs typeface="Calibri" panose="020F0502020204030204" pitchFamily="34" charset="0"/>
                          </a:rPr>
                        </m:ctrlPr>
                      </m:sSupPr>
                      <m:e>
                        <m:r>
                          <a:rPr lang="es-AR" altLang="es-AR" b="0" i="1" smtClean="0">
                            <a:solidFill>
                              <a:schemeClr val="bg2"/>
                            </a:solidFill>
                            <a:latin typeface="Cambria Math" panose="02040503050406030204" pitchFamily="18" charset="0"/>
                            <a:cs typeface="Calibri" panose="020F0502020204030204" pitchFamily="34" charset="0"/>
                          </a:rPr>
                          <m:t>𝑃</m:t>
                        </m:r>
                      </m:e>
                      <m:sup>
                        <m:r>
                          <a:rPr lang="es-AR" altLang="es-AR" b="0" i="1" smtClean="0">
                            <a:solidFill>
                              <a:schemeClr val="bg2"/>
                            </a:solidFill>
                            <a:latin typeface="Cambria Math" panose="02040503050406030204" pitchFamily="18" charset="0"/>
                            <a:cs typeface="Calibri" panose="020F0502020204030204" pitchFamily="34" charset="0"/>
                          </a:rPr>
                          <m:t>𝑣</m:t>
                        </m:r>
                      </m:sup>
                    </m:sSup>
                  </m:oMath>
                </a14:m>
                <a:r>
                  <a:rPr lang="es-AR" altLang="es-AR" dirty="0">
                    <a:solidFill>
                      <a:schemeClr val="bg1"/>
                    </a:solidFill>
                    <a:latin typeface="Calibri" panose="020F0502020204030204" pitchFamily="34" charset="0"/>
                    <a:cs typeface="Calibri" panose="020F0502020204030204" pitchFamily="34" charset="0"/>
                  </a:rPr>
                  <a:t> donde P son las categorías y </a:t>
                </a:r>
                <a:r>
                  <a:rPr lang="es-AR" altLang="es-AR" i="1" dirty="0">
                    <a:solidFill>
                      <a:schemeClr val="bg1"/>
                    </a:solidFill>
                    <a:latin typeface="Calibri" panose="020F0502020204030204" pitchFamily="34" charset="0"/>
                    <a:cs typeface="Calibri" panose="020F0502020204030204" pitchFamily="34" charset="0"/>
                  </a:rPr>
                  <a:t>v </a:t>
                </a:r>
                <a:r>
                  <a:rPr lang="es-AR" altLang="es-AR" dirty="0">
                    <a:solidFill>
                      <a:schemeClr val="bg1"/>
                    </a:solidFill>
                    <a:latin typeface="Calibri" panose="020F0502020204030204" pitchFamily="34" charset="0"/>
                    <a:cs typeface="Calibri" panose="020F0502020204030204" pitchFamily="34" charset="0"/>
                  </a:rPr>
                  <a:t>el número de variables:</a:t>
                </a:r>
                <a14:m>
                  <m:oMath xmlns:m="http://schemas.openxmlformats.org/officeDocument/2006/math">
                    <m:r>
                      <a:rPr lang="es-AR" altLang="es-AR" b="0" i="0" smtClean="0">
                        <a:solidFill>
                          <a:schemeClr val="bg2"/>
                        </a:solidFill>
                        <a:latin typeface="Cambria Math" panose="02040503050406030204" pitchFamily="18" charset="0"/>
                        <a:cs typeface="Calibri" panose="020F0502020204030204" pitchFamily="34" charset="0"/>
                      </a:rPr>
                      <m:t> </m:t>
                    </m:r>
                    <m:sSup>
                      <m:sSupPr>
                        <m:ctrlPr>
                          <a:rPr lang="es-AR" altLang="es-AR" i="1">
                            <a:solidFill>
                              <a:schemeClr val="bg2"/>
                            </a:solidFill>
                            <a:latin typeface="Cambria Math" panose="02040503050406030204" pitchFamily="18" charset="0"/>
                            <a:cs typeface="Calibri" panose="020F0502020204030204" pitchFamily="34" charset="0"/>
                          </a:rPr>
                        </m:ctrlPr>
                      </m:sSupPr>
                      <m:e>
                        <m:r>
                          <a:rPr lang="es-AR" altLang="es-AR" b="0" i="1" smtClean="0">
                            <a:solidFill>
                              <a:schemeClr val="bg2"/>
                            </a:solidFill>
                            <a:latin typeface="Cambria Math" panose="02040503050406030204" pitchFamily="18" charset="0"/>
                            <a:cs typeface="Calibri" panose="020F0502020204030204" pitchFamily="34" charset="0"/>
                          </a:rPr>
                          <m:t>2</m:t>
                        </m:r>
                      </m:e>
                      <m:sup>
                        <m:r>
                          <a:rPr lang="es-AR" altLang="es-AR" b="0" i="1" smtClean="0">
                            <a:solidFill>
                              <a:schemeClr val="bg2"/>
                            </a:solidFill>
                            <a:latin typeface="Cambria Math" panose="02040503050406030204" pitchFamily="18" charset="0"/>
                            <a:cs typeface="Calibri" panose="020F0502020204030204" pitchFamily="34" charset="0"/>
                          </a:rPr>
                          <m:t>2</m:t>
                        </m:r>
                      </m:sup>
                    </m:sSup>
                    <m:r>
                      <a:rPr lang="es-AR" altLang="es-AR" b="0" i="1" smtClean="0">
                        <a:solidFill>
                          <a:schemeClr val="bg2"/>
                        </a:solidFill>
                        <a:latin typeface="Cambria Math" panose="02040503050406030204" pitchFamily="18" charset="0"/>
                        <a:cs typeface="Calibri" panose="020F0502020204030204" pitchFamily="34" charset="0"/>
                      </a:rPr>
                      <m:t>=4.</m:t>
                    </m:r>
                  </m:oMath>
                </a14:m>
                <a:r>
                  <a:rPr lang="es-AR" altLang="es-AR" dirty="0">
                    <a:solidFill>
                      <a:schemeClr val="bg1"/>
                    </a:solidFill>
                    <a:latin typeface="Calibri" panose="020F0502020204030204" pitchFamily="34" charset="0"/>
                    <a:cs typeface="Calibri" panose="020F0502020204030204" pitchFamily="34" charset="0"/>
                  </a:rPr>
                  <a:t> Si una variable tiene más categorías que otra:</a:t>
                </a:r>
                <a14:m>
                  <m:oMath xmlns:m="http://schemas.openxmlformats.org/officeDocument/2006/math">
                    <m:sSub>
                      <m:sSubPr>
                        <m:ctrlPr>
                          <a:rPr lang="es-AR" altLang="es-AR" i="1" smtClean="0">
                            <a:solidFill>
                              <a:schemeClr val="bg1"/>
                            </a:solidFill>
                            <a:latin typeface="Cambria Math" panose="02040503050406030204" pitchFamily="18" charset="0"/>
                            <a:cs typeface="Calibri" panose="020F0502020204030204" pitchFamily="34" charset="0"/>
                          </a:rPr>
                        </m:ctrlPr>
                      </m:sSubPr>
                      <m:e>
                        <m:r>
                          <a:rPr lang="es-AR" altLang="es-AR" b="0" i="1" smtClean="0">
                            <a:solidFill>
                              <a:schemeClr val="bg1"/>
                            </a:solidFill>
                            <a:latin typeface="Cambria Math" panose="02040503050406030204" pitchFamily="18" charset="0"/>
                            <a:cs typeface="Calibri" panose="020F0502020204030204" pitchFamily="34" charset="0"/>
                          </a:rPr>
                          <m:t> </m:t>
                        </m:r>
                        <m:r>
                          <a:rPr lang="es-AR" altLang="es-AR" b="0" i="1" smtClean="0">
                            <a:solidFill>
                              <a:schemeClr val="bg1"/>
                            </a:solidFill>
                            <a:latin typeface="Cambria Math" panose="02040503050406030204" pitchFamily="18" charset="0"/>
                            <a:cs typeface="Calibri" panose="020F0502020204030204" pitchFamily="34" charset="0"/>
                          </a:rPr>
                          <m:t>𝑝</m:t>
                        </m:r>
                      </m:e>
                      <m:sub>
                        <m:r>
                          <a:rPr lang="es-AR" altLang="es-AR" b="0" i="1" smtClean="0">
                            <a:solidFill>
                              <a:schemeClr val="bg1"/>
                            </a:solidFill>
                            <a:latin typeface="Cambria Math" panose="02040503050406030204" pitchFamily="18" charset="0"/>
                            <a:cs typeface="Calibri" panose="020F0502020204030204" pitchFamily="34" charset="0"/>
                          </a:rPr>
                          <m:t>1</m:t>
                        </m:r>
                      </m:sub>
                    </m:sSub>
                    <m:r>
                      <a:rPr lang="es-AR" altLang="es-AR" b="0" i="1" smtClean="0">
                        <a:solidFill>
                          <a:schemeClr val="bg1"/>
                        </a:solidFill>
                        <a:latin typeface="Cambria Math" panose="02040503050406030204" pitchFamily="18" charset="0"/>
                        <a:cs typeface="Calibri" panose="020F0502020204030204" pitchFamily="34" charset="0"/>
                      </a:rPr>
                      <m:t>∗</m:t>
                    </m:r>
                    <m:sSub>
                      <m:sSubPr>
                        <m:ctrlPr>
                          <a:rPr lang="es-AR" altLang="es-AR" b="0" i="1" smtClean="0">
                            <a:solidFill>
                              <a:schemeClr val="bg1"/>
                            </a:solidFill>
                            <a:latin typeface="Cambria Math" panose="02040503050406030204" pitchFamily="18" charset="0"/>
                            <a:cs typeface="Calibri" panose="020F0502020204030204" pitchFamily="34" charset="0"/>
                          </a:rPr>
                        </m:ctrlPr>
                      </m:sSubPr>
                      <m:e>
                        <m:r>
                          <a:rPr lang="es-AR" altLang="es-AR" b="0" i="1" smtClean="0">
                            <a:solidFill>
                              <a:schemeClr val="bg1"/>
                            </a:solidFill>
                            <a:latin typeface="Cambria Math" panose="02040503050406030204" pitchFamily="18" charset="0"/>
                            <a:cs typeface="Calibri" panose="020F0502020204030204" pitchFamily="34" charset="0"/>
                          </a:rPr>
                          <m:t>𝑝</m:t>
                        </m:r>
                      </m:e>
                      <m:sub>
                        <m:r>
                          <a:rPr lang="es-AR" altLang="es-AR" b="0" i="1" smtClean="0">
                            <a:solidFill>
                              <a:schemeClr val="bg1"/>
                            </a:solidFill>
                            <a:latin typeface="Cambria Math" panose="02040503050406030204" pitchFamily="18" charset="0"/>
                            <a:cs typeface="Calibri" panose="020F0502020204030204" pitchFamily="34" charset="0"/>
                          </a:rPr>
                          <m:t>2</m:t>
                        </m:r>
                      </m:sub>
                    </m:sSub>
                    <m:r>
                      <a:rPr lang="es-AR" altLang="es-AR" b="0" i="1" smtClean="0">
                        <a:solidFill>
                          <a:schemeClr val="bg1"/>
                        </a:solidFill>
                        <a:latin typeface="Cambria Math" panose="02040503050406030204" pitchFamily="18" charset="0"/>
                        <a:cs typeface="Calibri" panose="020F0502020204030204" pitchFamily="34" charset="0"/>
                      </a:rPr>
                      <m:t>∗…∗</m:t>
                    </m:r>
                    <m:sSub>
                      <m:sSubPr>
                        <m:ctrlPr>
                          <a:rPr lang="es-AR" altLang="es-AR" b="0" i="1" smtClean="0">
                            <a:solidFill>
                              <a:schemeClr val="bg1"/>
                            </a:solidFill>
                            <a:latin typeface="Cambria Math" panose="02040503050406030204" pitchFamily="18" charset="0"/>
                            <a:cs typeface="Calibri" panose="020F0502020204030204" pitchFamily="34" charset="0"/>
                          </a:rPr>
                        </m:ctrlPr>
                      </m:sSubPr>
                      <m:e>
                        <m:r>
                          <a:rPr lang="es-AR" altLang="es-AR" b="0" i="1" smtClean="0">
                            <a:solidFill>
                              <a:schemeClr val="bg1"/>
                            </a:solidFill>
                            <a:latin typeface="Cambria Math" panose="02040503050406030204" pitchFamily="18" charset="0"/>
                            <a:cs typeface="Calibri" panose="020F0502020204030204" pitchFamily="34" charset="0"/>
                          </a:rPr>
                          <m:t>𝑝</m:t>
                        </m:r>
                      </m:e>
                      <m:sub>
                        <m:r>
                          <a:rPr lang="es-AR" altLang="es-AR" b="0" i="1" smtClean="0">
                            <a:solidFill>
                              <a:schemeClr val="bg1"/>
                            </a:solidFill>
                            <a:latin typeface="Cambria Math" panose="02040503050406030204" pitchFamily="18" charset="0"/>
                            <a:cs typeface="Calibri" panose="020F0502020204030204" pitchFamily="34" charset="0"/>
                          </a:rPr>
                          <m:t>𝑛</m:t>
                        </m:r>
                      </m:sub>
                    </m:sSub>
                  </m:oMath>
                </a14:m>
                <a:endParaRPr lang="es-AR" altLang="es-AR" dirty="0">
                  <a:solidFill>
                    <a:schemeClr val="bg1"/>
                  </a:solidFill>
                  <a:latin typeface="Calibri" panose="020F0502020204030204" pitchFamily="34" charset="0"/>
                  <a:cs typeface="Calibri" panose="020F0502020204030204" pitchFamily="34" charset="0"/>
                </a:endParaRPr>
              </a:p>
              <a:p>
                <a:pPr marL="177800" lvl="1" indent="0" algn="just"/>
                <a:endParaRPr lang="es-AR" altLang="es-AR" dirty="0">
                  <a:solidFill>
                    <a:schemeClr val="bg1"/>
                  </a:solidFill>
                  <a:latin typeface="Calibri" panose="020F0502020204030204" pitchFamily="34" charset="0"/>
                  <a:cs typeface="Calibri" panose="020F0502020204030204" pitchFamily="34" charset="0"/>
                </a:endParaRPr>
              </a:p>
            </p:txBody>
          </p:sp>
        </mc:Choice>
        <mc:Fallback xmlns="">
          <p:sp>
            <p:nvSpPr>
              <p:cNvPr id="47" name="5 CuadroTexto">
                <a:extLst>
                  <a:ext uri="{FF2B5EF4-FFF2-40B4-BE49-F238E27FC236}">
                    <a16:creationId xmlns:a16="http://schemas.microsoft.com/office/drawing/2014/main" id="{47215BF6-40B4-4F40-81AD-EB1516D0248D}"/>
                  </a:ext>
                </a:extLst>
              </p:cNvPr>
              <p:cNvSpPr txBox="1">
                <a:spLocks noRot="1" noChangeAspect="1" noMove="1" noResize="1" noEditPoints="1" noAdjustHandles="1" noChangeArrowheads="1" noChangeShapeType="1" noTextEdit="1"/>
              </p:cNvSpPr>
              <p:nvPr/>
            </p:nvSpPr>
            <p:spPr bwMode="auto">
              <a:xfrm>
                <a:off x="457199" y="5204806"/>
                <a:ext cx="7988561" cy="1220078"/>
              </a:xfrm>
              <a:prstGeom prst="rect">
                <a:avLst/>
              </a:prstGeom>
              <a:blipFill>
                <a:blip r:embed="rId2"/>
                <a:stretch>
                  <a:fillRect t="-3000" r="-61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s-AR">
                    <a:noFill/>
                  </a:rPr>
                  <a:t> </a:t>
                </a:r>
              </a:p>
            </p:txBody>
          </p:sp>
        </mc:Fallback>
      </mc:AlternateContent>
      <p:sp>
        <p:nvSpPr>
          <p:cNvPr id="8" name="Marcador de número de diapositiva 7">
            <a:extLst>
              <a:ext uri="{FF2B5EF4-FFF2-40B4-BE49-F238E27FC236}">
                <a16:creationId xmlns:a16="http://schemas.microsoft.com/office/drawing/2014/main" id="{60B3047E-9AC7-43A8-89E6-1664275E9AB3}"/>
              </a:ext>
            </a:extLst>
          </p:cNvPr>
          <p:cNvSpPr>
            <a:spLocks noGrp="1"/>
          </p:cNvSpPr>
          <p:nvPr>
            <p:ph type="sldNum" sz="quarter" idx="12"/>
          </p:nvPr>
        </p:nvSpPr>
        <p:spPr/>
        <p:txBody>
          <a:bodyPr/>
          <a:lstStyle/>
          <a:p>
            <a:fld id="{E4801FF2-09AB-46FD-82F0-246320401FD0}" type="slidenum">
              <a:rPr lang="es-ES" altLang="en-US" smtClean="0"/>
              <a:pPr/>
              <a:t>38</a:t>
            </a:fld>
            <a:endParaRPr lang="es-ES" altLang="en-US"/>
          </a:p>
        </p:txBody>
      </p:sp>
      <p:sp>
        <p:nvSpPr>
          <p:cNvPr id="9" name="Marcador de pie de página 8">
            <a:extLst>
              <a:ext uri="{FF2B5EF4-FFF2-40B4-BE49-F238E27FC236}">
                <a16:creationId xmlns:a16="http://schemas.microsoft.com/office/drawing/2014/main" id="{0A883F0A-2051-47E2-B095-5941836759F0}"/>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221558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Concepto de espacio de propiedades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Espacio de propiedades</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Más genéricamente, si en un proceso de operacionalización de una variable intermedia (dimensión) tenemos dos indicadores, tendríamos el siguiente espacio de propiedades:</a:t>
            </a:r>
            <a:endParaRPr lang="es-AR" altLang="es-AR" dirty="0">
              <a:solidFill>
                <a:schemeClr val="bg1"/>
              </a:solidFill>
              <a:latin typeface="Calibri" panose="020F0502020204030204" pitchFamily="34" charset="0"/>
              <a:cs typeface="Calibri" panose="020F0502020204030204" pitchFamily="34" charset="0"/>
            </a:endParaRPr>
          </a:p>
        </p:txBody>
      </p:sp>
      <p:grpSp>
        <p:nvGrpSpPr>
          <p:cNvPr id="3" name="Grupo 2">
            <a:extLst>
              <a:ext uri="{FF2B5EF4-FFF2-40B4-BE49-F238E27FC236}">
                <a16:creationId xmlns:a16="http://schemas.microsoft.com/office/drawing/2014/main" id="{C900461F-8BC9-44E2-AF07-DF8BAB4A1B77}"/>
              </a:ext>
            </a:extLst>
          </p:cNvPr>
          <p:cNvGrpSpPr/>
          <p:nvPr/>
        </p:nvGrpSpPr>
        <p:grpSpPr>
          <a:xfrm>
            <a:off x="3226861" y="2749595"/>
            <a:ext cx="2425259" cy="2303745"/>
            <a:chOff x="899741" y="2780358"/>
            <a:chExt cx="2079699" cy="2066205"/>
          </a:xfrm>
        </p:grpSpPr>
        <p:cxnSp>
          <p:nvCxnSpPr>
            <p:cNvPr id="4" name="Conector recto de flecha 3">
              <a:extLst>
                <a:ext uri="{FF2B5EF4-FFF2-40B4-BE49-F238E27FC236}">
                  <a16:creationId xmlns:a16="http://schemas.microsoft.com/office/drawing/2014/main" id="{D09D9CCB-E6E3-4452-87EB-3E2B3DD3EE2E}"/>
                </a:ext>
              </a:extLst>
            </p:cNvPr>
            <p:cNvCxnSpPr>
              <a:cxnSpLocks/>
            </p:cNvCxnSpPr>
            <p:nvPr/>
          </p:nvCxnSpPr>
          <p:spPr bwMode="auto">
            <a:xfrm flipV="1">
              <a:off x="1259632" y="2780358"/>
              <a:ext cx="0" cy="1728762"/>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cxnSp>
          <p:nvCxnSpPr>
            <p:cNvPr id="10" name="Conector recto de flecha 9">
              <a:extLst>
                <a:ext uri="{FF2B5EF4-FFF2-40B4-BE49-F238E27FC236}">
                  <a16:creationId xmlns:a16="http://schemas.microsoft.com/office/drawing/2014/main" id="{50A6C043-A4CD-440F-8A9A-77C682690889}"/>
                </a:ext>
              </a:extLst>
            </p:cNvPr>
            <p:cNvCxnSpPr>
              <a:cxnSpLocks/>
            </p:cNvCxnSpPr>
            <p:nvPr/>
          </p:nvCxnSpPr>
          <p:spPr bwMode="auto">
            <a:xfrm>
              <a:off x="1259632" y="4509120"/>
              <a:ext cx="1719808" cy="0"/>
            </a:xfrm>
            <a:prstGeom prst="straightConnector1">
              <a:avLst/>
            </a:prstGeom>
            <a:solidFill>
              <a:schemeClr val="accent1"/>
            </a:solidFill>
            <a:ln w="19050" cap="flat" cmpd="sng" algn="ctr">
              <a:solidFill>
                <a:schemeClr val="bg1"/>
              </a:solidFill>
              <a:prstDash val="solid"/>
              <a:round/>
              <a:headEnd type="none" w="med" len="med"/>
              <a:tailEnd type="triangle"/>
            </a:ln>
            <a:effectLst/>
          </p:spPr>
        </p:cxnSp>
        <p:sp>
          <p:nvSpPr>
            <p:cNvPr id="12" name="Elipse 11">
              <a:extLst>
                <a:ext uri="{FF2B5EF4-FFF2-40B4-BE49-F238E27FC236}">
                  <a16:creationId xmlns:a16="http://schemas.microsoft.com/office/drawing/2014/main" id="{130084F0-5BC2-4A01-8D9E-2746BDB8D3F5}"/>
                </a:ext>
              </a:extLst>
            </p:cNvPr>
            <p:cNvSpPr/>
            <p:nvPr/>
          </p:nvSpPr>
          <p:spPr bwMode="auto">
            <a:xfrm>
              <a:off x="1547664" y="3167257"/>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5" name="Elipse 14">
              <a:extLst>
                <a:ext uri="{FF2B5EF4-FFF2-40B4-BE49-F238E27FC236}">
                  <a16:creationId xmlns:a16="http://schemas.microsoft.com/office/drawing/2014/main" id="{A6F25AD4-1AED-44B9-BA28-B91933424BAA}"/>
                </a:ext>
              </a:extLst>
            </p:cNvPr>
            <p:cNvSpPr/>
            <p:nvPr/>
          </p:nvSpPr>
          <p:spPr bwMode="auto">
            <a:xfrm>
              <a:off x="1763688" y="3743321"/>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6" name="Elipse 15">
              <a:extLst>
                <a:ext uri="{FF2B5EF4-FFF2-40B4-BE49-F238E27FC236}">
                  <a16:creationId xmlns:a16="http://schemas.microsoft.com/office/drawing/2014/main" id="{37EF9F5F-AEA2-444E-B6E5-BD977C1A4F45}"/>
                </a:ext>
              </a:extLst>
            </p:cNvPr>
            <p:cNvSpPr/>
            <p:nvPr/>
          </p:nvSpPr>
          <p:spPr bwMode="auto">
            <a:xfrm>
              <a:off x="2411772" y="3284984"/>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7" name="Elipse 16">
              <a:extLst>
                <a:ext uri="{FF2B5EF4-FFF2-40B4-BE49-F238E27FC236}">
                  <a16:creationId xmlns:a16="http://schemas.microsoft.com/office/drawing/2014/main" id="{E429C028-9106-4C2F-85C5-171EAF48766C}"/>
                </a:ext>
              </a:extLst>
            </p:cNvPr>
            <p:cNvSpPr/>
            <p:nvPr/>
          </p:nvSpPr>
          <p:spPr bwMode="auto">
            <a:xfrm>
              <a:off x="2123728" y="3573016"/>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8" name="Elipse 17">
              <a:extLst>
                <a:ext uri="{FF2B5EF4-FFF2-40B4-BE49-F238E27FC236}">
                  <a16:creationId xmlns:a16="http://schemas.microsoft.com/office/drawing/2014/main" id="{FE669790-CA0F-4E45-97F9-AC84DC2D101A}"/>
                </a:ext>
              </a:extLst>
            </p:cNvPr>
            <p:cNvSpPr/>
            <p:nvPr/>
          </p:nvSpPr>
          <p:spPr bwMode="auto">
            <a:xfrm>
              <a:off x="1547664" y="4175369"/>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9" name="Elipse 18">
              <a:extLst>
                <a:ext uri="{FF2B5EF4-FFF2-40B4-BE49-F238E27FC236}">
                  <a16:creationId xmlns:a16="http://schemas.microsoft.com/office/drawing/2014/main" id="{59CFF15C-B12C-4993-9FC1-F1455024A34F}"/>
                </a:ext>
              </a:extLst>
            </p:cNvPr>
            <p:cNvSpPr/>
            <p:nvPr/>
          </p:nvSpPr>
          <p:spPr bwMode="auto">
            <a:xfrm>
              <a:off x="2483768" y="3717032"/>
              <a:ext cx="71996" cy="45719"/>
            </a:xfrm>
            <a:prstGeom prst="ellipse">
              <a:avLst/>
            </a:prstGeom>
            <a:solidFill>
              <a:srgbClr val="00B0F0"/>
            </a:solidFill>
            <a:ln w="9525" cap="flat" cmpd="sng" algn="ctr">
              <a:solidFill>
                <a:srgbClr val="00B0F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13" name="CuadroTexto 12">
              <a:extLst>
                <a:ext uri="{FF2B5EF4-FFF2-40B4-BE49-F238E27FC236}">
                  <a16:creationId xmlns:a16="http://schemas.microsoft.com/office/drawing/2014/main" id="{C72CE515-0D45-472A-BE77-CC54470A21D6}"/>
                </a:ext>
              </a:extLst>
            </p:cNvPr>
            <p:cNvSpPr txBox="1"/>
            <p:nvPr/>
          </p:nvSpPr>
          <p:spPr>
            <a:xfrm>
              <a:off x="1439646" y="4598125"/>
              <a:ext cx="1440160" cy="248438"/>
            </a:xfrm>
            <a:prstGeom prst="rect">
              <a:avLst/>
            </a:prstGeom>
            <a:noFill/>
          </p:spPr>
          <p:txBody>
            <a:bodyPr wrap="square" rtlCol="0">
              <a:spAutoFit/>
            </a:bodyPr>
            <a:lstStyle/>
            <a:p>
              <a:pPr algn="ctr"/>
              <a:r>
                <a:rPr lang="es-AR" sz="1200" b="1" dirty="0">
                  <a:solidFill>
                    <a:schemeClr val="bg2"/>
                  </a:solidFill>
                </a:rPr>
                <a:t>Indicador 1</a:t>
              </a:r>
            </a:p>
          </p:txBody>
        </p:sp>
        <p:sp>
          <p:nvSpPr>
            <p:cNvPr id="21" name="CuadroTexto 20">
              <a:extLst>
                <a:ext uri="{FF2B5EF4-FFF2-40B4-BE49-F238E27FC236}">
                  <a16:creationId xmlns:a16="http://schemas.microsoft.com/office/drawing/2014/main" id="{5419FDF7-7B4F-472C-9B0A-0D00637CC8DD}"/>
                </a:ext>
              </a:extLst>
            </p:cNvPr>
            <p:cNvSpPr txBox="1"/>
            <p:nvPr/>
          </p:nvSpPr>
          <p:spPr>
            <a:xfrm rot="16200000">
              <a:off x="298427" y="3477109"/>
              <a:ext cx="1440160" cy="237531"/>
            </a:xfrm>
            <a:prstGeom prst="rect">
              <a:avLst/>
            </a:prstGeom>
            <a:noFill/>
          </p:spPr>
          <p:txBody>
            <a:bodyPr wrap="square" rtlCol="0">
              <a:spAutoFit/>
            </a:bodyPr>
            <a:lstStyle/>
            <a:p>
              <a:pPr algn="ctr"/>
              <a:r>
                <a:rPr lang="es-AR" sz="1200" b="1" dirty="0">
                  <a:solidFill>
                    <a:schemeClr val="bg2"/>
                  </a:solidFill>
                </a:rPr>
                <a:t>Indicador 2</a:t>
              </a:r>
            </a:p>
          </p:txBody>
        </p:sp>
      </p:grpSp>
      <p:sp>
        <p:nvSpPr>
          <p:cNvPr id="47" name="5 CuadroTexto">
            <a:extLst>
              <a:ext uri="{FF2B5EF4-FFF2-40B4-BE49-F238E27FC236}">
                <a16:creationId xmlns:a16="http://schemas.microsoft.com/office/drawing/2014/main" id="{47215BF6-40B4-4F40-81AD-EB1516D0248D}"/>
              </a:ext>
            </a:extLst>
          </p:cNvPr>
          <p:cNvSpPr txBox="1">
            <a:spLocks noChangeArrowheads="1"/>
          </p:cNvSpPr>
          <p:nvPr/>
        </p:nvSpPr>
        <p:spPr bwMode="auto">
          <a:xfrm>
            <a:off x="662000" y="5204806"/>
            <a:ext cx="778376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177800" lvl="1" indent="0" algn="just"/>
            <a:r>
              <a:rPr lang="es-AR" altLang="es-AR" dirty="0">
                <a:solidFill>
                  <a:schemeClr val="bg2"/>
                </a:solidFill>
                <a:latin typeface="Calibri" panose="020F0502020204030204" pitchFamily="34" charset="0"/>
                <a:cs typeface="Calibri" panose="020F0502020204030204" pitchFamily="34" charset="0"/>
              </a:rPr>
              <a:t>Y nos interesará poder “resumir” este espacio de propiedades para poder tener una medida </a:t>
            </a:r>
            <a:r>
              <a:rPr lang="es-AR" altLang="es-AR" b="1" dirty="0">
                <a:solidFill>
                  <a:schemeClr val="bg2"/>
                </a:solidFill>
                <a:latin typeface="Calibri" panose="020F0502020204030204" pitchFamily="34" charset="0"/>
                <a:cs typeface="Calibri" panose="020F0502020204030204" pitchFamily="34" charset="0"/>
              </a:rPr>
              <a:t>sintética</a:t>
            </a:r>
            <a:r>
              <a:rPr lang="es-AR" altLang="es-AR" dirty="0">
                <a:solidFill>
                  <a:schemeClr val="bg2"/>
                </a:solidFill>
                <a:latin typeface="Calibri" panose="020F0502020204030204" pitchFamily="34" charset="0"/>
                <a:cs typeface="Calibri" panose="020F0502020204030204" pitchFamily="34" charset="0"/>
              </a:rPr>
              <a:t> de la dimensión considerada.</a:t>
            </a:r>
            <a:endParaRPr lang="es-AR" altLang="es-AR" dirty="0">
              <a:solidFill>
                <a:schemeClr val="bg1"/>
              </a:solidFill>
              <a:latin typeface="Calibri" panose="020F0502020204030204" pitchFamily="34" charset="0"/>
              <a:cs typeface="Calibri" panose="020F0502020204030204" pitchFamily="34" charset="0"/>
            </a:endParaRPr>
          </a:p>
        </p:txBody>
      </p:sp>
      <p:sp>
        <p:nvSpPr>
          <p:cNvPr id="6" name="Marcador de número de diapositiva 5">
            <a:extLst>
              <a:ext uri="{FF2B5EF4-FFF2-40B4-BE49-F238E27FC236}">
                <a16:creationId xmlns:a16="http://schemas.microsoft.com/office/drawing/2014/main" id="{1E8DCF2B-5055-49A8-840F-784733DD0999}"/>
              </a:ext>
            </a:extLst>
          </p:cNvPr>
          <p:cNvSpPr>
            <a:spLocks noGrp="1"/>
          </p:cNvSpPr>
          <p:nvPr>
            <p:ph type="sldNum" sz="quarter" idx="12"/>
          </p:nvPr>
        </p:nvSpPr>
        <p:spPr/>
        <p:txBody>
          <a:bodyPr/>
          <a:lstStyle/>
          <a:p>
            <a:fld id="{E4801FF2-09AB-46FD-82F0-246320401FD0}" type="slidenum">
              <a:rPr lang="es-ES" altLang="en-US" smtClean="0"/>
              <a:pPr/>
              <a:t>39</a:t>
            </a:fld>
            <a:endParaRPr lang="es-ES" altLang="en-US"/>
          </a:p>
        </p:txBody>
      </p:sp>
      <p:sp>
        <p:nvSpPr>
          <p:cNvPr id="7" name="Marcador de pie de página 6">
            <a:extLst>
              <a:ext uri="{FF2B5EF4-FFF2-40B4-BE49-F238E27FC236}">
                <a16:creationId xmlns:a16="http://schemas.microsoft.com/office/drawing/2014/main" id="{8CB32184-B50B-411C-A53B-E097F99E775B}"/>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214692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Reducción del espacio de propiedades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La principal utilidad de esta noción de espacio de propiedades es que nos permite pensar en la complejidad de los datos cuantitativos y en la manera de reducir dicha complejidad.</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Por ello, identificamos tres formas principales de </a:t>
            </a:r>
            <a:r>
              <a:rPr lang="es-AR" altLang="es-AR" b="1" dirty="0">
                <a:solidFill>
                  <a:schemeClr val="accent1"/>
                </a:solidFill>
                <a:latin typeface="Calibri" panose="020F0502020204030204" pitchFamily="34" charset="0"/>
                <a:cs typeface="Calibri" panose="020F0502020204030204" pitchFamily="34" charset="0"/>
              </a:rPr>
              <a:t>reducción</a:t>
            </a:r>
            <a:r>
              <a:rPr lang="es-AR" altLang="es-AR" dirty="0">
                <a:solidFill>
                  <a:schemeClr val="bg2"/>
                </a:solidFill>
                <a:latin typeface="Calibri" panose="020F0502020204030204" pitchFamily="34" charset="0"/>
                <a:cs typeface="Calibri" panose="020F0502020204030204" pitchFamily="34" charset="0"/>
              </a:rPr>
              <a:t> del espacio de propiedades:</a:t>
            </a:r>
          </a:p>
        </p:txBody>
      </p:sp>
      <p:sp>
        <p:nvSpPr>
          <p:cNvPr id="20" name="5 CuadroTexto">
            <a:extLst>
              <a:ext uri="{FF2B5EF4-FFF2-40B4-BE49-F238E27FC236}">
                <a16:creationId xmlns:a16="http://schemas.microsoft.com/office/drawing/2014/main" id="{128AEEEC-95AB-4B2F-8892-97FBC528ABAB}"/>
              </a:ext>
            </a:extLst>
          </p:cNvPr>
          <p:cNvSpPr txBox="1">
            <a:spLocks noChangeArrowheads="1"/>
          </p:cNvSpPr>
          <p:nvPr/>
        </p:nvSpPr>
        <p:spPr bwMode="auto">
          <a:xfrm>
            <a:off x="662012" y="3573016"/>
            <a:ext cx="775495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Reducción simple o </a:t>
            </a:r>
            <a:r>
              <a:rPr lang="es-AR" altLang="es-AR" b="1" dirty="0">
                <a:solidFill>
                  <a:schemeClr val="accent1"/>
                </a:solidFill>
                <a:latin typeface="Calibri" panose="020F0502020204030204" pitchFamily="34" charset="0"/>
                <a:cs typeface="Calibri" panose="020F0502020204030204" pitchFamily="34" charset="0"/>
              </a:rPr>
              <a:t>simplificación</a:t>
            </a:r>
          </a:p>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Reducción numérica o </a:t>
            </a:r>
            <a:r>
              <a:rPr lang="es-AR" altLang="es-AR" b="1" dirty="0">
                <a:solidFill>
                  <a:schemeClr val="accent1"/>
                </a:solidFill>
                <a:latin typeface="Calibri" panose="020F0502020204030204" pitchFamily="34" charset="0"/>
                <a:cs typeface="Calibri" panose="020F0502020204030204" pitchFamily="34" charset="0"/>
              </a:rPr>
              <a:t>construcción de índices o escalas</a:t>
            </a:r>
          </a:p>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Reducción “pragmática” o </a:t>
            </a:r>
            <a:r>
              <a:rPr lang="es-AR" altLang="es-AR" b="1" dirty="0">
                <a:solidFill>
                  <a:schemeClr val="accent1"/>
                </a:solidFill>
                <a:latin typeface="Calibri" panose="020F0502020204030204" pitchFamily="34" charset="0"/>
                <a:cs typeface="Calibri" panose="020F0502020204030204" pitchFamily="34" charset="0"/>
              </a:rPr>
              <a:t>construcción de tipologías</a:t>
            </a:r>
            <a:endParaRPr lang="es-AR" altLang="es-AR" dirty="0">
              <a:solidFill>
                <a:schemeClr val="accent1"/>
              </a:solidFill>
              <a:latin typeface="Calibri" panose="020F0502020204030204" pitchFamily="34" charset="0"/>
              <a:cs typeface="Calibri" panose="020F0502020204030204" pitchFamily="34" charset="0"/>
            </a:endParaRPr>
          </a:p>
        </p:txBody>
      </p:sp>
      <p:sp>
        <p:nvSpPr>
          <p:cNvPr id="3" name="Marcador de número de diapositiva 2">
            <a:extLst>
              <a:ext uri="{FF2B5EF4-FFF2-40B4-BE49-F238E27FC236}">
                <a16:creationId xmlns:a16="http://schemas.microsoft.com/office/drawing/2014/main" id="{07FE013C-D0AD-4075-9979-7A4CE19D2080}"/>
              </a:ext>
            </a:extLst>
          </p:cNvPr>
          <p:cNvSpPr>
            <a:spLocks noGrp="1"/>
          </p:cNvSpPr>
          <p:nvPr>
            <p:ph type="sldNum" sz="quarter" idx="12"/>
          </p:nvPr>
        </p:nvSpPr>
        <p:spPr/>
        <p:txBody>
          <a:bodyPr/>
          <a:lstStyle/>
          <a:p>
            <a:fld id="{E4801FF2-09AB-46FD-82F0-246320401FD0}" type="slidenum">
              <a:rPr lang="es-ES" altLang="en-US" smtClean="0"/>
              <a:pPr/>
              <a:t>40</a:t>
            </a:fld>
            <a:endParaRPr lang="es-ES" altLang="en-US"/>
          </a:p>
        </p:txBody>
      </p:sp>
      <p:sp>
        <p:nvSpPr>
          <p:cNvPr id="4" name="Marcador de pie de página 3">
            <a:extLst>
              <a:ext uri="{FF2B5EF4-FFF2-40B4-BE49-F238E27FC236}">
                <a16:creationId xmlns:a16="http://schemas.microsoft.com/office/drawing/2014/main" id="{1FF118BB-9445-4318-80E0-C7BF92F32D57}"/>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500473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Simplificación</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Simplificación</a:t>
            </a:r>
            <a:r>
              <a:rPr lang="es-AR" altLang="es-AR" dirty="0">
                <a:solidFill>
                  <a:schemeClr val="bg2"/>
                </a:solidFill>
                <a:latin typeface="Calibri" panose="020F0502020204030204" pitchFamily="34" charset="0"/>
                <a:cs typeface="Calibri" panose="020F0502020204030204" pitchFamily="34" charset="0"/>
              </a:rPr>
              <a:t>: consiste en “juntar” las categorías de una variable en un número menor de categorías. </a:t>
            </a:r>
            <a:r>
              <a:rPr lang="es-AR" altLang="es-AR" i="1" dirty="0">
                <a:solidFill>
                  <a:schemeClr val="bg2"/>
                </a:solidFill>
                <a:latin typeface="Calibri" panose="020F0502020204030204" pitchFamily="34" charset="0"/>
                <a:cs typeface="Calibri" panose="020F0502020204030204" pitchFamily="34" charset="0"/>
              </a:rPr>
              <a:t>Se realiza sobre una sola variable</a:t>
            </a:r>
            <a:r>
              <a:rPr lang="es-AR" altLang="es-AR" dirty="0">
                <a:solidFill>
                  <a:schemeClr val="bg2"/>
                </a:solidFill>
                <a:latin typeface="Calibri" panose="020F0502020204030204" pitchFamily="34" charset="0"/>
                <a:cs typeface="Calibri" panose="020F0502020204030204" pitchFamily="34" charset="0"/>
              </a:rPr>
              <a:t>.</a:t>
            </a:r>
          </a:p>
        </p:txBody>
      </p:sp>
      <p:graphicFrame>
        <p:nvGraphicFramePr>
          <p:cNvPr id="6" name="3 Tabla">
            <a:extLst>
              <a:ext uri="{FF2B5EF4-FFF2-40B4-BE49-F238E27FC236}">
                <a16:creationId xmlns:a16="http://schemas.microsoft.com/office/drawing/2014/main" id="{0219610F-D1DA-4A06-969D-9620469AC33E}"/>
              </a:ext>
            </a:extLst>
          </p:cNvPr>
          <p:cNvGraphicFramePr>
            <a:graphicFrameLocks noGrp="1"/>
          </p:cNvGraphicFramePr>
          <p:nvPr>
            <p:extLst>
              <p:ext uri="{D42A27DB-BD31-4B8C-83A1-F6EECF244321}">
                <p14:modId xmlns:p14="http://schemas.microsoft.com/office/powerpoint/2010/main" val="2268943695"/>
              </p:ext>
            </p:extLst>
          </p:nvPr>
        </p:nvGraphicFramePr>
        <p:xfrm>
          <a:off x="926200" y="2642090"/>
          <a:ext cx="6268474" cy="653161"/>
        </p:xfrm>
        <a:graphic>
          <a:graphicData uri="http://schemas.openxmlformats.org/drawingml/2006/table">
            <a:tbl>
              <a:tblPr>
                <a:tableStyleId>{B301B821-A1FF-4177-AEE7-76D212191A09}</a:tableStyleId>
              </a:tblPr>
              <a:tblGrid>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Cantidad de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 2 3 … </a:t>
                      </a:r>
                      <a:r>
                        <a:rPr lang="es-AR" sz="1000" b="0" i="1" u="none" strike="noStrike" dirty="0">
                          <a:solidFill>
                            <a:srgbClr val="000000"/>
                          </a:solidFill>
                          <a:effectLst/>
                          <a:latin typeface="+mn-lt"/>
                        </a:rPr>
                        <a:t>n</a:t>
                      </a:r>
                      <a:r>
                        <a:rPr lang="es-AR" sz="1000" b="0" i="0" u="none" strike="noStrike" dirty="0">
                          <a:solidFill>
                            <a:srgbClr val="000000"/>
                          </a:solidFill>
                          <a:effectLst/>
                          <a:latin typeface="+mn-lt"/>
                        </a:rPr>
                        <a:t> personas por cuarto habitable</a:t>
                      </a:r>
                    </a:p>
                  </a:txBody>
                  <a:tcPr marL="6258" marR="6258" marT="6258" marB="0" anchor="ctr"/>
                </a:tc>
                <a:extLst>
                  <a:ext uri="{0D108BD9-81ED-4DB2-BD59-A6C34878D82A}">
                    <a16:rowId xmlns:a16="http://schemas.microsoft.com/office/drawing/2014/main" val="10001"/>
                  </a:ext>
                </a:extLst>
              </a:tr>
            </a:tbl>
          </a:graphicData>
        </a:graphic>
      </p:graphicFrame>
      <p:graphicFrame>
        <p:nvGraphicFramePr>
          <p:cNvPr id="7" name="3 Tabla">
            <a:extLst>
              <a:ext uri="{FF2B5EF4-FFF2-40B4-BE49-F238E27FC236}">
                <a16:creationId xmlns:a16="http://schemas.microsoft.com/office/drawing/2014/main" id="{3316C4C4-A753-4215-BC29-F0C4F4E7FFF5}"/>
              </a:ext>
            </a:extLst>
          </p:cNvPr>
          <p:cNvGraphicFramePr>
            <a:graphicFrameLocks noGrp="1"/>
          </p:cNvGraphicFramePr>
          <p:nvPr>
            <p:extLst>
              <p:ext uri="{D42A27DB-BD31-4B8C-83A1-F6EECF244321}">
                <p14:modId xmlns:p14="http://schemas.microsoft.com/office/powerpoint/2010/main" val="1667537872"/>
              </p:ext>
            </p:extLst>
          </p:nvPr>
        </p:nvGraphicFramePr>
        <p:xfrm>
          <a:off x="926200" y="3789040"/>
          <a:ext cx="6268474" cy="653161"/>
        </p:xfrm>
        <a:graphic>
          <a:graphicData uri="http://schemas.openxmlformats.org/drawingml/2006/table">
            <a:tbl>
              <a:tblPr>
                <a:tableStyleId>{B301B821-A1FF-4177-AEE7-76D212191A09}</a:tableStyleId>
              </a:tblPr>
              <a:tblGrid>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Cantidad de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Hasta 3 personas por cuarto habitable</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4 o más personas por cuarto habitable</a:t>
                      </a:r>
                    </a:p>
                  </a:txBody>
                  <a:tcPr marL="6258" marR="6258" marT="6258" marB="0" anchor="ctr"/>
                </a:tc>
                <a:extLst>
                  <a:ext uri="{0D108BD9-81ED-4DB2-BD59-A6C34878D82A}">
                    <a16:rowId xmlns:a16="http://schemas.microsoft.com/office/drawing/2014/main" val="10001"/>
                  </a:ext>
                </a:extLst>
              </a:tr>
            </a:tbl>
          </a:graphicData>
        </a:graphic>
      </p:graphicFrame>
      <p:graphicFrame>
        <p:nvGraphicFramePr>
          <p:cNvPr id="8" name="3 Tabla">
            <a:extLst>
              <a:ext uri="{FF2B5EF4-FFF2-40B4-BE49-F238E27FC236}">
                <a16:creationId xmlns:a16="http://schemas.microsoft.com/office/drawing/2014/main" id="{4C03491D-CD0E-4F18-AB8D-6D3710481A53}"/>
              </a:ext>
            </a:extLst>
          </p:cNvPr>
          <p:cNvGraphicFramePr>
            <a:graphicFrameLocks noGrp="1"/>
          </p:cNvGraphicFramePr>
          <p:nvPr>
            <p:extLst>
              <p:ext uri="{D42A27DB-BD31-4B8C-83A1-F6EECF244321}">
                <p14:modId xmlns:p14="http://schemas.microsoft.com/office/powerpoint/2010/main" val="2161535956"/>
              </p:ext>
            </p:extLst>
          </p:nvPr>
        </p:nvGraphicFramePr>
        <p:xfrm>
          <a:off x="900113" y="4906857"/>
          <a:ext cx="6268474" cy="653161"/>
        </p:xfrm>
        <a:graphic>
          <a:graphicData uri="http://schemas.openxmlformats.org/drawingml/2006/table">
            <a:tbl>
              <a:tblPr>
                <a:tableStyleId>{B301B821-A1FF-4177-AEE7-76D212191A09}</a:tableStyleId>
              </a:tblPr>
              <a:tblGrid>
                <a:gridCol w="2452050">
                  <a:extLst>
                    <a:ext uri="{9D8B030D-6E8A-4147-A177-3AD203B41FA5}">
                      <a16:colId xmlns:a16="http://schemas.microsoft.com/office/drawing/2014/main" val="20001"/>
                    </a:ext>
                  </a:extLst>
                </a:gridCol>
                <a:gridCol w="3816424">
                  <a:extLst>
                    <a:ext uri="{9D8B030D-6E8A-4147-A177-3AD203B41FA5}">
                      <a16:colId xmlns:a16="http://schemas.microsoft.com/office/drawing/2014/main" val="20002"/>
                    </a:ext>
                  </a:extLst>
                </a:gridCol>
              </a:tblGrid>
              <a:tr h="109547">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extLst>
                  <a:ext uri="{0D108BD9-81ED-4DB2-BD59-A6C34878D82A}">
                    <a16:rowId xmlns:a16="http://schemas.microsoft.com/office/drawing/2014/main" val="10000"/>
                  </a:ext>
                </a:extLst>
              </a:tr>
              <a:tr h="494503">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Cantidad de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Sin hacinamiento (3 o menos personas por cuarto)</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Con hacinamiento moderado (4 personas por cuarto)</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Con hacinamiento crítico (5 o más personas por cuarto)</a:t>
                      </a:r>
                    </a:p>
                  </a:txBody>
                  <a:tcPr marL="6258" marR="6258" marT="6258" marB="0" anchor="ctr"/>
                </a:tc>
                <a:extLst>
                  <a:ext uri="{0D108BD9-81ED-4DB2-BD59-A6C34878D82A}">
                    <a16:rowId xmlns:a16="http://schemas.microsoft.com/office/drawing/2014/main" val="10001"/>
                  </a:ext>
                </a:extLst>
              </a:tr>
            </a:tbl>
          </a:graphicData>
        </a:graphic>
      </p:graphicFrame>
      <p:sp>
        <p:nvSpPr>
          <p:cNvPr id="3" name="Marcador de número de diapositiva 2">
            <a:extLst>
              <a:ext uri="{FF2B5EF4-FFF2-40B4-BE49-F238E27FC236}">
                <a16:creationId xmlns:a16="http://schemas.microsoft.com/office/drawing/2014/main" id="{051E6E2E-3A3D-4560-A2F0-28C0EB906AFE}"/>
              </a:ext>
            </a:extLst>
          </p:cNvPr>
          <p:cNvSpPr>
            <a:spLocks noGrp="1"/>
          </p:cNvSpPr>
          <p:nvPr>
            <p:ph type="sldNum" sz="quarter" idx="12"/>
          </p:nvPr>
        </p:nvSpPr>
        <p:spPr/>
        <p:txBody>
          <a:bodyPr/>
          <a:lstStyle/>
          <a:p>
            <a:fld id="{E4801FF2-09AB-46FD-82F0-246320401FD0}" type="slidenum">
              <a:rPr lang="es-ES" altLang="en-US" smtClean="0"/>
              <a:pPr/>
              <a:t>41</a:t>
            </a:fld>
            <a:endParaRPr lang="es-ES" altLang="en-US"/>
          </a:p>
        </p:txBody>
      </p:sp>
      <p:sp>
        <p:nvSpPr>
          <p:cNvPr id="4" name="Marcador de pie de página 3">
            <a:extLst>
              <a:ext uri="{FF2B5EF4-FFF2-40B4-BE49-F238E27FC236}">
                <a16:creationId xmlns:a16="http://schemas.microsoft.com/office/drawing/2014/main" id="{8BBA2834-9E8A-4505-A581-34230DDC97F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99643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up)">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Simplificación: pobreza multidimensional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Simplificación</a:t>
            </a:r>
            <a:r>
              <a:rPr lang="es-AR" altLang="es-AR" dirty="0">
                <a:solidFill>
                  <a:schemeClr val="bg2"/>
                </a:solidFill>
                <a:latin typeface="Calibri" panose="020F0502020204030204" pitchFamily="34" charset="0"/>
                <a:cs typeface="Calibri" panose="020F0502020204030204" pitchFamily="34" charset="0"/>
              </a:rPr>
              <a:t>: en el ejemplo de pobreza multidimensional, tenemos la siguiente simplificación en el caso del indicador de </a:t>
            </a:r>
            <a:r>
              <a:rPr lang="es-AR" altLang="es-AR" i="1" dirty="0">
                <a:solidFill>
                  <a:schemeClr val="bg2"/>
                </a:solidFill>
                <a:latin typeface="Calibri" panose="020F0502020204030204" pitchFamily="34" charset="0"/>
                <a:cs typeface="Calibri" panose="020F0502020204030204" pitchFamily="34" charset="0"/>
              </a:rPr>
              <a:t>cantidad de personas por cuarto habitable</a:t>
            </a:r>
            <a:endParaRPr lang="es-AR" altLang="es-AR" dirty="0">
              <a:solidFill>
                <a:schemeClr val="bg2"/>
              </a:solidFill>
              <a:latin typeface="Calibri" panose="020F0502020204030204" pitchFamily="34" charset="0"/>
              <a:cs typeface="Calibri" panose="020F0502020204030204" pitchFamily="34" charset="0"/>
            </a:endParaRPr>
          </a:p>
        </p:txBody>
      </p:sp>
      <p:graphicFrame>
        <p:nvGraphicFramePr>
          <p:cNvPr id="15" name="3 Tabla">
            <a:extLst>
              <a:ext uri="{FF2B5EF4-FFF2-40B4-BE49-F238E27FC236}">
                <a16:creationId xmlns:a16="http://schemas.microsoft.com/office/drawing/2014/main" id="{F1CF30D0-751A-44B1-B942-CF0791FBF729}"/>
              </a:ext>
            </a:extLst>
          </p:cNvPr>
          <p:cNvGraphicFramePr>
            <a:graphicFrameLocks noGrp="1"/>
          </p:cNvGraphicFramePr>
          <p:nvPr>
            <p:extLst>
              <p:ext uri="{D42A27DB-BD31-4B8C-83A1-F6EECF244321}">
                <p14:modId xmlns:p14="http://schemas.microsoft.com/office/powerpoint/2010/main" val="3626606944"/>
              </p:ext>
            </p:extLst>
          </p:nvPr>
        </p:nvGraphicFramePr>
        <p:xfrm>
          <a:off x="925062" y="3036980"/>
          <a:ext cx="7767056" cy="2336236"/>
        </p:xfrm>
        <a:graphic>
          <a:graphicData uri="http://schemas.openxmlformats.org/drawingml/2006/table">
            <a:tbl>
              <a:tblPr>
                <a:tableStyleId>{B301B821-A1FF-4177-AEE7-76D212191A09}</a:tableStyleId>
              </a:tblPr>
              <a:tblGrid>
                <a:gridCol w="1888488">
                  <a:extLst>
                    <a:ext uri="{9D8B030D-6E8A-4147-A177-3AD203B41FA5}">
                      <a16:colId xmlns:a16="http://schemas.microsoft.com/office/drawing/2014/main" val="20001"/>
                    </a:ext>
                  </a:extLst>
                </a:gridCol>
                <a:gridCol w="2334514">
                  <a:extLst>
                    <a:ext uri="{9D8B030D-6E8A-4147-A177-3AD203B41FA5}">
                      <a16:colId xmlns:a16="http://schemas.microsoft.com/office/drawing/2014/main" val="20002"/>
                    </a:ext>
                  </a:extLst>
                </a:gridCol>
                <a:gridCol w="3544054">
                  <a:extLst>
                    <a:ext uri="{9D8B030D-6E8A-4147-A177-3AD203B41FA5}">
                      <a16:colId xmlns:a16="http://schemas.microsoft.com/office/drawing/2014/main" val="2385409671"/>
                    </a:ext>
                  </a:extLst>
                </a:gridCol>
              </a:tblGrid>
              <a:tr h="671140">
                <a:tc>
                  <a:txBody>
                    <a:bodyPr/>
                    <a:lstStyle/>
                    <a:p>
                      <a:pPr algn="ctr" fontAlgn="ctr"/>
                      <a:r>
                        <a:rPr lang="es-AR" sz="1600" b="1" u="none" strike="noStrike" dirty="0">
                          <a:effectLst/>
                          <a:latin typeface="+mn-lt"/>
                        </a:rPr>
                        <a:t>INDICADORES</a:t>
                      </a:r>
                      <a:endParaRPr lang="es-AR" sz="1600" b="1" i="0" u="none" strike="noStrike" dirty="0">
                        <a:solidFill>
                          <a:srgbClr val="000000"/>
                        </a:solidFill>
                        <a:effectLst/>
                        <a:latin typeface="+mn-lt"/>
                      </a:endParaRPr>
                    </a:p>
                  </a:txBody>
                  <a:tcPr marL="6258" marR="6258" marT="6258" marB="0" anchor="ctr"/>
                </a:tc>
                <a:tc>
                  <a:txBody>
                    <a:bodyPr/>
                    <a:lstStyle/>
                    <a:p>
                      <a:pPr algn="ctr" fontAlgn="ctr"/>
                      <a:r>
                        <a:rPr lang="es-AR" sz="1600" b="1" u="none" strike="noStrike" dirty="0">
                          <a:effectLst/>
                          <a:latin typeface="+mn-lt"/>
                        </a:rPr>
                        <a:t>CATEGORIAS (ORIGINALES)</a:t>
                      </a:r>
                      <a:endParaRPr lang="es-AR" sz="1600" b="1" i="0" u="none" strike="noStrike" dirty="0">
                        <a:solidFill>
                          <a:srgbClr val="000000"/>
                        </a:solidFill>
                        <a:effectLst/>
                        <a:latin typeface="+mn-lt"/>
                      </a:endParaRPr>
                    </a:p>
                  </a:txBody>
                  <a:tcPr marL="6258" marR="6258" marT="6258" marB="0" anchor="ctr"/>
                </a:tc>
                <a:tc>
                  <a:txBody>
                    <a:bodyPr/>
                    <a:lstStyle/>
                    <a:p>
                      <a:pPr algn="ctr" fontAlgn="ctr"/>
                      <a:r>
                        <a:rPr lang="es-AR" sz="1600" b="1" i="0" u="none" strike="noStrike" dirty="0">
                          <a:solidFill>
                            <a:srgbClr val="000000"/>
                          </a:solidFill>
                          <a:effectLst/>
                          <a:latin typeface="+mn-lt"/>
                        </a:rPr>
                        <a:t>CATEGORÍAS (SIMPLIFICACIÓN)</a:t>
                      </a:r>
                    </a:p>
                  </a:txBody>
                  <a:tcPr marL="6258" marR="6258" marT="6258" marB="0" anchor="ctr"/>
                </a:tc>
                <a:extLst>
                  <a:ext uri="{0D108BD9-81ED-4DB2-BD59-A6C34878D82A}">
                    <a16:rowId xmlns:a16="http://schemas.microsoft.com/office/drawing/2014/main" val="10000"/>
                  </a:ext>
                </a:extLst>
              </a:tr>
              <a:tr h="1665096">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600" u="none" strike="noStrike" dirty="0">
                          <a:effectLst/>
                          <a:latin typeface="+mn-lt"/>
                        </a:rPr>
                        <a:t>Cantidad de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600" b="0" i="0" u="none" strike="noStrike" dirty="0">
                          <a:solidFill>
                            <a:srgbClr val="000000"/>
                          </a:solidFill>
                          <a:effectLst/>
                          <a:latin typeface="+mn-lt"/>
                        </a:rPr>
                        <a:t>1, 2 3 … </a:t>
                      </a:r>
                      <a:r>
                        <a:rPr lang="es-AR" sz="1600" b="0" i="1" u="none" strike="noStrike" dirty="0">
                          <a:solidFill>
                            <a:srgbClr val="000000"/>
                          </a:solidFill>
                          <a:effectLst/>
                          <a:latin typeface="+mn-lt"/>
                        </a:rPr>
                        <a:t>n</a:t>
                      </a:r>
                      <a:r>
                        <a:rPr lang="es-AR" sz="1600" b="0" i="0" u="none" strike="noStrike" dirty="0">
                          <a:solidFill>
                            <a:srgbClr val="000000"/>
                          </a:solidFill>
                          <a:effectLst/>
                          <a:latin typeface="+mn-lt"/>
                        </a:rPr>
                        <a:t> personas por cuarto habitable</a:t>
                      </a:r>
                    </a:p>
                  </a:txBody>
                  <a:tcPr marL="6258" marR="6258" marT="6258" marB="0" anchor="ctr"/>
                </a:tc>
                <a:tc>
                  <a:txBody>
                    <a:bodyPr/>
                    <a:lstStyle/>
                    <a:p>
                      <a:pPr marL="628650" lvl="1" indent="-171450" algn="just" fontAlgn="ctr">
                        <a:buFont typeface="Arial" panose="020B0604020202020204" pitchFamily="34" charset="0"/>
                        <a:buChar char="•"/>
                      </a:pPr>
                      <a:r>
                        <a:rPr lang="es-AR" sz="1600" b="0" i="0" u="none" strike="noStrike" dirty="0">
                          <a:solidFill>
                            <a:srgbClr val="000000"/>
                          </a:solidFill>
                          <a:effectLst/>
                          <a:latin typeface="+mn-lt"/>
                        </a:rPr>
                        <a:t>Sin déficit</a:t>
                      </a:r>
                    </a:p>
                    <a:p>
                      <a:pPr marL="628650" lvl="1" indent="-171450" algn="just" fontAlgn="ctr">
                        <a:buFont typeface="Arial" panose="020B0604020202020204" pitchFamily="34" charset="0"/>
                        <a:buChar char="•"/>
                      </a:pPr>
                      <a:r>
                        <a:rPr lang="es-AR" sz="1600" b="0" i="0" u="none" strike="noStrike" dirty="0">
                          <a:solidFill>
                            <a:srgbClr val="000000"/>
                          </a:solidFill>
                          <a:effectLst/>
                          <a:latin typeface="+mn-lt"/>
                        </a:rPr>
                        <a:t>Déficit moderado (4 personas por cuarto)</a:t>
                      </a:r>
                    </a:p>
                    <a:p>
                      <a:pPr marL="628650" lvl="1" indent="-171450" algn="just" fontAlgn="ctr">
                        <a:buFont typeface="Arial" panose="020B0604020202020204" pitchFamily="34" charset="0"/>
                        <a:buChar char="•"/>
                      </a:pPr>
                      <a:r>
                        <a:rPr lang="es-AR" sz="1600" b="0" i="0" u="none" strike="noStrike" dirty="0">
                          <a:solidFill>
                            <a:srgbClr val="000000"/>
                          </a:solidFill>
                          <a:effectLst/>
                          <a:latin typeface="+mn-lt"/>
                        </a:rPr>
                        <a:t>Déficit severo (5 o más personas por cuarto)</a:t>
                      </a:r>
                    </a:p>
                  </a:txBody>
                  <a:tcPr marL="6258" marR="6258" marT="6258" marB="0" anchor="ctr"/>
                </a:tc>
                <a:extLst>
                  <a:ext uri="{0D108BD9-81ED-4DB2-BD59-A6C34878D82A}">
                    <a16:rowId xmlns:a16="http://schemas.microsoft.com/office/drawing/2014/main" val="10001"/>
                  </a:ext>
                </a:extLst>
              </a:tr>
            </a:tbl>
          </a:graphicData>
        </a:graphic>
      </p:graphicFrame>
      <p:sp>
        <p:nvSpPr>
          <p:cNvPr id="3" name="Marcador de número de diapositiva 2">
            <a:extLst>
              <a:ext uri="{FF2B5EF4-FFF2-40B4-BE49-F238E27FC236}">
                <a16:creationId xmlns:a16="http://schemas.microsoft.com/office/drawing/2014/main" id="{0763FB6A-A15E-4C8B-B22D-345103EAAB89}"/>
              </a:ext>
            </a:extLst>
          </p:cNvPr>
          <p:cNvSpPr>
            <a:spLocks noGrp="1"/>
          </p:cNvSpPr>
          <p:nvPr>
            <p:ph type="sldNum" sz="quarter" idx="12"/>
          </p:nvPr>
        </p:nvSpPr>
        <p:spPr/>
        <p:txBody>
          <a:bodyPr/>
          <a:lstStyle/>
          <a:p>
            <a:fld id="{E4801FF2-09AB-46FD-82F0-246320401FD0}" type="slidenum">
              <a:rPr lang="es-ES" altLang="en-US" smtClean="0"/>
              <a:pPr/>
              <a:t>42</a:t>
            </a:fld>
            <a:endParaRPr lang="es-ES" altLang="en-US"/>
          </a:p>
        </p:txBody>
      </p:sp>
      <p:sp>
        <p:nvSpPr>
          <p:cNvPr id="4" name="Marcador de pie de página 3">
            <a:extLst>
              <a:ext uri="{FF2B5EF4-FFF2-40B4-BE49-F238E27FC236}">
                <a16:creationId xmlns:a16="http://schemas.microsoft.com/office/drawing/2014/main" id="{22DBB078-BF9E-4F7D-8486-4A2776783B59}"/>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3836842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up)">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Índices numéricos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Reducción numérica</a:t>
            </a:r>
            <a:r>
              <a:rPr lang="es-AR" altLang="es-AR" dirty="0">
                <a:solidFill>
                  <a:schemeClr val="bg2"/>
                </a:solidFill>
                <a:latin typeface="Calibri" panose="020F0502020204030204" pitchFamily="34" charset="0"/>
                <a:cs typeface="Calibri" panose="020F0502020204030204" pitchFamily="34" charset="0"/>
              </a:rPr>
              <a:t>: se combinan las posiciones de un espacio de propiedades asignando puntajes a las distintas categorías de las variables. </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De esta forma, se combinan variables en una sola variable resumen o </a:t>
            </a:r>
            <a:r>
              <a:rPr lang="es-AR" altLang="es-AR" b="1" dirty="0">
                <a:solidFill>
                  <a:schemeClr val="accent1"/>
                </a:solidFill>
                <a:latin typeface="Calibri" panose="020F0502020204030204" pitchFamily="34" charset="0"/>
                <a:cs typeface="Calibri" panose="020F0502020204030204" pitchFamily="34" charset="0"/>
              </a:rPr>
              <a:t>índice</a:t>
            </a:r>
            <a:r>
              <a:rPr lang="es-AR" altLang="es-AR" b="1" dirty="0">
                <a:solidFill>
                  <a:schemeClr val="bg2"/>
                </a:solidFill>
                <a:latin typeface="Calibri" panose="020F0502020204030204" pitchFamily="34" charset="0"/>
                <a:cs typeface="Calibri" panose="020F0502020204030204" pitchFamily="34" charset="0"/>
              </a:rPr>
              <a:t>.</a:t>
            </a:r>
          </a:p>
          <a:p>
            <a:pPr marL="177800" lvl="1" indent="0" algn="just"/>
            <a:endParaRPr lang="es-AR" altLang="es-AR" b="1" i="1"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La construcción de índices supone una serie de etapas (</a:t>
            </a:r>
            <a:r>
              <a:rPr lang="es-AR" altLang="es-AR" dirty="0" err="1">
                <a:solidFill>
                  <a:schemeClr val="bg2"/>
                </a:solidFill>
                <a:latin typeface="Calibri" panose="020F0502020204030204" pitchFamily="34" charset="0"/>
                <a:cs typeface="Calibri" panose="020F0502020204030204" pitchFamily="34" charset="0"/>
              </a:rPr>
              <a:t>Babbie</a:t>
            </a:r>
            <a:r>
              <a:rPr lang="es-AR" altLang="es-AR" dirty="0">
                <a:solidFill>
                  <a:schemeClr val="bg2"/>
                </a:solidFill>
                <a:latin typeface="Calibri" panose="020F0502020204030204" pitchFamily="34" charset="0"/>
                <a:cs typeface="Calibri" panose="020F0502020204030204" pitchFamily="34" charset="0"/>
              </a:rPr>
              <a:t>, 2003):</a:t>
            </a:r>
          </a:p>
        </p:txBody>
      </p:sp>
      <p:sp>
        <p:nvSpPr>
          <p:cNvPr id="6" name="5 CuadroTexto">
            <a:extLst>
              <a:ext uri="{FF2B5EF4-FFF2-40B4-BE49-F238E27FC236}">
                <a16:creationId xmlns:a16="http://schemas.microsoft.com/office/drawing/2014/main" id="{A0D8886A-2DF8-4C65-BB35-C3E388B9B5B1}"/>
              </a:ext>
            </a:extLst>
          </p:cNvPr>
          <p:cNvSpPr txBox="1">
            <a:spLocks noChangeArrowheads="1"/>
          </p:cNvSpPr>
          <p:nvPr/>
        </p:nvSpPr>
        <p:spPr bwMode="auto">
          <a:xfrm>
            <a:off x="662012" y="3573016"/>
            <a:ext cx="775495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Seleccionar los indicadores.</a:t>
            </a:r>
          </a:p>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Examinar las relaciones empíricas entre los indicadores.</a:t>
            </a:r>
          </a:p>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Combinar los indicadores en un índice: definir las puntuaciones.</a:t>
            </a:r>
            <a:endParaRPr lang="es-AR" altLang="es-AR" dirty="0">
              <a:solidFill>
                <a:schemeClr val="accent1"/>
              </a:solidFill>
              <a:latin typeface="Calibri" panose="020F0502020204030204" pitchFamily="34" charset="0"/>
              <a:cs typeface="Calibri" panose="020F0502020204030204" pitchFamily="34" charset="0"/>
            </a:endParaRPr>
          </a:p>
          <a:p>
            <a:pPr marL="863600" lvl="2" algn="just">
              <a:buFont typeface="Arial" panose="020B0604020202020204" pitchFamily="34" charset="0"/>
              <a:buChar char="•"/>
            </a:pPr>
            <a:r>
              <a:rPr lang="es-AR" altLang="es-AR" dirty="0">
                <a:solidFill>
                  <a:schemeClr val="bg2"/>
                </a:solidFill>
                <a:latin typeface="Calibri" panose="020F0502020204030204" pitchFamily="34" charset="0"/>
                <a:cs typeface="Calibri" panose="020F0502020204030204" pitchFamily="34" charset="0"/>
              </a:rPr>
              <a:t>Validar el índice: validez interna y con criterios externos.</a:t>
            </a:r>
            <a:endParaRPr lang="es-AR" altLang="es-AR" dirty="0">
              <a:solidFill>
                <a:schemeClr val="accent1"/>
              </a:solidFill>
              <a:latin typeface="Calibri" panose="020F0502020204030204" pitchFamily="34" charset="0"/>
              <a:cs typeface="Calibri" panose="020F0502020204030204" pitchFamily="34" charset="0"/>
            </a:endParaRPr>
          </a:p>
        </p:txBody>
      </p:sp>
      <p:sp>
        <p:nvSpPr>
          <p:cNvPr id="3" name="Marcador de número de diapositiva 2">
            <a:extLst>
              <a:ext uri="{FF2B5EF4-FFF2-40B4-BE49-F238E27FC236}">
                <a16:creationId xmlns:a16="http://schemas.microsoft.com/office/drawing/2014/main" id="{6BDB8BD5-7446-421D-9903-DD03C9C839BE}"/>
              </a:ext>
            </a:extLst>
          </p:cNvPr>
          <p:cNvSpPr>
            <a:spLocks noGrp="1"/>
          </p:cNvSpPr>
          <p:nvPr>
            <p:ph type="sldNum" sz="quarter" idx="12"/>
          </p:nvPr>
        </p:nvSpPr>
        <p:spPr/>
        <p:txBody>
          <a:bodyPr/>
          <a:lstStyle/>
          <a:p>
            <a:fld id="{E4801FF2-09AB-46FD-82F0-246320401FD0}" type="slidenum">
              <a:rPr lang="es-ES" altLang="en-US" smtClean="0"/>
              <a:pPr/>
              <a:t>43</a:t>
            </a:fld>
            <a:endParaRPr lang="es-ES" altLang="en-US"/>
          </a:p>
        </p:txBody>
      </p:sp>
      <p:sp>
        <p:nvSpPr>
          <p:cNvPr id="4" name="Marcador de pie de página 3">
            <a:extLst>
              <a:ext uri="{FF2B5EF4-FFF2-40B4-BE49-F238E27FC236}">
                <a16:creationId xmlns:a16="http://schemas.microsoft.com/office/drawing/2014/main" id="{0AC9C8A5-81F9-4147-93BB-876D82465029}"/>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77262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Índices numéricos: pobreza multidimensional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Índices</a:t>
            </a:r>
            <a:r>
              <a:rPr lang="es-AR" altLang="es-AR" dirty="0">
                <a:solidFill>
                  <a:schemeClr val="bg2"/>
                </a:solidFill>
                <a:latin typeface="Calibri" panose="020F0502020204030204" pitchFamily="34" charset="0"/>
                <a:cs typeface="Calibri" panose="020F0502020204030204" pitchFamily="34" charset="0"/>
              </a:rPr>
              <a:t>: tenemos la construcción de un índice en la dimensión de </a:t>
            </a:r>
            <a:r>
              <a:rPr lang="es-AR" altLang="es-AR" i="1" dirty="0">
                <a:solidFill>
                  <a:schemeClr val="bg2"/>
                </a:solidFill>
                <a:latin typeface="Calibri" panose="020F0502020204030204" pitchFamily="34" charset="0"/>
                <a:cs typeface="Calibri" panose="020F0502020204030204" pitchFamily="34" charset="0"/>
              </a:rPr>
              <a:t>información</a:t>
            </a:r>
            <a:r>
              <a:rPr lang="es-AR" altLang="es-AR" dirty="0">
                <a:solidFill>
                  <a:schemeClr val="bg2"/>
                </a:solidFill>
                <a:latin typeface="Calibri" panose="020F0502020204030204" pitchFamily="34" charset="0"/>
                <a:cs typeface="Calibri" panose="020F0502020204030204" pitchFamily="34" charset="0"/>
              </a:rPr>
              <a:t>. Así, se sintetizan varios indicadores en una única medida.</a:t>
            </a:r>
          </a:p>
        </p:txBody>
      </p:sp>
      <p:graphicFrame>
        <p:nvGraphicFramePr>
          <p:cNvPr id="6" name="3 Tabla">
            <a:extLst>
              <a:ext uri="{FF2B5EF4-FFF2-40B4-BE49-F238E27FC236}">
                <a16:creationId xmlns:a16="http://schemas.microsoft.com/office/drawing/2014/main" id="{DA996585-C010-4477-A06F-530C094F1B89}"/>
              </a:ext>
            </a:extLst>
          </p:cNvPr>
          <p:cNvGraphicFramePr>
            <a:graphicFrameLocks noGrp="1"/>
          </p:cNvGraphicFramePr>
          <p:nvPr>
            <p:extLst>
              <p:ext uri="{D42A27DB-BD31-4B8C-83A1-F6EECF244321}">
                <p14:modId xmlns:p14="http://schemas.microsoft.com/office/powerpoint/2010/main" val="340830949"/>
              </p:ext>
            </p:extLst>
          </p:nvPr>
        </p:nvGraphicFramePr>
        <p:xfrm>
          <a:off x="900113" y="2613105"/>
          <a:ext cx="7749488" cy="2533854"/>
        </p:xfrm>
        <a:graphic>
          <a:graphicData uri="http://schemas.openxmlformats.org/drawingml/2006/table">
            <a:tbl>
              <a:tblPr>
                <a:tableStyleId>{B301B821-A1FF-4177-AEE7-76D212191A09}</a:tableStyleId>
              </a:tblPr>
              <a:tblGrid>
                <a:gridCol w="992321">
                  <a:extLst>
                    <a:ext uri="{9D8B030D-6E8A-4147-A177-3AD203B41FA5}">
                      <a16:colId xmlns:a16="http://schemas.microsoft.com/office/drawing/2014/main" val="20000"/>
                    </a:ext>
                  </a:extLst>
                </a:gridCol>
                <a:gridCol w="1642943">
                  <a:extLst>
                    <a:ext uri="{9D8B030D-6E8A-4147-A177-3AD203B41FA5}">
                      <a16:colId xmlns:a16="http://schemas.microsoft.com/office/drawing/2014/main" val="20001"/>
                    </a:ext>
                  </a:extLst>
                </a:gridCol>
                <a:gridCol w="2557112">
                  <a:extLst>
                    <a:ext uri="{9D8B030D-6E8A-4147-A177-3AD203B41FA5}">
                      <a16:colId xmlns:a16="http://schemas.microsoft.com/office/drawing/2014/main" val="20002"/>
                    </a:ext>
                  </a:extLst>
                </a:gridCol>
                <a:gridCol w="2557112">
                  <a:extLst>
                    <a:ext uri="{9D8B030D-6E8A-4147-A177-3AD203B41FA5}">
                      <a16:colId xmlns:a16="http://schemas.microsoft.com/office/drawing/2014/main" val="2712015953"/>
                    </a:ext>
                  </a:extLst>
                </a:gridCol>
              </a:tblGrid>
              <a:tr h="145084">
                <a:tc>
                  <a:txBody>
                    <a:bodyPr/>
                    <a:lstStyle/>
                    <a:p>
                      <a:pPr algn="ctr" fontAlgn="ctr"/>
                      <a:r>
                        <a:rPr lang="es-AR" sz="1000" b="1" u="none" strike="noStrike" dirty="0">
                          <a:effectLst/>
                          <a:latin typeface="+mn-lt"/>
                        </a:rPr>
                        <a:t>DIMENSIÓN</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INDICADORES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u="none" strike="noStrike" dirty="0">
                          <a:effectLst/>
                          <a:latin typeface="+mn-lt"/>
                        </a:rPr>
                        <a:t>CATEGORIAS</a:t>
                      </a:r>
                      <a:endParaRPr lang="es-AR" sz="1000" b="1" i="0" u="none" strike="noStrike" dirty="0">
                        <a:solidFill>
                          <a:srgbClr val="000000"/>
                        </a:solidFill>
                        <a:effectLst/>
                        <a:latin typeface="+mn-lt"/>
                      </a:endParaRPr>
                    </a:p>
                  </a:txBody>
                  <a:tcPr marL="6258" marR="6258" marT="6258" marB="0" anchor="ctr"/>
                </a:tc>
                <a:tc>
                  <a:txBody>
                    <a:bodyPr/>
                    <a:lstStyle/>
                    <a:p>
                      <a:pPr algn="ctr" fontAlgn="ctr"/>
                      <a:r>
                        <a:rPr lang="es-AR" sz="1000" b="1" i="0" u="none" strike="noStrike" dirty="0">
                          <a:solidFill>
                            <a:srgbClr val="000000"/>
                          </a:solidFill>
                          <a:effectLst/>
                          <a:latin typeface="+mn-lt"/>
                        </a:rPr>
                        <a:t>VALORES (PRIVACIONES)</a:t>
                      </a:r>
                    </a:p>
                  </a:txBody>
                  <a:tcPr marL="6258" marR="6258" marT="6258" marB="0" anchor="ctr"/>
                </a:tc>
                <a:extLst>
                  <a:ext uri="{0D108BD9-81ED-4DB2-BD59-A6C34878D82A}">
                    <a16:rowId xmlns:a16="http://schemas.microsoft.com/office/drawing/2014/main" val="10000"/>
                  </a:ext>
                </a:extLst>
              </a:tr>
              <a:tr h="395866">
                <a:tc rowSpan="6">
                  <a:txBody>
                    <a:bodyPr/>
                    <a:lstStyle/>
                    <a:p>
                      <a:pPr algn="l" fontAlgn="ctr"/>
                      <a:r>
                        <a:rPr lang="es-AR" sz="1000" b="1" u="none" strike="noStrike" dirty="0">
                          <a:effectLst/>
                          <a:latin typeface="+mn-lt"/>
                        </a:rPr>
                        <a:t>INFORMACIÓN (0-17 años)</a:t>
                      </a: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Existencia de teléfono fijo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10001"/>
                  </a:ext>
                </a:extLst>
              </a:tr>
              <a:tr h="395866">
                <a:tc vMerge="1">
                  <a:txBody>
                    <a:bodyPr/>
                    <a:lstStyle/>
                    <a:p>
                      <a:endParaRPr lang="es-AR"/>
                    </a:p>
                  </a:txBody>
                  <a:tcP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Existencia de teléfono celular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2383572465"/>
                  </a:ext>
                </a:extLst>
              </a:tr>
              <a:tr h="395866">
                <a:tc vMerge="1">
                  <a:txBody>
                    <a:bodyPr/>
                    <a:lstStyle/>
                    <a:p>
                      <a:pPr algn="l" fontAlgn="ctr"/>
                      <a:endParaRPr lang="es-AR" sz="1000" b="1" i="0" u="none" strike="noStrike" dirty="0">
                        <a:solidFill>
                          <a:srgbClr val="000000"/>
                        </a:solidFill>
                        <a:effectLst/>
                        <a:latin typeface="Calibri" panose="020F0502020204030204" pitchFamily="34" charset="0"/>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Acceso a Internet</a:t>
                      </a:r>
                    </a:p>
                  </a:txBody>
                  <a:tcPr marL="6258" marR="6258" marT="6258" marB="0" anchor="ctr"/>
                </a:tc>
                <a:tc>
                  <a:txBody>
                    <a:bodyPr/>
                    <a:lstStyle/>
                    <a:p>
                      <a:pPr marL="628650" lvl="1" indent="-171450" algn="just" fontAlgn="ctr">
                        <a:buFont typeface="Arial" panose="020B0604020202020204" pitchFamily="34" charset="0"/>
                        <a:buChar char="•"/>
                      </a:pPr>
                      <a:r>
                        <a:rPr lang="es-AR" sz="1000" b="0" u="none" strike="noStrike" dirty="0">
                          <a:solidFill>
                            <a:srgbClr val="000000"/>
                          </a:solidFill>
                          <a:effectLst/>
                          <a:latin typeface="+mn-lt"/>
                        </a:rPr>
                        <a:t>Tiene conexión a Internet</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 tiene conexión a Internet</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1163649800"/>
                  </a:ext>
                </a:extLst>
              </a:tr>
              <a:tr h="395866">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biblioteca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2137632578"/>
                  </a:ext>
                </a:extLst>
              </a:tr>
              <a:tr h="395866">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libros infantiles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1286177405"/>
                  </a:ext>
                </a:extLst>
              </a:tr>
              <a:tr h="395866">
                <a:tc vMerge="1">
                  <a:txBody>
                    <a:bodyPr/>
                    <a:lstStyle/>
                    <a:p>
                      <a:pPr algn="l" fontAlgn="ctr"/>
                      <a:endParaRPr lang="es-AR" sz="1000" b="1" i="0" u="none" strike="noStrike" dirty="0">
                        <a:solidFill>
                          <a:srgbClr val="000000"/>
                        </a:solidFill>
                        <a:effectLst/>
                        <a:latin typeface="+mn-lt"/>
                      </a:endParaRPr>
                    </a:p>
                  </a:txBody>
                  <a:tcPr marL="6258" marR="6258" marT="6258" marB="0" anchor="ctr"/>
                </a:tc>
                <a:tc>
                  <a:txBody>
                    <a:bodyPr/>
                    <a:lstStyle/>
                    <a:p>
                      <a:pPr marL="0" marR="0" lvl="0" indent="0" algn="just" defTabSz="914400" rtl="0" eaLnBrk="1" fontAlgn="ctr" latinLnBrk="0" hangingPunct="1">
                        <a:lnSpc>
                          <a:spcPct val="100000"/>
                        </a:lnSpc>
                        <a:spcBef>
                          <a:spcPts val="0"/>
                        </a:spcBef>
                        <a:spcAft>
                          <a:spcPts val="0"/>
                        </a:spcAft>
                        <a:buClrTx/>
                        <a:buSzTx/>
                        <a:buFontTx/>
                        <a:buNone/>
                        <a:tabLst/>
                        <a:defRPr/>
                      </a:pPr>
                      <a:r>
                        <a:rPr lang="es-AR" sz="1000" u="none" strike="noStrike" dirty="0">
                          <a:effectLst/>
                          <a:latin typeface="+mn-lt"/>
                        </a:rPr>
                        <a:t>Tenencia de computadora en el hogar</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Sí</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No</a:t>
                      </a:r>
                    </a:p>
                  </a:txBody>
                  <a:tcPr marL="6258" marR="6258" marT="6258" marB="0" anchor="ctr"/>
                </a:tc>
                <a:tc>
                  <a:txBody>
                    <a:bodyPr/>
                    <a:lstStyle/>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0</a:t>
                      </a:r>
                    </a:p>
                    <a:p>
                      <a:pPr marL="628650" lvl="1" indent="-171450" algn="just" fontAlgn="ctr">
                        <a:buFont typeface="Arial" panose="020B0604020202020204" pitchFamily="34" charset="0"/>
                        <a:buChar char="•"/>
                      </a:pPr>
                      <a:r>
                        <a:rPr lang="es-AR" sz="1000" b="0" i="0" u="none" strike="noStrike" dirty="0">
                          <a:solidFill>
                            <a:srgbClr val="000000"/>
                          </a:solidFill>
                          <a:effectLst/>
                          <a:latin typeface="+mn-lt"/>
                        </a:rPr>
                        <a:t>1</a:t>
                      </a:r>
                    </a:p>
                  </a:txBody>
                  <a:tcPr marL="6258" marR="6258" marT="6258" marB="0" anchor="ctr"/>
                </a:tc>
                <a:extLst>
                  <a:ext uri="{0D108BD9-81ED-4DB2-BD59-A6C34878D82A}">
                    <a16:rowId xmlns:a16="http://schemas.microsoft.com/office/drawing/2014/main" val="3212547867"/>
                  </a:ext>
                </a:extLst>
              </a:tr>
            </a:tbl>
          </a:graphicData>
        </a:graphic>
      </p:graphicFrame>
      <p:sp>
        <p:nvSpPr>
          <p:cNvPr id="3" name="Marcador de número de diapositiva 2">
            <a:extLst>
              <a:ext uri="{FF2B5EF4-FFF2-40B4-BE49-F238E27FC236}">
                <a16:creationId xmlns:a16="http://schemas.microsoft.com/office/drawing/2014/main" id="{1EBC812F-4A97-48AC-A8BE-EB5C2FC5E17B}"/>
              </a:ext>
            </a:extLst>
          </p:cNvPr>
          <p:cNvSpPr>
            <a:spLocks noGrp="1"/>
          </p:cNvSpPr>
          <p:nvPr>
            <p:ph type="sldNum" sz="quarter" idx="12"/>
          </p:nvPr>
        </p:nvSpPr>
        <p:spPr/>
        <p:txBody>
          <a:bodyPr/>
          <a:lstStyle/>
          <a:p>
            <a:fld id="{E4801FF2-09AB-46FD-82F0-246320401FD0}" type="slidenum">
              <a:rPr lang="es-ES" altLang="en-US" smtClean="0"/>
              <a:pPr/>
              <a:t>44</a:t>
            </a:fld>
            <a:endParaRPr lang="es-ES" altLang="en-US"/>
          </a:p>
        </p:txBody>
      </p:sp>
      <p:sp>
        <p:nvSpPr>
          <p:cNvPr id="4" name="Marcador de pie de página 3">
            <a:extLst>
              <a:ext uri="{FF2B5EF4-FFF2-40B4-BE49-F238E27FC236}">
                <a16:creationId xmlns:a16="http://schemas.microsoft.com/office/drawing/2014/main" id="{687E3070-855A-417F-8A94-9D714A397F1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94299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up)">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Índices numéricos: pobreza multidimensional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18" name="5 CuadroTexto">
            <a:extLst>
              <a:ext uri="{FF2B5EF4-FFF2-40B4-BE49-F238E27FC236}">
                <a16:creationId xmlns:a16="http://schemas.microsoft.com/office/drawing/2014/main" id="{8DD0927C-7C21-4C56-8835-0A726920D658}"/>
              </a:ext>
            </a:extLst>
          </p:cNvPr>
          <p:cNvSpPr txBox="1">
            <a:spLocks noChangeArrowheads="1"/>
          </p:cNvSpPr>
          <p:nvPr/>
        </p:nvSpPr>
        <p:spPr bwMode="auto">
          <a:xfrm>
            <a:off x="658655" y="1114525"/>
            <a:ext cx="7783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dirty="0">
                <a:solidFill>
                  <a:schemeClr val="bg2"/>
                </a:solidFill>
                <a:latin typeface="Calibri" panose="020F0502020204030204" pitchFamily="34" charset="0"/>
                <a:cs typeface="Calibri" panose="020F0502020204030204" pitchFamily="34" charset="0"/>
              </a:rPr>
              <a:t>El resultado de lo anterior es un índice de privaciones en la dimensión de información. ¿Cómo quedará definido?</a:t>
            </a:r>
          </a:p>
        </p:txBody>
      </p:sp>
      <p:sp>
        <p:nvSpPr>
          <p:cNvPr id="19" name="5 CuadroTexto">
            <a:extLst>
              <a:ext uri="{FF2B5EF4-FFF2-40B4-BE49-F238E27FC236}">
                <a16:creationId xmlns:a16="http://schemas.microsoft.com/office/drawing/2014/main" id="{FC95B899-8775-47F8-B762-03ED01E0491B}"/>
              </a:ext>
            </a:extLst>
          </p:cNvPr>
          <p:cNvSpPr txBox="1">
            <a:spLocks noChangeArrowheads="1"/>
          </p:cNvSpPr>
          <p:nvPr/>
        </p:nvSpPr>
        <p:spPr bwMode="auto">
          <a:xfrm>
            <a:off x="457200" y="2314854"/>
            <a:ext cx="775495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863600" lvl="2"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Rango de variación: </a:t>
            </a:r>
            <a:r>
              <a:rPr lang="es-AR" altLang="es-AR" dirty="0">
                <a:solidFill>
                  <a:schemeClr val="bg2"/>
                </a:solidFill>
                <a:latin typeface="Calibri" panose="020F0502020204030204" pitchFamily="34" charset="0"/>
                <a:cs typeface="Calibri" panose="020F0502020204030204" pitchFamily="34" charset="0"/>
              </a:rPr>
              <a:t>el índice variará entre 0 y 6.</a:t>
            </a:r>
          </a:p>
          <a:p>
            <a:pPr marL="863600" lvl="2"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Nivel de medición:</a:t>
            </a:r>
            <a:r>
              <a:rPr lang="es-AR" altLang="es-AR" dirty="0">
                <a:solidFill>
                  <a:schemeClr val="bg2"/>
                </a:solidFill>
                <a:latin typeface="Calibri" panose="020F0502020204030204" pitchFamily="34" charset="0"/>
                <a:cs typeface="Calibri" panose="020F0502020204030204" pitchFamily="34" charset="0"/>
              </a:rPr>
              <a:t> la variable resultante será de intervalo/razón</a:t>
            </a:r>
          </a:p>
          <a:p>
            <a:pPr marL="863600" lvl="2"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Simplificación</a:t>
            </a:r>
            <a:r>
              <a:rPr lang="es-AR" altLang="es-AR" dirty="0">
                <a:solidFill>
                  <a:schemeClr val="bg2"/>
                </a:solidFill>
                <a:latin typeface="Calibri" panose="020F0502020204030204" pitchFamily="34" charset="0"/>
                <a:cs typeface="Calibri" panose="020F0502020204030204" pitchFamily="34" charset="0"/>
              </a:rPr>
              <a:t>: lo más interesante será simplificar el espacio de la variable.</a:t>
            </a:r>
            <a:endParaRPr lang="es-AR" altLang="es-AR" b="1" dirty="0">
              <a:solidFill>
                <a:schemeClr val="accent1"/>
              </a:solidFill>
              <a:latin typeface="Calibri" panose="020F0502020204030204" pitchFamily="34" charset="0"/>
              <a:cs typeface="Calibri" panose="020F0502020204030204" pitchFamily="34" charset="0"/>
            </a:endParaRPr>
          </a:p>
        </p:txBody>
      </p:sp>
      <p:sp>
        <p:nvSpPr>
          <p:cNvPr id="26" name="CuadroTexto 25">
            <a:extLst>
              <a:ext uri="{FF2B5EF4-FFF2-40B4-BE49-F238E27FC236}">
                <a16:creationId xmlns:a16="http://schemas.microsoft.com/office/drawing/2014/main" id="{EF7D7DEA-F418-4A38-B6B5-BE0AD3292BFA}"/>
              </a:ext>
            </a:extLst>
          </p:cNvPr>
          <p:cNvSpPr txBox="1"/>
          <p:nvPr/>
        </p:nvSpPr>
        <p:spPr>
          <a:xfrm>
            <a:off x="2142668" y="3789958"/>
            <a:ext cx="1032104" cy="307777"/>
          </a:xfrm>
          <a:prstGeom prst="rect">
            <a:avLst/>
          </a:prstGeom>
          <a:noFill/>
        </p:spPr>
        <p:txBody>
          <a:bodyPr wrap="square" rtlCol="0">
            <a:spAutoFit/>
          </a:bodyPr>
          <a:lstStyle/>
          <a:p>
            <a:pPr algn="ctr"/>
            <a:r>
              <a:rPr lang="es-AR" sz="1400" dirty="0">
                <a:solidFill>
                  <a:srgbClr val="00B050"/>
                </a:solidFill>
              </a:rPr>
              <a:t>Sin déficit</a:t>
            </a:r>
          </a:p>
        </p:txBody>
      </p:sp>
      <p:sp>
        <p:nvSpPr>
          <p:cNvPr id="44" name="Abrir llave 43">
            <a:extLst>
              <a:ext uri="{FF2B5EF4-FFF2-40B4-BE49-F238E27FC236}">
                <a16:creationId xmlns:a16="http://schemas.microsoft.com/office/drawing/2014/main" id="{23C54E01-9DE5-4DD3-A434-2009DCF812B7}"/>
              </a:ext>
            </a:extLst>
          </p:cNvPr>
          <p:cNvSpPr/>
          <p:nvPr/>
        </p:nvSpPr>
        <p:spPr bwMode="auto">
          <a:xfrm rot="5400000">
            <a:off x="2449960" y="4020060"/>
            <a:ext cx="417520" cy="720075"/>
          </a:xfrm>
          <a:prstGeom prst="leftBrace">
            <a:avLst/>
          </a:prstGeom>
          <a:ln>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46" name="CuadroTexto 45">
            <a:extLst>
              <a:ext uri="{FF2B5EF4-FFF2-40B4-BE49-F238E27FC236}">
                <a16:creationId xmlns:a16="http://schemas.microsoft.com/office/drawing/2014/main" id="{761E12E9-03E2-4AFB-8DA3-37617FCB435A}"/>
              </a:ext>
            </a:extLst>
          </p:cNvPr>
          <p:cNvSpPr txBox="1"/>
          <p:nvPr/>
        </p:nvSpPr>
        <p:spPr>
          <a:xfrm>
            <a:off x="3971762" y="3632332"/>
            <a:ext cx="1032104" cy="523220"/>
          </a:xfrm>
          <a:prstGeom prst="rect">
            <a:avLst/>
          </a:prstGeom>
          <a:noFill/>
        </p:spPr>
        <p:txBody>
          <a:bodyPr wrap="square" rtlCol="0">
            <a:spAutoFit/>
          </a:bodyPr>
          <a:lstStyle/>
          <a:p>
            <a:pPr algn="ctr"/>
            <a:r>
              <a:rPr lang="es-AR" sz="1400" dirty="0">
                <a:solidFill>
                  <a:schemeClr val="accent2"/>
                </a:solidFill>
              </a:rPr>
              <a:t>Déficit moderado</a:t>
            </a:r>
          </a:p>
        </p:txBody>
      </p:sp>
      <p:sp>
        <p:nvSpPr>
          <p:cNvPr id="47" name="Abrir llave 46">
            <a:extLst>
              <a:ext uri="{FF2B5EF4-FFF2-40B4-BE49-F238E27FC236}">
                <a16:creationId xmlns:a16="http://schemas.microsoft.com/office/drawing/2014/main" id="{F064FC7F-DC9C-4C33-89EB-5BFFAC8C323A}"/>
              </a:ext>
            </a:extLst>
          </p:cNvPr>
          <p:cNvSpPr/>
          <p:nvPr/>
        </p:nvSpPr>
        <p:spPr bwMode="auto">
          <a:xfrm rot="5400000">
            <a:off x="4341775" y="3336942"/>
            <a:ext cx="417520" cy="2073486"/>
          </a:xfrm>
          <a:prstGeom prst="leftBrace">
            <a:avLst/>
          </a:prstGeom>
          <a:ln>
            <a:solidFill>
              <a:srgbClr val="FFCC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48" name="CuadroTexto 47">
            <a:extLst>
              <a:ext uri="{FF2B5EF4-FFF2-40B4-BE49-F238E27FC236}">
                <a16:creationId xmlns:a16="http://schemas.microsoft.com/office/drawing/2014/main" id="{F28DB032-3D64-467F-A20F-28DCA5D95BE0}"/>
              </a:ext>
            </a:extLst>
          </p:cNvPr>
          <p:cNvSpPr txBox="1"/>
          <p:nvPr/>
        </p:nvSpPr>
        <p:spPr>
          <a:xfrm>
            <a:off x="5815581" y="3633976"/>
            <a:ext cx="1032104" cy="523220"/>
          </a:xfrm>
          <a:prstGeom prst="rect">
            <a:avLst/>
          </a:prstGeom>
          <a:noFill/>
        </p:spPr>
        <p:txBody>
          <a:bodyPr wrap="square" rtlCol="0">
            <a:spAutoFit/>
          </a:bodyPr>
          <a:lstStyle/>
          <a:p>
            <a:pPr algn="ctr"/>
            <a:r>
              <a:rPr lang="es-AR" sz="1400" dirty="0">
                <a:solidFill>
                  <a:srgbClr val="C00000"/>
                </a:solidFill>
              </a:rPr>
              <a:t>Déficit severo</a:t>
            </a:r>
          </a:p>
        </p:txBody>
      </p:sp>
      <p:sp>
        <p:nvSpPr>
          <p:cNvPr id="49" name="Abrir llave 48">
            <a:extLst>
              <a:ext uri="{FF2B5EF4-FFF2-40B4-BE49-F238E27FC236}">
                <a16:creationId xmlns:a16="http://schemas.microsoft.com/office/drawing/2014/main" id="{1D168714-7CBF-48F1-97AC-137C0EDA786D}"/>
              </a:ext>
            </a:extLst>
          </p:cNvPr>
          <p:cNvSpPr/>
          <p:nvPr/>
        </p:nvSpPr>
        <p:spPr bwMode="auto">
          <a:xfrm rot="5400000">
            <a:off x="6122872" y="4002232"/>
            <a:ext cx="417520" cy="720075"/>
          </a:xfrm>
          <a:prstGeom prst="leftBrace">
            <a:avLst/>
          </a:prstGeom>
          <a:ln>
            <a:solidFill>
              <a:srgbClr val="C0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s-AR" sz="1800" b="0" i="0" u="none" strike="noStrike" cap="none" normalizeH="0" baseline="0">
              <a:ln>
                <a:noFill/>
              </a:ln>
              <a:solidFill>
                <a:schemeClr val="tx1"/>
              </a:solidFill>
              <a:effectLst/>
              <a:latin typeface="Arial" charset="0"/>
              <a:cs typeface="Arial" charset="0"/>
            </a:endParaRPr>
          </a:p>
        </p:txBody>
      </p:sp>
      <p:sp>
        <p:nvSpPr>
          <p:cNvPr id="3" name="Marcador de número de diapositiva 2">
            <a:extLst>
              <a:ext uri="{FF2B5EF4-FFF2-40B4-BE49-F238E27FC236}">
                <a16:creationId xmlns:a16="http://schemas.microsoft.com/office/drawing/2014/main" id="{187292B2-6C29-411B-93E9-AFFDA5A53C0A}"/>
              </a:ext>
            </a:extLst>
          </p:cNvPr>
          <p:cNvSpPr>
            <a:spLocks noGrp="1"/>
          </p:cNvSpPr>
          <p:nvPr>
            <p:ph type="sldNum" sz="quarter" idx="12"/>
          </p:nvPr>
        </p:nvSpPr>
        <p:spPr/>
        <p:txBody>
          <a:bodyPr/>
          <a:lstStyle/>
          <a:p>
            <a:fld id="{E4801FF2-09AB-46FD-82F0-246320401FD0}" type="slidenum">
              <a:rPr lang="es-ES" altLang="en-US" smtClean="0"/>
              <a:pPr/>
              <a:t>45</a:t>
            </a:fld>
            <a:endParaRPr lang="es-ES" altLang="en-US"/>
          </a:p>
        </p:txBody>
      </p:sp>
      <p:sp>
        <p:nvSpPr>
          <p:cNvPr id="4" name="Marcador de pie de página 3">
            <a:extLst>
              <a:ext uri="{FF2B5EF4-FFF2-40B4-BE49-F238E27FC236}">
                <a16:creationId xmlns:a16="http://schemas.microsoft.com/office/drawing/2014/main" id="{55F0203B-6C5F-495A-9EF7-1150470086A0}"/>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graphicFrame>
        <p:nvGraphicFramePr>
          <p:cNvPr id="30" name="Tabla 29">
            <a:extLst>
              <a:ext uri="{FF2B5EF4-FFF2-40B4-BE49-F238E27FC236}">
                <a16:creationId xmlns:a16="http://schemas.microsoft.com/office/drawing/2014/main" id="{05567A61-1C16-4E2B-9038-1A1CF1D0DE44}"/>
              </a:ext>
            </a:extLst>
          </p:cNvPr>
          <p:cNvGraphicFramePr>
            <a:graphicFrameLocks noGrp="1"/>
          </p:cNvGraphicFramePr>
          <p:nvPr>
            <p:extLst>
              <p:ext uri="{D42A27DB-BD31-4B8C-83A1-F6EECF244321}">
                <p14:modId xmlns:p14="http://schemas.microsoft.com/office/powerpoint/2010/main" val="912523541"/>
              </p:ext>
            </p:extLst>
          </p:nvPr>
        </p:nvGraphicFramePr>
        <p:xfrm>
          <a:off x="2010339" y="4736061"/>
          <a:ext cx="5139757" cy="423586"/>
        </p:xfrm>
        <a:graphic>
          <a:graphicData uri="http://schemas.openxmlformats.org/drawingml/2006/table">
            <a:tbl>
              <a:tblPr firstRow="1" bandRow="1">
                <a:tableStyleId>{5C22544A-7EE6-4342-B048-85BDC9FD1C3A}</a:tableStyleId>
              </a:tblPr>
              <a:tblGrid>
                <a:gridCol w="734251">
                  <a:extLst>
                    <a:ext uri="{9D8B030D-6E8A-4147-A177-3AD203B41FA5}">
                      <a16:colId xmlns:a16="http://schemas.microsoft.com/office/drawing/2014/main" val="2091529825"/>
                    </a:ext>
                  </a:extLst>
                </a:gridCol>
                <a:gridCol w="734251">
                  <a:extLst>
                    <a:ext uri="{9D8B030D-6E8A-4147-A177-3AD203B41FA5}">
                      <a16:colId xmlns:a16="http://schemas.microsoft.com/office/drawing/2014/main" val="4259938459"/>
                    </a:ext>
                  </a:extLst>
                </a:gridCol>
                <a:gridCol w="734251">
                  <a:extLst>
                    <a:ext uri="{9D8B030D-6E8A-4147-A177-3AD203B41FA5}">
                      <a16:colId xmlns:a16="http://schemas.microsoft.com/office/drawing/2014/main" val="522623775"/>
                    </a:ext>
                  </a:extLst>
                </a:gridCol>
                <a:gridCol w="734251">
                  <a:extLst>
                    <a:ext uri="{9D8B030D-6E8A-4147-A177-3AD203B41FA5}">
                      <a16:colId xmlns:a16="http://schemas.microsoft.com/office/drawing/2014/main" val="4032089551"/>
                    </a:ext>
                  </a:extLst>
                </a:gridCol>
                <a:gridCol w="734251">
                  <a:extLst>
                    <a:ext uri="{9D8B030D-6E8A-4147-A177-3AD203B41FA5}">
                      <a16:colId xmlns:a16="http://schemas.microsoft.com/office/drawing/2014/main" val="104232518"/>
                    </a:ext>
                  </a:extLst>
                </a:gridCol>
                <a:gridCol w="734251">
                  <a:extLst>
                    <a:ext uri="{9D8B030D-6E8A-4147-A177-3AD203B41FA5}">
                      <a16:colId xmlns:a16="http://schemas.microsoft.com/office/drawing/2014/main" val="44494606"/>
                    </a:ext>
                  </a:extLst>
                </a:gridCol>
                <a:gridCol w="734251">
                  <a:extLst>
                    <a:ext uri="{9D8B030D-6E8A-4147-A177-3AD203B41FA5}">
                      <a16:colId xmlns:a16="http://schemas.microsoft.com/office/drawing/2014/main" val="4043161528"/>
                    </a:ext>
                  </a:extLst>
                </a:gridCol>
              </a:tblGrid>
              <a:tr h="423586">
                <a:tc>
                  <a:txBody>
                    <a:bodyPr/>
                    <a:lstStyle/>
                    <a:p>
                      <a:pPr algn="ctr"/>
                      <a:r>
                        <a:rPr lang="es-AR" dirty="0"/>
                        <a:t>0</a:t>
                      </a:r>
                    </a:p>
                  </a:txBody>
                  <a:tcPr>
                    <a:solidFill>
                      <a:srgbClr val="00CC66"/>
                    </a:solidFill>
                  </a:tcPr>
                </a:tc>
                <a:tc>
                  <a:txBody>
                    <a:bodyPr/>
                    <a:lstStyle/>
                    <a:p>
                      <a:pPr algn="ctr"/>
                      <a:r>
                        <a:rPr lang="es-AR" dirty="0"/>
                        <a:t>1</a:t>
                      </a:r>
                    </a:p>
                  </a:txBody>
                  <a:tcPr>
                    <a:solidFill>
                      <a:srgbClr val="00CC66"/>
                    </a:solidFill>
                  </a:tcPr>
                </a:tc>
                <a:tc>
                  <a:txBody>
                    <a:bodyPr/>
                    <a:lstStyle/>
                    <a:p>
                      <a:pPr algn="ctr"/>
                      <a:r>
                        <a:rPr lang="es-AR" dirty="0"/>
                        <a:t>2</a:t>
                      </a:r>
                    </a:p>
                  </a:txBody>
                  <a:tcPr>
                    <a:solidFill>
                      <a:schemeClr val="accent6">
                        <a:lumMod val="60000"/>
                        <a:lumOff val="40000"/>
                      </a:schemeClr>
                    </a:solidFill>
                  </a:tcPr>
                </a:tc>
                <a:tc>
                  <a:txBody>
                    <a:bodyPr/>
                    <a:lstStyle/>
                    <a:p>
                      <a:pPr algn="ctr"/>
                      <a:r>
                        <a:rPr lang="es-AR" dirty="0"/>
                        <a:t>3</a:t>
                      </a:r>
                    </a:p>
                  </a:txBody>
                  <a:tcPr>
                    <a:solidFill>
                      <a:schemeClr val="accent6">
                        <a:lumMod val="60000"/>
                        <a:lumOff val="40000"/>
                      </a:schemeClr>
                    </a:solidFill>
                  </a:tcPr>
                </a:tc>
                <a:tc>
                  <a:txBody>
                    <a:bodyPr/>
                    <a:lstStyle/>
                    <a:p>
                      <a:pPr algn="ctr"/>
                      <a:r>
                        <a:rPr lang="es-AR" dirty="0"/>
                        <a:t>4</a:t>
                      </a:r>
                    </a:p>
                  </a:txBody>
                  <a:tcPr>
                    <a:solidFill>
                      <a:schemeClr val="accent6">
                        <a:lumMod val="60000"/>
                        <a:lumOff val="40000"/>
                      </a:schemeClr>
                    </a:solidFill>
                  </a:tcPr>
                </a:tc>
                <a:tc>
                  <a:txBody>
                    <a:bodyPr/>
                    <a:lstStyle/>
                    <a:p>
                      <a:pPr algn="ctr"/>
                      <a:r>
                        <a:rPr lang="es-AR" dirty="0"/>
                        <a:t>5</a:t>
                      </a:r>
                    </a:p>
                  </a:txBody>
                  <a:tcPr>
                    <a:solidFill>
                      <a:srgbClr val="FF0000"/>
                    </a:solidFill>
                  </a:tcPr>
                </a:tc>
                <a:tc>
                  <a:txBody>
                    <a:bodyPr/>
                    <a:lstStyle/>
                    <a:p>
                      <a:pPr algn="ctr"/>
                      <a:r>
                        <a:rPr lang="es-AR" dirty="0"/>
                        <a:t>6</a:t>
                      </a:r>
                    </a:p>
                  </a:txBody>
                  <a:tcPr>
                    <a:solidFill>
                      <a:srgbClr val="FF0000"/>
                    </a:solidFill>
                  </a:tcPr>
                </a:tc>
                <a:extLst>
                  <a:ext uri="{0D108BD9-81ED-4DB2-BD59-A6C34878D82A}">
                    <a16:rowId xmlns:a16="http://schemas.microsoft.com/office/drawing/2014/main" val="2693450906"/>
                  </a:ext>
                </a:extLst>
              </a:tr>
            </a:tbl>
          </a:graphicData>
        </a:graphic>
      </p:graphicFrame>
    </p:spTree>
    <p:extLst>
      <p:ext uri="{BB962C8B-B14F-4D97-AF65-F5344CB8AC3E}">
        <p14:creationId xmlns:p14="http://schemas.microsoft.com/office/powerpoint/2010/main" val="3964831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wipe(down)">
                                      <p:cBhvr>
                                        <p:cTn id="16" dur="500"/>
                                        <p:tgtEl>
                                          <p:spTgt spid="26"/>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wipe(down)">
                                      <p:cBhvr>
                                        <p:cTn id="19" dur="500"/>
                                        <p:tgtEl>
                                          <p:spTgt spid="4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46"/>
                                        </p:tgtEl>
                                        <p:attrNameLst>
                                          <p:attrName>style.visibility</p:attrName>
                                        </p:attrNameLst>
                                      </p:cBhvr>
                                      <p:to>
                                        <p:strVal val="visible"/>
                                      </p:to>
                                    </p:set>
                                    <p:animEffect transition="in" filter="wipe(down)">
                                      <p:cBhvr>
                                        <p:cTn id="22" dur="500"/>
                                        <p:tgtEl>
                                          <p:spTgt spid="46"/>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wipe(down)">
                                      <p:cBhvr>
                                        <p:cTn id="25" dur="500"/>
                                        <p:tgtEl>
                                          <p:spTgt spid="47"/>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8"/>
                                        </p:tgtEl>
                                        <p:attrNameLst>
                                          <p:attrName>style.visibility</p:attrName>
                                        </p:attrNameLst>
                                      </p:cBhvr>
                                      <p:to>
                                        <p:strVal val="visible"/>
                                      </p:to>
                                    </p:set>
                                    <p:animEffect transition="in" filter="wipe(down)">
                                      <p:cBhvr>
                                        <p:cTn id="28" dur="500"/>
                                        <p:tgtEl>
                                          <p:spTgt spid="48"/>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down)">
                                      <p:cBhvr>
                                        <p:cTn id="31"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6" grpId="0"/>
      <p:bldP spid="44" grpId="0" animBg="1"/>
      <p:bldP spid="46" grpId="0"/>
      <p:bldP spid="47" grpId="0" animBg="1"/>
      <p:bldP spid="48" grpId="0"/>
      <p:bldP spid="4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Tipologías</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Reducción pragmática</a:t>
            </a:r>
            <a:r>
              <a:rPr lang="es-AR" altLang="es-AR" dirty="0">
                <a:solidFill>
                  <a:schemeClr val="bg2"/>
                </a:solidFill>
                <a:latin typeface="Calibri" panose="020F0502020204030204" pitchFamily="34" charset="0"/>
                <a:cs typeface="Calibri" panose="020F0502020204030204" pitchFamily="34" charset="0"/>
              </a:rPr>
              <a:t>: se combinan las posiciones de un espacio de propiedades en busca de significaciones teóricas nuevas. </a:t>
            </a:r>
            <a:r>
              <a:rPr lang="es-AR" altLang="es-AR" i="1" dirty="0">
                <a:solidFill>
                  <a:schemeClr val="bg2"/>
                </a:solidFill>
                <a:latin typeface="Calibri" panose="020F0502020204030204" pitchFamily="34" charset="0"/>
                <a:cs typeface="Calibri" panose="020F0502020204030204" pitchFamily="34" charset="0"/>
              </a:rPr>
              <a:t>Se realiza sobre más de una variable. </a:t>
            </a:r>
          </a:p>
          <a:p>
            <a:pPr marL="177800" lvl="1" indent="0" algn="just"/>
            <a:endParaRPr lang="es-AR" altLang="es-AR" i="1" dirty="0">
              <a:solidFill>
                <a:schemeClr val="bg2"/>
              </a:solidFill>
              <a:latin typeface="Calibri" panose="020F0502020204030204" pitchFamily="34" charset="0"/>
              <a:cs typeface="Calibri" panose="020F0502020204030204" pitchFamily="34" charset="0"/>
            </a:endParaRPr>
          </a:p>
          <a:p>
            <a:pPr marL="177800" lvl="1" indent="0" algn="just"/>
            <a:r>
              <a:rPr lang="es-AR" altLang="es-AR" i="1" dirty="0">
                <a:solidFill>
                  <a:schemeClr val="bg2"/>
                </a:solidFill>
                <a:latin typeface="Calibri" panose="020F0502020204030204" pitchFamily="34" charset="0"/>
                <a:cs typeface="Calibri" panose="020F0502020204030204" pitchFamily="34" charset="0"/>
              </a:rPr>
              <a:t>Por ejemplo: </a:t>
            </a:r>
            <a:r>
              <a:rPr lang="es-AR" altLang="es-AR" dirty="0">
                <a:solidFill>
                  <a:schemeClr val="bg2"/>
                </a:solidFill>
                <a:latin typeface="Calibri" panose="020F0502020204030204" pitchFamily="34" charset="0"/>
                <a:cs typeface="Calibri" panose="020F0502020204030204" pitchFamily="34" charset="0"/>
              </a:rPr>
              <a:t>con la clase social del hijo/a y la de su origen, se define un espacio de propiedades de 9 variables. Simplificando, se obtiene una nueva variable de </a:t>
            </a:r>
            <a:r>
              <a:rPr lang="es-AR" altLang="es-AR" i="1" dirty="0">
                <a:solidFill>
                  <a:schemeClr val="bg2"/>
                </a:solidFill>
                <a:latin typeface="Calibri" panose="020F0502020204030204" pitchFamily="34" charset="0"/>
                <a:cs typeface="Calibri" panose="020F0502020204030204" pitchFamily="34" charset="0"/>
              </a:rPr>
              <a:t>trayectoria </a:t>
            </a:r>
            <a:r>
              <a:rPr lang="es-AR" altLang="es-AR" dirty="0">
                <a:solidFill>
                  <a:schemeClr val="bg2"/>
                </a:solidFill>
                <a:latin typeface="Calibri" panose="020F0502020204030204" pitchFamily="34" charset="0"/>
                <a:cs typeface="Calibri" panose="020F0502020204030204" pitchFamily="34" charset="0"/>
              </a:rPr>
              <a:t>de movilidad social que tiene 3 categorías: ascendente (verde), descendente (rojo) e inmóvil (amarillo).</a:t>
            </a:r>
          </a:p>
        </p:txBody>
      </p:sp>
      <p:pic>
        <p:nvPicPr>
          <p:cNvPr id="9" name="Imagen 8">
            <a:extLst>
              <a:ext uri="{FF2B5EF4-FFF2-40B4-BE49-F238E27FC236}">
                <a16:creationId xmlns:a16="http://schemas.microsoft.com/office/drawing/2014/main" id="{9FAD6DBC-0C61-4BB8-98FC-773C65E40BF4}"/>
              </a:ext>
            </a:extLst>
          </p:cNvPr>
          <p:cNvPicPr>
            <a:picLocks noChangeAspect="1"/>
          </p:cNvPicPr>
          <p:nvPr/>
        </p:nvPicPr>
        <p:blipFill>
          <a:blip r:embed="rId2"/>
          <a:stretch>
            <a:fillRect/>
          </a:stretch>
        </p:blipFill>
        <p:spPr>
          <a:xfrm>
            <a:off x="1979712" y="4198182"/>
            <a:ext cx="5705475" cy="1543050"/>
          </a:xfrm>
          <a:prstGeom prst="rect">
            <a:avLst/>
          </a:prstGeom>
        </p:spPr>
      </p:pic>
      <p:sp>
        <p:nvSpPr>
          <p:cNvPr id="3" name="Marcador de número de diapositiva 2">
            <a:extLst>
              <a:ext uri="{FF2B5EF4-FFF2-40B4-BE49-F238E27FC236}">
                <a16:creationId xmlns:a16="http://schemas.microsoft.com/office/drawing/2014/main" id="{953135BF-56D5-4901-8F97-5BAA32F332B2}"/>
              </a:ext>
            </a:extLst>
          </p:cNvPr>
          <p:cNvSpPr>
            <a:spLocks noGrp="1"/>
          </p:cNvSpPr>
          <p:nvPr>
            <p:ph type="sldNum" sz="quarter" idx="12"/>
          </p:nvPr>
        </p:nvSpPr>
        <p:spPr/>
        <p:txBody>
          <a:bodyPr/>
          <a:lstStyle/>
          <a:p>
            <a:fld id="{E4801FF2-09AB-46FD-82F0-246320401FD0}" type="slidenum">
              <a:rPr lang="es-ES" altLang="en-US" smtClean="0"/>
              <a:pPr/>
              <a:t>46</a:t>
            </a:fld>
            <a:endParaRPr lang="es-ES" altLang="en-US"/>
          </a:p>
        </p:txBody>
      </p:sp>
      <p:sp>
        <p:nvSpPr>
          <p:cNvPr id="4" name="Marcador de pie de página 3">
            <a:extLst>
              <a:ext uri="{FF2B5EF4-FFF2-40B4-BE49-F238E27FC236}">
                <a16:creationId xmlns:a16="http://schemas.microsoft.com/office/drawing/2014/main" id="{8D8292EB-2D9A-4B12-A639-057749330108}"/>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1208880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up)">
                                      <p:cBhvr>
                                        <p:cTn id="10" dur="500"/>
                                        <p:tgtEl>
                                          <p:spTgt spid="5">
                                            <p:txEl>
                                              <p:pRg st="2" end="2"/>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Effect transition="in" filter="wipe(up)">
                                      <p:cBhvr>
                                        <p:cTn id="13" dur="500"/>
                                        <p:tgtEl>
                                          <p:spTgt spid="5">
                                            <p:txEl>
                                              <p:pRg st="4" end="4"/>
                                            </p:txEl>
                                          </p:spTgt>
                                        </p:tgtEl>
                                      </p:cBhvr>
                                    </p:animEffect>
                                  </p:childTnLst>
                                </p:cTn>
                              </p:par>
                              <p:par>
                                <p:cTn id="14" presetID="22"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up)">
                                      <p:cBhvr>
                                        <p:cTn id="1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Tipologías: pobreza multidimensional</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5" name="5 CuadroTexto">
            <a:extLst>
              <a:ext uri="{FF2B5EF4-FFF2-40B4-BE49-F238E27FC236}">
                <a16:creationId xmlns:a16="http://schemas.microsoft.com/office/drawing/2014/main" id="{343E1BFF-0E24-489E-ADDB-6801FF1F4277}"/>
              </a:ext>
            </a:extLst>
          </p:cNvPr>
          <p:cNvSpPr txBox="1">
            <a:spLocks noChangeArrowheads="1"/>
          </p:cNvSpPr>
          <p:nvPr/>
        </p:nvSpPr>
        <p:spPr bwMode="auto">
          <a:xfrm>
            <a:off x="662013" y="1124744"/>
            <a:ext cx="778376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63550" lvl="1" algn="just">
              <a:buFont typeface="Arial" panose="020B0604020202020204" pitchFamily="34" charset="0"/>
              <a:buChar char="•"/>
            </a:pPr>
            <a:r>
              <a:rPr lang="es-AR" altLang="es-AR" b="1" dirty="0">
                <a:solidFill>
                  <a:schemeClr val="bg2"/>
                </a:solidFill>
                <a:latin typeface="Calibri" panose="020F0502020204030204" pitchFamily="34" charset="0"/>
                <a:cs typeface="Calibri" panose="020F0502020204030204" pitchFamily="34" charset="0"/>
              </a:rPr>
              <a:t>Formas de reducción</a:t>
            </a:r>
          </a:p>
          <a:p>
            <a:pPr marL="177800" lvl="1" indent="0" algn="just"/>
            <a:endParaRPr lang="es-AR" altLang="es-AR" dirty="0">
              <a:solidFill>
                <a:schemeClr val="bg2"/>
              </a:solidFill>
              <a:latin typeface="Calibri" panose="020F0502020204030204" pitchFamily="34" charset="0"/>
              <a:cs typeface="Calibri" panose="020F0502020204030204" pitchFamily="34" charset="0"/>
            </a:endParaRPr>
          </a:p>
          <a:p>
            <a:pPr marL="177800" lvl="1" indent="0" algn="just"/>
            <a:r>
              <a:rPr lang="es-AR" altLang="es-AR" b="1" dirty="0">
                <a:solidFill>
                  <a:schemeClr val="accent1"/>
                </a:solidFill>
                <a:latin typeface="Calibri" panose="020F0502020204030204" pitchFamily="34" charset="0"/>
                <a:cs typeface="Calibri" panose="020F0502020204030204" pitchFamily="34" charset="0"/>
              </a:rPr>
              <a:t>Reducción pragmática</a:t>
            </a:r>
            <a:r>
              <a:rPr lang="es-AR" altLang="es-AR" dirty="0">
                <a:solidFill>
                  <a:schemeClr val="bg2"/>
                </a:solidFill>
                <a:latin typeface="Calibri" panose="020F0502020204030204" pitchFamily="34" charset="0"/>
                <a:cs typeface="Calibri" panose="020F0502020204030204" pitchFamily="34" charset="0"/>
              </a:rPr>
              <a:t>: tenemos un ejemplo de reducción pragmática o construcción tipológica en el caso de la dimensión de </a:t>
            </a:r>
            <a:r>
              <a:rPr lang="es-AR" altLang="es-AR" i="1" dirty="0">
                <a:solidFill>
                  <a:schemeClr val="bg2"/>
                </a:solidFill>
                <a:latin typeface="Calibri" panose="020F0502020204030204" pitchFamily="34" charset="0"/>
                <a:cs typeface="Calibri" panose="020F0502020204030204" pitchFamily="34" charset="0"/>
              </a:rPr>
              <a:t>saneamiento.</a:t>
            </a:r>
            <a:endParaRPr lang="es-AR" altLang="es-AR" dirty="0">
              <a:solidFill>
                <a:schemeClr val="bg2"/>
              </a:solidFill>
              <a:latin typeface="Calibri" panose="020F0502020204030204" pitchFamily="34" charset="0"/>
              <a:cs typeface="Calibri" panose="020F0502020204030204" pitchFamily="34" charset="0"/>
            </a:endParaRPr>
          </a:p>
        </p:txBody>
      </p:sp>
      <p:graphicFrame>
        <p:nvGraphicFramePr>
          <p:cNvPr id="3" name="Tabla 3">
            <a:extLst>
              <a:ext uri="{FF2B5EF4-FFF2-40B4-BE49-F238E27FC236}">
                <a16:creationId xmlns:a16="http://schemas.microsoft.com/office/drawing/2014/main" id="{FC789A39-4459-4018-B351-357C903C1A57}"/>
              </a:ext>
            </a:extLst>
          </p:cNvPr>
          <p:cNvGraphicFramePr>
            <a:graphicFrameLocks noGrp="1"/>
          </p:cNvGraphicFramePr>
          <p:nvPr>
            <p:extLst>
              <p:ext uri="{D42A27DB-BD31-4B8C-83A1-F6EECF244321}">
                <p14:modId xmlns:p14="http://schemas.microsoft.com/office/powerpoint/2010/main" val="417372847"/>
              </p:ext>
            </p:extLst>
          </p:nvPr>
        </p:nvGraphicFramePr>
        <p:xfrm>
          <a:off x="889849" y="2746773"/>
          <a:ext cx="7727672" cy="2612984"/>
        </p:xfrm>
        <a:graphic>
          <a:graphicData uri="http://schemas.openxmlformats.org/drawingml/2006/table">
            <a:tbl>
              <a:tblPr firstRow="1" bandRow="1">
                <a:tableStyleId>{5C22544A-7EE6-4342-B048-85BDC9FD1C3A}</a:tableStyleId>
              </a:tblPr>
              <a:tblGrid>
                <a:gridCol w="1177578">
                  <a:extLst>
                    <a:ext uri="{9D8B030D-6E8A-4147-A177-3AD203B41FA5}">
                      <a16:colId xmlns:a16="http://schemas.microsoft.com/office/drawing/2014/main" val="894721305"/>
                    </a:ext>
                  </a:extLst>
                </a:gridCol>
                <a:gridCol w="2686258">
                  <a:extLst>
                    <a:ext uri="{9D8B030D-6E8A-4147-A177-3AD203B41FA5}">
                      <a16:colId xmlns:a16="http://schemas.microsoft.com/office/drawing/2014/main" val="3560735295"/>
                    </a:ext>
                  </a:extLst>
                </a:gridCol>
                <a:gridCol w="1931918">
                  <a:extLst>
                    <a:ext uri="{9D8B030D-6E8A-4147-A177-3AD203B41FA5}">
                      <a16:colId xmlns:a16="http://schemas.microsoft.com/office/drawing/2014/main" val="2114444124"/>
                    </a:ext>
                  </a:extLst>
                </a:gridCol>
                <a:gridCol w="1931918">
                  <a:extLst>
                    <a:ext uri="{9D8B030D-6E8A-4147-A177-3AD203B41FA5}">
                      <a16:colId xmlns:a16="http://schemas.microsoft.com/office/drawing/2014/main" val="1827851824"/>
                    </a:ext>
                  </a:extLst>
                </a:gridCol>
              </a:tblGrid>
              <a:tr h="575722">
                <a:tc rowSpan="2" gridSpan="2">
                  <a:txBody>
                    <a:bodyPr/>
                    <a:lstStyle/>
                    <a:p>
                      <a:endParaRPr lang="es-AR" sz="1400" dirty="0">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rowSpan="2" hMerge="1">
                  <a:txBody>
                    <a:bodyPr/>
                    <a:lstStyle/>
                    <a:p>
                      <a:endParaRPr lang="es-AR" dirty="0">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gridSpan="2">
                  <a:txBody>
                    <a:bodyPr/>
                    <a:lstStyle/>
                    <a:p>
                      <a:pPr algn="ctr"/>
                      <a:r>
                        <a:rPr lang="es-AR" sz="1400" dirty="0">
                          <a:solidFill>
                            <a:schemeClr val="bg1"/>
                          </a:solidFill>
                          <a:latin typeface="+mn-lt"/>
                        </a:rPr>
                        <a:t>Forma de acceso al agua corriente en la vivienda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a:txBody>
                    <a:bodyPr/>
                    <a:lstStyle/>
                    <a:p>
                      <a:endParaRPr lang="es-AR"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998064007"/>
                  </a:ext>
                </a:extLst>
              </a:tr>
              <a:tr h="412036">
                <a:tc gridSpan="2" vMerge="1">
                  <a:txBody>
                    <a:bodyPr/>
                    <a:lstStyle/>
                    <a:p>
                      <a:endParaRPr lang="es-AR">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hMerge="1" vMerge="1">
                  <a:txBody>
                    <a:bodyPr/>
                    <a:lstStyle/>
                    <a:p>
                      <a:endParaRPr lang="es-AR" dirty="0">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s-AR" sz="1400" dirty="0">
                          <a:solidFill>
                            <a:schemeClr val="bg1"/>
                          </a:solidFill>
                          <a:latin typeface="+mn-lt"/>
                        </a:rPr>
                        <a:t>Con acceso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s-AR" sz="1400" dirty="0">
                          <a:solidFill>
                            <a:schemeClr val="bg1"/>
                          </a:solidFill>
                          <a:latin typeface="+mn-lt"/>
                        </a:rPr>
                        <a:t>Sin acceso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407040309"/>
                  </a:ext>
                </a:extLst>
              </a:tr>
              <a:tr h="812442">
                <a:tc rowSpan="2">
                  <a:txBody>
                    <a:bodyPr/>
                    <a:lstStyle/>
                    <a:p>
                      <a:r>
                        <a:rPr lang="es-AR" sz="1400" b="1" dirty="0">
                          <a:solidFill>
                            <a:schemeClr val="bg1"/>
                          </a:solidFill>
                          <a:latin typeface="+mn-lt"/>
                        </a:rPr>
                        <a:t>Servicio sanitario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s-AR" sz="1400" dirty="0">
                          <a:solidFill>
                            <a:schemeClr val="bg1"/>
                          </a:solidFill>
                          <a:latin typeface="+mn-lt"/>
                        </a:rPr>
                        <a:t>Adecuado (inodoro con descarga de agua)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s-AR" sz="1400" dirty="0">
                          <a:solidFill>
                            <a:schemeClr val="bg1"/>
                          </a:solidFill>
                          <a:latin typeface="+mn-lt"/>
                        </a:rPr>
                        <a:t>Sin déficit en la dimensión de saneamiento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92D050"/>
                    </a:solidFill>
                  </a:tcPr>
                </a:tc>
                <a:tc>
                  <a:txBody>
                    <a:bodyPr/>
                    <a:lstStyle/>
                    <a:p>
                      <a:pPr algn="ctr"/>
                      <a:r>
                        <a:rPr lang="es-AR" sz="1400" dirty="0">
                          <a:solidFill>
                            <a:schemeClr val="bg1"/>
                          </a:solidFill>
                          <a:latin typeface="+mn-lt"/>
                        </a:rPr>
                        <a:t>Con déficit moderado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424140119"/>
                  </a:ext>
                </a:extLst>
              </a:tr>
              <a:tr h="812784">
                <a:tc vMerge="1">
                  <a:txBody>
                    <a:bodyPr/>
                    <a:lstStyle/>
                    <a:p>
                      <a:endParaRPr lang="es-AR" dirty="0">
                        <a:solidFill>
                          <a:schemeClr val="bg1"/>
                        </a:solidFill>
                        <a:latin typeface="+mn-lt"/>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s-AR" sz="1400" dirty="0">
                          <a:solidFill>
                            <a:schemeClr val="bg1"/>
                          </a:solidFill>
                          <a:latin typeface="+mn-lt"/>
                        </a:rPr>
                        <a:t>Inadecuado (inodoro sin descarga de agua o falta de inodoro)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s-AR" sz="1400" dirty="0">
                          <a:solidFill>
                            <a:schemeClr val="bg1"/>
                          </a:solidFill>
                          <a:latin typeface="+mn-lt"/>
                        </a:rPr>
                        <a:t>Con déficit moderado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60000"/>
                        <a:lumOff val="40000"/>
                      </a:schemeClr>
                    </a:solidFill>
                  </a:tcPr>
                </a:tc>
                <a:tc>
                  <a:txBody>
                    <a:bodyPr/>
                    <a:lstStyle/>
                    <a:p>
                      <a:pPr algn="ctr"/>
                      <a:r>
                        <a:rPr lang="es-AR" sz="1400" dirty="0">
                          <a:solidFill>
                            <a:schemeClr val="bg1"/>
                          </a:solidFill>
                          <a:latin typeface="+mn-lt"/>
                        </a:rPr>
                        <a:t>Con déficit severo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FF0000"/>
                    </a:solidFill>
                  </a:tcPr>
                </a:tc>
                <a:extLst>
                  <a:ext uri="{0D108BD9-81ED-4DB2-BD59-A6C34878D82A}">
                    <a16:rowId xmlns:a16="http://schemas.microsoft.com/office/drawing/2014/main" val="2131319198"/>
                  </a:ext>
                </a:extLst>
              </a:tr>
            </a:tbl>
          </a:graphicData>
        </a:graphic>
      </p:graphicFrame>
      <p:sp>
        <p:nvSpPr>
          <p:cNvPr id="4" name="Marcador de número de diapositiva 3">
            <a:extLst>
              <a:ext uri="{FF2B5EF4-FFF2-40B4-BE49-F238E27FC236}">
                <a16:creationId xmlns:a16="http://schemas.microsoft.com/office/drawing/2014/main" id="{9C73146D-357C-4AD8-A633-082CB8912FF0}"/>
              </a:ext>
            </a:extLst>
          </p:cNvPr>
          <p:cNvSpPr>
            <a:spLocks noGrp="1"/>
          </p:cNvSpPr>
          <p:nvPr>
            <p:ph type="sldNum" sz="quarter" idx="12"/>
          </p:nvPr>
        </p:nvSpPr>
        <p:spPr/>
        <p:txBody>
          <a:bodyPr/>
          <a:lstStyle/>
          <a:p>
            <a:fld id="{E4801FF2-09AB-46FD-82F0-246320401FD0}" type="slidenum">
              <a:rPr lang="es-ES" altLang="en-US" smtClean="0"/>
              <a:pPr/>
              <a:t>47</a:t>
            </a:fld>
            <a:endParaRPr lang="es-ES" altLang="en-US"/>
          </a:p>
        </p:txBody>
      </p:sp>
      <p:sp>
        <p:nvSpPr>
          <p:cNvPr id="6" name="Marcador de pie de página 5">
            <a:extLst>
              <a:ext uri="{FF2B5EF4-FFF2-40B4-BE49-F238E27FC236}">
                <a16:creationId xmlns:a16="http://schemas.microsoft.com/office/drawing/2014/main" id="{528F2EFD-6888-4FE0-943C-FA9E4D3BA45D}"/>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251169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up)">
                                      <p:cBhvr>
                                        <p:cTn id="7" dur="500"/>
                                        <p:tgtEl>
                                          <p:spTgt spid="5">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wipe(up)">
                                      <p:cBhvr>
                                        <p:cTn id="10" dur="500"/>
                                        <p:tgtEl>
                                          <p:spTgt spid="5">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a:extLst>
              <a:ext uri="{FF2B5EF4-FFF2-40B4-BE49-F238E27FC236}">
                <a16:creationId xmlns:a16="http://schemas.microsoft.com/office/drawing/2014/main" id="{F4F04492-2A97-45A3-94D0-EA8C4F3975E3}"/>
              </a:ext>
            </a:extLst>
          </p:cNvPr>
          <p:cNvSpPr>
            <a:spLocks noGrp="1" noChangeArrowheads="1"/>
          </p:cNvSpPr>
          <p:nvPr>
            <p:ph type="body" idx="4294967295"/>
          </p:nvPr>
        </p:nvSpPr>
        <p:spPr>
          <a:xfrm>
            <a:off x="935831" y="2204864"/>
            <a:ext cx="7272338" cy="2808288"/>
          </a:xfrm>
        </p:spPr>
        <p:txBody>
          <a:bodyPr/>
          <a:lstStyle/>
          <a:p>
            <a:pPr marL="571500" indent="-571500" algn="ctr" eaLnBrk="1" hangingPunct="1">
              <a:buFont typeface="Wingdings" panose="05000000000000000000" pitchFamily="2" charset="2"/>
              <a:buNone/>
            </a:pPr>
            <a:endParaRPr lang="es-AR" altLang="es-AR" sz="3200" b="1" dirty="0">
              <a:solidFill>
                <a:srgbClr val="3366CC"/>
              </a:solidFill>
              <a:latin typeface="Calibri" panose="020F0502020204030204" pitchFamily="34" charset="0"/>
              <a:cs typeface="Calibri" panose="020F0502020204030204" pitchFamily="34" charset="0"/>
            </a:endParaRPr>
          </a:p>
          <a:p>
            <a:pPr marL="0" indent="0" algn="ctr" eaLnBrk="1" hangingPunct="1">
              <a:buNone/>
            </a:pPr>
            <a:r>
              <a:rPr lang="es-AR" altLang="es-AR" sz="4200" b="1" dirty="0">
                <a:solidFill>
                  <a:srgbClr val="3366CC"/>
                </a:solidFill>
                <a:latin typeface="Calibri" panose="020F0502020204030204" pitchFamily="34" charset="0"/>
                <a:cs typeface="Calibri" panose="020F0502020204030204" pitchFamily="34" charset="0"/>
              </a:rPr>
              <a:t>Propuesta de </a:t>
            </a:r>
          </a:p>
          <a:p>
            <a:pPr marL="0" indent="0" algn="ctr" eaLnBrk="1" hangingPunct="1">
              <a:buNone/>
            </a:pPr>
            <a:r>
              <a:rPr lang="es-AR" altLang="es-AR" sz="4200" b="1" dirty="0">
                <a:solidFill>
                  <a:srgbClr val="3366CC"/>
                </a:solidFill>
                <a:latin typeface="Calibri" panose="020F0502020204030204" pitchFamily="34" charset="0"/>
                <a:cs typeface="Calibri" panose="020F0502020204030204" pitchFamily="34" charset="0"/>
              </a:rPr>
              <a:t>ejercitación</a:t>
            </a:r>
          </a:p>
        </p:txBody>
      </p:sp>
      <p:sp>
        <p:nvSpPr>
          <p:cNvPr id="3" name="Marcador de número de diapositiva 2">
            <a:extLst>
              <a:ext uri="{FF2B5EF4-FFF2-40B4-BE49-F238E27FC236}">
                <a16:creationId xmlns:a16="http://schemas.microsoft.com/office/drawing/2014/main" id="{5CD5313C-6B35-433F-BF54-71A02976768A}"/>
              </a:ext>
            </a:extLst>
          </p:cNvPr>
          <p:cNvSpPr>
            <a:spLocks noGrp="1"/>
          </p:cNvSpPr>
          <p:nvPr>
            <p:ph type="sldNum" sz="quarter" idx="12"/>
          </p:nvPr>
        </p:nvSpPr>
        <p:spPr/>
        <p:txBody>
          <a:bodyPr/>
          <a:lstStyle/>
          <a:p>
            <a:fld id="{E4801FF2-09AB-46FD-82F0-246320401FD0}" type="slidenum">
              <a:rPr lang="es-ES" altLang="en-US" smtClean="0"/>
              <a:pPr/>
              <a:t>48</a:t>
            </a:fld>
            <a:endParaRPr lang="es-ES" altLang="en-US"/>
          </a:p>
        </p:txBody>
      </p:sp>
      <p:sp>
        <p:nvSpPr>
          <p:cNvPr id="4" name="Marcador de pie de página 3">
            <a:extLst>
              <a:ext uri="{FF2B5EF4-FFF2-40B4-BE49-F238E27FC236}">
                <a16:creationId xmlns:a16="http://schemas.microsoft.com/office/drawing/2014/main" id="{885BF9BD-DAD2-4042-A1CF-72658CF1EAFB}"/>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4012556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F2485E4-3C6C-4A1D-B5F1-AA7F2AB7B061}"/>
              </a:ext>
            </a:extLst>
          </p:cNvPr>
          <p:cNvSpPr>
            <a:spLocks noGrp="1" noChangeArrowheads="1"/>
          </p:cNvSpPr>
          <p:nvPr>
            <p:ph type="title" idx="4294967295"/>
          </p:nvPr>
        </p:nvSpPr>
        <p:spPr>
          <a:xfrm>
            <a:off x="457200" y="277813"/>
            <a:ext cx="8435280" cy="558899"/>
          </a:xfrm>
        </p:spPr>
        <p:txBody>
          <a:bodyPr/>
          <a:lstStyle/>
          <a:p>
            <a:pPr eaLnBrk="1" hangingPunct="1"/>
            <a:r>
              <a:rPr lang="es-AR" altLang="es-AR" sz="3200" b="1" dirty="0">
                <a:solidFill>
                  <a:srgbClr val="0070C0"/>
                </a:solidFill>
                <a:latin typeface="Calibri" panose="020F0502020204030204" pitchFamily="34" charset="0"/>
                <a:cs typeface="Calibri" panose="020F0502020204030204" pitchFamily="34" charset="0"/>
              </a:rPr>
              <a:t>Ejercitación: Unidad 1</a:t>
            </a:r>
            <a:endParaRPr lang="es-ES" altLang="es-AR" sz="3200" b="1" dirty="0">
              <a:solidFill>
                <a:srgbClr val="0070C0"/>
              </a:solidFill>
              <a:latin typeface="Calibri" panose="020F0502020204030204" pitchFamily="34" charset="0"/>
              <a:cs typeface="Calibri" panose="020F0502020204030204" pitchFamily="34" charset="0"/>
            </a:endParaRPr>
          </a:p>
        </p:txBody>
      </p:sp>
      <p:sp>
        <p:nvSpPr>
          <p:cNvPr id="2" name="Rectangle 2"/>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AR"/>
          </a:p>
        </p:txBody>
      </p:sp>
      <p:sp>
        <p:nvSpPr>
          <p:cNvPr id="3" name="Rectangle 3"/>
          <p:cNvSpPr>
            <a:spLocks noChangeArrowheads="1"/>
          </p:cNvSpPr>
          <p:nvPr/>
        </p:nvSpPr>
        <p:spPr bwMode="auto">
          <a:xfrm>
            <a:off x="0" y="4324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s-AR" altLang="es-AR" sz="1800" b="0" i="0" u="none" strike="noStrike" cap="none" normalizeH="0" baseline="0">
              <a:ln>
                <a:noFill/>
              </a:ln>
              <a:solidFill>
                <a:schemeClr val="tx1"/>
              </a:solidFill>
              <a:effectLst/>
              <a:latin typeface="Arial" pitchFamily="34" charset="0"/>
              <a:cs typeface="Arial" pitchFamily="34" charset="0"/>
            </a:endParaRPr>
          </a:p>
        </p:txBody>
      </p:sp>
      <p:sp>
        <p:nvSpPr>
          <p:cNvPr id="8" name="5 CuadroTexto">
            <a:extLst>
              <a:ext uri="{FF2B5EF4-FFF2-40B4-BE49-F238E27FC236}">
                <a16:creationId xmlns:a16="http://schemas.microsoft.com/office/drawing/2014/main" id="{A5F33B78-6CE2-42C4-88CA-44996A64EDB0}"/>
              </a:ext>
            </a:extLst>
          </p:cNvPr>
          <p:cNvSpPr txBox="1">
            <a:spLocks noChangeArrowheads="1"/>
          </p:cNvSpPr>
          <p:nvPr/>
        </p:nvSpPr>
        <p:spPr bwMode="auto">
          <a:xfrm>
            <a:off x="519296" y="1085925"/>
            <a:ext cx="818478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lvl="2" indent="-342900" algn="just">
              <a:buFont typeface="+mj-lt"/>
              <a:buAutoNum type="arabicPeriod"/>
              <a:tabLst>
                <a:tab pos="176213" algn="l"/>
                <a:tab pos="269875" algn="l"/>
              </a:tabLst>
            </a:pPr>
            <a:r>
              <a:rPr lang="es-AR" altLang="es-AR" sz="1600" dirty="0">
                <a:solidFill>
                  <a:schemeClr val="bg1"/>
                </a:solidFill>
                <a:latin typeface="Calibri" panose="020F0502020204030204" pitchFamily="34" charset="0"/>
                <a:cs typeface="Calibri" panose="020F0502020204030204" pitchFamily="34" charset="0"/>
              </a:rPr>
              <a:t>Formule una pregunta-problema de investigación que requiera de un proceso de operacionalización de variables abstractas. Elabore una hipótesis operativa.</a:t>
            </a:r>
          </a:p>
          <a:p>
            <a:pPr marL="342900" lvl="2" indent="-342900" algn="just">
              <a:buFont typeface="+mj-lt"/>
              <a:buAutoNum type="arabicPeriod"/>
              <a:tabLst>
                <a:tab pos="176213" algn="l"/>
                <a:tab pos="269875" algn="l"/>
              </a:tabLst>
            </a:pPr>
            <a:r>
              <a:rPr lang="es-AR" altLang="es-AR" sz="1600" dirty="0">
                <a:solidFill>
                  <a:schemeClr val="bg1"/>
                </a:solidFill>
                <a:latin typeface="Calibri" panose="020F0502020204030204" pitchFamily="34" charset="0"/>
                <a:cs typeface="Calibri" panose="020F0502020204030204" pitchFamily="34" charset="0"/>
              </a:rPr>
              <a:t>Reconozca en dichas hipótesis de trabajo las dimensiones de análisis (variables intermedias).</a:t>
            </a:r>
          </a:p>
          <a:p>
            <a:pPr marL="342900" lvl="2" indent="-342900" algn="just">
              <a:buFont typeface="+mj-lt"/>
              <a:buAutoNum type="arabicPeriod"/>
              <a:tabLst>
                <a:tab pos="176213" algn="l"/>
                <a:tab pos="269875" algn="l"/>
              </a:tabLst>
            </a:pPr>
            <a:r>
              <a:rPr lang="es-AR" altLang="es-AR" sz="1600" dirty="0">
                <a:solidFill>
                  <a:schemeClr val="bg1"/>
                </a:solidFill>
                <a:latin typeface="Calibri" panose="020F0502020204030204" pitchFamily="34" charset="0"/>
                <a:cs typeface="Calibri" panose="020F0502020204030204" pitchFamily="34" charset="0"/>
              </a:rPr>
              <a:t>Defina cuál será la población a estudiar, la unidad de análisis y la unidad de observación.</a:t>
            </a:r>
          </a:p>
          <a:p>
            <a:pPr marL="0" lvl="2" indent="0" algn="just">
              <a:tabLst>
                <a:tab pos="176213" algn="l"/>
                <a:tab pos="269875" algn="l"/>
              </a:tabLst>
            </a:pPr>
            <a:endParaRPr lang="es-AR" altLang="es-AR" sz="1600" dirty="0">
              <a:solidFill>
                <a:schemeClr val="bg1"/>
              </a:solidFill>
              <a:latin typeface="Calibri" panose="020F0502020204030204" pitchFamily="34" charset="0"/>
              <a:cs typeface="Calibri" panose="020F0502020204030204" pitchFamily="34" charset="0"/>
            </a:endParaRPr>
          </a:p>
          <a:p>
            <a:pPr marL="0" lvl="2" indent="0" algn="just">
              <a:tabLst>
                <a:tab pos="176213" algn="l"/>
                <a:tab pos="269875" algn="l"/>
              </a:tabLst>
            </a:pPr>
            <a:r>
              <a:rPr lang="es-AR" altLang="es-AR" sz="1600" dirty="0">
                <a:solidFill>
                  <a:schemeClr val="bg1"/>
                </a:solidFill>
                <a:latin typeface="Calibri" panose="020F0502020204030204" pitchFamily="34" charset="0"/>
                <a:cs typeface="Calibri" panose="020F0502020204030204" pitchFamily="34" charset="0"/>
              </a:rPr>
              <a:t>Esta actividad se presentará en la clase del 09/08. Sugerimos una presentación en PowerPoint. </a:t>
            </a:r>
          </a:p>
        </p:txBody>
      </p:sp>
      <p:sp>
        <p:nvSpPr>
          <p:cNvPr id="4" name="Marcador de número de diapositiva 3">
            <a:extLst>
              <a:ext uri="{FF2B5EF4-FFF2-40B4-BE49-F238E27FC236}">
                <a16:creationId xmlns:a16="http://schemas.microsoft.com/office/drawing/2014/main" id="{E4854758-9CD0-4B6E-A816-6E55E688DA5E}"/>
              </a:ext>
            </a:extLst>
          </p:cNvPr>
          <p:cNvSpPr>
            <a:spLocks noGrp="1"/>
          </p:cNvSpPr>
          <p:nvPr>
            <p:ph type="sldNum" sz="quarter" idx="12"/>
          </p:nvPr>
        </p:nvSpPr>
        <p:spPr/>
        <p:txBody>
          <a:bodyPr/>
          <a:lstStyle/>
          <a:p>
            <a:fld id="{E4801FF2-09AB-46FD-82F0-246320401FD0}" type="slidenum">
              <a:rPr lang="es-ES" altLang="en-US" smtClean="0"/>
              <a:pPr/>
              <a:t>49</a:t>
            </a:fld>
            <a:endParaRPr lang="es-ES" altLang="en-US"/>
          </a:p>
        </p:txBody>
      </p:sp>
      <p:sp>
        <p:nvSpPr>
          <p:cNvPr id="5" name="Marcador de pie de página 4">
            <a:extLst>
              <a:ext uri="{FF2B5EF4-FFF2-40B4-BE49-F238E27FC236}">
                <a16:creationId xmlns:a16="http://schemas.microsoft.com/office/drawing/2014/main" id="{76A1FE7A-A377-47F5-8D89-3DA210666ED5}"/>
              </a:ext>
            </a:extLst>
          </p:cNvPr>
          <p:cNvSpPr>
            <a:spLocks noGrp="1"/>
          </p:cNvSpPr>
          <p:nvPr>
            <p:ph type="ftr" sz="quarter" idx="11"/>
          </p:nvPr>
        </p:nvSpPr>
        <p:spPr/>
        <p:txBody>
          <a:bodyPr/>
          <a:lstStyle/>
          <a:p>
            <a:pPr>
              <a:defRPr/>
            </a:pPr>
            <a:r>
              <a:rPr lang="es-AR" altLang="en-US"/>
              <a:t>Profesores: Ianina Tuñón y Santiago Poy</a:t>
            </a:r>
            <a:endParaRPr lang="es-ES" altLang="en-US" dirty="0"/>
          </a:p>
        </p:txBody>
      </p:sp>
    </p:spTree>
    <p:extLst>
      <p:ext uri="{BB962C8B-B14F-4D97-AF65-F5344CB8AC3E}">
        <p14:creationId xmlns:p14="http://schemas.microsoft.com/office/powerpoint/2010/main" val="72548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up)">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up)">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wipe(up)">
                                      <p:cBhvr>
                                        <p:cTn id="2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theme/theme1.xml><?xml version="1.0" encoding="utf-8"?>
<a:theme xmlns:a="http://schemas.openxmlformats.org/drawingml/2006/main" name="Edge">
  <a:themeElements>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fontScheme name="Edge">
      <a:majorFont>
        <a:latin typeface="Garamond"/>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 sz="1800" b="0" i="0" u="none" strike="noStrike" cap="none" normalizeH="0" baseline="0" smtClean="0">
            <a:ln>
              <a:noFill/>
            </a:ln>
            <a:solidFill>
              <a:schemeClr val="tx1"/>
            </a:solidFill>
            <a:effectLst/>
            <a:latin typeface="Arial" charset="0"/>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 sz="1800" b="0" i="0" u="none" strike="noStrike" cap="none" normalizeH="0" baseline="0" smtClean="0">
            <a:ln>
              <a:noFill/>
            </a:ln>
            <a:solidFill>
              <a:schemeClr val="tx1"/>
            </a:solidFill>
            <a:effectLst/>
            <a:latin typeface="Arial" charset="0"/>
            <a:cs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11036</TotalTime>
  <Words>4152</Words>
  <Application>Microsoft Office PowerPoint</Application>
  <PresentationFormat>Presentación en pantalla (4:3)</PresentationFormat>
  <Paragraphs>670</Paragraphs>
  <Slides>49</Slides>
  <Notes>0</Notes>
  <HiddenSlides>0</HiddenSlides>
  <MMClips>0</MMClips>
  <ScaleCrop>false</ScaleCrop>
  <HeadingPairs>
    <vt:vector size="8" baseType="variant">
      <vt:variant>
        <vt:lpstr>Fuentes usadas</vt:lpstr>
      </vt:variant>
      <vt:variant>
        <vt:i4>8</vt:i4>
      </vt:variant>
      <vt:variant>
        <vt:lpstr>Tema</vt:lpstr>
      </vt:variant>
      <vt:variant>
        <vt:i4>1</vt:i4>
      </vt:variant>
      <vt:variant>
        <vt:lpstr>Servidores OLE incrustados</vt:lpstr>
      </vt:variant>
      <vt:variant>
        <vt:i4>1</vt:i4>
      </vt:variant>
      <vt:variant>
        <vt:lpstr>Títulos de diapositiva</vt:lpstr>
      </vt:variant>
      <vt:variant>
        <vt:i4>49</vt:i4>
      </vt:variant>
    </vt:vector>
  </HeadingPairs>
  <TitlesOfParts>
    <vt:vector size="59" baseType="lpstr">
      <vt:lpstr>Abadi</vt:lpstr>
      <vt:lpstr>Arial</vt:lpstr>
      <vt:lpstr>Calibri</vt:lpstr>
      <vt:lpstr>Cambria Math</vt:lpstr>
      <vt:lpstr>Garamond</vt:lpstr>
      <vt:lpstr>Tahoma</vt:lpstr>
      <vt:lpstr>Trebuchet MS</vt:lpstr>
      <vt:lpstr>Wingdings</vt:lpstr>
      <vt:lpstr>Edge</vt:lpstr>
      <vt:lpstr>Chart</vt:lpstr>
      <vt:lpstr>Presentación de PowerPoint</vt:lpstr>
      <vt:lpstr>Presentación de PowerPoint</vt:lpstr>
      <vt:lpstr>El proceso de operacionalización</vt:lpstr>
      <vt:lpstr>El proceso de operacionalización</vt:lpstr>
      <vt:lpstr>El proceso de operacionalización</vt:lpstr>
      <vt:lpstr>Las variables</vt:lpstr>
      <vt:lpstr>El sistema de categorías de las variables</vt:lpstr>
      <vt:lpstr>El sistema de categorías de las variables</vt:lpstr>
      <vt:lpstr>El sistema de categorías de las variables</vt:lpstr>
      <vt:lpstr>Tipos de variables</vt:lpstr>
      <vt:lpstr>DETERMINANTES </vt:lpstr>
      <vt:lpstr>La validez de la medición</vt:lpstr>
      <vt:lpstr>COMPROBACIÓN  DE LA FIABILIDAD – ACCIONES:</vt:lpstr>
      <vt:lpstr>Evolución de indicadores de maltrato en niños/as 0 a 4 años (ESTABILIDAD)</vt:lpstr>
      <vt:lpstr>Fiabilidad de las mediciones: consistencia interna</vt:lpstr>
      <vt:lpstr>ADECUACIÓN DE LA MEDIDA AL CONCEPTO - VALIDEZ</vt:lpstr>
      <vt:lpstr>Presentación de PowerPoint</vt:lpstr>
      <vt:lpstr>Se ha definido a la seguridad alimentaria como el acceso por parte de todas las personas y en todo momento a alimentos suficientes y nutritivos para llevar adelante una vida activa y saludable (FAO, 2008) </vt:lpstr>
      <vt:lpstr>Presentación de PowerPoint</vt:lpstr>
      <vt:lpstr>Inseguridad alimentaria 0-17 años (EQUIVALENCIA-CONSISTENCIA INTERNA)</vt:lpstr>
      <vt:lpstr>CONTROL DE SESGOS / ERRORES</vt:lpstr>
      <vt:lpstr>Presentación de PowerPoint</vt:lpstr>
      <vt:lpstr>Un ejemplo: la pobreza infantil</vt:lpstr>
      <vt:lpstr>Un ejemplo: la pobreza infantil</vt:lpstr>
      <vt:lpstr>Un ejemplo</vt:lpstr>
      <vt:lpstr>Un ejemplo</vt:lpstr>
      <vt:lpstr>Un ejemplo</vt:lpstr>
      <vt:lpstr>Un ejemplo</vt:lpstr>
      <vt:lpstr>Un ejemplo</vt:lpstr>
      <vt:lpstr>Un ejemplo</vt:lpstr>
      <vt:lpstr>Un ejemplo</vt:lpstr>
      <vt:lpstr>Un ejemplo</vt:lpstr>
      <vt:lpstr>Un ejemplo</vt:lpstr>
      <vt:lpstr>Un ejemplo</vt:lpstr>
      <vt:lpstr>Un ejemplo</vt:lpstr>
      <vt:lpstr>Presentación de PowerPoint</vt:lpstr>
      <vt:lpstr>Índices y tipologías</vt:lpstr>
      <vt:lpstr>Concepto de espacio de propiedades</vt:lpstr>
      <vt:lpstr>Concepto de espacio de propiedades</vt:lpstr>
      <vt:lpstr>Reducción del espacio de propiedades</vt:lpstr>
      <vt:lpstr>Simplificación</vt:lpstr>
      <vt:lpstr>Simplificación: pobreza multidimensional</vt:lpstr>
      <vt:lpstr>Índices numéricos</vt:lpstr>
      <vt:lpstr>Índices numéricos: pobreza multidimensional</vt:lpstr>
      <vt:lpstr>Índices numéricos: pobreza multidimensional</vt:lpstr>
      <vt:lpstr>Tipologías</vt:lpstr>
      <vt:lpstr>Tipologías: pobreza multidimensional</vt:lpstr>
      <vt:lpstr>Presentación de PowerPoint</vt:lpstr>
      <vt:lpstr>Ejercitación: Unidad 1</vt:lpstr>
    </vt:vector>
  </TitlesOfParts>
  <Company>El Faro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 de la Investigación II</dc:title>
  <dc:creator>Santiago Poy</dc:creator>
  <cp:lastModifiedBy>usuario</cp:lastModifiedBy>
  <cp:revision>440</cp:revision>
  <cp:lastPrinted>2021-06-24T01:14:08Z</cp:lastPrinted>
  <dcterms:created xsi:type="dcterms:W3CDTF">2008-09-10T12:27:03Z</dcterms:created>
  <dcterms:modified xsi:type="dcterms:W3CDTF">2023-07-31T14:45:46Z</dcterms:modified>
</cp:coreProperties>
</file>