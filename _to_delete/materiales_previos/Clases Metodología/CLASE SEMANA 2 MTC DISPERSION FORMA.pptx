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31">
          <p15:clr>
            <a:srgbClr val="A4A3A4"/>
          </p15:clr>
        </p15:guide>
        <p15:guide id="2" pos="2880">
          <p15:clr>
            <a:srgbClr val="A4A3A4"/>
          </p15:clr>
        </p15:guide>
        <p15:guide id="3" pos="521">
          <p15:clr>
            <a:srgbClr val="A4A3A4"/>
          </p15:clr>
        </p15:guide>
        <p15:guide id="4" orient="horz" pos="2115">
          <p15:clr>
            <a:srgbClr val="A4A3A4"/>
          </p15:clr>
        </p15:guide>
        <p15:guide id="5" orient="horz" pos="436">
          <p15:clr>
            <a:srgbClr val="A4A3A4"/>
          </p15:clr>
        </p15:guide>
        <p15:guide id="6" orient="horz" pos="210">
          <p15:clr>
            <a:srgbClr val="A4A3A4"/>
          </p15:clr>
        </p15:guide>
        <p15:guide id="7" pos="158">
          <p15:clr>
            <a:srgbClr val="A4A3A4"/>
          </p15:clr>
        </p15:guide>
        <p15:guide id="8" pos="5602">
          <p15:clr>
            <a:srgbClr val="A4A3A4"/>
          </p15:clr>
        </p15:guide>
        <p15:guide id="9" pos="249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jBb0FcSVf22id1rVVFflOcYK8C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E51C13-8C20-43E9-8957-39486E22DC8F}">
  <a:tblStyle styleId="{7AE51C13-8C20-43E9-8957-39486E22DC8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dk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dk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6804B6C2-C988-4AEC-89EE-293D45685ED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AAB9A4FF-6111-4CFA-9C7E-1CA3DB1AB7F4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8ECF4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8ECF4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31" orient="horz"/>
        <p:guide pos="2880"/>
        <p:guide pos="521"/>
        <p:guide pos="2115" orient="horz"/>
        <p:guide pos="436" orient="horz"/>
        <p:guide pos="210" orient="horz"/>
        <p:guide pos="158"/>
        <p:guide pos="5602"/>
        <p:guide pos="24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Unidad 1 - Introducción a la estadística y entorno SPSS - Docente: Santiago Poy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logo twitter" id="90" name="Google Shape;90;p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logo twitter" id="91" name="Google Shape;91;p1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logo twitter" id="92" name="Google Shape;92;p1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 b="25235" l="0" r="0" t="19961"/>
          <a:stretch/>
        </p:blipFill>
        <p:spPr>
          <a:xfrm>
            <a:off x="0" y="0"/>
            <a:ext cx="9144000" cy="158417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287337" y="3285364"/>
            <a:ext cx="7272338" cy="1872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None/>
            </a:pPr>
            <a:r>
              <a:rPr b="1" lang="es-AR" sz="360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SEMANA 2</a:t>
            </a:r>
            <a:endParaRPr b="1" sz="3600" u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None/>
            </a:pPr>
            <a:r>
              <a:rPr b="1" lang="es-AR" sz="360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Estadística descriptiva univariada (2)</a:t>
            </a:r>
            <a:endParaRPr b="1" sz="3600" u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87336" y="5877272"/>
            <a:ext cx="8569325" cy="359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r>
              <a:t/>
            </a:r>
            <a:endParaRPr b="1" sz="2200" u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None/>
            </a:pPr>
            <a:r>
              <a:t/>
            </a:r>
            <a:endParaRPr b="0" sz="2000" u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None/>
            </a:pPr>
            <a:r>
              <a:rPr b="0" lang="es-AR" sz="180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Profesores: Pablo Dalle, Jésica Lorena Pla, Santiago Poy y Fernando Tavares Jr.</a:t>
            </a:r>
            <a:endParaRPr b="0" sz="1800" u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r>
              <a:t/>
            </a:r>
            <a:endParaRPr b="0" sz="2200" u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None/>
            </a:pPr>
            <a:r>
              <a:t/>
            </a:r>
            <a:endParaRPr b="1" sz="2400" u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None/>
            </a:pPr>
            <a:r>
              <a:t/>
            </a:r>
            <a:endParaRPr b="0" sz="2400" u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None/>
            </a:pPr>
            <a:r>
              <a:t/>
            </a:r>
            <a:endParaRPr b="0" sz="2400" u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87337" y="2441379"/>
            <a:ext cx="8569325" cy="359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r>
              <a:t/>
            </a:r>
            <a:endParaRPr b="1" sz="22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None/>
            </a:pPr>
            <a:r>
              <a:t/>
            </a:r>
            <a:endParaRPr b="0" sz="20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None/>
            </a:pPr>
            <a:r>
              <a:rPr b="0" lang="es-AR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SEMINARIO TÉCNICAS DE ANÁLISIS ESTADÍSTICO</a:t>
            </a:r>
            <a:endParaRPr b="0" sz="18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r>
              <a:t/>
            </a:r>
            <a:endParaRPr b="0" sz="22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None/>
            </a:pPr>
            <a:r>
              <a:t/>
            </a:r>
            <a:endParaRPr b="1" sz="24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None/>
            </a:pPr>
            <a:r>
              <a:t/>
            </a:r>
            <a:endParaRPr b="0" sz="24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None/>
            </a:pPr>
            <a:r>
              <a:rPr b="0" lang="es-AR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ESTO NO LO DI YO AL FINAL</a:t>
            </a:r>
            <a:endParaRPr b="0" sz="24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250826" y="1103757"/>
            <a:ext cx="86423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Para caracterizar una distribución de frecuencias univariadas tenemos distintos tipos de medidas: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048858" y="2173384"/>
            <a:ext cx="5331454" cy="646331"/>
          </a:xfrm>
          <a:prstGeom prst="rect">
            <a:avLst/>
          </a:prstGeom>
          <a:solidFill>
            <a:srgbClr val="FDE9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tendencia central: moda, mediana y media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2048858" y="2973517"/>
            <a:ext cx="5331454" cy="369332"/>
          </a:xfrm>
          <a:prstGeom prst="rect">
            <a:avLst/>
          </a:prstGeom>
          <a:solidFill>
            <a:srgbClr val="FDE9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posición: percentiles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2048858" y="3530220"/>
            <a:ext cx="5328592" cy="646331"/>
          </a:xfrm>
          <a:prstGeom prst="rect">
            <a:avLst/>
          </a:prstGeom>
          <a:solidFill>
            <a:srgbClr val="FDE9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variabilidad: varianza y desviación estándar (o típica)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2048858" y="4363922"/>
            <a:ext cx="5328592" cy="369332"/>
          </a:xfrm>
          <a:prstGeom prst="rect">
            <a:avLst/>
          </a:prstGeom>
          <a:solidFill>
            <a:srgbClr val="FDE9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la forma: simetría y curtosis</a:t>
            </a:r>
            <a:endParaRPr b="1" i="1"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para caracterizar una distribución de frecuencias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/>
        </p:nvSpPr>
        <p:spPr>
          <a:xfrm>
            <a:off x="415876" y="1205256"/>
            <a:ext cx="80724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Las </a:t>
            </a:r>
            <a:r>
              <a:rPr b="1" i="1" lang="es-AR" sz="1800">
                <a:solidFill>
                  <a:srgbClr val="2A8A85"/>
                </a:solidFill>
                <a:latin typeface="Cambria"/>
                <a:ea typeface="Cambria"/>
                <a:cs typeface="Cambria"/>
                <a:sym typeface="Cambria"/>
              </a:rPr>
              <a:t>medidas de tendencia central 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caracterizan de manera sintética la tendencia general de una distribución de frecuencias.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755572" y="2551351"/>
            <a:ext cx="3816424" cy="369332"/>
          </a:xfrm>
          <a:prstGeom prst="rect">
            <a:avLst/>
          </a:prstGeom>
          <a:solidFill>
            <a:srgbClr val="CAE8E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MODA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756068" y="3094872"/>
            <a:ext cx="3816424" cy="369332"/>
          </a:xfrm>
          <a:prstGeom prst="rect">
            <a:avLst/>
          </a:prstGeom>
          <a:solidFill>
            <a:srgbClr val="CAE8E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MEDIANA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756068" y="3621997"/>
            <a:ext cx="3816424" cy="369332"/>
          </a:xfrm>
          <a:prstGeom prst="rect">
            <a:avLst/>
          </a:prstGeom>
          <a:solidFill>
            <a:srgbClr val="CAE8E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MEDIA O PROMEDIO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4723223" y="2597517"/>
            <a:ext cx="1152130" cy="276999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NOMINALES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026580" y="2596292"/>
            <a:ext cx="1152130" cy="276999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ORDINALES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7336183" y="3640004"/>
            <a:ext cx="1152130" cy="276999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INTERVALO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7329937" y="2596292"/>
            <a:ext cx="1152130" cy="276999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INTERVALO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6026580" y="3109144"/>
            <a:ext cx="1152130" cy="276999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ORDINALES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7329937" y="3109144"/>
            <a:ext cx="1152130" cy="276999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INTERVALO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tendencia central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3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p4"/>
          <p:cNvGraphicFramePr/>
          <p:nvPr/>
        </p:nvGraphicFramePr>
        <p:xfrm>
          <a:off x="712378" y="21596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{7AE51C13-8C20-43E9-8957-39486E22DC8F}</a:tableStyleId>
              </a:tblPr>
              <a:tblGrid>
                <a:gridCol w="2139950"/>
                <a:gridCol w="739775"/>
              </a:tblGrid>
              <a:tr h="954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1" i="1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Orientación política del entrevistado/a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1" i="1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  <a:tr h="5000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0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Izquierda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0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</a:tr>
              <a:tr h="503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0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Centroizquierda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-609600" lvl="0" marL="6096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0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115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</a:tr>
              <a:tr h="5096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0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Centro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0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339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</a:tr>
              <a:tr h="5080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0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Centroderecha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0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183 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</a:tr>
              <a:tr h="5080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0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Derecha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0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114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</a:tr>
              <a:tr h="5080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0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mbria"/>
                        <a:buNone/>
                      </a:pPr>
                      <a:r>
                        <a:rPr b="0" lang="es-AR" sz="16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792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</a:tr>
            </a:tbl>
          </a:graphicData>
        </a:graphic>
      </p:graphicFrame>
      <p:sp>
        <p:nvSpPr>
          <p:cNvPr id="136" name="Google Shape;136;p4"/>
          <p:cNvSpPr/>
          <p:nvPr/>
        </p:nvSpPr>
        <p:spPr>
          <a:xfrm>
            <a:off x="4224809" y="3124201"/>
            <a:ext cx="1439863" cy="376237"/>
          </a:xfrm>
          <a:prstGeom prst="rect">
            <a:avLst/>
          </a:prstGeom>
          <a:solidFill>
            <a:srgbClr val="D99593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Moda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2984896" y="4246834"/>
            <a:ext cx="428625" cy="428625"/>
          </a:xfrm>
          <a:prstGeom prst="ellipse">
            <a:avLst/>
          </a:prstGeom>
          <a:noFill/>
          <a:ln cap="flat" cmpd="sng" w="28575">
            <a:solidFill>
              <a:srgbClr val="2A8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38" name="Google Shape;138;p4"/>
          <p:cNvCxnSpPr>
            <a:stCxn id="137" idx="7"/>
            <a:endCxn id="136" idx="1"/>
          </p:cNvCxnSpPr>
          <p:nvPr/>
        </p:nvCxnSpPr>
        <p:spPr>
          <a:xfrm flipH="1" rot="10800000">
            <a:off x="3350750" y="3312405"/>
            <a:ext cx="874200" cy="997200"/>
          </a:xfrm>
          <a:prstGeom prst="straightConnector1">
            <a:avLst/>
          </a:prstGeom>
          <a:noFill/>
          <a:ln cap="flat" cmpd="sng" w="28575">
            <a:solidFill>
              <a:srgbClr val="2A8A85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9" name="Google Shape;139;p4"/>
          <p:cNvSpPr txBox="1"/>
          <p:nvPr/>
        </p:nvSpPr>
        <p:spPr>
          <a:xfrm>
            <a:off x="500063" y="980728"/>
            <a:ext cx="80724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El </a:t>
            </a:r>
            <a:r>
              <a:rPr b="1" i="1" lang="es-AR" sz="1800">
                <a:solidFill>
                  <a:srgbClr val="2A8A85"/>
                </a:solidFill>
                <a:latin typeface="Cambria"/>
                <a:ea typeface="Cambria"/>
                <a:cs typeface="Cambria"/>
                <a:sym typeface="Cambria"/>
              </a:rPr>
              <a:t>modo o moda</a:t>
            </a:r>
            <a:r>
              <a:rPr i="1" lang="es-AR" sz="1800">
                <a:solidFill>
                  <a:srgbClr val="2A8A85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(Mo) de una distribución es aquel valor que se presenta u ocurre con la mayor frecuencia. Es el valor más común de la distribución. 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4133390" y="3833247"/>
            <a:ext cx="431971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 moda refiere a la categoría de la variable: entre los encuestados, lo más frecuente es tener una orientación política de centro.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tendencia central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45" name="Google Shape;145;p4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4"/>
          <p:cNvSpPr txBox="1"/>
          <p:nvPr/>
        </p:nvSpPr>
        <p:spPr>
          <a:xfrm>
            <a:off x="664307" y="6245089"/>
            <a:ext cx="431971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Fuente: elaboración propia a partir de WVS-Argentina, 2017-2020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/>
        </p:nvSpPr>
        <p:spPr>
          <a:xfrm>
            <a:off x="500063" y="980728"/>
            <a:ext cx="80724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 </a:t>
            </a:r>
            <a:r>
              <a:rPr b="1" i="1" lang="es-AR" sz="1800">
                <a:solidFill>
                  <a:srgbClr val="2A8A85"/>
                </a:solidFill>
                <a:latin typeface="Cambria"/>
                <a:ea typeface="Cambria"/>
                <a:cs typeface="Cambria"/>
                <a:sym typeface="Cambria"/>
              </a:rPr>
              <a:t>mediana</a:t>
            </a:r>
            <a:r>
              <a:rPr b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(Md) es el valor o categoría de la variable que divide en dos partes iguales a la distribución.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500063" y="1627059"/>
            <a:ext cx="80724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Para calcular la mediana debemos volver a la idea de </a:t>
            </a:r>
            <a:r>
              <a:rPr b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distribución de frecuencias acumuladas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</a:t>
            </a:r>
            <a:endParaRPr/>
          </a:p>
        </p:txBody>
      </p:sp>
      <p:graphicFrame>
        <p:nvGraphicFramePr>
          <p:cNvPr id="153" name="Google Shape;153;p5"/>
          <p:cNvGraphicFramePr/>
          <p:nvPr/>
        </p:nvGraphicFramePr>
        <p:xfrm>
          <a:off x="290835" y="2576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{7AE51C13-8C20-43E9-8957-39486E22DC8F}</a:tableStyleId>
              </a:tblPr>
              <a:tblGrid>
                <a:gridCol w="2356400"/>
                <a:gridCol w="819400"/>
                <a:gridCol w="688200"/>
                <a:gridCol w="804650"/>
                <a:gridCol w="804650"/>
              </a:tblGrid>
              <a:tr h="35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Máximo nivel educativo alcanzado (ocupados/as)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ƒ</a:t>
                      </a:r>
                      <a:endParaRPr b="1" i="1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f%</a:t>
                      </a:r>
                      <a:endParaRPr b="1" i="1" sz="1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ƒ</a:t>
                      </a:r>
                      <a:r>
                        <a:rPr b="1" lang="es-AR" sz="13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</a:t>
                      </a:r>
                      <a:endParaRPr b="1" i="1" sz="13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ƒ</a:t>
                      </a:r>
                      <a:r>
                        <a:rPr b="1" lang="es-AR" sz="13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a%</a:t>
                      </a:r>
                      <a:endParaRPr b="1" i="1" sz="13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  <a:tr h="35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Primaria incompleta o menos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549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3.1%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549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3,1%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6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Primaria completa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2.275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12.9%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2.824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16,0%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6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Secundaria incompleta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2.943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16.7%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5.767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32,7%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6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Secundaria completa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3.470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19.7%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9.237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52,4%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6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Univ./Terc. Incompleto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4.125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23.4%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13.362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75,8%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6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Univ./Terc. Completo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4.267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24.2%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17.629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100,0%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6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Total (N)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17.629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100%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 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</a:tr>
            </a:tbl>
          </a:graphicData>
        </a:graphic>
      </p:graphicFrame>
      <p:sp>
        <p:nvSpPr>
          <p:cNvPr id="154" name="Google Shape;154;p5"/>
          <p:cNvSpPr/>
          <p:nvPr/>
        </p:nvSpPr>
        <p:spPr>
          <a:xfrm>
            <a:off x="6211142" y="5404867"/>
            <a:ext cx="2717453" cy="439737"/>
          </a:xfrm>
          <a:prstGeom prst="rect">
            <a:avLst/>
          </a:prstGeom>
          <a:solidFill>
            <a:srgbClr val="CAE8E7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Md= Secundaria completa</a:t>
            </a:r>
            <a:endParaRPr b="1"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6191746" y="3369152"/>
            <a:ext cx="2520950" cy="431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None/>
            </a:pPr>
            <a:r>
              <a:rPr b="1" lang="es-AR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Md</a:t>
            </a:r>
            <a:r>
              <a:rPr b="1" baseline="-25000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</a:t>
            </a:r>
            <a:r>
              <a:rPr b="1" baseline="-25000"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s-AR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= N/2</a:t>
            </a:r>
            <a:endParaRPr b="1"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6191746" y="2501950"/>
            <a:ext cx="2736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Para averiguar la </a:t>
            </a:r>
            <a:r>
              <a:rPr b="1" lang="es-AR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mediana</a:t>
            </a:r>
            <a:r>
              <a:rPr lang="es-AR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debemos buscar su </a:t>
            </a:r>
            <a:r>
              <a:rPr b="1" lang="es-AR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orden</a:t>
            </a:r>
            <a:r>
              <a:rPr lang="es-AR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57" name="Google Shape;157;p5"/>
          <p:cNvCxnSpPr/>
          <p:nvPr/>
        </p:nvCxnSpPr>
        <p:spPr>
          <a:xfrm>
            <a:off x="7452221" y="3939892"/>
            <a:ext cx="0" cy="360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5"/>
          <p:cNvSpPr/>
          <p:nvPr/>
        </p:nvSpPr>
        <p:spPr>
          <a:xfrm>
            <a:off x="5956820" y="4353275"/>
            <a:ext cx="2808287" cy="719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None/>
            </a:pPr>
            <a:r>
              <a:rPr b="1" lang="es-AR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Md</a:t>
            </a:r>
            <a:r>
              <a:rPr b="1" baseline="-25000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 </a:t>
            </a:r>
            <a:r>
              <a:rPr b="1" lang="es-AR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= 17.629 / 2</a:t>
            </a:r>
            <a:endParaRPr/>
          </a:p>
          <a:p>
            <a:pPr indent="-342900" lvl="0" marL="342900" marR="0" rtl="0" algn="ctr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None/>
            </a:pPr>
            <a:r>
              <a:rPr b="1" lang="es-AR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	Md</a:t>
            </a:r>
            <a:r>
              <a:rPr b="1" baseline="-25000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 </a:t>
            </a:r>
            <a:r>
              <a:rPr b="1" lang="es-AR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= 8.814</a:t>
            </a:r>
            <a:r>
              <a:rPr b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endParaRPr b="1"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007564" y="4297985"/>
            <a:ext cx="645177" cy="428625"/>
          </a:xfrm>
          <a:prstGeom prst="ellipse">
            <a:avLst/>
          </a:prstGeom>
          <a:noFill/>
          <a:ln cap="flat" cmpd="sng" w="28575">
            <a:solidFill>
              <a:srgbClr val="2A8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213692" y="4297985"/>
            <a:ext cx="645177" cy="414139"/>
          </a:xfrm>
          <a:prstGeom prst="ellipse">
            <a:avLst/>
          </a:prstGeom>
          <a:noFill/>
          <a:ln cap="flat" cmpd="sng" w="28575">
            <a:solidFill>
              <a:srgbClr val="2A8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tendencia central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65" name="Google Shape;165;p5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/>
        </p:nvSpPr>
        <p:spPr>
          <a:xfrm>
            <a:off x="152779" y="1028258"/>
            <a:ext cx="87403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 el caso de variables de escala (intervalo o razón), la mediana puede interpretarse con facilidad: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1979712" y="1674589"/>
            <a:ext cx="584299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Gráfico 4. Distribución acumulada de hogares según ingreso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155" y="2170024"/>
            <a:ext cx="6580533" cy="33482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6"/>
          <p:cNvCxnSpPr/>
          <p:nvPr/>
        </p:nvCxnSpPr>
        <p:spPr>
          <a:xfrm>
            <a:off x="1619672" y="3861048"/>
            <a:ext cx="2016224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4" name="Google Shape;174;p6"/>
          <p:cNvCxnSpPr/>
          <p:nvPr/>
        </p:nvCxnSpPr>
        <p:spPr>
          <a:xfrm>
            <a:off x="3635896" y="3883375"/>
            <a:ext cx="0" cy="169442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5" name="Google Shape;175;p6"/>
          <p:cNvSpPr txBox="1"/>
          <p:nvPr/>
        </p:nvSpPr>
        <p:spPr>
          <a:xfrm>
            <a:off x="3069357" y="5436010"/>
            <a:ext cx="1152128" cy="36933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$37.000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1394918" y="3659501"/>
            <a:ext cx="648072" cy="36933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tendencia central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6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/>
          <p:nvPr/>
        </p:nvSpPr>
        <p:spPr>
          <a:xfrm>
            <a:off x="500063" y="980728"/>
            <a:ext cx="8072437" cy="67076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091" l="-604" r="-680" t="-636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500063" y="1627059"/>
            <a:ext cx="80724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Representa el “centro de gravedad” de una distribución de frecuencias. </a:t>
            </a:r>
            <a:endParaRPr/>
          </a:p>
        </p:txBody>
      </p:sp>
      <p:cxnSp>
        <p:nvCxnSpPr>
          <p:cNvPr id="188" name="Google Shape;188;p7"/>
          <p:cNvCxnSpPr/>
          <p:nvPr/>
        </p:nvCxnSpPr>
        <p:spPr>
          <a:xfrm rot="10800000">
            <a:off x="3635830" y="2661105"/>
            <a:ext cx="1474888" cy="309915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7"/>
          <p:cNvSpPr txBox="1"/>
          <p:nvPr/>
        </p:nvSpPr>
        <p:spPr>
          <a:xfrm>
            <a:off x="3021105" y="3583207"/>
            <a:ext cx="3783143" cy="6445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tendencia central</a:t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94" name="Google Shape;194;p7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7"/>
          <p:cNvSpPr txBox="1"/>
          <p:nvPr/>
        </p:nvSpPr>
        <p:spPr>
          <a:xfrm>
            <a:off x="521420" y="2260405"/>
            <a:ext cx="8371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Sea la siguiente distribución de edades en una muestra aleatoria de 10 casos: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{22, 18, 24, 19, 29, 22, 30, 26, 28, 30}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/>
          <p:nvPr/>
        </p:nvSpPr>
        <p:spPr>
          <a:xfrm>
            <a:off x="500063" y="980728"/>
            <a:ext cx="807243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El </a:t>
            </a:r>
            <a:r>
              <a:rPr b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rango percentil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indica el porcentaje de casos en una distribución que cae por debajo de un valor o categoría determinados.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Sólo puede calcularse para variables que pueden ordenarse: es decir, de nivel de medición ordinal o de intervalo.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5940152" y="2473937"/>
            <a:ext cx="3096344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¿Cuál es el valor o categoría de la variable que deja por debajo al 75% de los casos?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75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</a:t>
            </a:r>
            <a:r>
              <a:rPr lang="es-AR" sz="18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75 . 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100</a:t>
            </a:r>
            <a:r>
              <a:rPr lang="es-AR" sz="18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75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75*17629/100=13221</a:t>
            </a:r>
            <a:endParaRPr b="1"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940152" y="4833217"/>
            <a:ext cx="2913013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Buscamos dónde hay </a:t>
            </a:r>
            <a:r>
              <a:rPr b="1" lang="es-AR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13.221 casos acumulados</a:t>
            </a:r>
            <a:r>
              <a:rPr lang="es-AR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en “Universitario o terciario incompleto”.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El 75% de la población tiene Universitario/terciario incompleto O MENOS.</a:t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posición</a:t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07" name="Google Shape;207;p8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08" name="Google Shape;208;p8"/>
          <p:cNvGraphicFramePr/>
          <p:nvPr/>
        </p:nvGraphicFramePr>
        <p:xfrm>
          <a:off x="290835" y="2576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{7AE51C13-8C20-43E9-8957-39486E22DC8F}</a:tableStyleId>
              </a:tblPr>
              <a:tblGrid>
                <a:gridCol w="2356400"/>
                <a:gridCol w="819400"/>
                <a:gridCol w="688200"/>
                <a:gridCol w="804650"/>
                <a:gridCol w="804650"/>
              </a:tblGrid>
              <a:tr h="35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Máximo nivel educativo alcanzado (ocupados/as)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ƒ</a:t>
                      </a:r>
                      <a:endParaRPr b="1" i="1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f%</a:t>
                      </a:r>
                      <a:endParaRPr b="1" i="1" sz="1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ƒ</a:t>
                      </a:r>
                      <a:r>
                        <a:rPr b="1" lang="es-AR" sz="13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</a:t>
                      </a:r>
                      <a:endParaRPr b="1" i="1" sz="13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ƒ</a:t>
                      </a:r>
                      <a:r>
                        <a:rPr b="1" lang="es-AR" sz="13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a%</a:t>
                      </a:r>
                      <a:endParaRPr b="1" i="1" sz="13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  <a:tr h="35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Primaria incompleta o menos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549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3.1%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549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3,1%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6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Primaria completa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2.275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12.9%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2.824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16,0%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6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Secundaria incompleta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2.943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16.7%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5.767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32,7%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6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Secundaria completa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3.470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19.7%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9.237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52,4%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6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Univ./Terc. Incompleto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4.125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23.4%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13.362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75,8%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6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Univ./Terc. Completo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0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4.267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24.2%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17.629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AR" sz="1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100,0%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62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Total (N)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17.629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100%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mbria"/>
                        <a:buNone/>
                      </a:pPr>
                      <a:r>
                        <a:rPr b="1" lang="es-AR" sz="1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 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 txBox="1"/>
          <p:nvPr/>
        </p:nvSpPr>
        <p:spPr>
          <a:xfrm>
            <a:off x="500063" y="980728"/>
            <a:ext cx="80724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 el caso de variables de escala (intervalo o razón), los percentiles se interpretan con facilidad. Veamos:</a:t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1979712" y="1674589"/>
            <a:ext cx="584299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Gráfico 4. Distribución acumulada de hogares según ingreso</a:t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5" name="Google Shape;2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155" y="2170024"/>
            <a:ext cx="6580533" cy="33482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9"/>
          <p:cNvCxnSpPr/>
          <p:nvPr/>
        </p:nvCxnSpPr>
        <p:spPr>
          <a:xfrm>
            <a:off x="1691680" y="3284984"/>
            <a:ext cx="2696741" cy="278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7" name="Google Shape;217;p9"/>
          <p:cNvCxnSpPr/>
          <p:nvPr/>
        </p:nvCxnSpPr>
        <p:spPr>
          <a:xfrm>
            <a:off x="4388421" y="3284984"/>
            <a:ext cx="0" cy="2157211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8" name="Google Shape;218;p9"/>
          <p:cNvSpPr txBox="1"/>
          <p:nvPr/>
        </p:nvSpPr>
        <p:spPr>
          <a:xfrm>
            <a:off x="3851920" y="5442195"/>
            <a:ext cx="1152128" cy="2769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$55.000</a:t>
            </a:r>
            <a:endParaRPr/>
          </a:p>
        </p:txBody>
      </p:sp>
      <p:sp>
        <p:nvSpPr>
          <p:cNvPr id="219" name="Google Shape;219;p9"/>
          <p:cNvSpPr txBox="1"/>
          <p:nvPr/>
        </p:nvSpPr>
        <p:spPr>
          <a:xfrm>
            <a:off x="1331640" y="3103101"/>
            <a:ext cx="648072" cy="2769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75%</a:t>
            </a:r>
            <a:endParaRPr/>
          </a:p>
        </p:txBody>
      </p:sp>
      <p:cxnSp>
        <p:nvCxnSpPr>
          <p:cNvPr id="220" name="Google Shape;220;p9"/>
          <p:cNvCxnSpPr/>
          <p:nvPr/>
        </p:nvCxnSpPr>
        <p:spPr>
          <a:xfrm>
            <a:off x="1661220" y="2587233"/>
            <a:ext cx="4566964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1" name="Google Shape;221;p9"/>
          <p:cNvCxnSpPr/>
          <p:nvPr/>
        </p:nvCxnSpPr>
        <p:spPr>
          <a:xfrm>
            <a:off x="6209134" y="2587233"/>
            <a:ext cx="0" cy="285496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2" name="Google Shape;222;p9"/>
          <p:cNvSpPr txBox="1"/>
          <p:nvPr/>
        </p:nvSpPr>
        <p:spPr>
          <a:xfrm>
            <a:off x="5742087" y="5406911"/>
            <a:ext cx="1152128" cy="2769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$93.000</a:t>
            </a:r>
            <a:endParaRPr/>
          </a:p>
        </p:txBody>
      </p:sp>
      <p:sp>
        <p:nvSpPr>
          <p:cNvPr id="223" name="Google Shape;223;p9"/>
          <p:cNvSpPr txBox="1"/>
          <p:nvPr/>
        </p:nvSpPr>
        <p:spPr>
          <a:xfrm>
            <a:off x="1331640" y="2419989"/>
            <a:ext cx="648072" cy="2769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95%</a:t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5562067" y="5759848"/>
            <a:ext cx="2664296" cy="738664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00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Podemos decir que el 95% de los hogares gana hasta $93.000… O también, que el 5% de las familias tienen ingresos superiores a $93.000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posición</a:t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29" name="Google Shape;229;p9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 txBox="1"/>
          <p:nvPr/>
        </p:nvSpPr>
        <p:spPr>
          <a:xfrm>
            <a:off x="483448" y="1103757"/>
            <a:ext cx="80724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El uso de una medida de tendencia central nos da una imagen incompleta de la distribución de una variable. </a:t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490993" y="1734714"/>
            <a:ext cx="80724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Por ejemplo, la distribución de frecuencias de las calificaciones obtenidas por los alumnos de los cursos A y B es la siguiente:</a:t>
            </a:r>
            <a:endParaRPr/>
          </a:p>
        </p:txBody>
      </p:sp>
      <p:pic>
        <p:nvPicPr>
          <p:cNvPr id="236" name="Google Shape;23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59145"/>
            <a:ext cx="5568185" cy="316074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 txBox="1"/>
          <p:nvPr/>
        </p:nvSpPr>
        <p:spPr>
          <a:xfrm>
            <a:off x="6025385" y="2555234"/>
            <a:ext cx="252028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 ambos casos, la </a:t>
            </a:r>
            <a:r>
              <a:rPr b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media es la misma: 5,5 puntos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… ¿pero diríamos que las distribuciones son iguales?</a:t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6050291" y="4371270"/>
            <a:ext cx="25202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Para ello apelamos a las </a:t>
            </a:r>
            <a:r>
              <a:rPr b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dispersión.</a:t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131840" y="4580575"/>
            <a:ext cx="720080" cy="3936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07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dispersión o variabilidad absoluta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44" name="Google Shape;244;p10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 txBox="1"/>
          <p:nvPr/>
        </p:nvSpPr>
        <p:spPr>
          <a:xfrm>
            <a:off x="483448" y="1103757"/>
            <a:ext cx="807243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Para tener un “promedio” de la dispersión de los datos, la medida fundamental en el análisis estadístico es la </a:t>
            </a:r>
            <a:r>
              <a:rPr b="1" i="1" lang="es-AR" sz="1800">
                <a:solidFill>
                  <a:srgbClr val="2A8A85"/>
                </a:solidFill>
                <a:latin typeface="Cambria"/>
                <a:ea typeface="Cambria"/>
                <a:cs typeface="Cambria"/>
                <a:sym typeface="Cambria"/>
              </a:rPr>
              <a:t>varianza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 </a:t>
            </a:r>
            <a:r>
              <a:rPr b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varianza 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es el promedio de los cuadrados de las desviaciones (elevamos al cuadrado para evitar el problema de los signos, pues la suma simple de las desviaciones = 0) de los valores con respecto a la media. </a:t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dispersión o variabilidad absoluta</a:t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1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55" name="Google Shape;255;p11"/>
          <p:cNvGraphicFramePr/>
          <p:nvPr/>
        </p:nvGraphicFramePr>
        <p:xfrm>
          <a:off x="250827" y="31645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{6804B6C2-C988-4AEC-89EE-293D45685EDE}</a:tableStyleId>
              </a:tblPr>
              <a:tblGrid>
                <a:gridCol w="1310625"/>
                <a:gridCol w="1055300"/>
                <a:gridCol w="850725"/>
                <a:gridCol w="924875"/>
                <a:gridCol w="1055300"/>
              </a:tblGrid>
              <a:tr h="254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Calificación (x)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</a:t>
                      </a:r>
                      <a:endParaRPr b="0" i="1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f*x</a:t>
                      </a:r>
                      <a:endParaRPr b="0" i="1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x-ẋ</a:t>
                      </a:r>
                      <a:endParaRPr b="0" i="1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(x-x)</a:t>
                      </a:r>
                      <a:r>
                        <a:rPr baseline="30000"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*f</a:t>
                      </a:r>
                      <a:endParaRPr b="0" i="1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-4.5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20.25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-3.5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36.75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</a:tr>
              <a:tr h="239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-2.5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31.25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8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-1.5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18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-0.5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7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8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56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18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8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31.25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27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36.75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10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4.5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20.25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</a:tr>
              <a:tr h="395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N=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54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297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7625" marB="0" marR="7625" marL="7625" anchor="b">
                    <a:solidFill>
                      <a:srgbClr val="EF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625" marB="0" marR="7625" marL="7625" anchor="b"/>
                </a:tc>
              </a:tr>
            </a:tbl>
          </a:graphicData>
        </a:graphic>
      </p:graphicFrame>
      <p:sp>
        <p:nvSpPr>
          <p:cNvPr id="256" name="Google Shape;256;p11"/>
          <p:cNvSpPr txBox="1"/>
          <p:nvPr/>
        </p:nvSpPr>
        <p:spPr>
          <a:xfrm>
            <a:off x="5940152" y="3233538"/>
            <a:ext cx="1932516" cy="5978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7" name="Google Shape;257;p11"/>
          <p:cNvSpPr txBox="1"/>
          <p:nvPr/>
        </p:nvSpPr>
        <p:spPr>
          <a:xfrm>
            <a:off x="5940151" y="4526025"/>
            <a:ext cx="1949508" cy="59016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8" name="Google Shape;258;p11"/>
          <p:cNvSpPr txBox="1"/>
          <p:nvPr/>
        </p:nvSpPr>
        <p:spPr>
          <a:xfrm>
            <a:off x="5462448" y="3896267"/>
            <a:ext cx="34455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Con datos de la tabla:</a:t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5806917" y="5266452"/>
            <a:ext cx="2294524" cy="5260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 txBox="1"/>
          <p:nvPr/>
        </p:nvSpPr>
        <p:spPr>
          <a:xfrm>
            <a:off x="483448" y="1103757"/>
            <a:ext cx="8072437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Ahora bien, en el ejemplo anterior, los resultados están expresados en “calificaciones al cuadrado” (porque habíamos elevado las diferencias para resolver el problema de los signos).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Para solucionar esto, podemos generar la raíz cuadrada de la varianza, que es la </a:t>
            </a:r>
            <a:r>
              <a:rPr b="1" i="1" lang="es-AR" sz="1800">
                <a:solidFill>
                  <a:srgbClr val="2A8A85"/>
                </a:solidFill>
                <a:latin typeface="Cambria"/>
                <a:ea typeface="Cambria"/>
                <a:cs typeface="Cambria"/>
                <a:sym typeface="Cambria"/>
              </a:rPr>
              <a:t>desviación estándar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La ventaja de la desviación estándar es que puede interpretarse en la misma unidad de medida que la variable original. En el ejemplo: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 desviación estándar se interpreta como </a:t>
            </a:r>
            <a:r>
              <a:rPr i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 dispersión promedio de todos los valores de la variable con respecto a la media y se expresa en unidades de la variable original. 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65" name="Google Shape;265;p12"/>
          <p:cNvGraphicFramePr/>
          <p:nvPr/>
        </p:nvGraphicFramePr>
        <p:xfrm>
          <a:off x="2635901" y="350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{AAB9A4FF-6111-4CFA-9C7E-1CA3DB1AB7F4}</a:tableStyleId>
              </a:tblPr>
              <a:tblGrid>
                <a:gridCol w="1918425"/>
                <a:gridCol w="1849100"/>
              </a:tblGrid>
              <a:tr h="32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4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AR" sz="14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Curso A</a:t>
                      </a:r>
                      <a:endParaRPr b="1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2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4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Desviación estándar (s)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4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</a:t>
                      </a:r>
                      <a:endParaRPr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266" name="Google Shape;266;p12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dispersión o variabilidad absoluta</a:t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12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 txBox="1"/>
          <p:nvPr/>
        </p:nvSpPr>
        <p:spPr>
          <a:xfrm>
            <a:off x="483448" y="1103757"/>
            <a:ext cx="807243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Cuando queremos comparar dos distribuciones para saber cuál es más heterogénea u homogénea, no nos basta con comparar sus desvíos estándar, porque éstos se expresan en relación con la media.</a:t>
            </a:r>
            <a:endParaRPr/>
          </a:p>
        </p:txBody>
      </p:sp>
      <p:sp>
        <p:nvSpPr>
          <p:cNvPr id="276" name="Google Shape;276;p13"/>
          <p:cNvSpPr txBox="1"/>
          <p:nvPr/>
        </p:nvSpPr>
        <p:spPr>
          <a:xfrm>
            <a:off x="475482" y="2236418"/>
            <a:ext cx="80724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El modo correcto de comparar dos distribuciones diferentes consiste en calcular su </a:t>
            </a:r>
            <a:r>
              <a:rPr b="1" i="1" lang="es-AR" sz="1800">
                <a:solidFill>
                  <a:srgbClr val="2A8A85"/>
                </a:solidFill>
                <a:latin typeface="Cambria"/>
                <a:ea typeface="Cambria"/>
                <a:cs typeface="Cambria"/>
                <a:sym typeface="Cambria"/>
              </a:rPr>
              <a:t>coeficiente de variabilidad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475482" y="3040863"/>
            <a:ext cx="79295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Calculamos el </a:t>
            </a:r>
            <a:r>
              <a:rPr b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coeficiente de variabilidad 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partir de la siguiente fórmula: </a:t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dispersión o variabilidad relativa</a:t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82" name="Google Shape;282;p13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3"/>
          <p:cNvSpPr txBox="1"/>
          <p:nvPr/>
        </p:nvSpPr>
        <p:spPr>
          <a:xfrm>
            <a:off x="3420553" y="3682519"/>
            <a:ext cx="2182293" cy="47250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 txBox="1"/>
          <p:nvPr/>
        </p:nvSpPr>
        <p:spPr>
          <a:xfrm>
            <a:off x="483448" y="1103757"/>
            <a:ext cx="80724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Por ejemplo:</a:t>
            </a:r>
            <a:endParaRPr/>
          </a:p>
        </p:txBody>
      </p:sp>
      <p:sp>
        <p:nvSpPr>
          <p:cNvPr id="289" name="Google Shape;289;p14"/>
          <p:cNvSpPr txBox="1"/>
          <p:nvPr/>
        </p:nvSpPr>
        <p:spPr>
          <a:xfrm>
            <a:off x="678656" y="1628800"/>
            <a:ext cx="3357563" cy="107156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977" l="-1452" r="0" t="-34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750094" y="2628925"/>
            <a:ext cx="2071687" cy="785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CV = </a:t>
            </a:r>
            <a:r>
              <a:rPr lang="es-AR" sz="18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5545 . 100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6614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1035844" y="3414737"/>
            <a:ext cx="1571625" cy="428625"/>
          </a:xfrm>
          <a:prstGeom prst="rect">
            <a:avLst/>
          </a:prstGeom>
          <a:solidFill>
            <a:srgbClr val="DAE5F1"/>
          </a:solidFill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CV = 83,8%</a:t>
            </a:r>
            <a:endParaRPr/>
          </a:p>
        </p:txBody>
      </p:sp>
      <p:sp>
        <p:nvSpPr>
          <p:cNvPr id="292" name="Google Shape;292;p14"/>
          <p:cNvSpPr txBox="1"/>
          <p:nvPr/>
        </p:nvSpPr>
        <p:spPr>
          <a:xfrm>
            <a:off x="5107781" y="1628800"/>
            <a:ext cx="3357563" cy="107156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977" l="-1633" r="0" t="-34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5179219" y="2628925"/>
            <a:ext cx="2071687" cy="785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CV = </a:t>
            </a:r>
            <a:r>
              <a:rPr lang="es-AR" sz="18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4189 . 100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3571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5464969" y="3414737"/>
            <a:ext cx="1571625" cy="428625"/>
          </a:xfrm>
          <a:prstGeom prst="rect">
            <a:avLst/>
          </a:prstGeom>
          <a:solidFill>
            <a:srgbClr val="DAE5F1"/>
          </a:solidFill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CV = 117%</a:t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7" name="Google Shape;297;p14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dispersión o variabilidad relativa</a:t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99" name="Google Shape;299;p14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 txBox="1"/>
          <p:nvPr/>
        </p:nvSpPr>
        <p:spPr>
          <a:xfrm>
            <a:off x="152779" y="1082428"/>
            <a:ext cx="8740396" cy="23083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175" l="-558" r="-628" t="-185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7" name="Google Shape;307;p15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la forma de una distribución</a:t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09" name="Google Shape;309;p15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imetría estadística - Wikiwand" id="310" name="Google Shape;3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608" y="3561539"/>
            <a:ext cx="7340840" cy="2618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"/>
          <p:cNvSpPr txBox="1"/>
          <p:nvPr/>
        </p:nvSpPr>
        <p:spPr>
          <a:xfrm>
            <a:off x="152779" y="1082428"/>
            <a:ext cx="8740396" cy="23083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39" l="-558" r="-628" t="-185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6" name="Google Shape;316;p16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18" name="Google Shape;318;p16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Medidas de la forma de una distribución</a:t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20" name="Google Shape;320;p16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Vista de Diferencias en la estimación del coeficiente de curtosis ..." id="321" name="Google Shape;3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1920" y="2708920"/>
            <a:ext cx="4381500" cy="247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17"/>
          <p:cNvPicPr preferRelativeResize="0"/>
          <p:nvPr/>
        </p:nvPicPr>
        <p:blipFill rotWithShape="1">
          <a:blip r:embed="rId3">
            <a:alphaModFix/>
          </a:blip>
          <a:srcRect b="0" l="-764" r="0" t="0"/>
          <a:stretch/>
        </p:blipFill>
        <p:spPr>
          <a:xfrm>
            <a:off x="613772" y="826746"/>
            <a:ext cx="5587013" cy="4771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6220" y="2250908"/>
            <a:ext cx="3475181" cy="2100384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7"/>
          <p:cNvSpPr txBox="1"/>
          <p:nvPr>
            <p:ph idx="4294967295" type="title"/>
          </p:nvPr>
        </p:nvSpPr>
        <p:spPr>
          <a:xfrm>
            <a:off x="-90264" y="135777"/>
            <a:ext cx="9324528" cy="630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s-AR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Entorno SPSS: tendencia central, dispersión y curtosis</a:t>
            </a:r>
            <a:endParaRPr b="1" sz="28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30" name="Google Shape;330;p17"/>
          <p:cNvCxnSpPr>
            <a:stCxn id="331" idx="2"/>
          </p:cNvCxnSpPr>
          <p:nvPr/>
        </p:nvCxnSpPr>
        <p:spPr>
          <a:xfrm rot="5400000">
            <a:off x="6726047" y="1654658"/>
            <a:ext cx="386100" cy="15786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17"/>
          <p:cNvCxnSpPr>
            <a:stCxn id="333" idx="3"/>
          </p:cNvCxnSpPr>
          <p:nvPr/>
        </p:nvCxnSpPr>
        <p:spPr>
          <a:xfrm flipH="1" rot="10800000">
            <a:off x="2452303" y="2742568"/>
            <a:ext cx="1759800" cy="3024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" name="Google Shape;334;p17"/>
          <p:cNvSpPr txBox="1"/>
          <p:nvPr/>
        </p:nvSpPr>
        <p:spPr>
          <a:xfrm>
            <a:off x="5222204" y="2463586"/>
            <a:ext cx="828287" cy="323165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3" name="Google Shape;333;p17"/>
          <p:cNvSpPr txBox="1"/>
          <p:nvPr/>
        </p:nvSpPr>
        <p:spPr>
          <a:xfrm>
            <a:off x="182272" y="2652553"/>
            <a:ext cx="2270031" cy="784830"/>
          </a:xfrm>
          <a:prstGeom prst="rect">
            <a:avLst/>
          </a:prstGeom>
          <a:solidFill>
            <a:srgbClr val="EFF7F7"/>
          </a:solidFill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Elegimos la/s variable/s  que deseamos caracterizar</a:t>
            </a:r>
            <a:endParaRPr/>
          </a:p>
        </p:txBody>
      </p:sp>
      <p:sp>
        <p:nvSpPr>
          <p:cNvPr id="331" name="Google Shape;331;p17"/>
          <p:cNvSpPr txBox="1"/>
          <p:nvPr/>
        </p:nvSpPr>
        <p:spPr>
          <a:xfrm>
            <a:off x="6357357" y="1927743"/>
            <a:ext cx="2702080" cy="323165"/>
          </a:xfrm>
          <a:prstGeom prst="rect">
            <a:avLst/>
          </a:prstGeom>
          <a:solidFill>
            <a:srgbClr val="EFF7F7"/>
          </a:solidFill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Botón &gt; Estadísticos</a:t>
            </a:r>
            <a:endParaRPr/>
          </a:p>
        </p:txBody>
      </p:sp>
      <p:pic>
        <p:nvPicPr>
          <p:cNvPr id="335" name="Google Shape;3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707" y="3600916"/>
            <a:ext cx="4495526" cy="308120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7"/>
          <p:cNvSpPr txBox="1"/>
          <p:nvPr/>
        </p:nvSpPr>
        <p:spPr>
          <a:xfrm>
            <a:off x="6187969" y="3008494"/>
            <a:ext cx="2702080" cy="553998"/>
          </a:xfrm>
          <a:prstGeom prst="rect">
            <a:avLst/>
          </a:prstGeom>
          <a:solidFill>
            <a:srgbClr val="EFF7F7"/>
          </a:solidFill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Seleccionamos las medidas que nos interesen</a:t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"/>
          <p:cNvSpPr txBox="1"/>
          <p:nvPr/>
        </p:nvSpPr>
        <p:spPr>
          <a:xfrm>
            <a:off x="152779" y="1082428"/>
            <a:ext cx="8740396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1800">
                <a:solidFill>
                  <a:srgbClr val="2A8A85"/>
                </a:solidFill>
                <a:latin typeface="Cambria"/>
                <a:ea typeface="Cambria"/>
                <a:cs typeface="Cambria"/>
                <a:sym typeface="Cambria"/>
              </a:rPr>
              <a:t>1) Construcción de una variable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 función de la base recortada de personas ocupadas en el 4to trimestre de 2020, se propone la construcción de un </a:t>
            </a:r>
            <a:r>
              <a:rPr b="1"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índice simple de calidad del empleo para asalariados</a:t>
            </a: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Específicamente, se solicita que construya una variable sumatoria que tome en cuenta los siguientes componentes: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3" marL="1885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 el empleo incluye derecho a vacaciones pagas</a:t>
            </a:r>
            <a:endParaRPr/>
          </a:p>
          <a:p>
            <a:pPr indent="-228600" lvl="3" marL="1885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 el empleo incluye aguinaldo</a:t>
            </a:r>
            <a:endParaRPr/>
          </a:p>
          <a:p>
            <a:pPr indent="-228600" lvl="3" marL="1885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 el trabajador tiene derecho a días pagos por enfermedad</a:t>
            </a:r>
            <a:endParaRPr/>
          </a:p>
          <a:p>
            <a:pPr indent="-228600" lvl="3" marL="1885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 el empleo incluye el pago de obra social</a:t>
            </a:r>
            <a:endParaRPr/>
          </a:p>
          <a:p>
            <a:pPr indent="-228600" lvl="3" marL="1885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 el puesto tiene descuento jubilatorio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A8A8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A8A8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6" name="Google Shape;346;p18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Ejercicios</a:t>
            </a:r>
            <a:endParaRPr/>
          </a:p>
        </p:txBody>
      </p:sp>
      <p:sp>
        <p:nvSpPr>
          <p:cNvPr id="347" name="Google Shape;347;p18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48" name="Google Shape;348;p18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"/>
          <p:cNvSpPr txBox="1"/>
          <p:nvPr/>
        </p:nvSpPr>
        <p:spPr>
          <a:xfrm>
            <a:off x="152779" y="1082428"/>
            <a:ext cx="87403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1800">
                <a:solidFill>
                  <a:srgbClr val="2A8A85"/>
                </a:solidFill>
                <a:latin typeface="Cambria"/>
                <a:ea typeface="Cambria"/>
                <a:cs typeface="Cambria"/>
                <a:sym typeface="Cambria"/>
              </a:rPr>
              <a:t>1) Construcción de una variable (cont).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A8A8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Ejercicios</a:t>
            </a:r>
            <a:endParaRPr/>
          </a:p>
        </p:txBody>
      </p:sp>
      <p:sp>
        <p:nvSpPr>
          <p:cNvPr id="357" name="Google Shape;357;p19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58" name="Google Shape;358;p19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9"/>
          <p:cNvSpPr txBox="1"/>
          <p:nvPr/>
        </p:nvSpPr>
        <p:spPr>
          <a:xfrm>
            <a:off x="201802" y="1888767"/>
            <a:ext cx="8740396" cy="313932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recode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PP07G1 PP07G2 PP07G3 PP07G4 PP07H (2=0) (1=1).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labels 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PP07G1 PP07G2 PP07G3 PP07G4 PP07H 1'Sí' 0'No'.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compute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indice_cal=PP07G1+PP07G2+ PP07G3 + PP07G4 + PP07H.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variable labels 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indice_cal 'Indice de calidad del empleo’.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WEIGHT BY 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PONDERA</a:t>
            </a: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frequencies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indice_cal.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"/>
          <p:cNvSpPr txBox="1"/>
          <p:nvPr/>
        </p:nvSpPr>
        <p:spPr>
          <a:xfrm>
            <a:off x="152779" y="1082428"/>
            <a:ext cx="87403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1800">
                <a:solidFill>
                  <a:srgbClr val="2A8A85"/>
                </a:solidFill>
                <a:latin typeface="Cambria"/>
                <a:ea typeface="Cambria"/>
                <a:cs typeface="Cambria"/>
                <a:sym typeface="Cambria"/>
              </a:rPr>
              <a:t>1) Construcción de una variable (cont).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A8A8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Ejercicios</a:t>
            </a: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69" name="Google Shape;369;p20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abla&#10;&#10;Descripción generada automáticamente" id="370" name="Google Shape;3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0" y="1489240"/>
            <a:ext cx="5905500" cy="515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1"/>
          <p:cNvSpPr txBox="1"/>
          <p:nvPr/>
        </p:nvSpPr>
        <p:spPr>
          <a:xfrm>
            <a:off x="152779" y="1082428"/>
            <a:ext cx="874039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1800">
                <a:solidFill>
                  <a:srgbClr val="2A8A85"/>
                </a:solidFill>
                <a:latin typeface="Cambria"/>
                <a:ea typeface="Cambria"/>
                <a:cs typeface="Cambria"/>
                <a:sym typeface="Cambria"/>
              </a:rPr>
              <a:t>2) Caracterice la distribución del ingreso salarial de mujeres y varones en términos de su tendencia central, posición, dispersión absoluta y dispersión relativa.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A8A8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Ejercicios</a:t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80" name="Google Shape;380;p21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21"/>
          <p:cNvSpPr txBox="1"/>
          <p:nvPr/>
        </p:nvSpPr>
        <p:spPr>
          <a:xfrm>
            <a:off x="201802" y="1888767"/>
            <a:ext cx="8740396" cy="424731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Varones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 ALL.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COMPUTE 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filter_$=(cat_ocup=3 &amp; CH04=1).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 BY 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filter_$.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EXECUTE.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WEIGHT BY 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PONDERA</a:t>
            </a: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FREQUENCIES VARIABLES=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p21_m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/NTILES=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/STATISTICS=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STDDEV VARIANCE MEAN MEDIAN MODE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/ORDER=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ANALYSIS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/FORMAT=</a:t>
            </a:r>
            <a:r>
              <a:rPr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NOTABLE</a:t>
            </a:r>
            <a:r>
              <a:rPr b="1" lang="es-A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"/>
          <p:cNvSpPr txBox="1"/>
          <p:nvPr/>
        </p:nvSpPr>
        <p:spPr>
          <a:xfrm>
            <a:off x="152779" y="1082428"/>
            <a:ext cx="874039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1800">
                <a:solidFill>
                  <a:srgbClr val="2A8A85"/>
                </a:solidFill>
                <a:latin typeface="Cambria"/>
                <a:ea typeface="Cambria"/>
                <a:cs typeface="Cambria"/>
                <a:sym typeface="Cambria"/>
              </a:rPr>
              <a:t>2) Caracterice la distribución del ingreso salarial de mujeres y varones en términos de su tendencia central, posición, dispersión absoluta y dispersión relativa.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A8A8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Ejercicios</a:t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250825" y="849413"/>
            <a:ext cx="923106" cy="144015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91" name="Google Shape;391;p22"/>
          <p:cNvCxnSpPr/>
          <p:nvPr/>
        </p:nvCxnSpPr>
        <p:spPr>
          <a:xfrm flipH="1" rot="10800000">
            <a:off x="1121953" y="922419"/>
            <a:ext cx="7771222" cy="1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abla&#10;&#10;Descripción generada automáticamente" id="392" name="Google Shape;392;p22"/>
          <p:cNvPicPr preferRelativeResize="0"/>
          <p:nvPr/>
        </p:nvPicPr>
        <p:blipFill rotWithShape="1">
          <a:blip r:embed="rId3">
            <a:alphaModFix/>
          </a:blip>
          <a:srcRect b="0" l="0" r="44726" t="0"/>
          <a:stretch/>
        </p:blipFill>
        <p:spPr>
          <a:xfrm>
            <a:off x="1331642" y="1844824"/>
            <a:ext cx="2880320" cy="3385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bla&#10;&#10;Descripción generada automáticamente" id="393" name="Google Shape;393;p22"/>
          <p:cNvPicPr preferRelativeResize="0"/>
          <p:nvPr/>
        </p:nvPicPr>
        <p:blipFill rotWithShape="1">
          <a:blip r:embed="rId4">
            <a:alphaModFix/>
          </a:blip>
          <a:srcRect b="0" l="0" r="45643" t="0"/>
          <a:stretch/>
        </p:blipFill>
        <p:spPr>
          <a:xfrm>
            <a:off x="4788024" y="1844824"/>
            <a:ext cx="2664297" cy="332401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2"/>
          <p:cNvSpPr txBox="1"/>
          <p:nvPr/>
        </p:nvSpPr>
        <p:spPr>
          <a:xfrm>
            <a:off x="2097736" y="5475762"/>
            <a:ext cx="5380576" cy="4742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2018-06-06T19:52:13Z</dcterms:created>
  <dc:creator>Santiago Poy</dc:creator>
</cp:coreProperties>
</file>