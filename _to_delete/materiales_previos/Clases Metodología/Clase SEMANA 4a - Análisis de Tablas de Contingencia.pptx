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678" r:id="rId2"/>
    <p:sldId id="452" r:id="rId3"/>
    <p:sldId id="709" r:id="rId4"/>
    <p:sldId id="430" r:id="rId5"/>
    <p:sldId id="663" r:id="rId6"/>
    <p:sldId id="685" r:id="rId7"/>
    <p:sldId id="431" r:id="rId8"/>
    <p:sldId id="432" r:id="rId9"/>
    <p:sldId id="434" r:id="rId10"/>
    <p:sldId id="474" r:id="rId11"/>
    <p:sldId id="435" r:id="rId12"/>
    <p:sldId id="436" r:id="rId13"/>
    <p:sldId id="437" r:id="rId14"/>
    <p:sldId id="692" r:id="rId15"/>
    <p:sldId id="693" r:id="rId16"/>
    <p:sldId id="694" r:id="rId17"/>
    <p:sldId id="695" r:id="rId18"/>
    <p:sldId id="710" r:id="rId19"/>
    <p:sldId id="664" r:id="rId20"/>
    <p:sldId id="687" r:id="rId21"/>
    <p:sldId id="688" r:id="rId22"/>
    <p:sldId id="509" r:id="rId23"/>
    <p:sldId id="705" r:id="rId24"/>
    <p:sldId id="702" r:id="rId25"/>
    <p:sldId id="703" r:id="rId26"/>
    <p:sldId id="706" r:id="rId27"/>
    <p:sldId id="707" r:id="rId28"/>
    <p:sldId id="711" r:id="rId29"/>
    <p:sldId id="535" r:id="rId30"/>
    <p:sldId id="536" r:id="rId31"/>
    <p:sldId id="537" r:id="rId32"/>
    <p:sldId id="708" r:id="rId33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835" userDrawn="1">
          <p15:clr>
            <a:srgbClr val="A4A3A4"/>
          </p15:clr>
        </p15:guide>
        <p15:guide id="3" pos="5692" userDrawn="1">
          <p15:clr>
            <a:srgbClr val="A4A3A4"/>
          </p15:clr>
        </p15:guide>
        <p15:guide id="4" orient="horz" pos="2251" userDrawn="1">
          <p15:clr>
            <a:srgbClr val="A4A3A4"/>
          </p15:clr>
        </p15:guide>
        <p15:guide id="5" orient="horz" pos="482" userDrawn="1">
          <p15:clr>
            <a:srgbClr val="A4A3A4"/>
          </p15:clr>
        </p15:guide>
        <p15:guide id="6" orient="horz" pos="210">
          <p15:clr>
            <a:srgbClr val="A4A3A4"/>
          </p15:clr>
        </p15:guide>
        <p15:guide id="7" pos="158">
          <p15:clr>
            <a:srgbClr val="A4A3A4"/>
          </p15:clr>
        </p15:guide>
        <p15:guide id="8" pos="5602">
          <p15:clr>
            <a:srgbClr val="A4A3A4"/>
          </p15:clr>
        </p15:guide>
        <p15:guide id="9" pos="24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8A85"/>
    <a:srgbClr val="2F5BB7"/>
    <a:srgbClr val="DDEFEF"/>
    <a:srgbClr val="CAE8E7"/>
    <a:srgbClr val="EFF7F7"/>
    <a:srgbClr val="3DC3BD"/>
    <a:srgbClr val="737373"/>
    <a:srgbClr val="22706C"/>
    <a:srgbClr val="319F9A"/>
    <a:srgbClr val="5656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E171933-4619-4E11-9A3F-F7608DF75F80}" styleName="Estilo medio 1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96" autoAdjust="0"/>
    <p:restoredTop sz="94704" autoAdjust="0"/>
  </p:normalViewPr>
  <p:slideViewPr>
    <p:cSldViewPr>
      <p:cViewPr varScale="1">
        <p:scale>
          <a:sx n="75" d="100"/>
          <a:sy n="75" d="100"/>
        </p:scale>
        <p:origin x="1728" y="48"/>
      </p:cViewPr>
      <p:guideLst>
        <p:guide orient="horz" pos="2205"/>
        <p:guide pos="2835"/>
        <p:guide pos="5692"/>
        <p:guide orient="horz" pos="2251"/>
        <p:guide orient="horz" pos="482"/>
        <p:guide orient="horz" pos="210"/>
        <p:guide pos="158"/>
        <p:guide pos="5602"/>
        <p:guide pos="24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D26535-4EDE-46AE-846D-10CF575EF3AC}" type="datetimeFigureOut">
              <a:rPr lang="es-AR" smtClean="0"/>
              <a:t>25/2/2026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145D8-ED58-44A9-BC65-988CF3BEDD8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49729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145D8-ED58-44A9-BC65-988CF3BEDD8C}" type="slidenum">
              <a:rPr lang="es-AR" smtClean="0"/>
              <a:t>1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94575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19163" y="744538"/>
            <a:ext cx="4960937" cy="3722687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E5057-86B3-4CC0-9AD5-95A2DAE7D160}" type="slidenum">
              <a:rPr lang="es-MX" altLang="es-AR" smtClean="0"/>
              <a:pPr/>
              <a:t>2</a:t>
            </a:fld>
            <a:endParaRPr lang="es-MX" altLang="es-AR"/>
          </a:p>
        </p:txBody>
      </p:sp>
    </p:spTree>
    <p:extLst>
      <p:ext uri="{BB962C8B-B14F-4D97-AF65-F5344CB8AC3E}">
        <p14:creationId xmlns:p14="http://schemas.microsoft.com/office/powerpoint/2010/main" val="2457002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37FED-CD0D-9D88-AA54-E5AAF0A1A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2350F65-2171-DD5A-B6A5-4DE3406CB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9163" y="744538"/>
            <a:ext cx="4960937" cy="3722687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46FA4A2-9CCB-BCBA-EC75-40242F915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E3DC6A-DC73-327F-6BB5-E85390C113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E5057-86B3-4CC0-9AD5-95A2DAE7D160}" type="slidenum">
              <a:rPr lang="es-MX" altLang="es-AR" smtClean="0"/>
              <a:pPr/>
              <a:t>3</a:t>
            </a:fld>
            <a:endParaRPr lang="es-MX" altLang="es-AR"/>
          </a:p>
        </p:txBody>
      </p:sp>
    </p:spTree>
    <p:extLst>
      <p:ext uri="{BB962C8B-B14F-4D97-AF65-F5344CB8AC3E}">
        <p14:creationId xmlns:p14="http://schemas.microsoft.com/office/powerpoint/2010/main" val="2333904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19163" y="744538"/>
            <a:ext cx="4960937" cy="3722687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E5057-86B3-4CC0-9AD5-95A2DAE7D160}" type="slidenum">
              <a:rPr lang="es-MX" altLang="es-AR" smtClean="0"/>
              <a:pPr/>
              <a:t>4</a:t>
            </a:fld>
            <a:endParaRPr lang="es-MX" altLang="es-AR"/>
          </a:p>
        </p:txBody>
      </p:sp>
    </p:spTree>
    <p:extLst>
      <p:ext uri="{BB962C8B-B14F-4D97-AF65-F5344CB8AC3E}">
        <p14:creationId xmlns:p14="http://schemas.microsoft.com/office/powerpoint/2010/main" val="3222563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:notes"/>
          <p:cNvSpPr txBox="1">
            <a:spLocks noGrp="1"/>
          </p:cNvSpPr>
          <p:nvPr>
            <p:ph type="body" idx="1"/>
          </p:nvPr>
        </p:nvSpPr>
        <p:spPr>
          <a:xfrm>
            <a:off x="679750" y="4715125"/>
            <a:ext cx="5438125" cy="446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60937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42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 txBox="1">
            <a:spLocks noGrp="1"/>
          </p:cNvSpPr>
          <p:nvPr>
            <p:ph type="body" idx="1"/>
          </p:nvPr>
        </p:nvSpPr>
        <p:spPr>
          <a:xfrm>
            <a:off x="679750" y="4715125"/>
            <a:ext cx="5438125" cy="446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60937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37937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0937" cy="3722687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 dirty="0"/>
          </a:p>
        </p:txBody>
      </p:sp>
    </p:spTree>
    <p:extLst>
      <p:ext uri="{BB962C8B-B14F-4D97-AF65-F5344CB8AC3E}">
        <p14:creationId xmlns:p14="http://schemas.microsoft.com/office/powerpoint/2010/main" val="452093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0937" cy="3722687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 dirty="0"/>
          </a:p>
        </p:txBody>
      </p:sp>
    </p:spTree>
    <p:extLst>
      <p:ext uri="{BB962C8B-B14F-4D97-AF65-F5344CB8AC3E}">
        <p14:creationId xmlns:p14="http://schemas.microsoft.com/office/powerpoint/2010/main" val="686476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0937" cy="3722687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 dirty="0"/>
          </a:p>
        </p:txBody>
      </p:sp>
    </p:spTree>
    <p:extLst>
      <p:ext uri="{BB962C8B-B14F-4D97-AF65-F5344CB8AC3E}">
        <p14:creationId xmlns:p14="http://schemas.microsoft.com/office/powerpoint/2010/main" val="28071246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0937" cy="3722687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 dirty="0"/>
          </a:p>
        </p:txBody>
      </p:sp>
    </p:spTree>
    <p:extLst>
      <p:ext uri="{BB962C8B-B14F-4D97-AF65-F5344CB8AC3E}">
        <p14:creationId xmlns:p14="http://schemas.microsoft.com/office/powerpoint/2010/main" val="14459894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0937" cy="3722687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 dirty="0"/>
          </a:p>
        </p:txBody>
      </p:sp>
    </p:spTree>
    <p:extLst>
      <p:ext uri="{BB962C8B-B14F-4D97-AF65-F5344CB8AC3E}">
        <p14:creationId xmlns:p14="http://schemas.microsoft.com/office/powerpoint/2010/main" val="42052667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0937" cy="3722687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 dirty="0"/>
          </a:p>
        </p:txBody>
      </p:sp>
    </p:spTree>
    <p:extLst>
      <p:ext uri="{BB962C8B-B14F-4D97-AF65-F5344CB8AC3E}">
        <p14:creationId xmlns:p14="http://schemas.microsoft.com/office/powerpoint/2010/main" val="23332121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0937" cy="3722687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 dirty="0"/>
          </a:p>
        </p:txBody>
      </p:sp>
    </p:spTree>
    <p:extLst>
      <p:ext uri="{BB962C8B-B14F-4D97-AF65-F5344CB8AC3E}">
        <p14:creationId xmlns:p14="http://schemas.microsoft.com/office/powerpoint/2010/main" val="1320993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81F8C-91CA-69AF-297B-0E10BFCF0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1D0E9594-0C98-EBB2-81C6-00BBA1A3AB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0937" cy="3722687"/>
          </a:xfrm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149185A0-BDF9-4B36-4830-4528F47E1D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 dirty="0"/>
          </a:p>
        </p:txBody>
      </p:sp>
    </p:spTree>
    <p:extLst>
      <p:ext uri="{BB962C8B-B14F-4D97-AF65-F5344CB8AC3E}">
        <p14:creationId xmlns:p14="http://schemas.microsoft.com/office/powerpoint/2010/main" val="1634039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4530C-35E2-F8A4-76BF-B9D1DA49F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99B8D5AF-2989-957B-4110-CBC609924C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0937" cy="3722687"/>
          </a:xfrm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7E3B432E-6BCB-703C-40B6-687A413D54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 dirty="0"/>
          </a:p>
        </p:txBody>
      </p:sp>
    </p:spTree>
    <p:extLst>
      <p:ext uri="{BB962C8B-B14F-4D97-AF65-F5344CB8AC3E}">
        <p14:creationId xmlns:p14="http://schemas.microsoft.com/office/powerpoint/2010/main" val="17365308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024FD-2A16-8CF7-4560-A03CE67EE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AC836AE9-F808-67D5-0F52-AA541CE619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0937" cy="3722687"/>
          </a:xfrm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50964E52-2FC7-43BA-8FB6-771631FB20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 dirty="0"/>
          </a:p>
        </p:txBody>
      </p:sp>
    </p:spTree>
    <p:extLst>
      <p:ext uri="{BB962C8B-B14F-4D97-AF65-F5344CB8AC3E}">
        <p14:creationId xmlns:p14="http://schemas.microsoft.com/office/powerpoint/2010/main" val="32817595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29FC2-CC03-7AFA-4A46-6A6EA8026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C426C7F8-5FCD-6495-76AA-3011CD6287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0937" cy="3722687"/>
          </a:xfrm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B246CAD8-A1DB-1C77-372B-9D7F6548AB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 dirty="0"/>
          </a:p>
        </p:txBody>
      </p:sp>
    </p:spTree>
    <p:extLst>
      <p:ext uri="{BB962C8B-B14F-4D97-AF65-F5344CB8AC3E}">
        <p14:creationId xmlns:p14="http://schemas.microsoft.com/office/powerpoint/2010/main" val="39089335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29ED3-B8C8-A4EB-2610-DA94D74C4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14A93F13-8E74-55FD-172F-00CF9C4424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0937" cy="3722687"/>
          </a:xfrm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D9A5F08A-D534-4DF7-DDA6-312E46DE47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 dirty="0"/>
          </a:p>
        </p:txBody>
      </p:sp>
    </p:spTree>
    <p:extLst>
      <p:ext uri="{BB962C8B-B14F-4D97-AF65-F5344CB8AC3E}">
        <p14:creationId xmlns:p14="http://schemas.microsoft.com/office/powerpoint/2010/main" val="16429859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E5057-86B3-4CC0-9AD5-95A2DAE7D160}" type="slidenum">
              <a:rPr lang="es-MX" altLang="es-AR" smtClean="0"/>
              <a:pPr/>
              <a:t>19</a:t>
            </a:fld>
            <a:endParaRPr lang="es-MX" altLang="es-AR"/>
          </a:p>
        </p:txBody>
      </p:sp>
    </p:spTree>
    <p:extLst>
      <p:ext uri="{BB962C8B-B14F-4D97-AF65-F5344CB8AC3E}">
        <p14:creationId xmlns:p14="http://schemas.microsoft.com/office/powerpoint/2010/main" val="9765897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8910F-6F82-B16F-9FD8-777FA9E4B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B4246CA-80DE-EA67-4DEE-666BC1CAB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D18554A-B048-D2E7-D218-9707DDAE1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5339CA-30E3-5A72-4A41-42216D6C58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E5057-86B3-4CC0-9AD5-95A2DAE7D160}" type="slidenum">
              <a:rPr lang="es-MX" altLang="es-AR" smtClean="0"/>
              <a:pPr/>
              <a:t>20</a:t>
            </a:fld>
            <a:endParaRPr lang="es-MX" altLang="es-AR"/>
          </a:p>
        </p:txBody>
      </p:sp>
    </p:spTree>
    <p:extLst>
      <p:ext uri="{BB962C8B-B14F-4D97-AF65-F5344CB8AC3E}">
        <p14:creationId xmlns:p14="http://schemas.microsoft.com/office/powerpoint/2010/main" val="19421920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DA0EA-1169-815D-1693-589C710EF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BF0BDB5-DF24-6D48-C2B8-B00252A5F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F45F1CB-BD2B-EB21-8B7F-D6AB12668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29AD2C-0C0F-5B8F-6BA5-72A5CBBB9C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E5057-86B3-4CC0-9AD5-95A2DAE7D160}" type="slidenum">
              <a:rPr lang="es-MX" altLang="es-AR" smtClean="0"/>
              <a:pPr/>
              <a:t>21</a:t>
            </a:fld>
            <a:endParaRPr lang="es-MX" altLang="es-AR"/>
          </a:p>
        </p:txBody>
      </p:sp>
    </p:spTree>
    <p:extLst>
      <p:ext uri="{BB962C8B-B14F-4D97-AF65-F5344CB8AC3E}">
        <p14:creationId xmlns:p14="http://schemas.microsoft.com/office/powerpoint/2010/main" val="27666715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E5057-86B3-4CC0-9AD5-95A2DAE7D160}" type="slidenum">
              <a:rPr lang="es-MX" altLang="es-AR" smtClean="0"/>
              <a:pPr/>
              <a:t>22</a:t>
            </a:fld>
            <a:endParaRPr lang="es-MX" altLang="es-AR"/>
          </a:p>
        </p:txBody>
      </p:sp>
    </p:spTree>
    <p:extLst>
      <p:ext uri="{BB962C8B-B14F-4D97-AF65-F5344CB8AC3E}">
        <p14:creationId xmlns:p14="http://schemas.microsoft.com/office/powerpoint/2010/main" val="888996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90BEB-8964-23CA-8D90-54B1C9444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76E0EE7-5466-5AEC-26EB-D3057D69A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DA34699-05CB-EB8C-B922-B1778B90B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8C8887-FA24-08EF-A3FB-92C32BE340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E5057-86B3-4CC0-9AD5-95A2DAE7D160}" type="slidenum">
              <a:rPr lang="es-MX" altLang="es-AR" smtClean="0"/>
              <a:pPr/>
              <a:t>23</a:t>
            </a:fld>
            <a:endParaRPr lang="es-MX" altLang="es-AR"/>
          </a:p>
        </p:txBody>
      </p:sp>
    </p:spTree>
    <p:extLst>
      <p:ext uri="{BB962C8B-B14F-4D97-AF65-F5344CB8AC3E}">
        <p14:creationId xmlns:p14="http://schemas.microsoft.com/office/powerpoint/2010/main" val="15581979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B2DCD-5E72-77D3-D913-97C95B55F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6FB04CB-1909-5AF7-5017-3704FAFC6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D0733F0-199E-DA93-6845-4E9DB0420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605DA1-8E61-0243-28EE-1EA1E97BB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E5057-86B3-4CC0-9AD5-95A2DAE7D160}" type="slidenum">
              <a:rPr lang="es-MX" altLang="es-AR" smtClean="0"/>
              <a:pPr/>
              <a:t>24</a:t>
            </a:fld>
            <a:endParaRPr lang="es-MX" altLang="es-AR"/>
          </a:p>
        </p:txBody>
      </p:sp>
    </p:spTree>
    <p:extLst>
      <p:ext uri="{BB962C8B-B14F-4D97-AF65-F5344CB8AC3E}">
        <p14:creationId xmlns:p14="http://schemas.microsoft.com/office/powerpoint/2010/main" val="39323556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798C4-CC88-5F03-0A59-62FC99B08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FC8F4D-646E-B368-4096-10021AAC90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92876DA-F83B-7871-72C6-1F88B7E854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AB6C571-19E6-B09D-9168-752B53D5B7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E5057-86B3-4CC0-9AD5-95A2DAE7D160}" type="slidenum">
              <a:rPr lang="es-MX" altLang="es-AR" smtClean="0"/>
              <a:pPr/>
              <a:t>25</a:t>
            </a:fld>
            <a:endParaRPr lang="es-MX" altLang="es-AR"/>
          </a:p>
        </p:txBody>
      </p:sp>
    </p:spTree>
    <p:extLst>
      <p:ext uri="{BB962C8B-B14F-4D97-AF65-F5344CB8AC3E}">
        <p14:creationId xmlns:p14="http://schemas.microsoft.com/office/powerpoint/2010/main" val="13299605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C2DD9-AD38-D365-AE72-59CF90986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8042A20-28AF-AE30-A529-B29CCF8D2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49557DD-A868-2474-4F6B-12CCC682D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31223FA-19B0-1B1D-3C44-B4FACF25A3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E5057-86B3-4CC0-9AD5-95A2DAE7D160}" type="slidenum">
              <a:rPr lang="es-MX" altLang="es-AR" smtClean="0"/>
              <a:pPr/>
              <a:t>26</a:t>
            </a:fld>
            <a:endParaRPr lang="es-MX" altLang="es-AR"/>
          </a:p>
        </p:txBody>
      </p:sp>
    </p:spTree>
    <p:extLst>
      <p:ext uri="{BB962C8B-B14F-4D97-AF65-F5344CB8AC3E}">
        <p14:creationId xmlns:p14="http://schemas.microsoft.com/office/powerpoint/2010/main" val="17110428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2EDEA-FFAB-FDD7-E072-8C8360A64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58322EE-89B8-270F-E7B1-5EFD42DDB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CB64D0D-EC1D-8F15-2F0B-CA8FB6C9D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087B68-85C0-8BD0-BC45-FF5F9C72F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E5057-86B3-4CC0-9AD5-95A2DAE7D160}" type="slidenum">
              <a:rPr lang="es-MX" altLang="es-AR" smtClean="0"/>
              <a:pPr/>
              <a:t>27</a:t>
            </a:fld>
            <a:endParaRPr lang="es-MX" altLang="es-AR"/>
          </a:p>
        </p:txBody>
      </p:sp>
    </p:spTree>
    <p:extLst>
      <p:ext uri="{BB962C8B-B14F-4D97-AF65-F5344CB8AC3E}">
        <p14:creationId xmlns:p14="http://schemas.microsoft.com/office/powerpoint/2010/main" val="4146925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90B83-1EB1-0B97-B6CD-416FD664A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979915A-8F27-6144-63C3-CEA2C1956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9407C0C-6380-55F0-609E-2A3385C58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D8CE629-0545-D6F8-8F70-75CA61F454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E5057-86B3-4CC0-9AD5-95A2DAE7D160}" type="slidenum">
              <a:rPr lang="es-MX" altLang="es-AR" smtClean="0"/>
              <a:pPr/>
              <a:t>28</a:t>
            </a:fld>
            <a:endParaRPr lang="es-MX" altLang="es-AR"/>
          </a:p>
        </p:txBody>
      </p:sp>
    </p:spTree>
    <p:extLst>
      <p:ext uri="{BB962C8B-B14F-4D97-AF65-F5344CB8AC3E}">
        <p14:creationId xmlns:p14="http://schemas.microsoft.com/office/powerpoint/2010/main" val="23814428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E5057-86B3-4CC0-9AD5-95A2DAE7D160}" type="slidenum">
              <a:rPr lang="es-MX" altLang="es-AR" smtClean="0"/>
              <a:pPr/>
              <a:t>29</a:t>
            </a:fld>
            <a:endParaRPr lang="es-MX" altLang="es-AR"/>
          </a:p>
        </p:txBody>
      </p:sp>
    </p:spTree>
    <p:extLst>
      <p:ext uri="{BB962C8B-B14F-4D97-AF65-F5344CB8AC3E}">
        <p14:creationId xmlns:p14="http://schemas.microsoft.com/office/powerpoint/2010/main" val="10032038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E5057-86B3-4CC0-9AD5-95A2DAE7D160}" type="slidenum">
              <a:rPr lang="es-MX" altLang="es-AR" smtClean="0"/>
              <a:pPr/>
              <a:t>30</a:t>
            </a:fld>
            <a:endParaRPr lang="es-MX" altLang="es-AR"/>
          </a:p>
        </p:txBody>
      </p:sp>
    </p:spTree>
    <p:extLst>
      <p:ext uri="{BB962C8B-B14F-4D97-AF65-F5344CB8AC3E}">
        <p14:creationId xmlns:p14="http://schemas.microsoft.com/office/powerpoint/2010/main" val="1238820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E5057-86B3-4CC0-9AD5-95A2DAE7D160}" type="slidenum">
              <a:rPr lang="es-MX" altLang="es-AR" smtClean="0"/>
              <a:pPr/>
              <a:t>31</a:t>
            </a:fld>
            <a:endParaRPr lang="es-MX" altLang="es-AR"/>
          </a:p>
        </p:txBody>
      </p:sp>
    </p:spTree>
    <p:extLst>
      <p:ext uri="{BB962C8B-B14F-4D97-AF65-F5344CB8AC3E}">
        <p14:creationId xmlns:p14="http://schemas.microsoft.com/office/powerpoint/2010/main" val="28403316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8D0AF-4657-3DD6-0A56-9BA772CBB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732DEAE-D80D-083D-ADFA-17A929469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1E31CC0-A6DE-E251-4357-E2A8A0A1E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39BF0B7-02C6-46C8-0418-9D3B724EF2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8E5057-86B3-4CC0-9AD5-95A2DAE7D160}" type="slidenum">
              <a:rPr lang="es-MX" altLang="es-AR" smtClean="0"/>
              <a:pPr/>
              <a:t>32</a:t>
            </a:fld>
            <a:endParaRPr lang="es-MX" altLang="es-AR"/>
          </a:p>
        </p:txBody>
      </p:sp>
    </p:spTree>
    <p:extLst>
      <p:ext uri="{BB962C8B-B14F-4D97-AF65-F5344CB8AC3E}">
        <p14:creationId xmlns:p14="http://schemas.microsoft.com/office/powerpoint/2010/main" val="2993876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4F0A-27A0-4BC8-96DF-D3D95F3434E5}" type="datetime1">
              <a:rPr lang="es-AR" smtClean="0"/>
              <a:t>25/2/2026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Curso SPSS / ODSA-UCA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2C5D-0833-432E-A649-4B28246F962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60716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5A0D-784F-49F2-83AC-868962BD57AA}" type="datetime1">
              <a:rPr lang="es-AR" smtClean="0"/>
              <a:t>25/2/2026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Curso SPSS / ODSA-UCA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2C5D-0833-432E-A649-4B28246F962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85571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85D93-CCB6-4AA2-9A06-B691E4A94039}" type="datetime1">
              <a:rPr lang="es-AR" smtClean="0"/>
              <a:t>25/2/2026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Curso SPSS / ODSA-UCA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2C5D-0833-432E-A649-4B28246F962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98152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891F9-CB0F-4879-B678-E3140E49A5AB}" type="datetime1">
              <a:rPr lang="es-AR" smtClean="0"/>
              <a:t>25/2/2026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Curso SPSS / ODSA-UCA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2C5D-0833-432E-A649-4B28246F962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09333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97B4B-8FC8-4ED2-A7B7-30B7B546CB7C}" type="datetime1">
              <a:rPr lang="es-AR" smtClean="0"/>
              <a:t>25/2/2026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Curso SPSS / ODSA-UCA</a:t>
            </a: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2C5D-0833-432E-A649-4B28246F962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8077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A48A6-89ED-45E3-8DC8-69DD7242770A}" type="datetime1">
              <a:rPr lang="es-AR" smtClean="0"/>
              <a:t>25/2/2026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Curso SPSS / ODSA-UCA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2C5D-0833-432E-A649-4B28246F962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20559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46B7-96E1-4D69-97A5-BA2B575DCD5B}" type="datetime1">
              <a:rPr lang="es-AR" smtClean="0"/>
              <a:t>25/2/2026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Curso SPSS / ODSA-UCA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2C5D-0833-432E-A649-4B28246F962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20053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C0133-B3AE-415F-AD7D-09671FB6B581}" type="datetime1">
              <a:rPr lang="es-AR" smtClean="0"/>
              <a:t>25/2/2026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Curso SPSS / ODSA-UCA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2C5D-0833-432E-A649-4B28246F962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89277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310E0-D14B-4604-84DC-1535BBF9C4BF}" type="datetime1">
              <a:rPr lang="es-AR" smtClean="0"/>
              <a:t>25/2/2026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Curso SPSS / ODSA-UCA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2C5D-0833-432E-A649-4B28246F962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9560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CC5D-9AA7-445A-80D8-6FCD964E68D7}" type="datetime1">
              <a:rPr lang="es-AR" smtClean="0"/>
              <a:t>25/2/2026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Curso SPSS / ODSA-UCA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2C5D-0833-432E-A649-4B28246F962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18306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EEFF5-E6F6-49FF-AEE7-0991FC29FF6F}" type="datetime1">
              <a:rPr lang="es-AR" smtClean="0"/>
              <a:t>25/2/2026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Curso SPSS / ODSA-UCA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92C5D-0833-432E-A649-4B28246F962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3563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CBB71-18DF-4B96-AB10-74B37F964650}" type="datetime1">
              <a:rPr lang="es-AR" smtClean="0"/>
              <a:t>25/2/2026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AR"/>
              <a:t>Curso SPSS / ODSA-UCA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92C5D-0833-432E-A649-4B28246F962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08577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4" name="AutoShape 2" descr="Resultado de imagen para logo twit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6" name="AutoShape 4" descr="Resultado de imagen para logo twitte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7" name="AutoShape 6" descr="Resultado de imagen para logo twitter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 dirty="0"/>
          </a:p>
        </p:txBody>
      </p:sp>
      <p:sp>
        <p:nvSpPr>
          <p:cNvPr id="15" name="14 Rectángulo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61" b="25235"/>
          <a:stretch/>
        </p:blipFill>
        <p:spPr>
          <a:xfrm>
            <a:off x="0" y="0"/>
            <a:ext cx="9144000" cy="1584177"/>
          </a:xfrm>
          <a:prstGeom prst="rect">
            <a:avLst/>
          </a:prstGeom>
        </p:spPr>
      </p:pic>
      <p:sp>
        <p:nvSpPr>
          <p:cNvPr id="21" name="Rectangle 3">
            <a:extLst>
              <a:ext uri="{FF2B5EF4-FFF2-40B4-BE49-F238E27FC236}">
                <a16:creationId xmlns:a16="http://schemas.microsoft.com/office/drawing/2014/main" id="{F4F04492-2A97-45A3-94D0-EA8C4F397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7" y="3285364"/>
            <a:ext cx="7272338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571500" indent="-571500" eaLnBrk="1" hangingPunct="1">
              <a:buFont typeface="Wingdings" panose="05000000000000000000" pitchFamily="2" charset="2"/>
              <a:buNone/>
            </a:pPr>
            <a:r>
              <a:rPr lang="es-AR" altLang="es-AR" sz="3600" b="1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SEMANA 4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s-AR" altLang="es-AR" sz="3600" b="1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Análisis de Tablas de Contingencia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8B4B2D46-BB4A-4A9C-92C6-45582D474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6" y="5877272"/>
            <a:ext cx="8569325" cy="359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</a:pPr>
            <a:endParaRPr lang="es-AR" altLang="es-AR" sz="2200" b="1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s-AR" altLang="es-AR" sz="20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s-AR" altLang="es-AR" sz="18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Santiago Poy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s-AR" altLang="es-AR" sz="18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Profesores: Pablo Dalle, Jésica Lorena Pla, Santiago Poy y Fernando Tavares Jr.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s-AR" altLang="es-AR" sz="2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s-AR" altLang="es-AR" sz="2400" b="1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s-AR" altLang="es-AR" sz="24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s-ES" altLang="es-AR" sz="24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8B4B2D46-BB4A-4A9C-92C6-45582D474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6" y="2385793"/>
            <a:ext cx="8569325" cy="359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</a:pPr>
            <a:endParaRPr lang="es-AR" altLang="es-AR" sz="2200" b="1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s-AR" altLang="es-AR" sz="20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s-AR" altLang="es-AR" sz="18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SEMINARIO TÉCNICAS DE ANÁLISIS  ESTADÍSTICO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s-AR" altLang="es-AR" sz="2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s-AR" altLang="es-AR" sz="2400" b="1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s-AR" altLang="es-AR" sz="2400" b="1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s-ES" altLang="es-AR" sz="24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973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>
            <a:extLst>
              <a:ext uri="{FF2B5EF4-FFF2-40B4-BE49-F238E27FC236}">
                <a16:creationId xmlns:a16="http://schemas.microsoft.com/office/drawing/2014/main" id="{42703C3F-2E59-4071-B68B-8DFF6CDB7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196752"/>
            <a:ext cx="864235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altLang="es-AR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Hasta ahora, nos centramos en el análisis detallado de una sola variable. Con frecuencia, nuestro interés es analizar la relación entre </a:t>
            </a:r>
            <a:r>
              <a:rPr lang="es-AR" altLang="es-AR" sz="16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dos o más variables</a:t>
            </a:r>
            <a:r>
              <a:rPr lang="es-AR" altLang="es-AR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altLang="es-AR" sz="16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altLang="es-AR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Las </a:t>
            </a:r>
            <a:r>
              <a:rPr lang="es-AR" altLang="es-AR" sz="1600" b="1" i="1" dirty="0">
                <a:solidFill>
                  <a:srgbClr val="2A8A8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hipótesis</a:t>
            </a:r>
            <a:r>
              <a:rPr lang="es-AR" altLang="es-AR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son proposiciones que ponen en relación dos o más variables y tienen que ver con las preguntas de investigación:</a:t>
            </a:r>
          </a:p>
          <a:p>
            <a:pPr algn="just"/>
            <a:endParaRPr lang="es-AR" altLang="es-AR" sz="16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2438" lvl="1" indent="0" algn="just" defTabSz="877888"/>
            <a:endParaRPr lang="es-AR" altLang="es-AR" sz="16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18 Rectángulo redondeado">
            <a:extLst>
              <a:ext uri="{FF2B5EF4-FFF2-40B4-BE49-F238E27FC236}">
                <a16:creationId xmlns:a16="http://schemas.microsoft.com/office/drawing/2014/main" id="{5094F033-87AA-B323-F3B3-EE6EEB422A4E}"/>
              </a:ext>
            </a:extLst>
          </p:cNvPr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4" name="19 Conector recto">
            <a:extLst>
              <a:ext uri="{FF2B5EF4-FFF2-40B4-BE49-F238E27FC236}">
                <a16:creationId xmlns:a16="http://schemas.microsoft.com/office/drawing/2014/main" id="{43C9D99F-89F4-ACDA-AE24-224CCCA92AEB}"/>
              </a:ext>
            </a:extLst>
          </p:cNvPr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14 Rectángulo">
            <a:extLst>
              <a:ext uri="{FF2B5EF4-FFF2-40B4-BE49-F238E27FC236}">
                <a16:creationId xmlns:a16="http://schemas.microsoft.com/office/drawing/2014/main" id="{3C66376E-5C5F-5F66-1E93-242573824900}"/>
              </a:ext>
            </a:extLst>
          </p:cNvPr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6" name="2 Rectángulo">
            <a:extLst>
              <a:ext uri="{FF2B5EF4-FFF2-40B4-BE49-F238E27FC236}">
                <a16:creationId xmlns:a16="http://schemas.microsoft.com/office/drawing/2014/main" id="{306D4142-0CAB-6FD5-492E-B5E9A4043C95}"/>
              </a:ext>
            </a:extLst>
          </p:cNvPr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10 CuadroTexto">
            <a:extLst>
              <a:ext uri="{FF2B5EF4-FFF2-40B4-BE49-F238E27FC236}">
                <a16:creationId xmlns:a16="http://schemas.microsoft.com/office/drawing/2014/main" id="{D2E937F8-0B80-DCB0-A780-509DC13EB1DA}"/>
              </a:ext>
            </a:extLst>
          </p:cNvPr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La relación entre dos variables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902CC9D-8D42-9869-EC42-F20AFA1E87BB}"/>
              </a:ext>
            </a:extLst>
          </p:cNvPr>
          <p:cNvSpPr txBox="1"/>
          <p:nvPr/>
        </p:nvSpPr>
        <p:spPr>
          <a:xfrm>
            <a:off x="755576" y="2636786"/>
            <a:ext cx="7952860" cy="9541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lvl="1" algn="just" defTabSz="877888"/>
            <a:r>
              <a:rPr lang="es-AR" altLang="es-AR" sz="1400" b="1" i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1) ¿Cómo se relaciona la desigualdad de género con las oportunidades en el mercado laboral? </a:t>
            </a:r>
          </a:p>
          <a:p>
            <a:pPr marL="0" lvl="1" algn="just" defTabSz="877888"/>
            <a:endParaRPr lang="es-AR" altLang="es-AR" sz="1400" b="1" i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lvl="1" algn="just" defTabSz="877888"/>
            <a:r>
              <a:rPr lang="es-AR" altLang="es-AR" sz="1400" b="1" i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H: Las mujeres tienen menos probabilidad de tener un puesto de trabajo remunerado en el mercado laboral que los varones.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730F705-6161-B460-316C-2D60A3CFB5D8}"/>
              </a:ext>
            </a:extLst>
          </p:cNvPr>
          <p:cNvSpPr txBox="1"/>
          <p:nvPr/>
        </p:nvSpPr>
        <p:spPr>
          <a:xfrm>
            <a:off x="755576" y="3759716"/>
            <a:ext cx="7952860" cy="9541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lvl="1" algn="just" defTabSz="877888"/>
            <a:r>
              <a:rPr lang="es-AR" altLang="es-AR" sz="1400" b="1" i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2) En una sociedad racista, ¿qué relación existe entre la desigualdad étnico-racial y la pobreza? </a:t>
            </a:r>
          </a:p>
          <a:p>
            <a:pPr marL="0" lvl="1" algn="just" defTabSz="877888"/>
            <a:endParaRPr lang="es-AR" altLang="es-AR" sz="1400" b="1" i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lvl="1" algn="just" defTabSz="877888"/>
            <a:r>
              <a:rPr lang="es-AR" altLang="es-AR" sz="1400" b="1" i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H: Las personas de minorías étnico-raciales están más expuestas al riesgo de pobreza que el resto de las personas</a:t>
            </a:r>
          </a:p>
        </p:txBody>
      </p:sp>
    </p:spTree>
    <p:extLst>
      <p:ext uri="{BB962C8B-B14F-4D97-AF65-F5344CB8AC3E}">
        <p14:creationId xmlns:p14="http://schemas.microsoft.com/office/powerpoint/2010/main" val="2853291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7ADEB-1666-083A-0212-F503FF140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8 Rectángulo redondeado">
            <a:extLst>
              <a:ext uri="{FF2B5EF4-FFF2-40B4-BE49-F238E27FC236}">
                <a16:creationId xmlns:a16="http://schemas.microsoft.com/office/drawing/2014/main" id="{CA44FC32-0D91-E05C-697C-D462CDB98008}"/>
              </a:ext>
            </a:extLst>
          </p:cNvPr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4" name="19 Conector recto">
            <a:extLst>
              <a:ext uri="{FF2B5EF4-FFF2-40B4-BE49-F238E27FC236}">
                <a16:creationId xmlns:a16="http://schemas.microsoft.com/office/drawing/2014/main" id="{F066CD1F-3C65-DA74-5013-635A8F3FEF04}"/>
              </a:ext>
            </a:extLst>
          </p:cNvPr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14 Rectángulo">
            <a:extLst>
              <a:ext uri="{FF2B5EF4-FFF2-40B4-BE49-F238E27FC236}">
                <a16:creationId xmlns:a16="http://schemas.microsoft.com/office/drawing/2014/main" id="{C79F7778-E961-9013-004E-587A4410BEED}"/>
              </a:ext>
            </a:extLst>
          </p:cNvPr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6" name="2 Rectángulo">
            <a:extLst>
              <a:ext uri="{FF2B5EF4-FFF2-40B4-BE49-F238E27FC236}">
                <a16:creationId xmlns:a16="http://schemas.microsoft.com/office/drawing/2014/main" id="{A4DDC5B8-1AF6-398F-8181-8A9E6C1EE9A0}"/>
              </a:ext>
            </a:extLst>
          </p:cNvPr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10 CuadroTexto">
            <a:extLst>
              <a:ext uri="{FF2B5EF4-FFF2-40B4-BE49-F238E27FC236}">
                <a16:creationId xmlns:a16="http://schemas.microsoft.com/office/drawing/2014/main" id="{DD357634-80D3-715C-0AC4-8D17CF4F6F49}"/>
              </a:ext>
            </a:extLst>
          </p:cNvPr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La relación entre dos variables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4CD7CF6-0F9F-0BDA-1FCB-95B4420E2F55}"/>
              </a:ext>
            </a:extLst>
          </p:cNvPr>
          <p:cNvSpPr txBox="1"/>
          <p:nvPr/>
        </p:nvSpPr>
        <p:spPr>
          <a:xfrm>
            <a:off x="263494" y="1178235"/>
            <a:ext cx="85189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altLang="es-AR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En una relación entre dos variables, los elementos a considerar son: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altLang="es-AR" sz="16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1028700" lvl="1" algn="just">
              <a:buFont typeface="Arial" panose="020B0604020202020204" pitchFamily="34" charset="0"/>
              <a:buChar char="•"/>
            </a:pPr>
            <a:r>
              <a:rPr lang="es-AR" altLang="es-AR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Las </a:t>
            </a:r>
            <a:r>
              <a:rPr lang="es-AR" altLang="es-AR" sz="1600" b="1" i="1" dirty="0">
                <a:solidFill>
                  <a:srgbClr val="2A8A8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variables</a:t>
            </a:r>
            <a:r>
              <a:rPr lang="es-AR" altLang="es-AR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y su nivel de medición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r>
              <a:rPr lang="es-AR" altLang="es-AR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El </a:t>
            </a:r>
            <a:r>
              <a:rPr lang="es-AR" altLang="es-AR" sz="1600" b="1" i="1" dirty="0">
                <a:solidFill>
                  <a:srgbClr val="2A8A8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sentido o dirección</a:t>
            </a:r>
            <a:r>
              <a:rPr lang="es-AR" altLang="es-AR" sz="1600" dirty="0">
                <a:solidFill>
                  <a:srgbClr val="2A8A8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s-AR" altLang="es-AR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de la relación entre las variables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r>
              <a:rPr lang="es-AR" altLang="es-AR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La </a:t>
            </a:r>
            <a:r>
              <a:rPr lang="es-AR" altLang="es-AR" sz="1600" b="1" i="1" dirty="0">
                <a:solidFill>
                  <a:srgbClr val="2A8A8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función que cumplen las variables</a:t>
            </a:r>
          </a:p>
        </p:txBody>
      </p:sp>
      <p:sp>
        <p:nvSpPr>
          <p:cNvPr id="2" name="CuadroTexto 8">
            <a:extLst>
              <a:ext uri="{FF2B5EF4-FFF2-40B4-BE49-F238E27FC236}">
                <a16:creationId xmlns:a16="http://schemas.microsoft.com/office/drawing/2014/main" id="{8D881FCD-F1FA-4926-A663-8110D654E879}"/>
              </a:ext>
            </a:extLst>
          </p:cNvPr>
          <p:cNvSpPr txBox="1"/>
          <p:nvPr/>
        </p:nvSpPr>
        <p:spPr>
          <a:xfrm>
            <a:off x="536065" y="3877869"/>
            <a:ext cx="3888432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sz="1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VARIABLE INDEPENDIENTE (X)</a:t>
            </a:r>
          </a:p>
        </p:txBody>
      </p:sp>
      <p:sp>
        <p:nvSpPr>
          <p:cNvPr id="12" name="CuadroTexto 8">
            <a:extLst>
              <a:ext uri="{FF2B5EF4-FFF2-40B4-BE49-F238E27FC236}">
                <a16:creationId xmlns:a16="http://schemas.microsoft.com/office/drawing/2014/main" id="{8D881FCD-F1FA-4926-A663-8110D654E879}"/>
              </a:ext>
            </a:extLst>
          </p:cNvPr>
          <p:cNvSpPr txBox="1"/>
          <p:nvPr/>
        </p:nvSpPr>
        <p:spPr>
          <a:xfrm>
            <a:off x="531873" y="3373813"/>
            <a:ext cx="3888432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sz="1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VARIABLE DEPENDIENTE (Y)</a:t>
            </a:r>
          </a:p>
        </p:txBody>
      </p:sp>
      <p:sp>
        <p:nvSpPr>
          <p:cNvPr id="10" name="CuadroTexto 8">
            <a:extLst>
              <a:ext uri="{FF2B5EF4-FFF2-40B4-BE49-F238E27FC236}">
                <a16:creationId xmlns:a16="http://schemas.microsoft.com/office/drawing/2014/main" id="{8D881FCD-F1FA-4926-A663-8110D654E879}"/>
              </a:ext>
            </a:extLst>
          </p:cNvPr>
          <p:cNvSpPr txBox="1"/>
          <p:nvPr/>
        </p:nvSpPr>
        <p:spPr>
          <a:xfrm>
            <a:off x="530343" y="4441483"/>
            <a:ext cx="3888432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sz="1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VARIABLE INTERVINIENTE (T)</a:t>
            </a:r>
          </a:p>
        </p:txBody>
      </p:sp>
      <p:sp>
        <p:nvSpPr>
          <p:cNvPr id="15" name="14 CuadroTexto">
            <a:extLst>
              <a:ext uri="{FF2B5EF4-FFF2-40B4-BE49-F238E27FC236}">
                <a16:creationId xmlns:a16="http://schemas.microsoft.com/office/drawing/2014/main" id="{42703C3F-2E59-4071-B68B-8DFF6CDB7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0783" y="3877869"/>
            <a:ext cx="410445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es-ES" altLang="es-AR" sz="1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Es el factor que influye en la variable a explicar</a:t>
            </a:r>
            <a:endParaRPr lang="es-AR" altLang="es-AR" sz="12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6" name="15 CuadroTexto">
            <a:extLst>
              <a:ext uri="{FF2B5EF4-FFF2-40B4-BE49-F238E27FC236}">
                <a16:creationId xmlns:a16="http://schemas.microsoft.com/office/drawing/2014/main" id="{42703C3F-2E59-4071-B68B-8DFF6CDB7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6558" y="3358424"/>
            <a:ext cx="410445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es-ES" altLang="es-AR" sz="1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Aquella cuyo comportamiento hay que explicar</a:t>
            </a:r>
            <a:endParaRPr lang="es-AR" altLang="es-AR" sz="12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7" name="16 CuadroTexto">
            <a:extLst>
              <a:ext uri="{FF2B5EF4-FFF2-40B4-BE49-F238E27FC236}">
                <a16:creationId xmlns:a16="http://schemas.microsoft.com/office/drawing/2014/main" id="{42703C3F-2E59-4071-B68B-8DFF6CDB7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0783" y="4451469"/>
            <a:ext cx="410445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/>
            <a:r>
              <a:rPr lang="es-AR" altLang="es-AR" sz="1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Se emplea para mantener constante un factor </a:t>
            </a:r>
          </a:p>
        </p:txBody>
      </p:sp>
      <p:sp>
        <p:nvSpPr>
          <p:cNvPr id="26" name="7 CuadroTexto">
            <a:extLst>
              <a:ext uri="{FF2B5EF4-FFF2-40B4-BE49-F238E27FC236}">
                <a16:creationId xmlns:a16="http://schemas.microsoft.com/office/drawing/2014/main" id="{C0C81D9E-BF08-0D87-2E15-D59703E73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696" y="2784824"/>
            <a:ext cx="86423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altLang="es-AR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En el análisis de tablas, las variables suelen cumplir las siguientes funciones: </a:t>
            </a:r>
          </a:p>
        </p:txBody>
      </p:sp>
    </p:spTree>
    <p:extLst>
      <p:ext uri="{BB962C8B-B14F-4D97-AF65-F5344CB8AC3E}">
        <p14:creationId xmlns:p14="http://schemas.microsoft.com/office/powerpoint/2010/main" val="149085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 animBg="1"/>
      <p:bldP spid="12" grpId="0" animBg="1"/>
      <p:bldP spid="10" grpId="0" animBg="1"/>
      <p:bldP spid="15" grpId="0"/>
      <p:bldP spid="16" grpId="0"/>
      <p:bldP spid="17" grpId="0"/>
      <p:bldP spid="2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7 CuadroTexto">
            <a:extLst>
              <a:ext uri="{FF2B5EF4-FFF2-40B4-BE49-F238E27FC236}">
                <a16:creationId xmlns:a16="http://schemas.microsoft.com/office/drawing/2014/main" id="{42703C3F-2E59-4071-B68B-8DFF6CDB7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052736"/>
            <a:ext cx="86423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altLang="es-AR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Una </a:t>
            </a:r>
            <a:r>
              <a:rPr lang="es-AR" altLang="es-AR" sz="1800" b="1" i="1" dirty="0">
                <a:solidFill>
                  <a:srgbClr val="2A8A85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tabla de contingencia</a:t>
            </a:r>
            <a:r>
              <a:rPr lang="es-AR" altLang="es-AR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es una tabla de frecuencias de la distribución conjunta de dos variables </a:t>
            </a:r>
            <a:r>
              <a:rPr lang="es-AR" altLang="es-AR" sz="1800" i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cualitativas </a:t>
            </a:r>
            <a:r>
              <a:rPr lang="es-AR" altLang="es-AR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(nominales u ordinales). </a:t>
            </a:r>
          </a:p>
        </p:txBody>
      </p:sp>
      <p:sp>
        <p:nvSpPr>
          <p:cNvPr id="3" name="18 Rectángulo redondeado">
            <a:extLst>
              <a:ext uri="{FF2B5EF4-FFF2-40B4-BE49-F238E27FC236}">
                <a16:creationId xmlns:a16="http://schemas.microsoft.com/office/drawing/2014/main" id="{E182C3C9-A896-8A02-8B5F-57E6254F9C26}"/>
              </a:ext>
            </a:extLst>
          </p:cNvPr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4" name="19 Conector recto">
            <a:extLst>
              <a:ext uri="{FF2B5EF4-FFF2-40B4-BE49-F238E27FC236}">
                <a16:creationId xmlns:a16="http://schemas.microsoft.com/office/drawing/2014/main" id="{34C4D822-3091-92F2-16C5-D8DF34FF4261}"/>
              </a:ext>
            </a:extLst>
          </p:cNvPr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14 Rectángulo">
            <a:extLst>
              <a:ext uri="{FF2B5EF4-FFF2-40B4-BE49-F238E27FC236}">
                <a16:creationId xmlns:a16="http://schemas.microsoft.com/office/drawing/2014/main" id="{DD65FA68-8DF8-0119-D667-1FCE053199FB}"/>
              </a:ext>
            </a:extLst>
          </p:cNvPr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6" name="2 Rectángulo">
            <a:extLst>
              <a:ext uri="{FF2B5EF4-FFF2-40B4-BE49-F238E27FC236}">
                <a16:creationId xmlns:a16="http://schemas.microsoft.com/office/drawing/2014/main" id="{72AE7F67-7548-D052-5554-47056A88B6F0}"/>
              </a:ext>
            </a:extLst>
          </p:cNvPr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10 CuadroTexto">
            <a:extLst>
              <a:ext uri="{FF2B5EF4-FFF2-40B4-BE49-F238E27FC236}">
                <a16:creationId xmlns:a16="http://schemas.microsoft.com/office/drawing/2014/main" id="{544E8560-778F-ACC6-32A1-FF2FC05778ED}"/>
              </a:ext>
            </a:extLst>
          </p:cNvPr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Tabla de contingencia</a:t>
            </a:r>
          </a:p>
        </p:txBody>
      </p:sp>
      <p:grpSp>
        <p:nvGrpSpPr>
          <p:cNvPr id="19" name="10 Grupo">
            <a:extLst>
              <a:ext uri="{FF2B5EF4-FFF2-40B4-BE49-F238E27FC236}">
                <a16:creationId xmlns:a16="http://schemas.microsoft.com/office/drawing/2014/main" id="{6168B571-D53C-A356-C39C-798E6BC1D7B2}"/>
              </a:ext>
            </a:extLst>
          </p:cNvPr>
          <p:cNvGrpSpPr>
            <a:grpSpLocks/>
          </p:cNvGrpSpPr>
          <p:nvPr/>
        </p:nvGrpSpPr>
        <p:grpSpPr bwMode="auto">
          <a:xfrm>
            <a:off x="1331640" y="2149953"/>
            <a:ext cx="6097042" cy="2558093"/>
            <a:chOff x="304800" y="1905000"/>
            <a:chExt cx="7627938" cy="3200400"/>
          </a:xfrm>
        </p:grpSpPr>
        <p:pic>
          <p:nvPicPr>
            <p:cNvPr id="20" name="Picture 2">
              <a:extLst>
                <a:ext uri="{FF2B5EF4-FFF2-40B4-BE49-F238E27FC236}">
                  <a16:creationId xmlns:a16="http://schemas.microsoft.com/office/drawing/2014/main" id="{95D8D4AE-9117-5242-74E3-5EEC996375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" y="1905000"/>
              <a:ext cx="7627938" cy="3200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6 CuadroTexto">
              <a:extLst>
                <a:ext uri="{FF2B5EF4-FFF2-40B4-BE49-F238E27FC236}">
                  <a16:creationId xmlns:a16="http://schemas.microsoft.com/office/drawing/2014/main" id="{DB1D11A7-98C3-8E77-0784-B8C0104605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6200" y="3352800"/>
              <a:ext cx="838200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9pPr>
            </a:lstStyle>
            <a:p>
              <a:pPr eaLnBrk="1" hangingPunct="1"/>
              <a:r>
                <a:rPr lang="es-ES" altLang="es-AR" sz="1800"/>
                <a:t>-X Y</a:t>
              </a:r>
            </a:p>
          </p:txBody>
        </p:sp>
        <p:sp>
          <p:nvSpPr>
            <p:cNvPr id="22" name="7 CuadroTexto">
              <a:extLst>
                <a:ext uri="{FF2B5EF4-FFF2-40B4-BE49-F238E27FC236}">
                  <a16:creationId xmlns:a16="http://schemas.microsoft.com/office/drawing/2014/main" id="{5F921365-BF87-6A9E-C6C1-874C8BADF3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200" y="3886200"/>
              <a:ext cx="838200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9pPr>
            </a:lstStyle>
            <a:p>
              <a:pPr eaLnBrk="1" hangingPunct="1"/>
              <a:r>
                <a:rPr lang="es-ES" altLang="es-AR" sz="1800"/>
                <a:t>X -Y</a:t>
              </a:r>
            </a:p>
          </p:txBody>
        </p:sp>
        <p:sp>
          <p:nvSpPr>
            <p:cNvPr id="24" name="8 CuadroTexto">
              <a:extLst>
                <a:ext uri="{FF2B5EF4-FFF2-40B4-BE49-F238E27FC236}">
                  <a16:creationId xmlns:a16="http://schemas.microsoft.com/office/drawing/2014/main" id="{CF68E43E-EFC2-4345-02DF-2F55360EE9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200" y="3352800"/>
              <a:ext cx="838200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9pPr>
            </a:lstStyle>
            <a:p>
              <a:pPr eaLnBrk="1" hangingPunct="1"/>
              <a:r>
                <a:rPr lang="es-ES" altLang="es-AR" sz="1800"/>
                <a:t>X Y</a:t>
              </a:r>
            </a:p>
          </p:txBody>
        </p:sp>
        <p:sp>
          <p:nvSpPr>
            <p:cNvPr id="25" name="9 CuadroTexto">
              <a:extLst>
                <a:ext uri="{FF2B5EF4-FFF2-40B4-BE49-F238E27FC236}">
                  <a16:creationId xmlns:a16="http://schemas.microsoft.com/office/drawing/2014/main" id="{D31D3E0E-915E-6AE2-C580-B8E30BF0C2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00" y="3886200"/>
              <a:ext cx="838200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Gill Sans" pitchFamily="-65" charset="0"/>
                  <a:ea typeface="MS PGothic" pitchFamily="34" charset="-128"/>
                  <a:sym typeface="Gill Sans" pitchFamily="-65" charset="0"/>
                </a:defRPr>
              </a:lvl9pPr>
            </a:lstStyle>
            <a:p>
              <a:pPr eaLnBrk="1" hangingPunct="1"/>
              <a:r>
                <a:rPr lang="es-ES" altLang="es-AR" sz="1800"/>
                <a:t>-X -Y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639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" name="Google Shape;103;p10"/>
          <p:cNvGraphicFramePr/>
          <p:nvPr/>
        </p:nvGraphicFramePr>
        <p:xfrm>
          <a:off x="1661660" y="2682647"/>
          <a:ext cx="6271875" cy="236778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61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6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205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99720" marR="0" lvl="0" indent="0" algn="l" rtl="0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CATEGORÍA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06705" marR="0" lvl="0" indent="0" algn="l" rtl="0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CATEGORÍA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15925" marR="0" lvl="0" indent="0" algn="l" rtl="0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TOTALES</a:t>
                      </a:r>
                      <a:endParaRPr sz="16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58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50"/>
                        <a:buFont typeface="Arial"/>
                        <a:buNone/>
                      </a:pPr>
                      <a:endParaRPr sz="17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CATEGORÍA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63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04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endParaRPr sz="16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CATEGORÍA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10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endParaRPr sz="165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TOTALES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4" name="Google Shape;104;p10"/>
          <p:cNvSpPr txBox="1"/>
          <p:nvPr/>
        </p:nvSpPr>
        <p:spPr>
          <a:xfrm>
            <a:off x="525112" y="1272182"/>
            <a:ext cx="6295390" cy="812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600" b="1" i="0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Trebuchet MS"/>
                <a:cs typeface="Calibri" panose="020F0502020204030204" pitchFamily="34" charset="0"/>
                <a:sym typeface="Trebuchet MS"/>
              </a:rPr>
              <a:t>Disposición</a:t>
            </a: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Trebuchet MS"/>
                <a:cs typeface="Calibri" panose="020F0502020204030204" pitchFamily="34" charset="0"/>
                <a:sym typeface="Trebuchet MS"/>
              </a:rPr>
              <a:t> </a:t>
            </a:r>
            <a:r>
              <a:rPr lang="en-US" sz="1600" b="1" i="0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Trebuchet MS"/>
                <a:cs typeface="Calibri" panose="020F0502020204030204" pitchFamily="34" charset="0"/>
                <a:sym typeface="Trebuchet MS"/>
              </a:rPr>
              <a:t>habitual de las variables </a:t>
            </a:r>
            <a:r>
              <a:rPr lang="en-US" sz="1600" b="1" i="0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Trebuchet MS"/>
                <a:cs typeface="Calibri" panose="020F0502020204030204" pitchFamily="34" charset="0"/>
                <a:sym typeface="Trebuchet MS"/>
              </a:rPr>
              <a:t>en</a:t>
            </a:r>
            <a:r>
              <a:rPr lang="en-US" sz="1600" b="1" i="0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Trebuchet MS"/>
                <a:cs typeface="Calibri" panose="020F0502020204030204" pitchFamily="34" charset="0"/>
                <a:sym typeface="Trebuchet MS"/>
              </a:rPr>
              <a:t> </a:t>
            </a:r>
            <a:r>
              <a:rPr lang="en-US" sz="1600" b="1" i="0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Trebuchet MS"/>
                <a:cs typeface="Calibri" panose="020F0502020204030204" pitchFamily="34" charset="0"/>
                <a:sym typeface="Trebuchet MS"/>
              </a:rPr>
              <a:t>el</a:t>
            </a:r>
            <a:r>
              <a:rPr lang="en-US" sz="1600" b="1" i="0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Trebuchet MS"/>
                <a:cs typeface="Calibri" panose="020F0502020204030204" pitchFamily="34" charset="0"/>
                <a:sym typeface="Trebuchet MS"/>
              </a:rPr>
              <a:t> </a:t>
            </a:r>
            <a:r>
              <a:rPr lang="en-US" sz="1600" b="1" i="0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Trebuchet MS"/>
                <a:cs typeface="Calibri" panose="020F0502020204030204" pitchFamily="34" charset="0"/>
                <a:sym typeface="Trebuchet MS"/>
              </a:rPr>
              <a:t>cuadro</a:t>
            </a:r>
            <a:r>
              <a:rPr lang="en-US" sz="1600" b="1" i="0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Trebuchet MS"/>
                <a:cs typeface="Calibri" panose="020F0502020204030204" pitchFamily="34" charset="0"/>
                <a:sym typeface="Trebuchet MS"/>
              </a:rPr>
              <a:t>:</a:t>
            </a:r>
            <a:endParaRPr sz="1600" b="1" i="0" strike="noStrike" cap="none" dirty="0">
              <a:solidFill>
                <a:schemeClr val="tx1"/>
              </a:solidFill>
              <a:latin typeface="Calibri" panose="020F0502020204030204" pitchFamily="34" charset="0"/>
              <a:ea typeface="Trebuchet MS"/>
              <a:cs typeface="Calibri" panose="020F0502020204030204" pitchFamily="34" charset="0"/>
              <a:sym typeface="Trebuchet M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 panose="020B0604020202020204" pitchFamily="34" charset="0"/>
              <a:buChar char="•"/>
            </a:pPr>
            <a:endParaRPr lang="es-AR" sz="1800" b="1" i="0" strike="noStrike" cap="none" dirty="0">
              <a:solidFill>
                <a:schemeClr val="tx1"/>
              </a:solidFill>
              <a:latin typeface="Calibri" panose="020F0502020204030204" pitchFamily="34" charset="0"/>
              <a:ea typeface="Trebuchet MS"/>
              <a:cs typeface="Calibri" panose="020F0502020204030204" pitchFamily="34" charset="0"/>
              <a:sym typeface="Trebuchet MS"/>
            </a:endParaRPr>
          </a:p>
          <a:p>
            <a:pPr marL="342900" lvl="1" indent="-342900">
              <a:spcBef>
                <a:spcPts val="20"/>
              </a:spcBef>
              <a:buSzPts val="2050"/>
              <a:buFont typeface="Arial" panose="020B0604020202020204" pitchFamily="34" charset="0"/>
              <a:buChar char="•"/>
            </a:pPr>
            <a:r>
              <a:rPr lang="es-AR" sz="1800" i="1" dirty="0">
                <a:solidFill>
                  <a:schemeClr val="tx1"/>
                </a:solidFill>
                <a:latin typeface="Calibri" panose="020F0502020204030204" pitchFamily="34" charset="0"/>
                <a:ea typeface="Trebuchet MS"/>
                <a:cs typeface="Calibri" panose="020F0502020204030204" pitchFamily="34" charset="0"/>
                <a:sym typeface="Trebuchet MS"/>
              </a:rPr>
              <a:t>Ejemplo de cuadro bivariado</a:t>
            </a:r>
            <a:endParaRPr lang="es-AR" sz="1800" i="1" strike="noStrike" cap="none" dirty="0">
              <a:solidFill>
                <a:schemeClr val="tx1"/>
              </a:solidFill>
              <a:latin typeface="Calibri" panose="020F0502020204030204" pitchFamily="34" charset="0"/>
              <a:ea typeface="Trebuchet MS"/>
              <a:cs typeface="Calibri" panose="020F0502020204030204" pitchFamily="34" charset="0"/>
              <a:sym typeface="Trebuchet MS"/>
            </a:endParaRPr>
          </a:p>
        </p:txBody>
      </p:sp>
      <p:sp>
        <p:nvSpPr>
          <p:cNvPr id="105" name="Google Shape;105;p10"/>
          <p:cNvSpPr txBox="1"/>
          <p:nvPr/>
        </p:nvSpPr>
        <p:spPr>
          <a:xfrm rot="-5400000">
            <a:off x="572953" y="3671876"/>
            <a:ext cx="1280160" cy="500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DEPENDIENTE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05;p10">
            <a:extLst>
              <a:ext uri="{FF2B5EF4-FFF2-40B4-BE49-F238E27FC236}">
                <a16:creationId xmlns:a16="http://schemas.microsoft.com/office/drawing/2014/main" id="{A07AA78A-EA01-3B29-6614-ACD9C244CCCD}"/>
              </a:ext>
            </a:extLst>
          </p:cNvPr>
          <p:cNvSpPr txBox="1"/>
          <p:nvPr/>
        </p:nvSpPr>
        <p:spPr>
          <a:xfrm>
            <a:off x="4239600" y="2059840"/>
            <a:ext cx="1939819" cy="52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INDEPENDIENTE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18 Rectángulo redondeado">
            <a:extLst>
              <a:ext uri="{FF2B5EF4-FFF2-40B4-BE49-F238E27FC236}">
                <a16:creationId xmlns:a16="http://schemas.microsoft.com/office/drawing/2014/main" id="{7A76169C-13BD-F251-89C3-852E6AF6C024}"/>
              </a:ext>
            </a:extLst>
          </p:cNvPr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3" name="19 Conector recto">
            <a:extLst>
              <a:ext uri="{FF2B5EF4-FFF2-40B4-BE49-F238E27FC236}">
                <a16:creationId xmlns:a16="http://schemas.microsoft.com/office/drawing/2014/main" id="{F1C3FE14-1693-FF49-BC93-F9BC2042C35A}"/>
              </a:ext>
            </a:extLst>
          </p:cNvPr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14 Rectángulo">
            <a:extLst>
              <a:ext uri="{FF2B5EF4-FFF2-40B4-BE49-F238E27FC236}">
                <a16:creationId xmlns:a16="http://schemas.microsoft.com/office/drawing/2014/main" id="{10139754-ED26-A4A9-A987-56D09E7047AC}"/>
              </a:ext>
            </a:extLst>
          </p:cNvPr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7" name="2 Rectángulo">
            <a:extLst>
              <a:ext uri="{FF2B5EF4-FFF2-40B4-BE49-F238E27FC236}">
                <a16:creationId xmlns:a16="http://schemas.microsoft.com/office/drawing/2014/main" id="{805C26A0-AD49-5F37-0758-8E5BDCEB7A3E}"/>
              </a:ext>
            </a:extLst>
          </p:cNvPr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10 CuadroTexto">
            <a:extLst>
              <a:ext uri="{FF2B5EF4-FFF2-40B4-BE49-F238E27FC236}">
                <a16:creationId xmlns:a16="http://schemas.microsoft.com/office/drawing/2014/main" id="{5616F120-6891-E55E-4C00-5807C3063AA6}"/>
              </a:ext>
            </a:extLst>
          </p:cNvPr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Tabla de contingencia</a:t>
            </a:r>
          </a:p>
        </p:txBody>
      </p:sp>
    </p:spTree>
    <p:extLst>
      <p:ext uri="{BB962C8B-B14F-4D97-AF65-F5344CB8AC3E}">
        <p14:creationId xmlns:p14="http://schemas.microsoft.com/office/powerpoint/2010/main" val="75901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 txBox="1"/>
          <p:nvPr/>
        </p:nvSpPr>
        <p:spPr>
          <a:xfrm>
            <a:off x="3821230" y="1872736"/>
            <a:ext cx="3206215" cy="28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DE CONTROL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2" name="Google Shape;112;p11"/>
          <p:cNvGraphicFramePr/>
          <p:nvPr/>
        </p:nvGraphicFramePr>
        <p:xfrm>
          <a:off x="626173" y="2233335"/>
          <a:ext cx="7931150" cy="32926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10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3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1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20575">
                <a:tc row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endParaRPr sz="1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CATEGORÍA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282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CATEGORÍA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282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7785" marR="0" lvl="0" indent="0" algn="l" rtl="0">
                        <a:lnSpc>
                          <a:spcPct val="100000"/>
                        </a:lnSpc>
                        <a:spcBef>
                          <a:spcPts val="116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TOTALES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25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067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VARIABLE INDEPENDIENTE</a:t>
                      </a:r>
                      <a:endParaRPr sz="1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787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1686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VARIABLE INDEPENDIENTE</a:t>
                      </a:r>
                      <a:endParaRPr sz="17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787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675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3339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CATEGORÍA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371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77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CATEGORÍA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371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TOTALES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371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8419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CATEGORÍA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371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82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CATEGORÍA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371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TOTALES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371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CATEGORÍA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797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endParaRPr sz="1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endParaRPr sz="1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endParaRPr sz="1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endParaRPr sz="1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endParaRPr sz="1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endParaRPr sz="1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endParaRPr sz="1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1050"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CATEGORÍA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651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endParaRPr sz="1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endParaRPr sz="1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endParaRPr sz="1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endParaRPr sz="1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endParaRPr sz="1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endParaRPr sz="1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endParaRPr sz="1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TOTALES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651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endParaRPr sz="1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endParaRPr sz="1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endParaRPr sz="19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endParaRPr sz="19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endParaRPr sz="1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endParaRPr sz="1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endParaRPr sz="19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3" name="Google Shape;113;p11"/>
          <p:cNvSpPr txBox="1"/>
          <p:nvPr/>
        </p:nvSpPr>
        <p:spPr>
          <a:xfrm rot="-5400000">
            <a:off x="-303593" y="4392133"/>
            <a:ext cx="1280160" cy="500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DEPENDIENTE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4;p10">
            <a:extLst>
              <a:ext uri="{FF2B5EF4-FFF2-40B4-BE49-F238E27FC236}">
                <a16:creationId xmlns:a16="http://schemas.microsoft.com/office/drawing/2014/main" id="{EBD50247-05A8-1236-1352-9108AF06A3E3}"/>
              </a:ext>
            </a:extLst>
          </p:cNvPr>
          <p:cNvSpPr txBox="1"/>
          <p:nvPr/>
        </p:nvSpPr>
        <p:spPr>
          <a:xfrm>
            <a:off x="476985" y="1005939"/>
            <a:ext cx="6295390" cy="812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600" b="1" i="0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Trebuchet MS"/>
                <a:cs typeface="Calibri" panose="020F0502020204030204" pitchFamily="34" charset="0"/>
                <a:sym typeface="Trebuchet MS"/>
              </a:rPr>
              <a:t>Disposición</a:t>
            </a: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Trebuchet MS"/>
                <a:cs typeface="Calibri" panose="020F0502020204030204" pitchFamily="34" charset="0"/>
                <a:sym typeface="Trebuchet MS"/>
              </a:rPr>
              <a:t> </a:t>
            </a:r>
            <a:r>
              <a:rPr lang="en-US" sz="1600" b="1" i="0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Trebuchet MS"/>
                <a:cs typeface="Calibri" panose="020F0502020204030204" pitchFamily="34" charset="0"/>
                <a:sym typeface="Trebuchet MS"/>
              </a:rPr>
              <a:t>habitual de las variables </a:t>
            </a:r>
            <a:r>
              <a:rPr lang="en-US" sz="1600" b="1" i="0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Trebuchet MS"/>
                <a:cs typeface="Calibri" panose="020F0502020204030204" pitchFamily="34" charset="0"/>
                <a:sym typeface="Trebuchet MS"/>
              </a:rPr>
              <a:t>en</a:t>
            </a:r>
            <a:r>
              <a:rPr lang="en-US" sz="1600" b="1" i="0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Trebuchet MS"/>
                <a:cs typeface="Calibri" panose="020F0502020204030204" pitchFamily="34" charset="0"/>
                <a:sym typeface="Trebuchet MS"/>
              </a:rPr>
              <a:t> </a:t>
            </a:r>
            <a:r>
              <a:rPr lang="en-US" sz="1600" b="1" i="0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Trebuchet MS"/>
                <a:cs typeface="Calibri" panose="020F0502020204030204" pitchFamily="34" charset="0"/>
                <a:sym typeface="Trebuchet MS"/>
              </a:rPr>
              <a:t>el</a:t>
            </a:r>
            <a:r>
              <a:rPr lang="en-US" sz="1600" b="1" i="0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Trebuchet MS"/>
                <a:cs typeface="Calibri" panose="020F0502020204030204" pitchFamily="34" charset="0"/>
                <a:sym typeface="Trebuchet MS"/>
              </a:rPr>
              <a:t> </a:t>
            </a:r>
            <a:r>
              <a:rPr lang="en-US" sz="1600" b="1" i="0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Trebuchet MS"/>
                <a:cs typeface="Calibri" panose="020F0502020204030204" pitchFamily="34" charset="0"/>
                <a:sym typeface="Trebuchet MS"/>
              </a:rPr>
              <a:t>cuadro</a:t>
            </a:r>
            <a:r>
              <a:rPr lang="en-US" sz="1600" b="1" i="0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Trebuchet MS"/>
                <a:cs typeface="Calibri" panose="020F0502020204030204" pitchFamily="34" charset="0"/>
                <a:sym typeface="Trebuchet MS"/>
              </a:rPr>
              <a:t>:</a:t>
            </a:r>
            <a:endParaRPr sz="1600" b="1" i="0" strike="noStrike" cap="none" dirty="0">
              <a:solidFill>
                <a:schemeClr val="tx1"/>
              </a:solidFill>
              <a:latin typeface="Calibri" panose="020F0502020204030204" pitchFamily="34" charset="0"/>
              <a:ea typeface="Trebuchet MS"/>
              <a:cs typeface="Calibri" panose="020F0502020204030204" pitchFamily="34" charset="0"/>
              <a:sym typeface="Trebuchet M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 panose="020B0604020202020204" pitchFamily="34" charset="0"/>
              <a:buChar char="•"/>
            </a:pPr>
            <a:endParaRPr lang="es-AR" sz="1800" b="1" i="0" strike="noStrike" cap="none" dirty="0">
              <a:solidFill>
                <a:schemeClr val="tx1"/>
              </a:solidFill>
              <a:latin typeface="Calibri" panose="020F0502020204030204" pitchFamily="34" charset="0"/>
              <a:ea typeface="Trebuchet MS"/>
              <a:cs typeface="Calibri" panose="020F0502020204030204" pitchFamily="34" charset="0"/>
              <a:sym typeface="Trebuchet MS"/>
            </a:endParaRPr>
          </a:p>
          <a:p>
            <a:pPr marL="342900" lvl="1" indent="-342900">
              <a:spcBef>
                <a:spcPts val="20"/>
              </a:spcBef>
              <a:buSzPts val="2050"/>
              <a:buFont typeface="Arial" panose="020B0604020202020204" pitchFamily="34" charset="0"/>
              <a:buChar char="•"/>
            </a:pPr>
            <a:r>
              <a:rPr lang="es-AR" sz="1800" i="1" dirty="0">
                <a:solidFill>
                  <a:schemeClr val="tx1"/>
                </a:solidFill>
                <a:latin typeface="Calibri" panose="020F0502020204030204" pitchFamily="34" charset="0"/>
                <a:ea typeface="Trebuchet MS"/>
                <a:cs typeface="Calibri" panose="020F0502020204030204" pitchFamily="34" charset="0"/>
                <a:sym typeface="Trebuchet MS"/>
              </a:rPr>
              <a:t>Ejemplo de cuadro multivariado</a:t>
            </a:r>
            <a:endParaRPr lang="es-AR" sz="1800" i="1" strike="noStrike" cap="none" dirty="0">
              <a:solidFill>
                <a:schemeClr val="tx1"/>
              </a:solidFill>
              <a:latin typeface="Calibri" panose="020F0502020204030204" pitchFamily="34" charset="0"/>
              <a:ea typeface="Trebuchet MS"/>
              <a:cs typeface="Calibri" panose="020F0502020204030204" pitchFamily="34" charset="0"/>
              <a:sym typeface="Trebuchet MS"/>
            </a:endParaRPr>
          </a:p>
        </p:txBody>
      </p:sp>
      <p:sp>
        <p:nvSpPr>
          <p:cNvPr id="2" name="18 Rectángulo redondeado">
            <a:extLst>
              <a:ext uri="{FF2B5EF4-FFF2-40B4-BE49-F238E27FC236}">
                <a16:creationId xmlns:a16="http://schemas.microsoft.com/office/drawing/2014/main" id="{86DB2276-F589-B788-6615-41900105600B}"/>
              </a:ext>
            </a:extLst>
          </p:cNvPr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3" name="19 Conector recto">
            <a:extLst>
              <a:ext uri="{FF2B5EF4-FFF2-40B4-BE49-F238E27FC236}">
                <a16:creationId xmlns:a16="http://schemas.microsoft.com/office/drawing/2014/main" id="{12767D3D-BD62-49CC-150E-587A9343DB5C}"/>
              </a:ext>
            </a:extLst>
          </p:cNvPr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14 Rectángulo">
            <a:extLst>
              <a:ext uri="{FF2B5EF4-FFF2-40B4-BE49-F238E27FC236}">
                <a16:creationId xmlns:a16="http://schemas.microsoft.com/office/drawing/2014/main" id="{61892581-94C1-3851-3E9D-50A62252D1EE}"/>
              </a:ext>
            </a:extLst>
          </p:cNvPr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7" name="2 Rectángulo">
            <a:extLst>
              <a:ext uri="{FF2B5EF4-FFF2-40B4-BE49-F238E27FC236}">
                <a16:creationId xmlns:a16="http://schemas.microsoft.com/office/drawing/2014/main" id="{BEAA5DC5-2FD5-568D-472E-ADE37529D8A0}"/>
              </a:ext>
            </a:extLst>
          </p:cNvPr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10 CuadroTexto">
            <a:extLst>
              <a:ext uri="{FF2B5EF4-FFF2-40B4-BE49-F238E27FC236}">
                <a16:creationId xmlns:a16="http://schemas.microsoft.com/office/drawing/2014/main" id="{74A29C94-1C25-3894-F279-7EF6DC9DF3F8}"/>
              </a:ext>
            </a:extLst>
          </p:cNvPr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Tabla de contingencia</a:t>
            </a:r>
          </a:p>
        </p:txBody>
      </p:sp>
    </p:spTree>
    <p:extLst>
      <p:ext uri="{BB962C8B-B14F-4D97-AF65-F5344CB8AC3E}">
        <p14:creationId xmlns:p14="http://schemas.microsoft.com/office/powerpoint/2010/main" val="4044909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250825" y="980728"/>
            <a:ext cx="864234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altLang="es-AR" b="1" dirty="0">
                <a:latin typeface="Cambria" panose="02040503050406030204" pitchFamily="18" charset="0"/>
                <a:ea typeface="Cambria" panose="02040503050406030204" pitchFamily="18" charset="0"/>
              </a:rPr>
              <a:t>Ejemplo: </a:t>
            </a:r>
            <a:r>
              <a:rPr lang="es-ES" altLang="es-AR" dirty="0">
                <a:latin typeface="Cambria" panose="02040503050406030204" pitchFamily="18" charset="0"/>
                <a:ea typeface="Cambria" panose="02040503050406030204" pitchFamily="18" charset="0"/>
              </a:rPr>
              <a:t>Trabajamos con las variables: (1) problemas de empleo y (2) grupo de edad. </a:t>
            </a:r>
          </a:p>
        </p:txBody>
      </p:sp>
      <p:graphicFrame>
        <p:nvGraphicFramePr>
          <p:cNvPr id="8238" name="Group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486869"/>
              </p:ext>
            </p:extLst>
          </p:nvPr>
        </p:nvGraphicFramePr>
        <p:xfrm>
          <a:off x="1393891" y="2119221"/>
          <a:ext cx="6508130" cy="2975739"/>
        </p:xfrm>
        <a:graphic>
          <a:graphicData uri="http://schemas.openxmlformats.org/drawingml/2006/table">
            <a:tbl>
              <a:tblPr/>
              <a:tblGrid>
                <a:gridCol w="284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8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4101">
                <a:tc gridSpan="5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Cuadro 1.</a:t>
                      </a: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 </a:t>
                      </a:r>
                      <a:r>
                        <a:rPr kumimoji="0" lang="es-E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Problemas de empleo según grupos de edad. </a:t>
                      </a:r>
                      <a:br>
                        <a:rPr kumimoji="0" lang="es-E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</a:b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Población de 15 años y más, año 2024. En porcentajes.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5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8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Problemas de empleo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Grupo de edad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Total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05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15 a 29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30 a 44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45 y más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No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s-AR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s-AR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s-AR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s-AR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Sí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s-AR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s-AR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s-AR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s-AR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Total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s-AR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s-AR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s-AR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s-AR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 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(n)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(n)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(n)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(N)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946">
                <a:tc gridSpan="5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300" b="0" i="1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Fuente:</a:t>
                      </a:r>
                      <a:r>
                        <a:rPr kumimoji="0" lang="es-E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 Elaboración propia.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64443" y="1636974"/>
            <a:ext cx="874039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altLang="es-AR" dirty="0">
                <a:latin typeface="Cambria" panose="02040503050406030204" pitchFamily="18" charset="0"/>
                <a:ea typeface="Cambria" panose="02040503050406030204" pitchFamily="18" charset="0"/>
              </a:rPr>
              <a:t>Hipótesis: </a:t>
            </a:r>
            <a:r>
              <a:rPr lang="es-ES" altLang="es-AR" b="1" i="1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“A mayor edad se reduce la propensión a tener problemas de empleo”. </a:t>
            </a:r>
            <a:endParaRPr lang="es-ES" altLang="es-AR" i="1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D881FCD-F1FA-4926-A663-8110D654E879}"/>
              </a:ext>
            </a:extLst>
          </p:cNvPr>
          <p:cNvSpPr txBox="1"/>
          <p:nvPr/>
        </p:nvSpPr>
        <p:spPr>
          <a:xfrm>
            <a:off x="108505" y="3920534"/>
            <a:ext cx="82772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(Y)</a:t>
            </a:r>
          </a:p>
        </p:txBody>
      </p:sp>
      <p:sp>
        <p:nvSpPr>
          <p:cNvPr id="10" name="CuadroTexto 8">
            <a:extLst>
              <a:ext uri="{FF2B5EF4-FFF2-40B4-BE49-F238E27FC236}">
                <a16:creationId xmlns:a16="http://schemas.microsoft.com/office/drawing/2014/main" id="{8D881FCD-F1FA-4926-A663-8110D654E879}"/>
              </a:ext>
            </a:extLst>
          </p:cNvPr>
          <p:cNvSpPr txBox="1"/>
          <p:nvPr/>
        </p:nvSpPr>
        <p:spPr>
          <a:xfrm>
            <a:off x="7902020" y="2693590"/>
            <a:ext cx="82772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(X)</a:t>
            </a:r>
          </a:p>
        </p:txBody>
      </p:sp>
      <p:cxnSp>
        <p:nvCxnSpPr>
          <p:cNvPr id="11" name="AutoShape 51"/>
          <p:cNvCxnSpPr>
            <a:cxnSpLocks noChangeShapeType="1"/>
          </p:cNvCxnSpPr>
          <p:nvPr/>
        </p:nvCxnSpPr>
        <p:spPr bwMode="auto">
          <a:xfrm flipH="1">
            <a:off x="6211369" y="2878255"/>
            <a:ext cx="1690652" cy="40903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51"/>
          <p:cNvCxnSpPr>
            <a:cxnSpLocks noChangeShapeType="1"/>
          </p:cNvCxnSpPr>
          <p:nvPr/>
        </p:nvCxnSpPr>
        <p:spPr bwMode="auto">
          <a:xfrm flipV="1">
            <a:off x="580557" y="3565794"/>
            <a:ext cx="662260" cy="31974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107951" y="5395564"/>
            <a:ext cx="86287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altLang="es-AR" dirty="0">
                <a:latin typeface="Cambria" panose="02040503050406030204" pitchFamily="18" charset="0"/>
                <a:ea typeface="Cambria" panose="02040503050406030204" pitchFamily="18" charset="0"/>
              </a:rPr>
              <a:t>De manera convencional, la variable independiente (X) se coloca en las </a:t>
            </a:r>
            <a:r>
              <a:rPr lang="es-ES" altLang="es-AR" b="1" i="1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columnas</a:t>
            </a:r>
            <a:r>
              <a:rPr lang="es-ES" altLang="es-AR" dirty="0">
                <a:latin typeface="Cambria" panose="02040503050406030204" pitchFamily="18" charset="0"/>
                <a:ea typeface="Cambria" panose="02040503050406030204" pitchFamily="18" charset="0"/>
              </a:rPr>
              <a:t> y la variable dependiente (Y) se coloca en </a:t>
            </a:r>
            <a:r>
              <a:rPr lang="es-ES" altLang="es-AR" b="1" i="1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filas</a:t>
            </a:r>
            <a:r>
              <a:rPr lang="es-ES" altLang="es-AR" dirty="0">
                <a:latin typeface="Cambria" panose="02040503050406030204" pitchFamily="18" charset="0"/>
                <a:ea typeface="Cambria" panose="02040503050406030204" pitchFamily="18" charset="0"/>
              </a:rPr>
              <a:t>.  </a:t>
            </a:r>
            <a:endParaRPr lang="es-ES" altLang="es-AR" i="1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18 Rectángulo redondeado">
            <a:extLst>
              <a:ext uri="{FF2B5EF4-FFF2-40B4-BE49-F238E27FC236}">
                <a16:creationId xmlns:a16="http://schemas.microsoft.com/office/drawing/2014/main" id="{4886F08A-3B58-C9E9-C24E-78FFBFAFEB40}"/>
              </a:ext>
            </a:extLst>
          </p:cNvPr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4" name="19 Conector recto">
            <a:extLst>
              <a:ext uri="{FF2B5EF4-FFF2-40B4-BE49-F238E27FC236}">
                <a16:creationId xmlns:a16="http://schemas.microsoft.com/office/drawing/2014/main" id="{E17A7AC9-9514-9418-28A9-FA7A1F669BE0}"/>
              </a:ext>
            </a:extLst>
          </p:cNvPr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2 Rectángulo">
            <a:extLst>
              <a:ext uri="{FF2B5EF4-FFF2-40B4-BE49-F238E27FC236}">
                <a16:creationId xmlns:a16="http://schemas.microsoft.com/office/drawing/2014/main" id="{AA6F4886-D36C-2A84-8CEF-53CF14D3C4E7}"/>
              </a:ext>
            </a:extLst>
          </p:cNvPr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10 CuadroTexto">
            <a:extLst>
              <a:ext uri="{FF2B5EF4-FFF2-40B4-BE49-F238E27FC236}">
                <a16:creationId xmlns:a16="http://schemas.microsoft.com/office/drawing/2014/main" id="{79697768-F285-5927-A2E6-DA472440D407}"/>
              </a:ext>
            </a:extLst>
          </p:cNvPr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Componentes de una tabla de contingencia</a:t>
            </a:r>
          </a:p>
        </p:txBody>
      </p:sp>
      <p:sp>
        <p:nvSpPr>
          <p:cNvPr id="7" name="14 Rectángulo">
            <a:extLst>
              <a:ext uri="{FF2B5EF4-FFF2-40B4-BE49-F238E27FC236}">
                <a16:creationId xmlns:a16="http://schemas.microsoft.com/office/drawing/2014/main" id="{37378242-EB1C-8825-52B0-B19128600B85}"/>
              </a:ext>
            </a:extLst>
          </p:cNvPr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78149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38" name="Group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479608"/>
              </p:ext>
            </p:extLst>
          </p:nvPr>
        </p:nvGraphicFramePr>
        <p:xfrm>
          <a:off x="1354734" y="2059252"/>
          <a:ext cx="6508130" cy="2975739"/>
        </p:xfrm>
        <a:graphic>
          <a:graphicData uri="http://schemas.openxmlformats.org/drawingml/2006/table">
            <a:tbl>
              <a:tblPr/>
              <a:tblGrid>
                <a:gridCol w="284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8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4101">
                <a:tc gridSpan="5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Cuadro 1.</a:t>
                      </a: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 </a:t>
                      </a:r>
                      <a:r>
                        <a:rPr kumimoji="0" lang="es-E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Problemas de empleo según grupos de edad. </a:t>
                      </a:r>
                      <a:br>
                        <a:rPr kumimoji="0" lang="es-E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</a:b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Población de 15 años y más, año 2024. En porcentajes.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5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5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5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5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5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5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475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Problemas de empleo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Grupo de edad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Total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05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15 a 29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30 a 44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45 y más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No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s-AR" sz="16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s-AR" sz="16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s-AR" sz="16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s-AR" sz="16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Sí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s-AR" sz="16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s-AR" sz="16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s-AR" sz="16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s-AR" sz="16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Total</a:t>
                      </a:r>
                      <a:endParaRPr kumimoji="0" lang="es-ES" sz="16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s-AR" sz="16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s-AR" sz="16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s-AR" sz="16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s-AR" sz="16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 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(n)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(n)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(n)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(N)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946">
                <a:tc gridSpan="5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300" b="0" i="1" u="sng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Fuente:</a:t>
                      </a:r>
                      <a:r>
                        <a:rPr kumimoji="0" lang="es-E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 Elaboración propia.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Text Box 46"/>
          <p:cNvSpPr txBox="1">
            <a:spLocks noChangeArrowheads="1"/>
          </p:cNvSpPr>
          <p:nvPr/>
        </p:nvSpPr>
        <p:spPr bwMode="auto">
          <a:xfrm>
            <a:off x="774700" y="1196975"/>
            <a:ext cx="1584325" cy="558800"/>
          </a:xfrm>
          <a:prstGeom prst="rect">
            <a:avLst/>
          </a:prstGeom>
          <a:solidFill>
            <a:srgbClr val="CAE8E7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ES" altLang="es-AR" sz="1500" b="1" dirty="0">
                <a:latin typeface="Cambria" panose="02040503050406030204" pitchFamily="18" charset="0"/>
                <a:ea typeface="Cambria" panose="02040503050406030204" pitchFamily="18" charset="0"/>
              </a:rPr>
              <a:t>NUMERO DEL CUADRO</a:t>
            </a:r>
          </a:p>
        </p:txBody>
      </p:sp>
      <p:sp>
        <p:nvSpPr>
          <p:cNvPr id="13" name="Text Box 47"/>
          <p:cNvSpPr txBox="1">
            <a:spLocks noChangeArrowheads="1"/>
          </p:cNvSpPr>
          <p:nvPr/>
        </p:nvSpPr>
        <p:spPr bwMode="auto">
          <a:xfrm>
            <a:off x="5454650" y="1196975"/>
            <a:ext cx="1584325" cy="330200"/>
          </a:xfrm>
          <a:prstGeom prst="rect">
            <a:avLst/>
          </a:prstGeom>
          <a:solidFill>
            <a:srgbClr val="CAE8E7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ES" altLang="es-AR" sz="1500" b="1" dirty="0">
                <a:latin typeface="Cambria" panose="02040503050406030204" pitchFamily="18" charset="0"/>
                <a:ea typeface="Cambria" panose="02040503050406030204" pitchFamily="18" charset="0"/>
              </a:rPr>
              <a:t>TITULO</a:t>
            </a:r>
          </a:p>
        </p:txBody>
      </p:sp>
      <p:sp>
        <p:nvSpPr>
          <p:cNvPr id="14" name="Text Box 48"/>
          <p:cNvSpPr txBox="1">
            <a:spLocks noChangeArrowheads="1"/>
          </p:cNvSpPr>
          <p:nvPr/>
        </p:nvSpPr>
        <p:spPr bwMode="auto">
          <a:xfrm>
            <a:off x="611188" y="5734050"/>
            <a:ext cx="1584325" cy="330200"/>
          </a:xfrm>
          <a:prstGeom prst="rect">
            <a:avLst/>
          </a:prstGeom>
          <a:solidFill>
            <a:srgbClr val="CAE8E7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ES" altLang="es-AR" sz="1500" b="1">
                <a:latin typeface="Cambria" panose="02040503050406030204" pitchFamily="18" charset="0"/>
                <a:ea typeface="Cambria" panose="02040503050406030204" pitchFamily="18" charset="0"/>
              </a:rPr>
              <a:t>FUENTE</a:t>
            </a:r>
          </a:p>
        </p:txBody>
      </p:sp>
      <p:cxnSp>
        <p:nvCxnSpPr>
          <p:cNvPr id="15" name="AutoShape 50"/>
          <p:cNvCxnSpPr>
            <a:cxnSpLocks noChangeShapeType="1"/>
          </p:cNvCxnSpPr>
          <p:nvPr/>
        </p:nvCxnSpPr>
        <p:spPr bwMode="auto">
          <a:xfrm rot="16200000" flipH="1">
            <a:off x="1450158" y="1800249"/>
            <a:ext cx="377081" cy="288132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AutoShape 51"/>
          <p:cNvCxnSpPr>
            <a:cxnSpLocks noChangeShapeType="1"/>
            <a:stCxn id="13" idx="2"/>
          </p:cNvCxnSpPr>
          <p:nvPr/>
        </p:nvCxnSpPr>
        <p:spPr bwMode="auto">
          <a:xfrm rot="5400000">
            <a:off x="5380831" y="1051719"/>
            <a:ext cx="390525" cy="1341438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AutoShape 53"/>
          <p:cNvCxnSpPr>
            <a:cxnSpLocks noChangeShapeType="1"/>
            <a:stCxn id="14" idx="0"/>
          </p:cNvCxnSpPr>
          <p:nvPr/>
        </p:nvCxnSpPr>
        <p:spPr bwMode="auto">
          <a:xfrm rot="5400000" flipH="1" flipV="1">
            <a:off x="1124559" y="5363976"/>
            <a:ext cx="648866" cy="91283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18 Rectángulo redondeado">
            <a:extLst>
              <a:ext uri="{FF2B5EF4-FFF2-40B4-BE49-F238E27FC236}">
                <a16:creationId xmlns:a16="http://schemas.microsoft.com/office/drawing/2014/main" id="{CE5DDB0F-A369-C7C7-9223-CF529B638D35}"/>
              </a:ext>
            </a:extLst>
          </p:cNvPr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4" name="19 Conector recto">
            <a:extLst>
              <a:ext uri="{FF2B5EF4-FFF2-40B4-BE49-F238E27FC236}">
                <a16:creationId xmlns:a16="http://schemas.microsoft.com/office/drawing/2014/main" id="{7829A5FA-4EF7-07AF-330B-D374FBEB69CC}"/>
              </a:ext>
            </a:extLst>
          </p:cNvPr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14 Rectángulo">
            <a:extLst>
              <a:ext uri="{FF2B5EF4-FFF2-40B4-BE49-F238E27FC236}">
                <a16:creationId xmlns:a16="http://schemas.microsoft.com/office/drawing/2014/main" id="{0220CE4E-20E7-EA9C-8F04-FA18779F8DBD}"/>
              </a:ext>
            </a:extLst>
          </p:cNvPr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6" name="2 Rectángulo">
            <a:extLst>
              <a:ext uri="{FF2B5EF4-FFF2-40B4-BE49-F238E27FC236}">
                <a16:creationId xmlns:a16="http://schemas.microsoft.com/office/drawing/2014/main" id="{FA0B5010-1F47-CD7C-5AC1-ADD76BB553B1}"/>
              </a:ext>
            </a:extLst>
          </p:cNvPr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10 CuadroTexto">
            <a:extLst>
              <a:ext uri="{FF2B5EF4-FFF2-40B4-BE49-F238E27FC236}">
                <a16:creationId xmlns:a16="http://schemas.microsoft.com/office/drawing/2014/main" id="{038F1BE3-EEF5-53E1-B1C3-9B8D61EBB750}"/>
              </a:ext>
            </a:extLst>
          </p:cNvPr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La presentación de un cuadro </a:t>
            </a:r>
          </a:p>
        </p:txBody>
      </p:sp>
    </p:spTree>
    <p:extLst>
      <p:ext uri="{BB962C8B-B14F-4D97-AF65-F5344CB8AC3E}">
        <p14:creationId xmlns:p14="http://schemas.microsoft.com/office/powerpoint/2010/main" val="971939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250825" y="1196752"/>
            <a:ext cx="86423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altLang="es-AR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Veamos la siguiente tabla:</a:t>
            </a:r>
          </a:p>
        </p:txBody>
      </p:sp>
      <p:graphicFrame>
        <p:nvGraphicFramePr>
          <p:cNvPr id="8238" name="Group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125687"/>
              </p:ext>
            </p:extLst>
          </p:nvPr>
        </p:nvGraphicFramePr>
        <p:xfrm>
          <a:off x="804878" y="1768313"/>
          <a:ext cx="6508130" cy="2673689"/>
        </p:xfrm>
        <a:graphic>
          <a:graphicData uri="http://schemas.openxmlformats.org/drawingml/2006/table">
            <a:tbl>
              <a:tblPr/>
              <a:tblGrid>
                <a:gridCol w="284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8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4101">
                <a:tc gridSpan="5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Cuadro 1.</a:t>
                      </a: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 </a:t>
                      </a:r>
                      <a:r>
                        <a:rPr kumimoji="0" lang="es-E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Problemas de empleo según grupos de edad. </a:t>
                      </a:r>
                      <a:br>
                        <a:rPr kumimoji="0" lang="es-E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</a:b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Población de 15 años y más de Honduras, año 2024. Frecuencias absolutas.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5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475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Problemas de empleo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Grupo de edad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Total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05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15 a 29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30 a 44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45 y más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No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 dirty="0">
                          <a:effectLst/>
                          <a:latin typeface="+mj-lt"/>
                        </a:rPr>
                        <a:t>     592.430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 dirty="0">
                          <a:effectLst/>
                          <a:latin typeface="+mj-lt"/>
                        </a:rPr>
                        <a:t>        689.705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 dirty="0">
                          <a:effectLst/>
                          <a:latin typeface="+mj-lt"/>
                        </a:rPr>
                        <a:t>          829.383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 dirty="0">
                          <a:effectLst/>
                          <a:latin typeface="+mj-lt"/>
                        </a:rPr>
                        <a:t>    2.111.519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Sí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 dirty="0">
                          <a:effectLst/>
                          <a:latin typeface="+mj-lt"/>
                        </a:rPr>
                        <a:t>     712.672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 dirty="0">
                          <a:effectLst/>
                          <a:latin typeface="+mj-lt"/>
                        </a:rPr>
                        <a:t>        579.868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 dirty="0">
                          <a:effectLst/>
                          <a:latin typeface="+mj-lt"/>
                        </a:rPr>
                        <a:t>          526.885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 dirty="0">
                          <a:effectLst/>
                          <a:latin typeface="+mj-lt"/>
                        </a:rPr>
                        <a:t>    1.819.425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Total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 dirty="0">
                          <a:effectLst/>
                          <a:latin typeface="+mj-lt"/>
                        </a:rPr>
                        <a:t>  1.305.103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 dirty="0">
                          <a:effectLst/>
                          <a:latin typeface="+mj-lt"/>
                        </a:rPr>
                        <a:t>     1.269.573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 dirty="0">
                          <a:effectLst/>
                          <a:latin typeface="+mj-lt"/>
                        </a:rPr>
                        <a:t>       1.356.268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 dirty="0">
                          <a:effectLst/>
                          <a:latin typeface="+mj-lt"/>
                        </a:rPr>
                        <a:t>    3.930.944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946">
                <a:tc gridSpan="5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300" b="0" i="1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Fuente:</a:t>
                      </a:r>
                      <a:r>
                        <a:rPr kumimoji="0" lang="es-E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 Elaboración propia a partir EPH-PM.</a:t>
                      </a:r>
                      <a:endParaRPr kumimoji="0" lang="es-E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Rectángulo 1"/>
          <p:cNvSpPr/>
          <p:nvPr/>
        </p:nvSpPr>
        <p:spPr>
          <a:xfrm>
            <a:off x="286855" y="5087298"/>
            <a:ext cx="86063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altLang="es-AR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Para posibilitar la interpretación, debemos calcular </a:t>
            </a:r>
            <a:r>
              <a:rPr lang="es-ES" altLang="es-AR" b="1" i="1" dirty="0">
                <a:solidFill>
                  <a:srgbClr val="2A8A85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porcentajes</a:t>
            </a:r>
            <a:r>
              <a:rPr lang="es-ES" altLang="es-AR" b="1" i="1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. </a:t>
            </a:r>
            <a:r>
              <a:rPr lang="es-ES" altLang="es-AR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De acuerdo con cómo se calculen los porcentajes vamos a obtener información diferente sobre la relación entre las variables X e Y. </a:t>
            </a:r>
          </a:p>
        </p:txBody>
      </p:sp>
      <p:sp>
        <p:nvSpPr>
          <p:cNvPr id="3" name="Elipse 2"/>
          <p:cNvSpPr/>
          <p:nvPr/>
        </p:nvSpPr>
        <p:spPr>
          <a:xfrm>
            <a:off x="6300193" y="3149672"/>
            <a:ext cx="1156830" cy="737632"/>
          </a:xfrm>
          <a:prstGeom prst="ellipse">
            <a:avLst/>
          </a:prstGeom>
          <a:noFill/>
          <a:ln>
            <a:solidFill>
              <a:srgbClr val="2A8A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6" name="AutoShape 51"/>
          <p:cNvCxnSpPr>
            <a:cxnSpLocks noChangeShapeType="1"/>
            <a:endCxn id="3" idx="4"/>
          </p:cNvCxnSpPr>
          <p:nvPr/>
        </p:nvCxnSpPr>
        <p:spPr bwMode="auto">
          <a:xfrm flipV="1">
            <a:off x="6588224" y="3887304"/>
            <a:ext cx="290384" cy="576656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D881FCD-F1FA-4926-A663-8110D654E879}"/>
              </a:ext>
            </a:extLst>
          </p:cNvPr>
          <p:cNvSpPr txBox="1"/>
          <p:nvPr/>
        </p:nvSpPr>
        <p:spPr>
          <a:xfrm>
            <a:off x="5886553" y="4463960"/>
            <a:ext cx="1296144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sz="1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Frecuencias marginales</a:t>
            </a:r>
          </a:p>
        </p:txBody>
      </p:sp>
      <p:cxnSp>
        <p:nvCxnSpPr>
          <p:cNvPr id="20" name="AutoShape 51"/>
          <p:cNvCxnSpPr>
            <a:cxnSpLocks noChangeShapeType="1"/>
            <a:endCxn id="22" idx="4"/>
          </p:cNvCxnSpPr>
          <p:nvPr/>
        </p:nvCxnSpPr>
        <p:spPr bwMode="auto">
          <a:xfrm flipH="1" flipV="1">
            <a:off x="4955310" y="4197002"/>
            <a:ext cx="859235" cy="61433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Elipse 21"/>
          <p:cNvSpPr/>
          <p:nvPr/>
        </p:nvSpPr>
        <p:spPr>
          <a:xfrm>
            <a:off x="3461708" y="3825047"/>
            <a:ext cx="2987204" cy="371955"/>
          </a:xfrm>
          <a:prstGeom prst="ellipse">
            <a:avLst/>
          </a:prstGeom>
          <a:noFill/>
          <a:ln>
            <a:solidFill>
              <a:srgbClr val="2A8A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D881FCD-F1FA-4926-A663-8110D654E879}"/>
              </a:ext>
            </a:extLst>
          </p:cNvPr>
          <p:cNvSpPr txBox="1"/>
          <p:nvPr/>
        </p:nvSpPr>
        <p:spPr>
          <a:xfrm>
            <a:off x="7529032" y="2361790"/>
            <a:ext cx="1296144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sz="1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Frecuencias condicionales</a:t>
            </a:r>
          </a:p>
        </p:txBody>
      </p:sp>
      <p:cxnSp>
        <p:nvCxnSpPr>
          <p:cNvPr id="24" name="AutoShape 51"/>
          <p:cNvCxnSpPr>
            <a:cxnSpLocks noChangeShapeType="1"/>
          </p:cNvCxnSpPr>
          <p:nvPr/>
        </p:nvCxnSpPr>
        <p:spPr bwMode="auto">
          <a:xfrm flipH="1">
            <a:off x="5508104" y="2709162"/>
            <a:ext cx="1948921" cy="791276"/>
          </a:xfrm>
          <a:prstGeom prst="straightConnector1">
            <a:avLst/>
          </a:prstGeom>
          <a:noFill/>
          <a:ln w="9525">
            <a:solidFill>
              <a:srgbClr val="7030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18 Rectángulo redondeado">
            <a:extLst>
              <a:ext uri="{FF2B5EF4-FFF2-40B4-BE49-F238E27FC236}">
                <a16:creationId xmlns:a16="http://schemas.microsoft.com/office/drawing/2014/main" id="{3C3D8E33-D190-088F-4038-634BB47304D3}"/>
              </a:ext>
            </a:extLst>
          </p:cNvPr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6" name="19 Conector recto">
            <a:extLst>
              <a:ext uri="{FF2B5EF4-FFF2-40B4-BE49-F238E27FC236}">
                <a16:creationId xmlns:a16="http://schemas.microsoft.com/office/drawing/2014/main" id="{E741F149-1076-AFD0-9A96-5EA24236AC7A}"/>
              </a:ext>
            </a:extLst>
          </p:cNvPr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14 Rectángulo">
            <a:extLst>
              <a:ext uri="{FF2B5EF4-FFF2-40B4-BE49-F238E27FC236}">
                <a16:creationId xmlns:a16="http://schemas.microsoft.com/office/drawing/2014/main" id="{825F1C83-AC96-7DDC-664D-D5B9C12FA778}"/>
              </a:ext>
            </a:extLst>
          </p:cNvPr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9" name="2 Rectángulo">
            <a:extLst>
              <a:ext uri="{FF2B5EF4-FFF2-40B4-BE49-F238E27FC236}">
                <a16:creationId xmlns:a16="http://schemas.microsoft.com/office/drawing/2014/main" id="{4F87184A-EF5F-504B-7F84-3CF7B340E026}"/>
              </a:ext>
            </a:extLst>
          </p:cNvPr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10 CuadroTexto">
            <a:extLst>
              <a:ext uri="{FF2B5EF4-FFF2-40B4-BE49-F238E27FC236}">
                <a16:creationId xmlns:a16="http://schemas.microsoft.com/office/drawing/2014/main" id="{B706190C-293E-8CAC-B55D-CF2D8306261B}"/>
              </a:ext>
            </a:extLst>
          </p:cNvPr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El cálculo de porcentajes</a:t>
            </a:r>
          </a:p>
        </p:txBody>
      </p:sp>
    </p:spTree>
    <p:extLst>
      <p:ext uri="{BB962C8B-B14F-4D97-AF65-F5344CB8AC3E}">
        <p14:creationId xmlns:p14="http://schemas.microsoft.com/office/powerpoint/2010/main" val="1277517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19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97404" y="1246070"/>
            <a:ext cx="8606318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altLang="es-AR" sz="18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Hay tres formas de calcular los porcentajes: por </a:t>
            </a:r>
            <a:r>
              <a:rPr lang="es-ES" altLang="es-AR" sz="1800" b="1" i="1" dirty="0">
                <a:solidFill>
                  <a:srgbClr val="2A8A85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fila</a:t>
            </a:r>
            <a:r>
              <a:rPr lang="es-ES" altLang="es-AR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es-ES" altLang="es-AR" sz="18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 nivel de </a:t>
            </a:r>
            <a:r>
              <a:rPr lang="es-ES" altLang="es-AR" sz="1800" b="1" i="1" dirty="0">
                <a:solidFill>
                  <a:srgbClr val="2A8A85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total</a:t>
            </a:r>
            <a:r>
              <a:rPr lang="es-ES" altLang="es-AR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s-ES" altLang="es-AR" sz="18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y por </a:t>
            </a:r>
            <a:r>
              <a:rPr lang="es-ES" altLang="es-AR" sz="1800" b="1" i="1" dirty="0">
                <a:solidFill>
                  <a:srgbClr val="2A8A85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columna</a:t>
            </a:r>
            <a:r>
              <a:rPr lang="es-ES" altLang="es-AR" sz="1800" dirty="0">
                <a:solidFill>
                  <a:schemeClr val="accent2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.</a:t>
            </a:r>
            <a:endParaRPr lang="es-ES" altLang="es-AR" sz="18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altLang="es-AR" sz="18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altLang="es-AR" sz="18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Cada una de estas formas nos dice algo diferente: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altLang="es-AR" sz="18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1028700" lvl="1" algn="just">
              <a:buFont typeface="Arial" panose="020B0604020202020204" pitchFamily="34" charset="0"/>
              <a:buChar char="•"/>
            </a:pPr>
            <a:r>
              <a:rPr lang="es-ES" altLang="es-AR" sz="1800" b="1" i="1" dirty="0">
                <a:solidFill>
                  <a:srgbClr val="2A8A85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Fila</a:t>
            </a:r>
            <a:r>
              <a:rPr lang="es-ES" altLang="es-AR" sz="18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: análisis de perfiles o características poblacionales.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r>
              <a:rPr lang="es-ES" altLang="es-AR" sz="1800" b="1" i="1" dirty="0">
                <a:solidFill>
                  <a:srgbClr val="2A8A85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Total</a:t>
            </a:r>
            <a:r>
              <a:rPr lang="es-ES" altLang="es-AR" sz="18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: </a:t>
            </a:r>
            <a:r>
              <a:rPr lang="es-AR" altLang="es-AR" sz="18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análisis descriptivo de grupos o segmentos de población</a:t>
            </a:r>
            <a:r>
              <a:rPr lang="es-ES" altLang="es-AR" sz="18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.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r>
              <a:rPr lang="es-ES" altLang="es-AR" sz="1800" b="1" i="1" dirty="0">
                <a:solidFill>
                  <a:srgbClr val="2A8A85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Columna</a:t>
            </a:r>
            <a:r>
              <a:rPr lang="es-ES" altLang="es-AR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s-ES" altLang="es-AR" sz="18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: análisis de asociación entre variables.</a:t>
            </a: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es-ES" altLang="es-AR" sz="18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1028700" lvl="1" algn="just">
              <a:buFont typeface="Arial" panose="020B0604020202020204" pitchFamily="34" charset="0"/>
              <a:buChar char="•"/>
            </a:pPr>
            <a:endParaRPr lang="es-ES" altLang="es-AR" sz="18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18 Rectángulo redondeado">
            <a:extLst>
              <a:ext uri="{FF2B5EF4-FFF2-40B4-BE49-F238E27FC236}">
                <a16:creationId xmlns:a16="http://schemas.microsoft.com/office/drawing/2014/main" id="{38B4D84B-8405-0980-B3DD-53A29EEB06BC}"/>
              </a:ext>
            </a:extLst>
          </p:cNvPr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5" name="19 Conector recto">
            <a:extLst>
              <a:ext uri="{FF2B5EF4-FFF2-40B4-BE49-F238E27FC236}">
                <a16:creationId xmlns:a16="http://schemas.microsoft.com/office/drawing/2014/main" id="{E8C92457-C14A-3054-7996-D4DB4E0AAFB5}"/>
              </a:ext>
            </a:extLst>
          </p:cNvPr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14 Rectángulo">
            <a:extLst>
              <a:ext uri="{FF2B5EF4-FFF2-40B4-BE49-F238E27FC236}">
                <a16:creationId xmlns:a16="http://schemas.microsoft.com/office/drawing/2014/main" id="{7C0A36E5-BF85-D6B1-9523-2C02DCDD7425}"/>
              </a:ext>
            </a:extLst>
          </p:cNvPr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7" name="2 Rectángulo">
            <a:extLst>
              <a:ext uri="{FF2B5EF4-FFF2-40B4-BE49-F238E27FC236}">
                <a16:creationId xmlns:a16="http://schemas.microsoft.com/office/drawing/2014/main" id="{C364B857-DDC3-4E34-776C-E376780FC8A5}"/>
              </a:ext>
            </a:extLst>
          </p:cNvPr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10 CuadroTexto">
            <a:extLst>
              <a:ext uri="{FF2B5EF4-FFF2-40B4-BE49-F238E27FC236}">
                <a16:creationId xmlns:a16="http://schemas.microsoft.com/office/drawing/2014/main" id="{F604BFF0-3D1E-EF43-6E22-E39ADDAF6632}"/>
              </a:ext>
            </a:extLst>
          </p:cNvPr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El cálculo de porcentajes</a:t>
            </a:r>
          </a:p>
        </p:txBody>
      </p:sp>
    </p:spTree>
    <p:extLst>
      <p:ext uri="{BB962C8B-B14F-4D97-AF65-F5344CB8AC3E}">
        <p14:creationId xmlns:p14="http://schemas.microsoft.com/office/powerpoint/2010/main" val="1495732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864604A8-0145-6CFE-D565-2B63FB387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534419"/>
              </p:ext>
            </p:extLst>
          </p:nvPr>
        </p:nvGraphicFramePr>
        <p:xfrm>
          <a:off x="395288" y="1679689"/>
          <a:ext cx="3600400" cy="1381428"/>
        </p:xfrm>
        <a:graphic>
          <a:graphicData uri="http://schemas.openxmlformats.org/drawingml/2006/table">
            <a:tbl>
              <a:tblPr/>
              <a:tblGrid>
                <a:gridCol w="864096">
                  <a:extLst>
                    <a:ext uri="{9D8B030D-6E8A-4147-A177-3AD203B41FA5}">
                      <a16:colId xmlns:a16="http://schemas.microsoft.com/office/drawing/2014/main" val="334407215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26606969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8116789"/>
                    </a:ext>
                  </a:extLst>
                </a:gridCol>
                <a:gridCol w="734447">
                  <a:extLst>
                    <a:ext uri="{9D8B030D-6E8A-4147-A177-3AD203B41FA5}">
                      <a16:colId xmlns:a16="http://schemas.microsoft.com/office/drawing/2014/main" val="2322669200"/>
                    </a:ext>
                  </a:extLst>
                </a:gridCol>
                <a:gridCol w="633705">
                  <a:extLst>
                    <a:ext uri="{9D8B030D-6E8A-4147-A177-3AD203B41FA5}">
                      <a16:colId xmlns:a16="http://schemas.microsoft.com/office/drawing/2014/main" val="3878582287"/>
                    </a:ext>
                  </a:extLst>
                </a:gridCol>
              </a:tblGrid>
              <a:tr h="106475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Problemas de empleo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Grupo de edad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Total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551952"/>
                  </a:ext>
                </a:extLst>
              </a:tr>
              <a:tr h="30205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15 a 29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30 a 44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45 y más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899584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No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 592.430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    689.705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      829.383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2.111.519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491771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Sí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 712.672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    579.868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      526.885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1.819.425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820760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Total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1.305.103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 1.269.573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   1.356.268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3.930.944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81551"/>
                  </a:ext>
                </a:extLst>
              </a:tr>
            </a:tbl>
          </a:graphicData>
        </a:graphic>
      </p:graphicFrame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468312" y="4437112"/>
            <a:ext cx="82073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Por regla general, el cálculo de los porcentajes suele hacerse en la dirección de la variable independiente. Es decir, con “100%” en cada una de las columnas. 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467544" y="5108978"/>
            <a:ext cx="8207375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Es la lectura que hacemos cuando buscamos comprobar la hipótesis y analizar la relación entre las variables.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7BC7601-C64A-4655-9C51-A62269071A0E}"/>
              </a:ext>
            </a:extLst>
          </p:cNvPr>
          <p:cNvSpPr txBox="1"/>
          <p:nvPr/>
        </p:nvSpPr>
        <p:spPr>
          <a:xfrm>
            <a:off x="1346329" y="3661691"/>
            <a:ext cx="3235805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sz="1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% de 18 a 30 que </a:t>
            </a:r>
            <a:r>
              <a:rPr lang="es-AR" sz="1200" i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tiene </a:t>
            </a:r>
            <a:r>
              <a:rPr lang="es-AR" sz="1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problemas de empleo</a:t>
            </a:r>
            <a:br>
              <a:rPr lang="es-AR" sz="1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r>
              <a:rPr lang="es-AR" sz="1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712.672/1.305.103*100=</a:t>
            </a:r>
            <a:r>
              <a:rPr lang="es-AR" sz="12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54,6%</a:t>
            </a:r>
          </a:p>
        </p:txBody>
      </p:sp>
      <p:cxnSp>
        <p:nvCxnSpPr>
          <p:cNvPr id="23" name="AutoShape 51">
            <a:extLst>
              <a:ext uri="{FF2B5EF4-FFF2-40B4-BE49-F238E27FC236}">
                <a16:creationId xmlns:a16="http://schemas.microsoft.com/office/drawing/2014/main" id="{2A49AFFC-5051-4E81-AA85-49AC6053750B}"/>
              </a:ext>
            </a:extLst>
          </p:cNvPr>
          <p:cNvCxnSpPr>
            <a:cxnSpLocks noChangeShapeType="1"/>
            <a:stCxn id="22" idx="0"/>
            <a:endCxn id="24" idx="5"/>
          </p:cNvCxnSpPr>
          <p:nvPr/>
        </p:nvCxnSpPr>
        <p:spPr bwMode="auto">
          <a:xfrm flipH="1" flipV="1">
            <a:off x="1874417" y="2723888"/>
            <a:ext cx="1089815" cy="93780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Elipse 23">
            <a:extLst>
              <a:ext uri="{FF2B5EF4-FFF2-40B4-BE49-F238E27FC236}">
                <a16:creationId xmlns:a16="http://schemas.microsoft.com/office/drawing/2014/main" id="{D363C48C-A5C6-4CEC-9BD4-AC8BC002C49B}"/>
              </a:ext>
            </a:extLst>
          </p:cNvPr>
          <p:cNvSpPr/>
          <p:nvPr/>
        </p:nvSpPr>
        <p:spPr>
          <a:xfrm>
            <a:off x="1346330" y="2491605"/>
            <a:ext cx="618692" cy="272137"/>
          </a:xfrm>
          <a:prstGeom prst="ellipse">
            <a:avLst/>
          </a:prstGeom>
          <a:noFill/>
          <a:ln>
            <a:solidFill>
              <a:srgbClr val="2A8A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5" name="AutoShape 51">
            <a:extLst>
              <a:ext uri="{FF2B5EF4-FFF2-40B4-BE49-F238E27FC236}">
                <a16:creationId xmlns:a16="http://schemas.microsoft.com/office/drawing/2014/main" id="{A0ED6ACA-84E9-45F4-9AB1-16E1BA5C1CCC}"/>
              </a:ext>
            </a:extLst>
          </p:cNvPr>
          <p:cNvCxnSpPr>
            <a:cxnSpLocks noChangeShapeType="1"/>
            <a:stCxn id="22" idx="0"/>
            <a:endCxn id="26" idx="5"/>
          </p:cNvCxnSpPr>
          <p:nvPr/>
        </p:nvCxnSpPr>
        <p:spPr bwMode="auto">
          <a:xfrm flipH="1" flipV="1">
            <a:off x="1874415" y="2996025"/>
            <a:ext cx="1089817" cy="665666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Elipse 25">
            <a:extLst>
              <a:ext uri="{FF2B5EF4-FFF2-40B4-BE49-F238E27FC236}">
                <a16:creationId xmlns:a16="http://schemas.microsoft.com/office/drawing/2014/main" id="{3ED9A1BC-AB18-490B-9AB1-B33B6E682D57}"/>
              </a:ext>
            </a:extLst>
          </p:cNvPr>
          <p:cNvSpPr/>
          <p:nvPr/>
        </p:nvSpPr>
        <p:spPr>
          <a:xfrm>
            <a:off x="1346329" y="2763742"/>
            <a:ext cx="618691" cy="272136"/>
          </a:xfrm>
          <a:prstGeom prst="ellipse">
            <a:avLst/>
          </a:prstGeom>
          <a:noFill/>
          <a:ln>
            <a:solidFill>
              <a:srgbClr val="2A8A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18 Rectángulo redondeado">
            <a:extLst>
              <a:ext uri="{FF2B5EF4-FFF2-40B4-BE49-F238E27FC236}">
                <a16:creationId xmlns:a16="http://schemas.microsoft.com/office/drawing/2014/main" id="{4CBED203-4299-76BE-F864-BDF75433AF68}"/>
              </a:ext>
            </a:extLst>
          </p:cNvPr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4" name="19 Conector recto">
            <a:extLst>
              <a:ext uri="{FF2B5EF4-FFF2-40B4-BE49-F238E27FC236}">
                <a16:creationId xmlns:a16="http://schemas.microsoft.com/office/drawing/2014/main" id="{23A7D73C-0B9A-C21A-93CF-77E7348C04A2}"/>
              </a:ext>
            </a:extLst>
          </p:cNvPr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14 Rectángulo">
            <a:extLst>
              <a:ext uri="{FF2B5EF4-FFF2-40B4-BE49-F238E27FC236}">
                <a16:creationId xmlns:a16="http://schemas.microsoft.com/office/drawing/2014/main" id="{55774458-E4C7-EE0E-7A28-911C29D2BC11}"/>
              </a:ext>
            </a:extLst>
          </p:cNvPr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6" name="2 Rectángulo">
            <a:extLst>
              <a:ext uri="{FF2B5EF4-FFF2-40B4-BE49-F238E27FC236}">
                <a16:creationId xmlns:a16="http://schemas.microsoft.com/office/drawing/2014/main" id="{FFEEB55D-B971-5ACF-6D2C-AC92E9B65C95}"/>
              </a:ext>
            </a:extLst>
          </p:cNvPr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10 CuadroTexto">
            <a:extLst>
              <a:ext uri="{FF2B5EF4-FFF2-40B4-BE49-F238E27FC236}">
                <a16:creationId xmlns:a16="http://schemas.microsoft.com/office/drawing/2014/main" id="{0812E223-B7D2-82BC-F1ED-311952D90632}"/>
              </a:ext>
            </a:extLst>
          </p:cNvPr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El cálculo de porcentajes</a:t>
            </a:r>
          </a:p>
        </p:txBody>
      </p:sp>
      <p:graphicFrame>
        <p:nvGraphicFramePr>
          <p:cNvPr id="32" name="Tabla 31">
            <a:extLst>
              <a:ext uri="{FF2B5EF4-FFF2-40B4-BE49-F238E27FC236}">
                <a16:creationId xmlns:a16="http://schemas.microsoft.com/office/drawing/2014/main" id="{B59C876F-2A24-55F1-F5C5-93FD44388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190479"/>
              </p:ext>
            </p:extLst>
          </p:nvPr>
        </p:nvGraphicFramePr>
        <p:xfrm>
          <a:off x="4644008" y="1685881"/>
          <a:ext cx="3600400" cy="1381428"/>
        </p:xfrm>
        <a:graphic>
          <a:graphicData uri="http://schemas.openxmlformats.org/drawingml/2006/table">
            <a:tbl>
              <a:tblPr/>
              <a:tblGrid>
                <a:gridCol w="864096">
                  <a:extLst>
                    <a:ext uri="{9D8B030D-6E8A-4147-A177-3AD203B41FA5}">
                      <a16:colId xmlns:a16="http://schemas.microsoft.com/office/drawing/2014/main" val="334407215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26606969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8116789"/>
                    </a:ext>
                  </a:extLst>
                </a:gridCol>
                <a:gridCol w="734447">
                  <a:extLst>
                    <a:ext uri="{9D8B030D-6E8A-4147-A177-3AD203B41FA5}">
                      <a16:colId xmlns:a16="http://schemas.microsoft.com/office/drawing/2014/main" val="2322669200"/>
                    </a:ext>
                  </a:extLst>
                </a:gridCol>
                <a:gridCol w="633705">
                  <a:extLst>
                    <a:ext uri="{9D8B030D-6E8A-4147-A177-3AD203B41FA5}">
                      <a16:colId xmlns:a16="http://schemas.microsoft.com/office/drawing/2014/main" val="3878582287"/>
                    </a:ext>
                  </a:extLst>
                </a:gridCol>
              </a:tblGrid>
              <a:tr h="106475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Problemas de empleo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Grupo de edad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Total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551952"/>
                  </a:ext>
                </a:extLst>
              </a:tr>
              <a:tr h="30205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15 a 29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30 a 44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45 y más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899584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No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050" b="0" i="0" u="none" strike="noStrike" dirty="0">
                          <a:effectLst/>
                          <a:latin typeface="+mj-lt"/>
                        </a:rPr>
                        <a:t>45.4%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050" b="0" i="0" u="none" strike="noStrike" dirty="0">
                          <a:effectLst/>
                          <a:latin typeface="+mj-lt"/>
                        </a:rPr>
                        <a:t>54.3%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050" b="0" i="0" u="none" strike="noStrike">
                          <a:effectLst/>
                          <a:latin typeface="+mj-lt"/>
                        </a:rPr>
                        <a:t>61.2%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050" b="0" i="0" u="none" strike="noStrike">
                          <a:effectLst/>
                          <a:latin typeface="+mj-lt"/>
                        </a:rPr>
                        <a:t>53.7%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491771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Sí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050" b="0" i="0" u="none" strike="noStrike" dirty="0">
                          <a:effectLst/>
                          <a:latin typeface="+mj-lt"/>
                        </a:rPr>
                        <a:t>54.6%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050" b="0" i="0" u="none" strike="noStrike" dirty="0">
                          <a:effectLst/>
                          <a:latin typeface="+mj-lt"/>
                        </a:rPr>
                        <a:t>45.7%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050" b="0" i="0" u="none" strike="noStrike" dirty="0">
                          <a:effectLst/>
                          <a:latin typeface="+mj-lt"/>
                        </a:rPr>
                        <a:t>38.8%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050" b="0" i="0" u="none" strike="noStrike">
                          <a:effectLst/>
                          <a:latin typeface="+mj-lt"/>
                        </a:rPr>
                        <a:t>46.3%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820760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Total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050" b="1" i="0" u="none" strike="noStrike" dirty="0">
                          <a:effectLst/>
                          <a:latin typeface="+mj-lt"/>
                        </a:rPr>
                        <a:t>100.0%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050" b="1" i="0" u="none" strike="noStrike" dirty="0">
                          <a:effectLst/>
                          <a:latin typeface="+mj-lt"/>
                        </a:rPr>
                        <a:t>100.0%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050" b="1" i="0" u="none" strike="noStrike" dirty="0">
                          <a:effectLst/>
                          <a:latin typeface="+mj-lt"/>
                        </a:rPr>
                        <a:t>100.0%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050" b="1" i="0" u="none" strike="noStrike" dirty="0">
                          <a:effectLst/>
                          <a:latin typeface="+mj-lt"/>
                        </a:rPr>
                        <a:t>100.0%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81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1770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2E0A35C4-0AE1-68C2-53B0-05598E343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279854"/>
              </p:ext>
            </p:extLst>
          </p:nvPr>
        </p:nvGraphicFramePr>
        <p:xfrm>
          <a:off x="672437" y="1604458"/>
          <a:ext cx="3600400" cy="1381428"/>
        </p:xfrm>
        <a:graphic>
          <a:graphicData uri="http://schemas.openxmlformats.org/drawingml/2006/table">
            <a:tbl>
              <a:tblPr/>
              <a:tblGrid>
                <a:gridCol w="864096">
                  <a:extLst>
                    <a:ext uri="{9D8B030D-6E8A-4147-A177-3AD203B41FA5}">
                      <a16:colId xmlns:a16="http://schemas.microsoft.com/office/drawing/2014/main" val="334407215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26606969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8116789"/>
                    </a:ext>
                  </a:extLst>
                </a:gridCol>
                <a:gridCol w="734447">
                  <a:extLst>
                    <a:ext uri="{9D8B030D-6E8A-4147-A177-3AD203B41FA5}">
                      <a16:colId xmlns:a16="http://schemas.microsoft.com/office/drawing/2014/main" val="2322669200"/>
                    </a:ext>
                  </a:extLst>
                </a:gridCol>
                <a:gridCol w="633705">
                  <a:extLst>
                    <a:ext uri="{9D8B030D-6E8A-4147-A177-3AD203B41FA5}">
                      <a16:colId xmlns:a16="http://schemas.microsoft.com/office/drawing/2014/main" val="3878582287"/>
                    </a:ext>
                  </a:extLst>
                </a:gridCol>
              </a:tblGrid>
              <a:tr h="106475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Problemas de empleo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Grupo de edad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Total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551952"/>
                  </a:ext>
                </a:extLst>
              </a:tr>
              <a:tr h="30205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15 a 29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30 a 44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45 y más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899584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No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 592.430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    689.705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      829.383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2.111.519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491771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Sí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 712.672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    579.868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      526.885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1.819.425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820760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Total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1.305.103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 1.269.573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   1.356.268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3.930.944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81551"/>
                  </a:ext>
                </a:extLst>
              </a:tr>
            </a:tbl>
          </a:graphicData>
        </a:graphic>
      </p:graphicFrame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250826" y="4437112"/>
            <a:ext cx="86423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La lectura por filas nos dice otra cosa: cómo se “compone” la población en términos de la variable independiente.</a:t>
            </a:r>
          </a:p>
        </p:txBody>
      </p:sp>
      <p:cxnSp>
        <p:nvCxnSpPr>
          <p:cNvPr id="16" name="AutoShape 51">
            <a:extLst>
              <a:ext uri="{FF2B5EF4-FFF2-40B4-BE49-F238E27FC236}">
                <a16:creationId xmlns:a16="http://schemas.microsoft.com/office/drawing/2014/main" id="{F7566AD0-16B8-499E-8D7D-7A7C0390EE3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267744" y="2685649"/>
            <a:ext cx="288032" cy="63708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Elipse 16">
            <a:extLst>
              <a:ext uri="{FF2B5EF4-FFF2-40B4-BE49-F238E27FC236}">
                <a16:creationId xmlns:a16="http://schemas.microsoft.com/office/drawing/2014/main" id="{AA9BEA84-62DC-4DE9-929D-A0F11980D0B5}"/>
              </a:ext>
            </a:extLst>
          </p:cNvPr>
          <p:cNvSpPr/>
          <p:nvPr/>
        </p:nvSpPr>
        <p:spPr>
          <a:xfrm>
            <a:off x="2267744" y="2401060"/>
            <a:ext cx="648072" cy="284590"/>
          </a:xfrm>
          <a:prstGeom prst="ellipse">
            <a:avLst/>
          </a:prstGeom>
          <a:noFill/>
          <a:ln>
            <a:solidFill>
              <a:srgbClr val="2A8A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8" name="AutoShape 51">
            <a:extLst>
              <a:ext uri="{FF2B5EF4-FFF2-40B4-BE49-F238E27FC236}">
                <a16:creationId xmlns:a16="http://schemas.microsoft.com/office/drawing/2014/main" id="{CAD2C84B-1AE6-49E0-92C7-99894880EFFA}"/>
              </a:ext>
            </a:extLst>
          </p:cNvPr>
          <p:cNvCxnSpPr>
            <a:cxnSpLocks noChangeShapeType="1"/>
            <a:endCxn id="19" idx="3"/>
          </p:cNvCxnSpPr>
          <p:nvPr/>
        </p:nvCxnSpPr>
        <p:spPr bwMode="auto">
          <a:xfrm flipV="1">
            <a:off x="2267744" y="2633342"/>
            <a:ext cx="1535067" cy="68938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Elipse 18">
            <a:extLst>
              <a:ext uri="{FF2B5EF4-FFF2-40B4-BE49-F238E27FC236}">
                <a16:creationId xmlns:a16="http://schemas.microsoft.com/office/drawing/2014/main" id="{6F872B00-E8E4-4E9C-B43C-84C5AB2A8942}"/>
              </a:ext>
            </a:extLst>
          </p:cNvPr>
          <p:cNvSpPr/>
          <p:nvPr/>
        </p:nvSpPr>
        <p:spPr>
          <a:xfrm>
            <a:off x="3707903" y="2401059"/>
            <a:ext cx="648071" cy="272136"/>
          </a:xfrm>
          <a:prstGeom prst="ellipse">
            <a:avLst/>
          </a:prstGeom>
          <a:noFill/>
          <a:ln>
            <a:solidFill>
              <a:srgbClr val="2A8A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6970595-0570-4893-A6C2-2D8480F1D4BF}"/>
              </a:ext>
            </a:extLst>
          </p:cNvPr>
          <p:cNvSpPr txBox="1"/>
          <p:nvPr/>
        </p:nvSpPr>
        <p:spPr>
          <a:xfrm>
            <a:off x="1148941" y="3344758"/>
            <a:ext cx="3207033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sz="1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% de </a:t>
            </a:r>
            <a:r>
              <a:rPr lang="es-AR" sz="1200" i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los que tienen problemas de empleo </a:t>
            </a:r>
            <a:r>
              <a:rPr lang="es-AR" sz="1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y tienen 30 a 44 años: 579.868 /1.819.425 </a:t>
            </a:r>
          </a:p>
          <a:p>
            <a:pPr algn="ctr"/>
            <a:r>
              <a:rPr lang="es-AR" sz="1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*100=</a:t>
            </a:r>
            <a:r>
              <a:rPr lang="es-AR" sz="12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39,2%</a:t>
            </a:r>
          </a:p>
        </p:txBody>
      </p:sp>
      <p:sp>
        <p:nvSpPr>
          <p:cNvPr id="3" name="18 Rectángulo redondeado">
            <a:extLst>
              <a:ext uri="{FF2B5EF4-FFF2-40B4-BE49-F238E27FC236}">
                <a16:creationId xmlns:a16="http://schemas.microsoft.com/office/drawing/2014/main" id="{6BA754E1-41BC-FF07-5048-35DFF4CEB862}"/>
              </a:ext>
            </a:extLst>
          </p:cNvPr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4" name="19 Conector recto">
            <a:extLst>
              <a:ext uri="{FF2B5EF4-FFF2-40B4-BE49-F238E27FC236}">
                <a16:creationId xmlns:a16="http://schemas.microsoft.com/office/drawing/2014/main" id="{1221F57F-E9FA-801C-616B-AC86905C4235}"/>
              </a:ext>
            </a:extLst>
          </p:cNvPr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14 Rectángulo">
            <a:extLst>
              <a:ext uri="{FF2B5EF4-FFF2-40B4-BE49-F238E27FC236}">
                <a16:creationId xmlns:a16="http://schemas.microsoft.com/office/drawing/2014/main" id="{5074CE4B-9383-07F0-A81E-E33AC6A4C09F}"/>
              </a:ext>
            </a:extLst>
          </p:cNvPr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6" name="2 Rectángulo">
            <a:extLst>
              <a:ext uri="{FF2B5EF4-FFF2-40B4-BE49-F238E27FC236}">
                <a16:creationId xmlns:a16="http://schemas.microsoft.com/office/drawing/2014/main" id="{86C6E904-5992-E39E-3D19-7EFB4D2C183F}"/>
              </a:ext>
            </a:extLst>
          </p:cNvPr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10 CuadroTexto">
            <a:extLst>
              <a:ext uri="{FF2B5EF4-FFF2-40B4-BE49-F238E27FC236}">
                <a16:creationId xmlns:a16="http://schemas.microsoft.com/office/drawing/2014/main" id="{A4ECECC0-28AD-0A6F-6027-D237D7092716}"/>
              </a:ext>
            </a:extLst>
          </p:cNvPr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El cálculo de porcentajes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21830CD3-17CB-A189-C1A1-E6DB396AA0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631522"/>
              </p:ext>
            </p:extLst>
          </p:nvPr>
        </p:nvGraphicFramePr>
        <p:xfrm>
          <a:off x="4788028" y="1586322"/>
          <a:ext cx="3600400" cy="1381428"/>
        </p:xfrm>
        <a:graphic>
          <a:graphicData uri="http://schemas.openxmlformats.org/drawingml/2006/table">
            <a:tbl>
              <a:tblPr/>
              <a:tblGrid>
                <a:gridCol w="864096">
                  <a:extLst>
                    <a:ext uri="{9D8B030D-6E8A-4147-A177-3AD203B41FA5}">
                      <a16:colId xmlns:a16="http://schemas.microsoft.com/office/drawing/2014/main" val="334407215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26606969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8116789"/>
                    </a:ext>
                  </a:extLst>
                </a:gridCol>
                <a:gridCol w="734447">
                  <a:extLst>
                    <a:ext uri="{9D8B030D-6E8A-4147-A177-3AD203B41FA5}">
                      <a16:colId xmlns:a16="http://schemas.microsoft.com/office/drawing/2014/main" val="2322669200"/>
                    </a:ext>
                  </a:extLst>
                </a:gridCol>
                <a:gridCol w="633705">
                  <a:extLst>
                    <a:ext uri="{9D8B030D-6E8A-4147-A177-3AD203B41FA5}">
                      <a16:colId xmlns:a16="http://schemas.microsoft.com/office/drawing/2014/main" val="3878582287"/>
                    </a:ext>
                  </a:extLst>
                </a:gridCol>
              </a:tblGrid>
              <a:tr h="106475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Problemas de empleo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Grupo de edad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Total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551952"/>
                  </a:ext>
                </a:extLst>
              </a:tr>
              <a:tr h="30205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15 a 29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30 a 44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45 y más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899584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No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AR" sz="1100" b="0" i="0" u="none" strike="noStrike">
                          <a:effectLst/>
                          <a:latin typeface="+mj-lt"/>
                        </a:rPr>
                        <a:t>28.1%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AR" sz="1100" b="0" i="0" u="none" strike="noStrike" dirty="0">
                          <a:effectLst/>
                          <a:latin typeface="+mj-lt"/>
                        </a:rPr>
                        <a:t>32.7%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AR" sz="1100" b="0" i="0" u="none" strike="noStrike">
                          <a:effectLst/>
                          <a:latin typeface="+mj-lt"/>
                        </a:rPr>
                        <a:t>39.3%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AR" sz="1100" b="1" i="0" u="none" strike="noStrike" dirty="0">
                          <a:effectLst/>
                          <a:latin typeface="+mj-lt"/>
                        </a:rPr>
                        <a:t>100.0%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491771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Sí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AR" sz="1100" b="0" i="0" u="none" strike="noStrike">
                          <a:effectLst/>
                          <a:latin typeface="+mj-lt"/>
                        </a:rPr>
                        <a:t>39.2%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AR" sz="1100" b="0" i="0" u="none" strike="noStrike">
                          <a:effectLst/>
                          <a:latin typeface="+mj-lt"/>
                        </a:rPr>
                        <a:t>31.9%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AR" sz="1100" b="0" i="0" u="none" strike="noStrike">
                          <a:effectLst/>
                          <a:latin typeface="+mj-lt"/>
                        </a:rPr>
                        <a:t>29.0%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AR" sz="1100" b="1" i="0" u="none" strike="noStrike" dirty="0">
                          <a:effectLst/>
                          <a:latin typeface="+mj-lt"/>
                        </a:rPr>
                        <a:t>100.0%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820760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Total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AR" sz="1100" b="0" i="0" u="none" strike="noStrike">
                          <a:effectLst/>
                          <a:latin typeface="+mj-lt"/>
                        </a:rPr>
                        <a:t>33.2%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AR" sz="1100" b="0" i="0" u="none" strike="noStrike">
                          <a:effectLst/>
                          <a:latin typeface="+mj-lt"/>
                        </a:rPr>
                        <a:t>32.3%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AR" sz="1100" b="0" i="0" u="none" strike="noStrike">
                          <a:effectLst/>
                          <a:latin typeface="+mj-lt"/>
                        </a:rPr>
                        <a:t>34.5%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AR" sz="1100" b="1" i="0" u="none" strike="noStrike" dirty="0">
                          <a:effectLst/>
                          <a:latin typeface="+mj-lt"/>
                        </a:rPr>
                        <a:t>100.0%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81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6813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3FC6CDD9-D91E-DFD0-651B-ADF55D3AD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216769"/>
              </p:ext>
            </p:extLst>
          </p:nvPr>
        </p:nvGraphicFramePr>
        <p:xfrm>
          <a:off x="712378" y="1537446"/>
          <a:ext cx="3600400" cy="1381428"/>
        </p:xfrm>
        <a:graphic>
          <a:graphicData uri="http://schemas.openxmlformats.org/drawingml/2006/table">
            <a:tbl>
              <a:tblPr/>
              <a:tblGrid>
                <a:gridCol w="864096">
                  <a:extLst>
                    <a:ext uri="{9D8B030D-6E8A-4147-A177-3AD203B41FA5}">
                      <a16:colId xmlns:a16="http://schemas.microsoft.com/office/drawing/2014/main" val="334407215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26606969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8116789"/>
                    </a:ext>
                  </a:extLst>
                </a:gridCol>
                <a:gridCol w="734447">
                  <a:extLst>
                    <a:ext uri="{9D8B030D-6E8A-4147-A177-3AD203B41FA5}">
                      <a16:colId xmlns:a16="http://schemas.microsoft.com/office/drawing/2014/main" val="2322669200"/>
                    </a:ext>
                  </a:extLst>
                </a:gridCol>
                <a:gridCol w="633705">
                  <a:extLst>
                    <a:ext uri="{9D8B030D-6E8A-4147-A177-3AD203B41FA5}">
                      <a16:colId xmlns:a16="http://schemas.microsoft.com/office/drawing/2014/main" val="3878582287"/>
                    </a:ext>
                  </a:extLst>
                </a:gridCol>
              </a:tblGrid>
              <a:tr h="106475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Problemas de empleo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Grupo de edad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Total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551952"/>
                  </a:ext>
                </a:extLst>
              </a:tr>
              <a:tr h="30205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15 a 29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30 a 44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45 y más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899584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No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 592.430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    689.705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      829.383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2.111.519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491771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Sí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 712.672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    579.868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      526.885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1.819.425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820760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Total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1.305.103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 1.269.573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   1.356.268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900" b="0" i="0" u="none" strike="noStrike" dirty="0">
                          <a:effectLst/>
                          <a:latin typeface="+mj-lt"/>
                        </a:rPr>
                        <a:t>    3.930.944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81551"/>
                  </a:ext>
                </a:extLst>
              </a:tr>
            </a:tbl>
          </a:graphicData>
        </a:graphic>
      </p:graphicFrame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250825" y="4437112"/>
            <a:ext cx="864234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La lectura sobre el total nos dice cómo está compuesta nuestra población en términos del cruce de las dos variables. </a:t>
            </a:r>
          </a:p>
        </p:txBody>
      </p:sp>
      <p:sp>
        <p:nvSpPr>
          <p:cNvPr id="2" name="Rectángulo 1"/>
          <p:cNvSpPr/>
          <p:nvPr/>
        </p:nvSpPr>
        <p:spPr>
          <a:xfrm>
            <a:off x="269082" y="5194049"/>
            <a:ext cx="864165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En general, esto es útil cuando las dos variables nos ayudan a construir una </a:t>
            </a:r>
            <a:r>
              <a:rPr lang="es-AR" altLang="es-AR" b="1" i="1" dirty="0">
                <a:latin typeface="Cambria" panose="02040503050406030204" pitchFamily="18" charset="0"/>
                <a:ea typeface="Cambria" panose="02040503050406030204" pitchFamily="18" charset="0"/>
              </a:rPr>
              <a:t>tipología</a:t>
            </a: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. Por ejemplo: “jóvenes no integrados”, “adultos mayores excluidos”, “población en edades centrales marginalizadas”, etc. </a:t>
            </a:r>
            <a:endParaRPr lang="es-AR" dirty="0"/>
          </a:p>
        </p:txBody>
      </p:sp>
      <p:cxnSp>
        <p:nvCxnSpPr>
          <p:cNvPr id="15" name="AutoShape 51">
            <a:extLst>
              <a:ext uri="{FF2B5EF4-FFF2-40B4-BE49-F238E27FC236}">
                <a16:creationId xmlns:a16="http://schemas.microsoft.com/office/drawing/2014/main" id="{F69D56B4-2590-4EE2-AAEE-B98FE3CC0E4A}"/>
              </a:ext>
            </a:extLst>
          </p:cNvPr>
          <p:cNvCxnSpPr>
            <a:cxnSpLocks noChangeShapeType="1"/>
            <a:stCxn id="17" idx="0"/>
          </p:cNvCxnSpPr>
          <p:nvPr/>
        </p:nvCxnSpPr>
        <p:spPr bwMode="auto">
          <a:xfrm flipH="1" flipV="1">
            <a:off x="2077234" y="2590312"/>
            <a:ext cx="856316" cy="1000286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51">
            <a:extLst>
              <a:ext uri="{FF2B5EF4-FFF2-40B4-BE49-F238E27FC236}">
                <a16:creationId xmlns:a16="http://schemas.microsoft.com/office/drawing/2014/main" id="{49AA5624-FEFD-4898-9567-5DE03A0FEC2B}"/>
              </a:ext>
            </a:extLst>
          </p:cNvPr>
          <p:cNvCxnSpPr>
            <a:cxnSpLocks noChangeShapeType="1"/>
            <a:stCxn id="17" idx="0"/>
            <a:endCxn id="19" idx="3"/>
          </p:cNvCxnSpPr>
          <p:nvPr/>
        </p:nvCxnSpPr>
        <p:spPr bwMode="auto">
          <a:xfrm flipV="1">
            <a:off x="2933550" y="2870509"/>
            <a:ext cx="880186" cy="720089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1164647-9114-43EB-9921-4126D19B03CF}"/>
              </a:ext>
            </a:extLst>
          </p:cNvPr>
          <p:cNvSpPr txBox="1"/>
          <p:nvPr/>
        </p:nvSpPr>
        <p:spPr>
          <a:xfrm>
            <a:off x="1727148" y="3590598"/>
            <a:ext cx="2412804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AR" sz="1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% del total </a:t>
            </a:r>
            <a:r>
              <a:rPr lang="es-AR" sz="1200" i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que tienen problemas de empleo y que son jóvenes </a:t>
            </a:r>
          </a:p>
          <a:p>
            <a:pPr algn="ctr"/>
            <a:r>
              <a:rPr lang="es-AR" sz="1200" dirty="0"/>
              <a:t>712.672 </a:t>
            </a:r>
            <a:r>
              <a:rPr lang="es-AR" sz="1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/ </a:t>
            </a:r>
            <a:r>
              <a:rPr lang="es-AR" sz="1200" dirty="0"/>
              <a:t>3.930.944</a:t>
            </a:r>
            <a:r>
              <a:rPr lang="es-AR" sz="1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*100=</a:t>
            </a:r>
            <a:r>
              <a:rPr lang="es-AR" sz="12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18,1%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95119007-70D7-4AC7-A24D-779E580FA06A}"/>
              </a:ext>
            </a:extLst>
          </p:cNvPr>
          <p:cNvSpPr/>
          <p:nvPr/>
        </p:nvSpPr>
        <p:spPr>
          <a:xfrm>
            <a:off x="1715602" y="2320982"/>
            <a:ext cx="503514" cy="272137"/>
          </a:xfrm>
          <a:prstGeom prst="ellipse">
            <a:avLst/>
          </a:prstGeom>
          <a:noFill/>
          <a:ln>
            <a:solidFill>
              <a:srgbClr val="2A8A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D396AF01-A268-4374-A1A1-363F16C2713B}"/>
              </a:ext>
            </a:extLst>
          </p:cNvPr>
          <p:cNvSpPr/>
          <p:nvPr/>
        </p:nvSpPr>
        <p:spPr>
          <a:xfrm>
            <a:off x="3728114" y="2588624"/>
            <a:ext cx="584664" cy="330249"/>
          </a:xfrm>
          <a:prstGeom prst="ellipse">
            <a:avLst/>
          </a:prstGeom>
          <a:noFill/>
          <a:ln>
            <a:solidFill>
              <a:srgbClr val="2A8A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18 Rectángulo redondeado">
            <a:extLst>
              <a:ext uri="{FF2B5EF4-FFF2-40B4-BE49-F238E27FC236}">
                <a16:creationId xmlns:a16="http://schemas.microsoft.com/office/drawing/2014/main" id="{299D55CC-FF88-672D-DAD2-7ACFF402D27A}"/>
              </a:ext>
            </a:extLst>
          </p:cNvPr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5" name="19 Conector recto">
            <a:extLst>
              <a:ext uri="{FF2B5EF4-FFF2-40B4-BE49-F238E27FC236}">
                <a16:creationId xmlns:a16="http://schemas.microsoft.com/office/drawing/2014/main" id="{807BD0F3-A6A5-E9EA-7A7B-861A84B49F97}"/>
              </a:ext>
            </a:extLst>
          </p:cNvPr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14 Rectángulo">
            <a:extLst>
              <a:ext uri="{FF2B5EF4-FFF2-40B4-BE49-F238E27FC236}">
                <a16:creationId xmlns:a16="http://schemas.microsoft.com/office/drawing/2014/main" id="{4075D36E-4013-2D44-78B9-A65D3D4537BD}"/>
              </a:ext>
            </a:extLst>
          </p:cNvPr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7" name="2 Rectángulo">
            <a:extLst>
              <a:ext uri="{FF2B5EF4-FFF2-40B4-BE49-F238E27FC236}">
                <a16:creationId xmlns:a16="http://schemas.microsoft.com/office/drawing/2014/main" id="{899E7175-9439-A024-AAAF-A6675D7527D1}"/>
              </a:ext>
            </a:extLst>
          </p:cNvPr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10 CuadroTexto">
            <a:extLst>
              <a:ext uri="{FF2B5EF4-FFF2-40B4-BE49-F238E27FC236}">
                <a16:creationId xmlns:a16="http://schemas.microsoft.com/office/drawing/2014/main" id="{CF1CB6A5-8A59-D8EE-EB5C-80BA735DFD50}"/>
              </a:ext>
            </a:extLst>
          </p:cNvPr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El cálculo de porcentajes</a:t>
            </a:r>
          </a:p>
        </p:txBody>
      </p:sp>
      <p:graphicFrame>
        <p:nvGraphicFramePr>
          <p:cNvPr id="27" name="Tabla 26">
            <a:extLst>
              <a:ext uri="{FF2B5EF4-FFF2-40B4-BE49-F238E27FC236}">
                <a16:creationId xmlns:a16="http://schemas.microsoft.com/office/drawing/2014/main" id="{7A8919C1-66E7-6F6E-2E19-E33C8949AC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732738"/>
              </p:ext>
            </p:extLst>
          </p:nvPr>
        </p:nvGraphicFramePr>
        <p:xfrm>
          <a:off x="4816493" y="1488943"/>
          <a:ext cx="3600400" cy="1381428"/>
        </p:xfrm>
        <a:graphic>
          <a:graphicData uri="http://schemas.openxmlformats.org/drawingml/2006/table">
            <a:tbl>
              <a:tblPr/>
              <a:tblGrid>
                <a:gridCol w="864096">
                  <a:extLst>
                    <a:ext uri="{9D8B030D-6E8A-4147-A177-3AD203B41FA5}">
                      <a16:colId xmlns:a16="http://schemas.microsoft.com/office/drawing/2014/main" val="334407215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26606969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8116789"/>
                    </a:ext>
                  </a:extLst>
                </a:gridCol>
                <a:gridCol w="734447">
                  <a:extLst>
                    <a:ext uri="{9D8B030D-6E8A-4147-A177-3AD203B41FA5}">
                      <a16:colId xmlns:a16="http://schemas.microsoft.com/office/drawing/2014/main" val="2322669200"/>
                    </a:ext>
                  </a:extLst>
                </a:gridCol>
                <a:gridCol w="633705">
                  <a:extLst>
                    <a:ext uri="{9D8B030D-6E8A-4147-A177-3AD203B41FA5}">
                      <a16:colId xmlns:a16="http://schemas.microsoft.com/office/drawing/2014/main" val="3878582287"/>
                    </a:ext>
                  </a:extLst>
                </a:gridCol>
              </a:tblGrid>
              <a:tr h="106475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Problemas de empleo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Grupo de edad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Total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551952"/>
                  </a:ext>
                </a:extLst>
              </a:tr>
              <a:tr h="30205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15 a 29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30 a 44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45 y más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899584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No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000" b="0" i="0" u="none" strike="noStrike">
                          <a:effectLst/>
                          <a:latin typeface="+mj-lt"/>
                        </a:rPr>
                        <a:t>15.1%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000" b="0" i="0" u="none" strike="noStrike">
                          <a:effectLst/>
                          <a:latin typeface="+mj-lt"/>
                        </a:rPr>
                        <a:t>17.5%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000" b="0" i="0" u="none" strike="noStrike">
                          <a:effectLst/>
                          <a:latin typeface="+mj-lt"/>
                        </a:rPr>
                        <a:t>21.1%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000" b="0" i="0" u="none" strike="noStrike">
                          <a:effectLst/>
                          <a:latin typeface="+mj-lt"/>
                        </a:rPr>
                        <a:t>53.7%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491771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Sí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000" b="0" i="0" u="none" strike="noStrike" dirty="0">
                          <a:effectLst/>
                          <a:latin typeface="+mj-lt"/>
                        </a:rPr>
                        <a:t>18.1%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000" b="0" i="0" u="none" strike="noStrike">
                          <a:effectLst/>
                          <a:latin typeface="+mj-lt"/>
                        </a:rPr>
                        <a:t>14.8%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000" b="0" i="0" u="none" strike="noStrike" dirty="0">
                          <a:effectLst/>
                          <a:latin typeface="+mj-lt"/>
                        </a:rPr>
                        <a:t>13.4%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000" b="0" i="0" u="none" strike="noStrike" dirty="0">
                          <a:effectLst/>
                          <a:latin typeface="+mj-lt"/>
                        </a:rPr>
                        <a:t>46.3%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820760"/>
                  </a:ext>
                </a:extLst>
              </a:tr>
              <a:tr h="30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Times New Roman" pitchFamily="18" charset="0"/>
                          <a:cs typeface="Calibri" pitchFamily="34" charset="0"/>
                        </a:rPr>
                        <a:t>Total</a:t>
                      </a:r>
                      <a:endParaRPr kumimoji="0" lang="es-E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000" b="0" i="0" u="none" strike="noStrike">
                          <a:effectLst/>
                          <a:latin typeface="+mj-lt"/>
                        </a:rPr>
                        <a:t>33.2%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000" b="0" i="0" u="none" strike="noStrike">
                          <a:effectLst/>
                          <a:latin typeface="+mj-lt"/>
                        </a:rPr>
                        <a:t>32.3%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000" b="0" i="0" u="none" strike="noStrike">
                          <a:effectLst/>
                          <a:latin typeface="+mj-lt"/>
                        </a:rPr>
                        <a:t>34.5%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000" b="1" i="0" u="none" strike="noStrike" dirty="0">
                          <a:effectLst/>
                          <a:latin typeface="+mj-lt"/>
                        </a:rPr>
                        <a:t>100.0%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81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4005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2497B75A-9843-70FF-0984-F70BBB9CA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8 Rectángulo redondeado">
            <a:extLst>
              <a:ext uri="{FF2B5EF4-FFF2-40B4-BE49-F238E27FC236}">
                <a16:creationId xmlns:a16="http://schemas.microsoft.com/office/drawing/2014/main" id="{7D9E58AF-5701-1487-1B9B-AF26FC8532F5}"/>
              </a:ext>
            </a:extLst>
          </p:cNvPr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5" name="19 Conector recto">
            <a:extLst>
              <a:ext uri="{FF2B5EF4-FFF2-40B4-BE49-F238E27FC236}">
                <a16:creationId xmlns:a16="http://schemas.microsoft.com/office/drawing/2014/main" id="{F8720218-1146-35ED-D8D1-01F07708B131}"/>
              </a:ext>
            </a:extLst>
          </p:cNvPr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14 Rectángulo">
            <a:extLst>
              <a:ext uri="{FF2B5EF4-FFF2-40B4-BE49-F238E27FC236}">
                <a16:creationId xmlns:a16="http://schemas.microsoft.com/office/drawing/2014/main" id="{D124B9D2-4F50-9F21-E2C2-1951A2D39726}"/>
              </a:ext>
            </a:extLst>
          </p:cNvPr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7" name="2 Rectángulo">
            <a:extLst>
              <a:ext uri="{FF2B5EF4-FFF2-40B4-BE49-F238E27FC236}">
                <a16:creationId xmlns:a16="http://schemas.microsoft.com/office/drawing/2014/main" id="{47DC545D-16DD-E614-F684-D08D390508B6}"/>
              </a:ext>
            </a:extLst>
          </p:cNvPr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10 CuadroTexto">
            <a:extLst>
              <a:ext uri="{FF2B5EF4-FFF2-40B4-BE49-F238E27FC236}">
                <a16:creationId xmlns:a16="http://schemas.microsoft.com/office/drawing/2014/main" id="{BA0B0FA5-2191-713C-C322-E06CFBD23E82}"/>
              </a:ext>
            </a:extLst>
          </p:cNvPr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Ejemplos para aplicar lo visto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36971DE5-6FCC-7C4A-504E-45C79E2E7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101786"/>
              </p:ext>
            </p:extLst>
          </p:nvPr>
        </p:nvGraphicFramePr>
        <p:xfrm>
          <a:off x="369684" y="2172004"/>
          <a:ext cx="4536504" cy="19179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8999">
                  <a:extLst>
                    <a:ext uri="{9D8B030D-6E8A-4147-A177-3AD203B41FA5}">
                      <a16:colId xmlns:a16="http://schemas.microsoft.com/office/drawing/2014/main" val="3720308600"/>
                    </a:ext>
                  </a:extLst>
                </a:gridCol>
                <a:gridCol w="945835">
                  <a:extLst>
                    <a:ext uri="{9D8B030D-6E8A-4147-A177-3AD203B41FA5}">
                      <a16:colId xmlns:a16="http://schemas.microsoft.com/office/drawing/2014/main" val="1798643841"/>
                    </a:ext>
                  </a:extLst>
                </a:gridCol>
                <a:gridCol w="945835">
                  <a:extLst>
                    <a:ext uri="{9D8B030D-6E8A-4147-A177-3AD203B41FA5}">
                      <a16:colId xmlns:a16="http://schemas.microsoft.com/office/drawing/2014/main" val="1372098907"/>
                    </a:ext>
                  </a:extLst>
                </a:gridCol>
                <a:gridCol w="945835">
                  <a:extLst>
                    <a:ext uri="{9D8B030D-6E8A-4147-A177-3AD203B41FA5}">
                      <a16:colId xmlns:a16="http://schemas.microsoft.com/office/drawing/2014/main" val="1817969430"/>
                    </a:ext>
                  </a:extLst>
                </a:gridCol>
              </a:tblGrid>
              <a:tr h="4794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AR" sz="1200" b="0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u="none" strike="noStrike" dirty="0">
                          <a:effectLst/>
                          <a:latin typeface="+mj-lt"/>
                        </a:rPr>
                        <a:t> Estudian </a:t>
                      </a:r>
                      <a:endParaRPr lang="es-AR" sz="1200" b="0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u="none" strike="noStrike" dirty="0">
                          <a:effectLst/>
                          <a:latin typeface="+mj-lt"/>
                        </a:rPr>
                        <a:t> No estudian </a:t>
                      </a:r>
                      <a:endParaRPr lang="es-AR" sz="1200" b="0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1" i="0" u="none" strike="noStrike" dirty="0"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738582"/>
                  </a:ext>
                </a:extLst>
              </a:tr>
              <a:tr h="4794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1200" u="none" strike="noStrike" dirty="0">
                          <a:effectLst/>
                          <a:latin typeface="+mj-lt"/>
                        </a:rPr>
                        <a:t> Trabajan </a:t>
                      </a:r>
                      <a:endParaRPr lang="es-AR" sz="1200" b="0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b="0" i="0" u="none" strike="noStrike" dirty="0">
                          <a:effectLst/>
                          <a:latin typeface="+mj-lt"/>
                        </a:rPr>
                        <a:t>192,992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b="0" i="0" u="none" strike="noStrike" dirty="0">
                          <a:effectLst/>
                          <a:latin typeface="+mj-lt"/>
                        </a:rPr>
                        <a:t>1,187,870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b="1" i="0" u="none" strike="noStrike" dirty="0">
                          <a:effectLst/>
                          <a:latin typeface="+mj-lt"/>
                        </a:rPr>
                        <a:t>1,380,862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870330"/>
                  </a:ext>
                </a:extLst>
              </a:tr>
              <a:tr h="4794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1200" u="none" strike="noStrike" dirty="0">
                          <a:effectLst/>
                          <a:latin typeface="+mj-lt"/>
                        </a:rPr>
                        <a:t> No trabajan </a:t>
                      </a:r>
                      <a:endParaRPr lang="es-AR" sz="1200" b="0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b="0" i="0" u="none" strike="noStrike" dirty="0">
                          <a:effectLst/>
                          <a:latin typeface="+mj-lt"/>
                        </a:rPr>
                        <a:t>954,055 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b="0" i="0" u="none" strike="noStrike" dirty="0">
                          <a:effectLst/>
                          <a:latin typeface="+mj-lt"/>
                        </a:rPr>
                        <a:t>937,588 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b="1" i="0" u="none" strike="noStrike" dirty="0">
                          <a:effectLst/>
                          <a:latin typeface="+mj-lt"/>
                        </a:rPr>
                        <a:t>1,891,643 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151466"/>
                  </a:ext>
                </a:extLst>
              </a:tr>
              <a:tr h="4794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1200" b="0" i="0" u="none" strike="noStrike" dirty="0"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b="1" i="0" u="none" strike="noStrike" dirty="0">
                          <a:effectLst/>
                          <a:latin typeface="+mj-lt"/>
                        </a:rPr>
                        <a:t>     1,147,047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b="1" i="0" u="none" strike="noStrike" dirty="0">
                          <a:effectLst/>
                          <a:latin typeface="+mj-lt"/>
                        </a:rPr>
                        <a:t>2,125,458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100" b="1" i="0" u="none" strike="noStrike" dirty="0">
                          <a:effectLst/>
                          <a:latin typeface="+mj-lt"/>
                        </a:rPr>
                        <a:t>3,272,504 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779438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92CAA0A2-24C1-3EDA-0AD9-F6FEAA8D01EC}"/>
              </a:ext>
            </a:extLst>
          </p:cNvPr>
          <p:cNvSpPr txBox="1"/>
          <p:nvPr/>
        </p:nvSpPr>
        <p:spPr>
          <a:xfrm>
            <a:off x="261514" y="1161951"/>
            <a:ext cx="7478838" cy="1029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Cuadro 2.</a:t>
            </a:r>
            <a:r>
              <a:rPr kumimoji="0" 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lang="es-ES" b="1" dirty="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Condición de actividad según situación escolar</a:t>
            </a:r>
            <a:r>
              <a:rPr kumimoji="0" lang="es-E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. </a:t>
            </a:r>
            <a:br>
              <a:rPr kumimoji="0" lang="es-E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</a:br>
            <a:r>
              <a:rPr kumimoji="0" lang="es-E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Jóvenes de 12 a 30 años residentes en Honduras, año 2024. Frecuencias absolutas.</a:t>
            </a:r>
            <a:endParaRPr kumimoji="0" 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2713A86-7A81-01AE-0990-50C5B2272185}"/>
              </a:ext>
            </a:extLst>
          </p:cNvPr>
          <p:cNvSpPr txBox="1"/>
          <p:nvPr/>
        </p:nvSpPr>
        <p:spPr>
          <a:xfrm>
            <a:off x="321991" y="4153284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200" b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Fuente:</a:t>
            </a:r>
            <a:r>
              <a:rPr kumimoji="0" lang="es-ES" sz="12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es-E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Elaboración propia a partir EPH-PM</a:t>
            </a:r>
            <a:endParaRPr lang="es-AR" sz="1200" dirty="0"/>
          </a:p>
        </p:txBody>
      </p:sp>
    </p:spTree>
    <p:extLst>
      <p:ext uri="{BB962C8B-B14F-4D97-AF65-F5344CB8AC3E}">
        <p14:creationId xmlns:p14="http://schemas.microsoft.com/office/powerpoint/2010/main" val="3417570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08CCE86D-9B37-DEC2-B2A7-D227B98BC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8 Rectángulo redondeado">
            <a:extLst>
              <a:ext uri="{FF2B5EF4-FFF2-40B4-BE49-F238E27FC236}">
                <a16:creationId xmlns:a16="http://schemas.microsoft.com/office/drawing/2014/main" id="{5FB7CB07-26C3-A97B-843E-31476FBA6B7F}"/>
              </a:ext>
            </a:extLst>
          </p:cNvPr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5" name="19 Conector recto">
            <a:extLst>
              <a:ext uri="{FF2B5EF4-FFF2-40B4-BE49-F238E27FC236}">
                <a16:creationId xmlns:a16="http://schemas.microsoft.com/office/drawing/2014/main" id="{64879686-8154-7EAB-5F03-C92E9FD2CD23}"/>
              </a:ext>
            </a:extLst>
          </p:cNvPr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14 Rectángulo">
            <a:extLst>
              <a:ext uri="{FF2B5EF4-FFF2-40B4-BE49-F238E27FC236}">
                <a16:creationId xmlns:a16="http://schemas.microsoft.com/office/drawing/2014/main" id="{BDE2E130-A100-7C8A-53C0-EFB95D56B5A7}"/>
              </a:ext>
            </a:extLst>
          </p:cNvPr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7" name="2 Rectángulo">
            <a:extLst>
              <a:ext uri="{FF2B5EF4-FFF2-40B4-BE49-F238E27FC236}">
                <a16:creationId xmlns:a16="http://schemas.microsoft.com/office/drawing/2014/main" id="{639DE204-DD5D-7FCA-F2B6-F32F251C2338}"/>
              </a:ext>
            </a:extLst>
          </p:cNvPr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10 CuadroTexto">
            <a:extLst>
              <a:ext uri="{FF2B5EF4-FFF2-40B4-BE49-F238E27FC236}">
                <a16:creationId xmlns:a16="http://schemas.microsoft.com/office/drawing/2014/main" id="{2C4DFAA8-2252-8AE0-163B-D5B26CDB72DD}"/>
              </a:ext>
            </a:extLst>
          </p:cNvPr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Ejemplos para aplicar lo visto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195B206-F209-B90C-CB98-E2C6EEA475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761406"/>
              </p:ext>
            </p:extLst>
          </p:nvPr>
        </p:nvGraphicFramePr>
        <p:xfrm>
          <a:off x="369684" y="2172004"/>
          <a:ext cx="4202317" cy="19179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3840">
                  <a:extLst>
                    <a:ext uri="{9D8B030D-6E8A-4147-A177-3AD203B41FA5}">
                      <a16:colId xmlns:a16="http://schemas.microsoft.com/office/drawing/2014/main" val="3720308600"/>
                    </a:ext>
                  </a:extLst>
                </a:gridCol>
                <a:gridCol w="876159">
                  <a:extLst>
                    <a:ext uri="{9D8B030D-6E8A-4147-A177-3AD203B41FA5}">
                      <a16:colId xmlns:a16="http://schemas.microsoft.com/office/drawing/2014/main" val="1798643841"/>
                    </a:ext>
                  </a:extLst>
                </a:gridCol>
                <a:gridCol w="876159">
                  <a:extLst>
                    <a:ext uri="{9D8B030D-6E8A-4147-A177-3AD203B41FA5}">
                      <a16:colId xmlns:a16="http://schemas.microsoft.com/office/drawing/2014/main" val="1372098907"/>
                    </a:ext>
                  </a:extLst>
                </a:gridCol>
                <a:gridCol w="876159">
                  <a:extLst>
                    <a:ext uri="{9D8B030D-6E8A-4147-A177-3AD203B41FA5}">
                      <a16:colId xmlns:a16="http://schemas.microsoft.com/office/drawing/2014/main" val="1817969430"/>
                    </a:ext>
                  </a:extLst>
                </a:gridCol>
              </a:tblGrid>
              <a:tr h="4794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AR" sz="1200" b="0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u="none" strike="noStrike" dirty="0">
                          <a:effectLst/>
                          <a:latin typeface="+mj-lt"/>
                        </a:rPr>
                        <a:t> Estudian </a:t>
                      </a:r>
                      <a:endParaRPr lang="es-AR" sz="1200" b="0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u="none" strike="noStrike" dirty="0">
                          <a:effectLst/>
                          <a:latin typeface="+mj-lt"/>
                        </a:rPr>
                        <a:t> No estudian </a:t>
                      </a:r>
                      <a:endParaRPr lang="es-AR" sz="1200" b="0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1" i="0" u="none" strike="noStrike" dirty="0"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738582"/>
                  </a:ext>
                </a:extLst>
              </a:tr>
              <a:tr h="4794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1200" u="none" strike="noStrike" dirty="0">
                          <a:effectLst/>
                          <a:latin typeface="+mj-lt"/>
                        </a:rPr>
                        <a:t> Trabajan </a:t>
                      </a:r>
                      <a:endParaRPr lang="es-AR" sz="1200" b="0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 dirty="0">
                          <a:effectLst/>
                          <a:latin typeface="+mj-lt"/>
                        </a:rPr>
                        <a:t>17%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 dirty="0">
                          <a:effectLst/>
                          <a:latin typeface="+mj-lt"/>
                        </a:rPr>
                        <a:t>56%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 dirty="0">
                          <a:effectLst/>
                          <a:latin typeface="+mj-lt"/>
                        </a:rPr>
                        <a:t>42%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870330"/>
                  </a:ext>
                </a:extLst>
              </a:tr>
              <a:tr h="4794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1200" u="none" strike="noStrike" dirty="0">
                          <a:effectLst/>
                          <a:latin typeface="+mj-lt"/>
                        </a:rPr>
                        <a:t> No trabajan </a:t>
                      </a:r>
                      <a:endParaRPr lang="es-AR" sz="1200" b="0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>
                          <a:effectLst/>
                          <a:latin typeface="+mj-lt"/>
                        </a:rPr>
                        <a:t>83%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 dirty="0">
                          <a:effectLst/>
                          <a:latin typeface="+mj-lt"/>
                        </a:rPr>
                        <a:t>44%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 dirty="0">
                          <a:effectLst/>
                          <a:latin typeface="+mj-lt"/>
                        </a:rPr>
                        <a:t>58%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151466"/>
                  </a:ext>
                </a:extLst>
              </a:tr>
              <a:tr h="4794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1200" b="0" i="0" u="none" strike="noStrike" dirty="0"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>
                          <a:effectLst/>
                          <a:latin typeface="+mj-lt"/>
                        </a:rPr>
                        <a:t>100%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>
                          <a:effectLst/>
                          <a:latin typeface="+mj-lt"/>
                        </a:rPr>
                        <a:t>100%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 dirty="0">
                          <a:effectLst/>
                          <a:latin typeface="+mj-lt"/>
                        </a:rPr>
                        <a:t>100%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779438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72EF8563-AEBE-4473-C6EC-492FAACC91F2}"/>
              </a:ext>
            </a:extLst>
          </p:cNvPr>
          <p:cNvSpPr txBox="1"/>
          <p:nvPr/>
        </p:nvSpPr>
        <p:spPr>
          <a:xfrm>
            <a:off x="261514" y="1161951"/>
            <a:ext cx="4814542" cy="821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Cuadro </a:t>
            </a:r>
            <a:r>
              <a:rPr lang="es-ES" sz="1400" b="1" dirty="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3</a:t>
            </a:r>
            <a:r>
              <a:rPr kumimoji="0" lang="es-E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.</a:t>
            </a:r>
            <a:r>
              <a:rPr kumimoji="0" lang="es-E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lang="es-ES" sz="1400" b="1" dirty="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Condición de actividad según situación escolar</a:t>
            </a:r>
            <a:r>
              <a:rPr kumimoji="0" lang="es-E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. </a:t>
            </a:r>
            <a:br>
              <a:rPr kumimoji="0" lang="es-E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</a:br>
            <a:r>
              <a:rPr kumimoji="0" lang="es-E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Jóvenes de 12 a 30 años residentes en Honduras, año 2024. En porcentajes</a:t>
            </a:r>
            <a:endParaRPr kumimoji="0" lang="es-E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8F90981-FF8C-89E9-71E3-CF6D82ED57E6}"/>
              </a:ext>
            </a:extLst>
          </p:cNvPr>
          <p:cNvSpPr txBox="1"/>
          <p:nvPr/>
        </p:nvSpPr>
        <p:spPr>
          <a:xfrm>
            <a:off x="321991" y="4153284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200" b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Fuente:</a:t>
            </a:r>
            <a:r>
              <a:rPr kumimoji="0" lang="es-ES" sz="12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es-E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Elaboración propia a partir EPH-PM</a:t>
            </a:r>
            <a:endParaRPr lang="es-AR" sz="1200" dirty="0"/>
          </a:p>
        </p:txBody>
      </p:sp>
    </p:spTree>
    <p:extLst>
      <p:ext uri="{BB962C8B-B14F-4D97-AF65-F5344CB8AC3E}">
        <p14:creationId xmlns:p14="http://schemas.microsoft.com/office/powerpoint/2010/main" val="3339516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BC06C0D3-58AD-38E3-065C-9B3A7F611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8 Rectángulo redondeado">
            <a:extLst>
              <a:ext uri="{FF2B5EF4-FFF2-40B4-BE49-F238E27FC236}">
                <a16:creationId xmlns:a16="http://schemas.microsoft.com/office/drawing/2014/main" id="{A06F41C7-C3D3-4F6B-3465-56CE6E262721}"/>
              </a:ext>
            </a:extLst>
          </p:cNvPr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5" name="19 Conector recto">
            <a:extLst>
              <a:ext uri="{FF2B5EF4-FFF2-40B4-BE49-F238E27FC236}">
                <a16:creationId xmlns:a16="http://schemas.microsoft.com/office/drawing/2014/main" id="{5608B76D-C3EB-8A84-07E8-C556219965DB}"/>
              </a:ext>
            </a:extLst>
          </p:cNvPr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14 Rectángulo">
            <a:extLst>
              <a:ext uri="{FF2B5EF4-FFF2-40B4-BE49-F238E27FC236}">
                <a16:creationId xmlns:a16="http://schemas.microsoft.com/office/drawing/2014/main" id="{C2D9A1D1-7604-9B43-A143-184C597CF462}"/>
              </a:ext>
            </a:extLst>
          </p:cNvPr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7" name="2 Rectángulo">
            <a:extLst>
              <a:ext uri="{FF2B5EF4-FFF2-40B4-BE49-F238E27FC236}">
                <a16:creationId xmlns:a16="http://schemas.microsoft.com/office/drawing/2014/main" id="{4748E8AE-9171-2E33-D3A6-8843AEFFE4D4}"/>
              </a:ext>
            </a:extLst>
          </p:cNvPr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10 CuadroTexto">
            <a:extLst>
              <a:ext uri="{FF2B5EF4-FFF2-40B4-BE49-F238E27FC236}">
                <a16:creationId xmlns:a16="http://schemas.microsoft.com/office/drawing/2014/main" id="{2693492E-969C-835D-329F-4C8889BF34BF}"/>
              </a:ext>
            </a:extLst>
          </p:cNvPr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Ejemplos para aplicar lo visto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F17FAD6E-790F-C6C8-22C1-7D62E1622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956535"/>
              </p:ext>
            </p:extLst>
          </p:nvPr>
        </p:nvGraphicFramePr>
        <p:xfrm>
          <a:off x="369684" y="2172004"/>
          <a:ext cx="4202317" cy="19179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3840">
                  <a:extLst>
                    <a:ext uri="{9D8B030D-6E8A-4147-A177-3AD203B41FA5}">
                      <a16:colId xmlns:a16="http://schemas.microsoft.com/office/drawing/2014/main" val="3720308600"/>
                    </a:ext>
                  </a:extLst>
                </a:gridCol>
                <a:gridCol w="876159">
                  <a:extLst>
                    <a:ext uri="{9D8B030D-6E8A-4147-A177-3AD203B41FA5}">
                      <a16:colId xmlns:a16="http://schemas.microsoft.com/office/drawing/2014/main" val="1798643841"/>
                    </a:ext>
                  </a:extLst>
                </a:gridCol>
                <a:gridCol w="876159">
                  <a:extLst>
                    <a:ext uri="{9D8B030D-6E8A-4147-A177-3AD203B41FA5}">
                      <a16:colId xmlns:a16="http://schemas.microsoft.com/office/drawing/2014/main" val="1372098907"/>
                    </a:ext>
                  </a:extLst>
                </a:gridCol>
                <a:gridCol w="876159">
                  <a:extLst>
                    <a:ext uri="{9D8B030D-6E8A-4147-A177-3AD203B41FA5}">
                      <a16:colId xmlns:a16="http://schemas.microsoft.com/office/drawing/2014/main" val="1817969430"/>
                    </a:ext>
                  </a:extLst>
                </a:gridCol>
              </a:tblGrid>
              <a:tr h="4794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AR" sz="1200" b="0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u="none" strike="noStrike" dirty="0">
                          <a:effectLst/>
                          <a:latin typeface="+mj-lt"/>
                        </a:rPr>
                        <a:t> Estudian </a:t>
                      </a:r>
                      <a:endParaRPr lang="es-AR" sz="1200" b="0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u="none" strike="noStrike" dirty="0">
                          <a:effectLst/>
                          <a:latin typeface="+mj-lt"/>
                        </a:rPr>
                        <a:t> No estudian </a:t>
                      </a:r>
                      <a:endParaRPr lang="es-AR" sz="1200" b="0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1" i="0" u="none" strike="noStrike" dirty="0"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738582"/>
                  </a:ext>
                </a:extLst>
              </a:tr>
              <a:tr h="4794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1200" u="none" strike="noStrike" dirty="0">
                          <a:effectLst/>
                          <a:latin typeface="+mj-lt"/>
                        </a:rPr>
                        <a:t> Trabajan </a:t>
                      </a:r>
                      <a:endParaRPr lang="es-AR" sz="1200" b="0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>
                          <a:effectLst/>
                          <a:latin typeface="+mj-lt"/>
                        </a:rPr>
                        <a:t>14%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>
                          <a:effectLst/>
                          <a:latin typeface="+mj-lt"/>
                        </a:rPr>
                        <a:t>86%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1" i="0" u="none" strike="noStrike" dirty="0">
                          <a:effectLst/>
                          <a:latin typeface="+mj-lt"/>
                        </a:rPr>
                        <a:t>100%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870330"/>
                  </a:ext>
                </a:extLst>
              </a:tr>
              <a:tr h="4794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1200" u="none" strike="noStrike" dirty="0">
                          <a:effectLst/>
                          <a:latin typeface="+mj-lt"/>
                        </a:rPr>
                        <a:t> No trabajan </a:t>
                      </a:r>
                      <a:endParaRPr lang="es-AR" sz="1200" b="0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>
                          <a:effectLst/>
                          <a:latin typeface="+mj-lt"/>
                        </a:rPr>
                        <a:t>50%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>
                          <a:effectLst/>
                          <a:latin typeface="+mj-lt"/>
                        </a:rPr>
                        <a:t>50%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1" i="0" u="none" strike="noStrike" dirty="0">
                          <a:effectLst/>
                          <a:latin typeface="+mj-lt"/>
                        </a:rPr>
                        <a:t>100%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151466"/>
                  </a:ext>
                </a:extLst>
              </a:tr>
              <a:tr h="4794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1200" b="0" i="0" u="none" strike="noStrike" dirty="0"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>
                          <a:effectLst/>
                          <a:latin typeface="+mj-lt"/>
                        </a:rPr>
                        <a:t>35%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0" i="0" u="none" strike="noStrike">
                          <a:effectLst/>
                          <a:latin typeface="+mj-lt"/>
                        </a:rPr>
                        <a:t>65%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1" i="0" u="none" strike="noStrike" dirty="0">
                          <a:effectLst/>
                          <a:latin typeface="+mj-lt"/>
                        </a:rPr>
                        <a:t>100%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779438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0D2E13AE-45FA-4314-F158-B92C45C02B50}"/>
              </a:ext>
            </a:extLst>
          </p:cNvPr>
          <p:cNvSpPr txBox="1"/>
          <p:nvPr/>
        </p:nvSpPr>
        <p:spPr>
          <a:xfrm>
            <a:off x="261514" y="1161951"/>
            <a:ext cx="4814542" cy="821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Cuadro 4.</a:t>
            </a:r>
            <a:r>
              <a:rPr kumimoji="0" lang="es-E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es-E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Si</a:t>
            </a:r>
            <a:r>
              <a:rPr lang="es-ES" sz="1400" b="1" dirty="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tuación escolar</a:t>
            </a:r>
            <a:r>
              <a:rPr kumimoji="0" lang="es-E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lang="es-ES" sz="1400" b="1" dirty="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según condición de actividad.</a:t>
            </a:r>
            <a:br>
              <a:rPr kumimoji="0" lang="es-E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</a:br>
            <a:r>
              <a:rPr kumimoji="0" lang="es-E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Jóvenes de 12 a 30 años residentes en Honduras, año 2024. En porcentajes.</a:t>
            </a:r>
            <a:endParaRPr kumimoji="0" lang="es-E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08CE235-2D24-3901-50AD-95F2EEC7B25C}"/>
              </a:ext>
            </a:extLst>
          </p:cNvPr>
          <p:cNvSpPr txBox="1"/>
          <p:nvPr/>
        </p:nvSpPr>
        <p:spPr>
          <a:xfrm>
            <a:off x="321991" y="4153284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200" b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Fuente:</a:t>
            </a:r>
            <a:r>
              <a:rPr kumimoji="0" lang="es-ES" sz="12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es-E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Elaboración propia a partir EPH-PM</a:t>
            </a:r>
            <a:endParaRPr lang="es-AR" sz="1200" dirty="0"/>
          </a:p>
        </p:txBody>
      </p:sp>
    </p:spTree>
    <p:extLst>
      <p:ext uri="{BB962C8B-B14F-4D97-AF65-F5344CB8AC3E}">
        <p14:creationId xmlns:p14="http://schemas.microsoft.com/office/powerpoint/2010/main" val="991716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1B5A9137-FCB0-9612-6F72-FE54158DD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8 Rectángulo redondeado">
            <a:extLst>
              <a:ext uri="{FF2B5EF4-FFF2-40B4-BE49-F238E27FC236}">
                <a16:creationId xmlns:a16="http://schemas.microsoft.com/office/drawing/2014/main" id="{351FFAF2-2258-D9C6-0CD5-57BA0E67CFF2}"/>
              </a:ext>
            </a:extLst>
          </p:cNvPr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5" name="19 Conector recto">
            <a:extLst>
              <a:ext uri="{FF2B5EF4-FFF2-40B4-BE49-F238E27FC236}">
                <a16:creationId xmlns:a16="http://schemas.microsoft.com/office/drawing/2014/main" id="{C8D8C730-63A1-08DA-F3EB-24620DB156A9}"/>
              </a:ext>
            </a:extLst>
          </p:cNvPr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14 Rectángulo">
            <a:extLst>
              <a:ext uri="{FF2B5EF4-FFF2-40B4-BE49-F238E27FC236}">
                <a16:creationId xmlns:a16="http://schemas.microsoft.com/office/drawing/2014/main" id="{2E8C76B2-2F8A-BC4B-0A59-2ED250A2F25C}"/>
              </a:ext>
            </a:extLst>
          </p:cNvPr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7" name="2 Rectángulo">
            <a:extLst>
              <a:ext uri="{FF2B5EF4-FFF2-40B4-BE49-F238E27FC236}">
                <a16:creationId xmlns:a16="http://schemas.microsoft.com/office/drawing/2014/main" id="{59762B40-6A63-A23B-CE9A-C19140152390}"/>
              </a:ext>
            </a:extLst>
          </p:cNvPr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10 CuadroTexto">
            <a:extLst>
              <a:ext uri="{FF2B5EF4-FFF2-40B4-BE49-F238E27FC236}">
                <a16:creationId xmlns:a16="http://schemas.microsoft.com/office/drawing/2014/main" id="{C7C49150-3B38-FCA5-E50E-067BC7E17B64}"/>
              </a:ext>
            </a:extLst>
          </p:cNvPr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Ejemplos para aplicar lo visto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5BC21E0-7C4C-8683-F19E-D95EF1949E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819785"/>
              </p:ext>
            </p:extLst>
          </p:nvPr>
        </p:nvGraphicFramePr>
        <p:xfrm>
          <a:off x="369684" y="2172004"/>
          <a:ext cx="4202317" cy="19179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3840">
                  <a:extLst>
                    <a:ext uri="{9D8B030D-6E8A-4147-A177-3AD203B41FA5}">
                      <a16:colId xmlns:a16="http://schemas.microsoft.com/office/drawing/2014/main" val="3720308600"/>
                    </a:ext>
                  </a:extLst>
                </a:gridCol>
                <a:gridCol w="876159">
                  <a:extLst>
                    <a:ext uri="{9D8B030D-6E8A-4147-A177-3AD203B41FA5}">
                      <a16:colId xmlns:a16="http://schemas.microsoft.com/office/drawing/2014/main" val="1798643841"/>
                    </a:ext>
                  </a:extLst>
                </a:gridCol>
                <a:gridCol w="876159">
                  <a:extLst>
                    <a:ext uri="{9D8B030D-6E8A-4147-A177-3AD203B41FA5}">
                      <a16:colId xmlns:a16="http://schemas.microsoft.com/office/drawing/2014/main" val="1372098907"/>
                    </a:ext>
                  </a:extLst>
                </a:gridCol>
                <a:gridCol w="876159">
                  <a:extLst>
                    <a:ext uri="{9D8B030D-6E8A-4147-A177-3AD203B41FA5}">
                      <a16:colId xmlns:a16="http://schemas.microsoft.com/office/drawing/2014/main" val="1817969430"/>
                    </a:ext>
                  </a:extLst>
                </a:gridCol>
              </a:tblGrid>
              <a:tr h="4794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AR" sz="1200" b="0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u="none" strike="noStrike" dirty="0">
                          <a:effectLst/>
                          <a:latin typeface="+mj-lt"/>
                        </a:rPr>
                        <a:t> Estudian </a:t>
                      </a:r>
                      <a:endParaRPr lang="es-AR" sz="1200" b="0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u="none" strike="noStrike" dirty="0">
                          <a:effectLst/>
                          <a:latin typeface="+mj-lt"/>
                        </a:rPr>
                        <a:t> No estudian </a:t>
                      </a:r>
                      <a:endParaRPr lang="es-AR" sz="1200" b="0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200" b="1" i="0" u="none" strike="noStrike" dirty="0"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738582"/>
                  </a:ext>
                </a:extLst>
              </a:tr>
              <a:tr h="4794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1200" u="none" strike="noStrike" dirty="0">
                          <a:effectLst/>
                          <a:latin typeface="+mj-lt"/>
                        </a:rPr>
                        <a:t> Trabajan </a:t>
                      </a:r>
                      <a:endParaRPr lang="es-AR" sz="1200" b="0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400" b="0" i="0" u="none" strike="noStrike">
                          <a:effectLst/>
                          <a:latin typeface="+mj-lt"/>
                        </a:rPr>
                        <a:t>6%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400" b="0" i="0" u="none" strike="noStrike">
                          <a:effectLst/>
                          <a:latin typeface="+mj-lt"/>
                        </a:rPr>
                        <a:t>36%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400" b="0" i="0" u="none" strike="noStrike">
                          <a:effectLst/>
                          <a:latin typeface="+mj-lt"/>
                        </a:rPr>
                        <a:t>42%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870330"/>
                  </a:ext>
                </a:extLst>
              </a:tr>
              <a:tr h="4794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1200" u="none" strike="noStrike" dirty="0">
                          <a:effectLst/>
                          <a:latin typeface="+mj-lt"/>
                        </a:rPr>
                        <a:t> No trabajan </a:t>
                      </a:r>
                      <a:endParaRPr lang="es-AR" sz="1200" b="0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400" b="0" i="0" u="none" strike="noStrike">
                          <a:effectLst/>
                          <a:latin typeface="+mj-lt"/>
                        </a:rPr>
                        <a:t>29%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400" b="0" i="0" u="none" strike="noStrike">
                          <a:effectLst/>
                          <a:latin typeface="+mj-lt"/>
                        </a:rPr>
                        <a:t>29%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400" b="0" i="0" u="none" strike="noStrike">
                          <a:effectLst/>
                          <a:latin typeface="+mj-lt"/>
                        </a:rPr>
                        <a:t>58%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151466"/>
                  </a:ext>
                </a:extLst>
              </a:tr>
              <a:tr h="4794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AR" sz="1200" b="0" i="0" u="none" strike="noStrike" dirty="0"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400" b="0" i="0" u="none" strike="noStrike">
                          <a:effectLst/>
                          <a:latin typeface="+mj-lt"/>
                        </a:rPr>
                        <a:t>35%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400" b="0" i="0" u="none" strike="noStrike">
                          <a:effectLst/>
                          <a:latin typeface="+mj-lt"/>
                        </a:rPr>
                        <a:t>65%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400" b="0" i="0" u="none" strike="noStrike" dirty="0">
                          <a:effectLst/>
                          <a:latin typeface="+mj-lt"/>
                        </a:rPr>
                        <a:t>100%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779438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9016DABE-6267-A51F-E351-BBB127402400}"/>
              </a:ext>
            </a:extLst>
          </p:cNvPr>
          <p:cNvSpPr txBox="1"/>
          <p:nvPr/>
        </p:nvSpPr>
        <p:spPr>
          <a:xfrm>
            <a:off x="261514" y="1161951"/>
            <a:ext cx="4814542" cy="821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Cuadro </a:t>
            </a:r>
            <a:r>
              <a:rPr lang="es-ES" sz="1400" b="1" dirty="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5</a:t>
            </a:r>
            <a:r>
              <a:rPr kumimoji="0" lang="es-E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.</a:t>
            </a:r>
            <a:r>
              <a:rPr kumimoji="0" lang="es-E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lang="es-ES" sz="1400" b="1" dirty="0">
                <a:solidFill>
                  <a:srgbClr val="00000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Condición de actividad según situación escolar</a:t>
            </a:r>
            <a:r>
              <a:rPr kumimoji="0" lang="es-E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. </a:t>
            </a:r>
            <a:br>
              <a:rPr kumimoji="0" lang="es-E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</a:br>
            <a:r>
              <a:rPr kumimoji="0" lang="es-E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Jóvenes de 12 a 30 años residentes en Honduras, año 2024. En porcentajes.</a:t>
            </a:r>
            <a:endParaRPr kumimoji="0" lang="es-E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A9D8397-A8A9-E4BE-75E9-5EBC07B30004}"/>
              </a:ext>
            </a:extLst>
          </p:cNvPr>
          <p:cNvSpPr txBox="1"/>
          <p:nvPr/>
        </p:nvSpPr>
        <p:spPr>
          <a:xfrm>
            <a:off x="321991" y="4153284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200" b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Fuente:</a:t>
            </a:r>
            <a:r>
              <a:rPr kumimoji="0" lang="es-ES" sz="12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es-E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Elaboración propia a partir EPH-PM</a:t>
            </a:r>
            <a:endParaRPr lang="es-AR" sz="1200" dirty="0"/>
          </a:p>
        </p:txBody>
      </p:sp>
    </p:spTree>
    <p:extLst>
      <p:ext uri="{BB962C8B-B14F-4D97-AF65-F5344CB8AC3E}">
        <p14:creationId xmlns:p14="http://schemas.microsoft.com/office/powerpoint/2010/main" val="2819755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4CEFB74-5302-31B2-1BBE-AA1E99537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4">
            <a:extLst>
              <a:ext uri="{FF2B5EF4-FFF2-40B4-BE49-F238E27FC236}">
                <a16:creationId xmlns:a16="http://schemas.microsoft.com/office/drawing/2014/main" id="{15A9D940-FFB9-1170-9CCB-5E9C9E241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196752"/>
            <a:ext cx="86423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altLang="es-AR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Hipótesis: </a:t>
            </a:r>
            <a:r>
              <a:rPr lang="es-ES" altLang="es-AR" b="1" i="1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“A mayor edad se reduce la propensión a tener problemas de empleo”. </a:t>
            </a:r>
            <a:endParaRPr lang="es-ES" altLang="es-AR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C5F1659-E22B-2F21-D515-C31808DFC9C1}"/>
              </a:ext>
            </a:extLst>
          </p:cNvPr>
          <p:cNvSpPr/>
          <p:nvPr/>
        </p:nvSpPr>
        <p:spPr>
          <a:xfrm>
            <a:off x="286855" y="4768696"/>
            <a:ext cx="860631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altLang="es-AR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Pauta observada: </a:t>
            </a:r>
            <a:r>
              <a:rPr lang="es-ES" altLang="es-AR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El Cuadro permite observar que quienes tienen 15 a 29 años tienen 12,5 pp. más de riesgo de tener problemas de empleo que los de 30 años y más. Esto sugiere que nuestra hipótesis se confirma. </a:t>
            </a:r>
            <a:endParaRPr lang="es-ES" altLang="es-AR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5" name="18 Rectángulo redondeado">
            <a:extLst>
              <a:ext uri="{FF2B5EF4-FFF2-40B4-BE49-F238E27FC236}">
                <a16:creationId xmlns:a16="http://schemas.microsoft.com/office/drawing/2014/main" id="{9B577926-9A25-FF01-9178-5389352C3D5D}"/>
              </a:ext>
            </a:extLst>
          </p:cNvPr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6" name="19 Conector recto">
            <a:extLst>
              <a:ext uri="{FF2B5EF4-FFF2-40B4-BE49-F238E27FC236}">
                <a16:creationId xmlns:a16="http://schemas.microsoft.com/office/drawing/2014/main" id="{D8405B0E-BEC4-283C-655F-5275C9F9FFBB}"/>
              </a:ext>
            </a:extLst>
          </p:cNvPr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14 Rectángulo">
            <a:extLst>
              <a:ext uri="{FF2B5EF4-FFF2-40B4-BE49-F238E27FC236}">
                <a16:creationId xmlns:a16="http://schemas.microsoft.com/office/drawing/2014/main" id="{A6C7E972-D27B-50E1-152E-FEA0A6D834FE}"/>
              </a:ext>
            </a:extLst>
          </p:cNvPr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9" name="2 Rectángulo">
            <a:extLst>
              <a:ext uri="{FF2B5EF4-FFF2-40B4-BE49-F238E27FC236}">
                <a16:creationId xmlns:a16="http://schemas.microsoft.com/office/drawing/2014/main" id="{1FD08AA7-2A47-CCE9-0872-1C4F83560AAB}"/>
              </a:ext>
            </a:extLst>
          </p:cNvPr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10 CuadroTexto">
            <a:extLst>
              <a:ext uri="{FF2B5EF4-FFF2-40B4-BE49-F238E27FC236}">
                <a16:creationId xmlns:a16="http://schemas.microsoft.com/office/drawing/2014/main" id="{1A0CE519-F5AD-8EA0-3EF5-004B2DC2CB30}"/>
              </a:ext>
            </a:extLst>
          </p:cNvPr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Retomamos nuestra hipótesis</a:t>
            </a:r>
          </a:p>
        </p:txBody>
      </p:sp>
      <p:graphicFrame>
        <p:nvGraphicFramePr>
          <p:cNvPr id="4" name="Group 46">
            <a:extLst>
              <a:ext uri="{FF2B5EF4-FFF2-40B4-BE49-F238E27FC236}">
                <a16:creationId xmlns:a16="http://schemas.microsoft.com/office/drawing/2014/main" id="{091D0564-34EE-1B4F-99F0-336E31DAD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172339"/>
              </p:ext>
            </p:extLst>
          </p:nvPr>
        </p:nvGraphicFramePr>
        <p:xfrm>
          <a:off x="971600" y="1916211"/>
          <a:ext cx="7416824" cy="2483501"/>
        </p:xfrm>
        <a:graphic>
          <a:graphicData uri="http://schemas.openxmlformats.org/drawingml/2006/table">
            <a:tbl>
              <a:tblPr/>
              <a:tblGrid>
                <a:gridCol w="3539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7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5851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itchFamily="18" charset="0"/>
                          <a:cs typeface="Calibri" pitchFamily="34" charset="0"/>
                        </a:rPr>
                        <a:t>Cuadro 1.</a:t>
                      </a:r>
                      <a:r>
                        <a:rPr kumimoji="0" lang="es-E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itchFamily="18" charset="0"/>
                          <a:cs typeface="Calibri" pitchFamily="34" charset="0"/>
                        </a:rPr>
                        <a:t> </a:t>
                      </a:r>
                      <a:r>
                        <a:rPr kumimoji="0" lang="es-E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itchFamily="18" charset="0"/>
                          <a:cs typeface="Calibri" pitchFamily="34" charset="0"/>
                        </a:rPr>
                        <a:t>Problemas de empleo según grupos de edad. </a:t>
                      </a:r>
                      <a:r>
                        <a:rPr kumimoji="0" lang="es-E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itchFamily="18" charset="0"/>
                          <a:cs typeface="Calibri" pitchFamily="34" charset="0"/>
                        </a:rPr>
                        <a:t>Población de 15 años y más de Honduras, año 2024. En porcentajes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itchFamily="18" charset="0"/>
                          <a:cs typeface="Calibri" pitchFamily="34" charset="0"/>
                        </a:rPr>
                        <a:t>Problemas de empleo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itchFamily="18" charset="0"/>
                          <a:cs typeface="Calibri" pitchFamily="34" charset="0"/>
                        </a:rPr>
                        <a:t>Grupo de edad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23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itchFamily="18" charset="0"/>
                          <a:cs typeface="Calibri" pitchFamily="34" charset="0"/>
                        </a:rPr>
                        <a:t>15 a 29 años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itchFamily="18" charset="0"/>
                          <a:cs typeface="Calibri" pitchFamily="34" charset="0"/>
                        </a:rPr>
                        <a:t>30 años y más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itchFamily="18" charset="0"/>
                          <a:cs typeface="Calibri" pitchFamily="34" charset="0"/>
                        </a:rPr>
                        <a:t>No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400" b="0" i="0" u="none" strike="noStrike" dirty="0">
                          <a:effectLst/>
                          <a:latin typeface="+mj-lt"/>
                        </a:rPr>
                        <a:t>45.4%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400" b="0" i="0" u="none" strike="noStrike" dirty="0">
                          <a:effectLst/>
                          <a:latin typeface="+mj-lt"/>
                        </a:rPr>
                        <a:t>57.9%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itchFamily="18" charset="0"/>
                          <a:cs typeface="Calibri" pitchFamily="34" charset="0"/>
                        </a:rPr>
                        <a:t>Sí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400" b="0" i="0" u="none" strike="noStrike">
                          <a:effectLst/>
                          <a:latin typeface="+mj-lt"/>
                        </a:rPr>
                        <a:t>54.6%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400" b="0" i="0" u="none" strike="noStrike">
                          <a:effectLst/>
                          <a:latin typeface="+mj-lt"/>
                        </a:rPr>
                        <a:t>42.1%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0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itchFamily="18" charset="0"/>
                          <a:cs typeface="Calibri" pitchFamily="34" charset="0"/>
                        </a:rPr>
                        <a:t>Total</a:t>
                      </a:r>
                      <a:endParaRPr kumimoji="0" lang="es-E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400" b="0" i="0" u="none" strike="noStrike" dirty="0">
                          <a:effectLst/>
                          <a:latin typeface="+mj-lt"/>
                        </a:rPr>
                        <a:t>100.0%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AR" sz="1400" b="0" i="0" u="none" strike="noStrike" dirty="0">
                          <a:effectLst/>
                          <a:latin typeface="+mj-lt"/>
                        </a:rPr>
                        <a:t>100.0%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8346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Calibri" pitchFamily="34" charset="0"/>
                          <a:cs typeface="Times New Roman" pitchFamily="18" charset="0"/>
                        </a:rPr>
                        <a:t>Fuente: elaboración propia a partir de EPH-EPM</a:t>
                      </a:r>
                    </a:p>
                  </a:txBody>
                  <a:tcPr marL="64483" marR="64483" marT="0" marB="0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AR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AR" sz="1400" b="0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656606"/>
                  </a:ext>
                </a:extLst>
              </a:tr>
            </a:tbl>
          </a:graphicData>
        </a:graphic>
      </p:graphicFrame>
      <p:sp>
        <p:nvSpPr>
          <p:cNvPr id="8" name="Rectangle 4">
            <a:extLst>
              <a:ext uri="{FF2B5EF4-FFF2-40B4-BE49-F238E27FC236}">
                <a16:creationId xmlns:a16="http://schemas.microsoft.com/office/drawing/2014/main" id="{3D0421A9-97C1-56D6-2D56-E527DD757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824" y="5811361"/>
            <a:ext cx="37444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 eaLnBrk="1" hangingPunct="1"/>
            <a:r>
              <a:rPr lang="es-AR" b="1" dirty="0">
                <a:latin typeface="Cambria" panose="02040503050406030204" pitchFamily="18" charset="0"/>
                <a:ea typeface="Cambria" panose="02040503050406030204" pitchFamily="18" charset="0"/>
              </a:rPr>
              <a:t>D</a:t>
            </a:r>
            <a:r>
              <a:rPr lang="el-GR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AR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AR" dirty="0">
                <a:latin typeface="Cambria" panose="02040503050406030204" pitchFamily="18" charset="0"/>
                <a:ea typeface="Cambria" panose="02040503050406030204" pitchFamily="18" charset="0"/>
              </a:rPr>
              <a:t>= 54,6% – 42,1 % = </a:t>
            </a:r>
            <a:r>
              <a:rPr lang="es-AR" b="1" dirty="0">
                <a:latin typeface="Cambria" panose="02040503050406030204" pitchFamily="18" charset="0"/>
                <a:ea typeface="Cambria" panose="02040503050406030204" pitchFamily="18" charset="0"/>
              </a:rPr>
              <a:t>12,5 pp.  </a:t>
            </a:r>
            <a:endParaRPr lang="es-AR" altLang="es-AR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48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68313" y="1126485"/>
            <a:ext cx="8424861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 eaLnBrk="1" hangingPunct="1">
              <a:buFont typeface="Wingdings" panose="05000000000000000000" pitchFamily="2" charset="2"/>
              <a:buChar char="§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Utilizamos </a:t>
            </a:r>
            <a:r>
              <a:rPr lang="es-AR" altLang="es-AR" b="1" i="1" dirty="0">
                <a:solidFill>
                  <a:srgbClr val="2A8A8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análisis multivariado </a:t>
            </a: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para estudiar los efectos de múltiples variables explicativas en una variable dependiente. </a:t>
            </a:r>
          </a:p>
          <a:p>
            <a:pPr marL="285750" indent="-285750" algn="just" eaLnBrk="1" hangingPunct="1">
              <a:buFont typeface="Wingdings" panose="05000000000000000000" pitchFamily="2" charset="2"/>
              <a:buChar char="§"/>
            </a:pPr>
            <a:endParaRPr lang="es-AR" altLang="es-A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 eaLnBrk="1" hangingPunct="1">
              <a:buFont typeface="Wingdings" panose="05000000000000000000" pitchFamily="2" charset="2"/>
              <a:buChar char="§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Lo usamos por distintas razones:</a:t>
            </a:r>
          </a:p>
          <a:p>
            <a:pPr marL="285750" indent="-285750" algn="just" eaLnBrk="1" hangingPunct="1">
              <a:buFont typeface="Wingdings" panose="05000000000000000000" pitchFamily="2" charset="2"/>
              <a:buChar char="§"/>
            </a:pPr>
            <a:endParaRPr lang="es-AR" altLang="es-A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028700" lvl="1" algn="just" eaLnBrk="1" hangingPunct="1">
              <a:buFont typeface="Wingdings" panose="05000000000000000000" pitchFamily="2" charset="2"/>
              <a:buChar char="§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Porque si queremos analizar causalidad, hay que </a:t>
            </a:r>
            <a:r>
              <a:rPr lang="es-AR" altLang="es-AR" b="1" i="1" dirty="0">
                <a:latin typeface="Cambria" panose="02040503050406030204" pitchFamily="18" charset="0"/>
                <a:ea typeface="Cambria" panose="02040503050406030204" pitchFamily="18" charset="0"/>
              </a:rPr>
              <a:t>descartar relaciones espurias</a:t>
            </a: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1028700" lvl="1" algn="just" eaLnBrk="1" hangingPunct="1">
              <a:buFont typeface="Wingdings" panose="05000000000000000000" pitchFamily="2" charset="2"/>
              <a:buChar char="§"/>
            </a:pPr>
            <a:endParaRPr lang="es-AR" altLang="es-A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028700" lvl="1" algn="just" eaLnBrk="1" hangingPunct="1">
              <a:buFont typeface="Wingdings" panose="05000000000000000000" pitchFamily="2" charset="2"/>
              <a:buChar char="§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Porque </a:t>
            </a:r>
            <a:r>
              <a:rPr lang="es-AR" altLang="es-AR" b="1" i="1" dirty="0">
                <a:latin typeface="Cambria" panose="02040503050406030204" pitchFamily="18" charset="0"/>
                <a:ea typeface="Cambria" panose="02040503050406030204" pitchFamily="18" charset="0"/>
              </a:rPr>
              <a:t>los fenómenos sociales son multifactoriales </a:t>
            </a: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y rara vez encontramos relaciones unilineales, por lo que debemos sumar más de una variable para entenderlos.</a:t>
            </a:r>
          </a:p>
          <a:p>
            <a:pPr marL="1028700" lvl="1" algn="just" eaLnBrk="1" hangingPunct="1">
              <a:buFont typeface="Wingdings" panose="05000000000000000000" pitchFamily="2" charset="2"/>
              <a:buChar char="§"/>
            </a:pPr>
            <a:endParaRPr lang="es-AR" altLang="es-A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028700" lvl="1" algn="just" eaLnBrk="1" hangingPunct="1">
              <a:buFont typeface="Wingdings" panose="05000000000000000000" pitchFamily="2" charset="2"/>
              <a:buChar char="§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Esto último es especialmente así cuando pensamos en las desigualdades desde una perspectiva </a:t>
            </a:r>
            <a:r>
              <a:rPr lang="es-AR" altLang="es-AR" b="1" i="1" dirty="0">
                <a:latin typeface="Cambria" panose="02040503050406030204" pitchFamily="18" charset="0"/>
                <a:ea typeface="Cambria" panose="02040503050406030204" pitchFamily="18" charset="0"/>
              </a:rPr>
              <a:t>interseccional</a:t>
            </a: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.  </a:t>
            </a:r>
          </a:p>
          <a:p>
            <a:pPr marL="285750" indent="-285750" algn="just" eaLnBrk="1" hangingPunct="1">
              <a:buFont typeface="Wingdings" panose="05000000000000000000" pitchFamily="2" charset="2"/>
              <a:buChar char="§"/>
            </a:pPr>
            <a:endParaRPr lang="es-AR" altLang="es-A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 eaLnBrk="1" hangingPunct="1">
              <a:buFont typeface="Wingdings" panose="05000000000000000000" pitchFamily="2" charset="2"/>
              <a:buChar char="§"/>
            </a:pPr>
            <a:endParaRPr lang="es-AR" altLang="es-A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14 Rectángulo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0" name="2 Rectángulo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18 Rectángulo redondeado"/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12" name="19 Conector recto"/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0 CuadroTexto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Análisis multivariado</a:t>
            </a:r>
          </a:p>
        </p:txBody>
      </p:sp>
    </p:spTree>
    <p:extLst>
      <p:ext uri="{BB962C8B-B14F-4D97-AF65-F5344CB8AC3E}">
        <p14:creationId xmlns:p14="http://schemas.microsoft.com/office/powerpoint/2010/main" val="18778421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4B281-9320-9534-2D81-BB59F2E38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381087CC-6375-F923-64D9-E3ACB602E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26485"/>
            <a:ext cx="8424861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 eaLnBrk="1" hangingPunct="1">
              <a:buFont typeface="Wingdings" panose="05000000000000000000" pitchFamily="2" charset="2"/>
              <a:buChar char="§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En general, al incorporar el estudio de más de dos variables podemos detectar:</a:t>
            </a:r>
          </a:p>
          <a:p>
            <a:pPr marL="285750" indent="-285750" algn="just" eaLnBrk="1" hangingPunct="1">
              <a:buFont typeface="Wingdings" panose="05000000000000000000" pitchFamily="2" charset="2"/>
              <a:buChar char="ü"/>
            </a:pPr>
            <a:endParaRPr lang="es-AR" altLang="es-A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028700" lvl="1" algn="just" eaLnBrk="1" hangingPunct="1">
              <a:buFont typeface="Wingdings" panose="05000000000000000000" pitchFamily="2" charset="2"/>
              <a:buChar char="§"/>
            </a:pPr>
            <a:r>
              <a:rPr lang="es-AR" altLang="es-AR" b="1" i="1" dirty="0">
                <a:solidFill>
                  <a:srgbClr val="2A8A8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Relaciones espurias</a:t>
            </a: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, en los que T afecta conjuntamente tanto a Y como a X.</a:t>
            </a:r>
          </a:p>
          <a:p>
            <a:pPr marL="1028700" lvl="1" algn="just" eaLnBrk="1" hangingPunct="1">
              <a:buFont typeface="Wingdings" panose="05000000000000000000" pitchFamily="2" charset="2"/>
              <a:buChar char="§"/>
            </a:pPr>
            <a:endParaRPr lang="es-AR" altLang="es-A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028700" lvl="1" algn="just" eaLnBrk="1" hangingPunct="1">
              <a:buFont typeface="Wingdings" panose="05000000000000000000" pitchFamily="2" charset="2"/>
              <a:buChar char="§"/>
            </a:pPr>
            <a:r>
              <a:rPr lang="es-AR" altLang="es-AR" b="1" i="1" dirty="0">
                <a:solidFill>
                  <a:srgbClr val="2A8A8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Relaciones en cadena</a:t>
            </a: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, en las que T es una variable interviniente (también llamada variable mediadora), de modo que X afecta indirectamente a Y a través de sus efectos en T.</a:t>
            </a:r>
          </a:p>
          <a:p>
            <a:pPr marL="1028700" lvl="1" algn="just" eaLnBrk="1" hangingPunct="1">
              <a:buFont typeface="Wingdings" panose="05000000000000000000" pitchFamily="2" charset="2"/>
              <a:buChar char="§"/>
            </a:pPr>
            <a:endParaRPr lang="es-AR" altLang="es-AR" b="1" i="1" dirty="0">
              <a:solidFill>
                <a:srgbClr val="2A8A85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028700" lvl="1" algn="just" eaLnBrk="1" hangingPunct="1">
              <a:buFont typeface="Wingdings" panose="05000000000000000000" pitchFamily="2" charset="2"/>
              <a:buChar char="§"/>
            </a:pPr>
            <a:r>
              <a:rPr lang="es-AR" altLang="es-AR" b="1" i="1" dirty="0">
                <a:solidFill>
                  <a:srgbClr val="2A8A8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Interacción estadística</a:t>
            </a: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, en la que el efecto de X en Y varía según el valor de T.</a:t>
            </a:r>
          </a:p>
        </p:txBody>
      </p:sp>
      <p:sp>
        <p:nvSpPr>
          <p:cNvPr id="9" name="14 Rectángulo">
            <a:extLst>
              <a:ext uri="{FF2B5EF4-FFF2-40B4-BE49-F238E27FC236}">
                <a16:creationId xmlns:a16="http://schemas.microsoft.com/office/drawing/2014/main" id="{350BE0A6-B631-9FC1-F3DA-0EDF9915607E}"/>
              </a:ext>
            </a:extLst>
          </p:cNvPr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0" name="2 Rectángulo">
            <a:extLst>
              <a:ext uri="{FF2B5EF4-FFF2-40B4-BE49-F238E27FC236}">
                <a16:creationId xmlns:a16="http://schemas.microsoft.com/office/drawing/2014/main" id="{B6495723-A316-0098-78FF-1DFED212044F}"/>
              </a:ext>
            </a:extLst>
          </p:cNvPr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18 Rectángulo redondeado">
            <a:extLst>
              <a:ext uri="{FF2B5EF4-FFF2-40B4-BE49-F238E27FC236}">
                <a16:creationId xmlns:a16="http://schemas.microsoft.com/office/drawing/2014/main" id="{7E2A4C43-3E5A-7290-AAFC-1A864B701DD7}"/>
              </a:ext>
            </a:extLst>
          </p:cNvPr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12" name="19 Conector recto">
            <a:extLst>
              <a:ext uri="{FF2B5EF4-FFF2-40B4-BE49-F238E27FC236}">
                <a16:creationId xmlns:a16="http://schemas.microsoft.com/office/drawing/2014/main" id="{A7106CC1-49C4-5224-2DB3-6F4CCAC3E83E}"/>
              </a:ext>
            </a:extLst>
          </p:cNvPr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0 CuadroTexto">
            <a:extLst>
              <a:ext uri="{FF2B5EF4-FFF2-40B4-BE49-F238E27FC236}">
                <a16:creationId xmlns:a16="http://schemas.microsoft.com/office/drawing/2014/main" id="{5C15E5C2-103A-8401-B553-5089C78D17A8}"/>
              </a:ext>
            </a:extLst>
          </p:cNvPr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Análisis multivariado</a:t>
            </a:r>
          </a:p>
        </p:txBody>
      </p:sp>
    </p:spTree>
    <p:extLst>
      <p:ext uri="{BB962C8B-B14F-4D97-AF65-F5344CB8AC3E}">
        <p14:creationId xmlns:p14="http://schemas.microsoft.com/office/powerpoint/2010/main" val="94720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93101-7928-52FA-4CF4-10DE66CEF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ECD47E74-0DBB-C15C-156D-EE6F5A71B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26485"/>
            <a:ext cx="84248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 eaLnBrk="1" hangingPunct="1">
              <a:buFont typeface="Wingdings" panose="05000000000000000000" pitchFamily="2" charset="2"/>
              <a:buChar char="§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De acuerdo con </a:t>
            </a:r>
            <a:r>
              <a:rPr lang="es-AR" altLang="es-AR" dirty="0" err="1">
                <a:latin typeface="Cambria" panose="02040503050406030204" pitchFamily="18" charset="0"/>
                <a:ea typeface="Cambria" panose="02040503050406030204" pitchFamily="18" charset="0"/>
              </a:rPr>
              <a:t>Agresti</a:t>
            </a: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 (2021):</a:t>
            </a:r>
          </a:p>
        </p:txBody>
      </p:sp>
      <p:sp>
        <p:nvSpPr>
          <p:cNvPr id="9" name="14 Rectángulo">
            <a:extLst>
              <a:ext uri="{FF2B5EF4-FFF2-40B4-BE49-F238E27FC236}">
                <a16:creationId xmlns:a16="http://schemas.microsoft.com/office/drawing/2014/main" id="{B20B7107-37E5-4C99-0B25-CAAD6629935B}"/>
              </a:ext>
            </a:extLst>
          </p:cNvPr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0" name="2 Rectángulo">
            <a:extLst>
              <a:ext uri="{FF2B5EF4-FFF2-40B4-BE49-F238E27FC236}">
                <a16:creationId xmlns:a16="http://schemas.microsoft.com/office/drawing/2014/main" id="{D8723348-BD03-495B-414C-1A1268A293F9}"/>
              </a:ext>
            </a:extLst>
          </p:cNvPr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18 Rectángulo redondeado">
            <a:extLst>
              <a:ext uri="{FF2B5EF4-FFF2-40B4-BE49-F238E27FC236}">
                <a16:creationId xmlns:a16="http://schemas.microsoft.com/office/drawing/2014/main" id="{A1E10F7B-E89F-1B37-4ED4-589C9C3EC561}"/>
              </a:ext>
            </a:extLst>
          </p:cNvPr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12" name="19 Conector recto">
            <a:extLst>
              <a:ext uri="{FF2B5EF4-FFF2-40B4-BE49-F238E27FC236}">
                <a16:creationId xmlns:a16="http://schemas.microsoft.com/office/drawing/2014/main" id="{54D16216-8F9D-79C6-5871-8A454AA2B780}"/>
              </a:ext>
            </a:extLst>
          </p:cNvPr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0 CuadroTexto">
            <a:extLst>
              <a:ext uri="{FF2B5EF4-FFF2-40B4-BE49-F238E27FC236}">
                <a16:creationId xmlns:a16="http://schemas.microsoft.com/office/drawing/2014/main" id="{CF201ACF-0D2C-5152-1CCD-00E67C92633F}"/>
              </a:ext>
            </a:extLst>
          </p:cNvPr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Resultados posibles al introducir variables de control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1C591BFD-2D2E-7E3E-692B-3DB248381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25" y="1539623"/>
            <a:ext cx="8686777" cy="455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03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50825" y="1052736"/>
            <a:ext cx="84248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Retomamos nuestra hipótesis sobre el mercado laboral hondureño: </a:t>
            </a:r>
            <a:r>
              <a:rPr lang="es-ES" altLang="es-AR" b="1" i="1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“A mayor edad se reduce la propensión a tener problemas de empleo”. </a:t>
            </a:r>
            <a:endParaRPr lang="es-AR" altLang="es-A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F33295F-2383-4E6F-A2BF-939D8E8B85EF}"/>
              </a:ext>
            </a:extLst>
          </p:cNvPr>
          <p:cNvSpPr/>
          <p:nvPr/>
        </p:nvSpPr>
        <p:spPr>
          <a:xfrm>
            <a:off x="1547664" y="1919607"/>
            <a:ext cx="6336704" cy="702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defRPr/>
            </a:pPr>
            <a:r>
              <a:rPr lang="es-ES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Cuadro 1.</a:t>
            </a:r>
            <a:r>
              <a:rPr lang="es-E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 </a:t>
            </a:r>
            <a:r>
              <a:rPr lang="es-ES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Problemas de empleo según grupo de edad.</a:t>
            </a:r>
            <a:r>
              <a:rPr lang="es-E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 En porcentajes. </a:t>
            </a:r>
            <a:r>
              <a:rPr lang="es-ES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[XY]</a:t>
            </a:r>
            <a:endParaRPr lang="es-ES" dirty="0">
              <a:latin typeface="Cambria" panose="02040503050406030204" pitchFamily="18" charset="0"/>
              <a:ea typeface="Cambria" panose="02040503050406030204" pitchFamily="18" charset="0"/>
              <a:cs typeface="Times New Roman" pitchFamily="18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87FC3E3-5987-43E8-B85C-54CD5883AAED}"/>
              </a:ext>
            </a:extLst>
          </p:cNvPr>
          <p:cNvSpPr/>
          <p:nvPr/>
        </p:nvSpPr>
        <p:spPr>
          <a:xfrm>
            <a:off x="1547664" y="4724652"/>
            <a:ext cx="6336704" cy="325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1" hangingPunct="1">
              <a:lnSpc>
                <a:spcPct val="115000"/>
              </a:lnSpc>
              <a:defRPr/>
            </a:pPr>
            <a:r>
              <a:rPr lang="es-ES" sz="14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Fuente: elaboración propia.</a:t>
            </a:r>
            <a:endParaRPr lang="es-ES" sz="1400" dirty="0">
              <a:latin typeface="Cambria" panose="02040503050406030204" pitchFamily="18" charset="0"/>
              <a:ea typeface="Cambria" panose="02040503050406030204" pitchFamily="18" charset="0"/>
              <a:cs typeface="Times New Roman" pitchFamily="18" charset="0"/>
            </a:endParaRPr>
          </a:p>
        </p:txBody>
      </p:sp>
      <p:sp>
        <p:nvSpPr>
          <p:cNvPr id="26" name="Rectangle 4">
            <a:extLst>
              <a:ext uri="{FF2B5EF4-FFF2-40B4-BE49-F238E27FC236}">
                <a16:creationId xmlns:a16="http://schemas.microsoft.com/office/drawing/2014/main" id="{28855695-85BF-415A-A276-7A8AFF85F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3428" y="5305777"/>
            <a:ext cx="2448272" cy="369332"/>
          </a:xfrm>
          <a:prstGeom prst="rect">
            <a:avLst/>
          </a:prstGeom>
          <a:solidFill>
            <a:srgbClr val="FFC0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ctr" eaLnBrk="1" hangingPunct="1"/>
            <a:r>
              <a:rPr lang="el-GR" b="1" dirty="0">
                <a:latin typeface="Cambria" panose="02040503050406030204" pitchFamily="18" charset="0"/>
                <a:ea typeface="Cambria" panose="02040503050406030204" pitchFamily="18" charset="0"/>
              </a:rPr>
              <a:t>ε </a:t>
            </a:r>
            <a:r>
              <a:rPr lang="es-AR" dirty="0">
                <a:latin typeface="Calibri" pitchFamily="34" charset="0"/>
              </a:rPr>
              <a:t>= </a:t>
            </a:r>
            <a:r>
              <a:rPr lang="es-AR" dirty="0">
                <a:latin typeface="Cambria" panose="02040503050406030204" pitchFamily="18" charset="0"/>
                <a:ea typeface="Cambria" panose="02040503050406030204" pitchFamily="18" charset="0"/>
              </a:rPr>
              <a:t>± </a:t>
            </a:r>
            <a:r>
              <a:rPr lang="es-AR" dirty="0">
                <a:latin typeface="Calibri" pitchFamily="34" charset="0"/>
              </a:rPr>
              <a:t>12,5 pp.</a:t>
            </a:r>
            <a:endParaRPr lang="es-AR" altLang="es-AR" dirty="0">
              <a:latin typeface="Calibri" panose="020F0502020204030204" pitchFamily="34" charset="0"/>
            </a:endParaRPr>
          </a:p>
        </p:txBody>
      </p:sp>
      <p:sp>
        <p:nvSpPr>
          <p:cNvPr id="8" name="14 Rectángulo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9" name="2 Rectángulo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0" name="18 Rectángulo redondeado"/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11" name="19 Conector recto"/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0 CuadroTexto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Un ejemplo de interacción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2E8ECE7-A725-37F2-D92A-CD0CF3FCB5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213"/>
          <a:stretch>
            <a:fillRect/>
          </a:stretch>
        </p:blipFill>
        <p:spPr>
          <a:xfrm>
            <a:off x="1619672" y="2637532"/>
            <a:ext cx="6192688" cy="208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3686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A6064-18DA-1A48-F42E-6934D0D88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AF5C4165-0FB8-59FB-B163-3AB5AE3CD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052736"/>
            <a:ext cx="842486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Vamos a introducir una variable de control para ver si nuestra relación original se mantiene o cambia. </a:t>
            </a:r>
          </a:p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endParaRPr lang="es-AR" altLang="es-A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Planteamos la siguiente proposición: </a:t>
            </a:r>
            <a:r>
              <a:rPr lang="es-ES" altLang="es-AR" b="1" i="1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“A mayor edad se reduce la propensión a tener problemas de empleo, y esta relación va a cambiar de acuerdo con el nivel educativo de las personas. Esperamos que, entre las personas con mayor nivel educativo, se profundice la relación entre edad y problemas de empleo”.</a:t>
            </a:r>
            <a:endParaRPr lang="es-AR" altLang="es-A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0925C130-4E9A-E966-F6F2-E228FEBD4017}"/>
              </a:ext>
            </a:extLst>
          </p:cNvPr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9" name="2 Rectángulo">
            <a:extLst>
              <a:ext uri="{FF2B5EF4-FFF2-40B4-BE49-F238E27FC236}">
                <a16:creationId xmlns:a16="http://schemas.microsoft.com/office/drawing/2014/main" id="{E0FCCCF0-5288-A84C-8CA2-3FEDCC09E37C}"/>
              </a:ext>
            </a:extLst>
          </p:cNvPr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0" name="18 Rectángulo redondeado">
            <a:extLst>
              <a:ext uri="{FF2B5EF4-FFF2-40B4-BE49-F238E27FC236}">
                <a16:creationId xmlns:a16="http://schemas.microsoft.com/office/drawing/2014/main" id="{FE21C1DA-EE8A-3467-734C-E06D52A4E382}"/>
              </a:ext>
            </a:extLst>
          </p:cNvPr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11" name="19 Conector recto">
            <a:extLst>
              <a:ext uri="{FF2B5EF4-FFF2-40B4-BE49-F238E27FC236}">
                <a16:creationId xmlns:a16="http://schemas.microsoft.com/office/drawing/2014/main" id="{50925230-B42B-FD57-BF6E-31E1DEEB694B}"/>
              </a:ext>
            </a:extLst>
          </p:cNvPr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0 CuadroTexto">
            <a:extLst>
              <a:ext uri="{FF2B5EF4-FFF2-40B4-BE49-F238E27FC236}">
                <a16:creationId xmlns:a16="http://schemas.microsoft.com/office/drawing/2014/main" id="{A60DFEBB-DD30-4ECC-067D-320C28F44962}"/>
              </a:ext>
            </a:extLst>
          </p:cNvPr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Un ejemplo de interacción</a:t>
            </a:r>
          </a:p>
        </p:txBody>
      </p:sp>
    </p:spTree>
    <p:extLst>
      <p:ext uri="{BB962C8B-B14F-4D97-AF65-F5344CB8AC3E}">
        <p14:creationId xmlns:p14="http://schemas.microsoft.com/office/powerpoint/2010/main" val="28804610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2C03D-3540-16F1-F19F-CB7FEE60B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4">
            <a:extLst>
              <a:ext uri="{FF2B5EF4-FFF2-40B4-BE49-F238E27FC236}">
                <a16:creationId xmlns:a16="http://schemas.microsoft.com/office/drawing/2014/main" id="{4930C228-A4AE-4CA2-610C-DFBF8F755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037" y="2656202"/>
            <a:ext cx="1262137" cy="307777"/>
          </a:xfrm>
          <a:prstGeom prst="rect">
            <a:avLst/>
          </a:prstGeom>
          <a:solidFill>
            <a:srgbClr val="FFC0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ctr" eaLnBrk="1" hangingPunct="1"/>
            <a:r>
              <a:rPr lang="el-GR" sz="1400" b="1" dirty="0">
                <a:latin typeface="Cambria" panose="02040503050406030204" pitchFamily="18" charset="0"/>
                <a:ea typeface="Cambria" panose="02040503050406030204" pitchFamily="18" charset="0"/>
              </a:rPr>
              <a:t>ε </a:t>
            </a:r>
            <a:r>
              <a:rPr lang="es-AR" sz="1400" dirty="0">
                <a:latin typeface="Calibri" pitchFamily="34" charset="0"/>
              </a:rPr>
              <a:t>= </a:t>
            </a:r>
            <a:r>
              <a:rPr lang="es-AR" sz="1400" dirty="0">
                <a:latin typeface="Cambria" panose="02040503050406030204" pitchFamily="18" charset="0"/>
                <a:ea typeface="Cambria" panose="02040503050406030204" pitchFamily="18" charset="0"/>
              </a:rPr>
              <a:t>± </a:t>
            </a:r>
            <a:r>
              <a:rPr lang="es-AR" sz="1400" dirty="0">
                <a:latin typeface="Calibri" pitchFamily="34" charset="0"/>
              </a:rPr>
              <a:t>10,3 pp.</a:t>
            </a:r>
            <a:endParaRPr lang="es-AR" altLang="es-AR" sz="1400" dirty="0">
              <a:latin typeface="Calibri" panose="020F0502020204030204" pitchFamily="34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0E6BAEED-EF82-4E60-EA20-B93EFCB783A1}"/>
              </a:ext>
            </a:extLst>
          </p:cNvPr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9" name="2 Rectángulo">
            <a:extLst>
              <a:ext uri="{FF2B5EF4-FFF2-40B4-BE49-F238E27FC236}">
                <a16:creationId xmlns:a16="http://schemas.microsoft.com/office/drawing/2014/main" id="{68B72045-78D4-D8E1-273A-58C65B6BC3F1}"/>
              </a:ext>
            </a:extLst>
          </p:cNvPr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0" name="18 Rectángulo redondeado">
            <a:extLst>
              <a:ext uri="{FF2B5EF4-FFF2-40B4-BE49-F238E27FC236}">
                <a16:creationId xmlns:a16="http://schemas.microsoft.com/office/drawing/2014/main" id="{3C24DF90-6B5B-2BA6-EB6D-D554665523EF}"/>
              </a:ext>
            </a:extLst>
          </p:cNvPr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11" name="19 Conector recto">
            <a:extLst>
              <a:ext uri="{FF2B5EF4-FFF2-40B4-BE49-F238E27FC236}">
                <a16:creationId xmlns:a16="http://schemas.microsoft.com/office/drawing/2014/main" id="{8FBF06CF-5306-D05A-5B45-9DF25C82041B}"/>
              </a:ext>
            </a:extLst>
          </p:cNvPr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0 CuadroTexto">
            <a:extLst>
              <a:ext uri="{FF2B5EF4-FFF2-40B4-BE49-F238E27FC236}">
                <a16:creationId xmlns:a16="http://schemas.microsoft.com/office/drawing/2014/main" id="{F2A1D0C3-66C0-4D47-92ED-8D98F9C54838}"/>
              </a:ext>
            </a:extLst>
          </p:cNvPr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Un ejemplo de interacción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3CAE3F1-D61C-0003-1664-79F9572F69D7}"/>
              </a:ext>
            </a:extLst>
          </p:cNvPr>
          <p:cNvSpPr/>
          <p:nvPr/>
        </p:nvSpPr>
        <p:spPr>
          <a:xfrm>
            <a:off x="1121953" y="1081642"/>
            <a:ext cx="6336704" cy="702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defRPr/>
            </a:pPr>
            <a:r>
              <a:rPr lang="es-ES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Cuadro 2.</a:t>
            </a:r>
            <a:r>
              <a:rPr lang="es-E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 </a:t>
            </a:r>
            <a:r>
              <a:rPr lang="es-ES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Problemas de empleo según grupo de edad, por nivel educativo.</a:t>
            </a:r>
            <a:r>
              <a:rPr lang="es-E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 En porcentajes. </a:t>
            </a:r>
            <a:r>
              <a:rPr lang="es-ES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[XY, t]</a:t>
            </a:r>
            <a:endParaRPr lang="es-ES" dirty="0">
              <a:latin typeface="Cambria" panose="02040503050406030204" pitchFamily="18" charset="0"/>
              <a:ea typeface="Cambria" panose="02040503050406030204" pitchFamily="18" charset="0"/>
              <a:cs typeface="Times New Roman" pitchFamily="18" charset="0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50D614D1-3717-A909-F750-50E5BF176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038" y="4042969"/>
            <a:ext cx="1262137" cy="307777"/>
          </a:xfrm>
          <a:prstGeom prst="rect">
            <a:avLst/>
          </a:prstGeom>
          <a:solidFill>
            <a:srgbClr val="FFC0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ctr" eaLnBrk="1" hangingPunct="1"/>
            <a:r>
              <a:rPr lang="el-GR" sz="1400" b="1" dirty="0">
                <a:latin typeface="Cambria" panose="02040503050406030204" pitchFamily="18" charset="0"/>
                <a:ea typeface="Cambria" panose="02040503050406030204" pitchFamily="18" charset="0"/>
              </a:rPr>
              <a:t>ε </a:t>
            </a:r>
            <a:r>
              <a:rPr lang="es-AR" sz="1400" dirty="0">
                <a:latin typeface="Calibri" pitchFamily="34" charset="0"/>
              </a:rPr>
              <a:t>= </a:t>
            </a:r>
            <a:r>
              <a:rPr lang="es-AR" sz="1400" dirty="0">
                <a:latin typeface="Cambria" panose="02040503050406030204" pitchFamily="18" charset="0"/>
                <a:ea typeface="Cambria" panose="02040503050406030204" pitchFamily="18" charset="0"/>
              </a:rPr>
              <a:t>± </a:t>
            </a:r>
            <a:r>
              <a:rPr lang="es-AR" sz="1400" dirty="0">
                <a:latin typeface="Calibri" pitchFamily="34" charset="0"/>
              </a:rPr>
              <a:t>19,3 pp.</a:t>
            </a:r>
            <a:endParaRPr lang="es-AR" altLang="es-AR" sz="1400" dirty="0">
              <a:latin typeface="Calibri" panose="020F0502020204030204" pitchFamily="34" charset="0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06425F8-59D4-56F8-66B6-2E6D9BC86F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66"/>
          <a:stretch>
            <a:fillRect/>
          </a:stretch>
        </p:blipFill>
        <p:spPr>
          <a:xfrm>
            <a:off x="1201388" y="1783950"/>
            <a:ext cx="6353175" cy="354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9779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E6DE5-2FBC-45A3-4C72-4F2942F25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E55A1ACA-1078-8DF5-32AF-B36F5A520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052736"/>
            <a:ext cx="84248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Terminamos con dos cuadros más: </a:t>
            </a: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D2585C41-B29F-CD78-6D76-0BA4721C9D12}"/>
              </a:ext>
            </a:extLst>
          </p:cNvPr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9" name="2 Rectángulo">
            <a:extLst>
              <a:ext uri="{FF2B5EF4-FFF2-40B4-BE49-F238E27FC236}">
                <a16:creationId xmlns:a16="http://schemas.microsoft.com/office/drawing/2014/main" id="{56BD0E62-7780-15F5-47FB-C3B00FF5C1BA}"/>
              </a:ext>
            </a:extLst>
          </p:cNvPr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0" name="18 Rectángulo redondeado">
            <a:extLst>
              <a:ext uri="{FF2B5EF4-FFF2-40B4-BE49-F238E27FC236}">
                <a16:creationId xmlns:a16="http://schemas.microsoft.com/office/drawing/2014/main" id="{34ACB770-89B3-99FB-F5DD-91DCCE0201F6}"/>
              </a:ext>
            </a:extLst>
          </p:cNvPr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11" name="19 Conector recto">
            <a:extLst>
              <a:ext uri="{FF2B5EF4-FFF2-40B4-BE49-F238E27FC236}">
                <a16:creationId xmlns:a16="http://schemas.microsoft.com/office/drawing/2014/main" id="{18B31CB3-CCCE-18CC-D74E-F6B8830A702F}"/>
              </a:ext>
            </a:extLst>
          </p:cNvPr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0 CuadroTexto">
            <a:extLst>
              <a:ext uri="{FF2B5EF4-FFF2-40B4-BE49-F238E27FC236}">
                <a16:creationId xmlns:a16="http://schemas.microsoft.com/office/drawing/2014/main" id="{6C74C115-AE72-6BA2-A87C-4D2E5E7DDF06}"/>
              </a:ext>
            </a:extLst>
          </p:cNvPr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Un ejemplo de interacción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5F4A4D9-CD59-FE16-7991-32A15451F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576" y="2478808"/>
            <a:ext cx="6076950" cy="2676525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EE6F1359-1EDE-31D3-F6DE-713A4F881619}"/>
              </a:ext>
            </a:extLst>
          </p:cNvPr>
          <p:cNvSpPr/>
          <p:nvPr/>
        </p:nvSpPr>
        <p:spPr>
          <a:xfrm>
            <a:off x="1533525" y="1659208"/>
            <a:ext cx="6336704" cy="702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defRPr/>
            </a:pPr>
            <a:r>
              <a:rPr lang="es-ES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Cuadro 3.</a:t>
            </a:r>
            <a:r>
              <a:rPr lang="es-E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 </a:t>
            </a:r>
            <a:r>
              <a:rPr lang="es-ES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Nivel educativo según grupo de edad.</a:t>
            </a:r>
            <a:r>
              <a:rPr lang="es-E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 En porcentajes. </a:t>
            </a:r>
            <a:r>
              <a:rPr lang="es-ES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[XT]</a:t>
            </a:r>
            <a:endParaRPr lang="es-ES" dirty="0">
              <a:latin typeface="Cambria" panose="02040503050406030204" pitchFamily="18" charset="0"/>
              <a:ea typeface="Cambria" panose="02040503050406030204" pitchFamily="18" charset="0"/>
              <a:cs typeface="Times New Roman" pitchFamily="18" charset="0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0016A584-3D8C-2842-AA0C-097FD9687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3428" y="5305777"/>
            <a:ext cx="2448272" cy="369332"/>
          </a:xfrm>
          <a:prstGeom prst="rect">
            <a:avLst/>
          </a:prstGeom>
          <a:solidFill>
            <a:srgbClr val="FFC0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ctr" eaLnBrk="1" hangingPunct="1"/>
            <a:r>
              <a:rPr lang="el-GR" b="1" dirty="0">
                <a:latin typeface="Cambria" panose="02040503050406030204" pitchFamily="18" charset="0"/>
                <a:ea typeface="Cambria" panose="02040503050406030204" pitchFamily="18" charset="0"/>
              </a:rPr>
              <a:t>ε </a:t>
            </a:r>
            <a:r>
              <a:rPr lang="es-AR" dirty="0">
                <a:latin typeface="Calibri" pitchFamily="34" charset="0"/>
              </a:rPr>
              <a:t>= </a:t>
            </a:r>
            <a:r>
              <a:rPr lang="es-AR" dirty="0">
                <a:latin typeface="Cambria" panose="02040503050406030204" pitchFamily="18" charset="0"/>
                <a:ea typeface="Cambria" panose="02040503050406030204" pitchFamily="18" charset="0"/>
              </a:rPr>
              <a:t>± </a:t>
            </a:r>
            <a:r>
              <a:rPr lang="es-AR" dirty="0">
                <a:latin typeface="Calibri" pitchFamily="34" charset="0"/>
              </a:rPr>
              <a:t>13,1 pp.</a:t>
            </a:r>
            <a:endParaRPr lang="es-AR" altLang="es-AR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751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DCAE6-B6FF-C9B2-19AC-B96886BF3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45E7E443-48EF-9860-95BB-9EF94DF2F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052736"/>
            <a:ext cx="84248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Terminamos con </a:t>
            </a:r>
            <a:r>
              <a:rPr lang="es-AR" altLang="es-AR">
                <a:latin typeface="Cambria" panose="02040503050406030204" pitchFamily="18" charset="0"/>
                <a:ea typeface="Cambria" panose="02040503050406030204" pitchFamily="18" charset="0"/>
              </a:rPr>
              <a:t>dos cuadros más: </a:t>
            </a:r>
            <a:endParaRPr lang="es-AR" altLang="es-A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25459CD6-05E9-D196-B0F2-39077EE83962}"/>
              </a:ext>
            </a:extLst>
          </p:cNvPr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9" name="2 Rectángulo">
            <a:extLst>
              <a:ext uri="{FF2B5EF4-FFF2-40B4-BE49-F238E27FC236}">
                <a16:creationId xmlns:a16="http://schemas.microsoft.com/office/drawing/2014/main" id="{4BEDF648-516B-3197-55F9-69140F125958}"/>
              </a:ext>
            </a:extLst>
          </p:cNvPr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0" name="18 Rectángulo redondeado">
            <a:extLst>
              <a:ext uri="{FF2B5EF4-FFF2-40B4-BE49-F238E27FC236}">
                <a16:creationId xmlns:a16="http://schemas.microsoft.com/office/drawing/2014/main" id="{FC1C7AE1-6C5F-8087-F5A7-1C8C63840C07}"/>
              </a:ext>
            </a:extLst>
          </p:cNvPr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11" name="19 Conector recto">
            <a:extLst>
              <a:ext uri="{FF2B5EF4-FFF2-40B4-BE49-F238E27FC236}">
                <a16:creationId xmlns:a16="http://schemas.microsoft.com/office/drawing/2014/main" id="{A493FE7E-10D9-DCD0-E816-41B05C6AC871}"/>
              </a:ext>
            </a:extLst>
          </p:cNvPr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0 CuadroTexto">
            <a:extLst>
              <a:ext uri="{FF2B5EF4-FFF2-40B4-BE49-F238E27FC236}">
                <a16:creationId xmlns:a16="http://schemas.microsoft.com/office/drawing/2014/main" id="{46FFDCDE-E0C5-0039-B858-1AB3510B490F}"/>
              </a:ext>
            </a:extLst>
          </p:cNvPr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Un ejemplo de interacción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0ABDB34-3C4B-BDD2-5D08-935E507A3414}"/>
              </a:ext>
            </a:extLst>
          </p:cNvPr>
          <p:cNvSpPr/>
          <p:nvPr/>
        </p:nvSpPr>
        <p:spPr>
          <a:xfrm>
            <a:off x="1533525" y="1659208"/>
            <a:ext cx="6336704" cy="702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defRPr/>
            </a:pPr>
            <a:r>
              <a:rPr lang="es-ES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Cuadro 4.</a:t>
            </a:r>
            <a:r>
              <a:rPr lang="es-E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 </a:t>
            </a:r>
            <a:r>
              <a:rPr lang="es-ES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Problemas de empleo según nivel educativo.</a:t>
            </a:r>
            <a:r>
              <a:rPr lang="es-E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 En porcentajes. </a:t>
            </a:r>
            <a:r>
              <a:rPr lang="es-ES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[TY]</a:t>
            </a:r>
            <a:endParaRPr lang="es-ES" dirty="0">
              <a:latin typeface="Cambria" panose="02040503050406030204" pitchFamily="18" charset="0"/>
              <a:ea typeface="Cambria" panose="02040503050406030204" pitchFamily="18" charset="0"/>
              <a:cs typeface="Times New Roman" pitchFamily="18" charset="0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99C7454-9C5B-D753-3F73-42C8AE2BE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3428" y="5305777"/>
            <a:ext cx="2448272" cy="369332"/>
          </a:xfrm>
          <a:prstGeom prst="rect">
            <a:avLst/>
          </a:prstGeom>
          <a:solidFill>
            <a:srgbClr val="FFC0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ctr" eaLnBrk="1" hangingPunct="1"/>
            <a:r>
              <a:rPr lang="el-GR" b="1" dirty="0">
                <a:latin typeface="Cambria" panose="02040503050406030204" pitchFamily="18" charset="0"/>
                <a:ea typeface="Cambria" panose="02040503050406030204" pitchFamily="18" charset="0"/>
              </a:rPr>
              <a:t>ε </a:t>
            </a:r>
            <a:r>
              <a:rPr lang="es-AR" dirty="0">
                <a:latin typeface="Calibri" pitchFamily="34" charset="0"/>
              </a:rPr>
              <a:t>= </a:t>
            </a:r>
            <a:r>
              <a:rPr lang="es-AR" dirty="0">
                <a:latin typeface="Cambria" panose="02040503050406030204" pitchFamily="18" charset="0"/>
                <a:ea typeface="Cambria" panose="02040503050406030204" pitchFamily="18" charset="0"/>
              </a:rPr>
              <a:t>± </a:t>
            </a:r>
            <a:r>
              <a:rPr lang="es-AR" dirty="0">
                <a:latin typeface="Calibri" pitchFamily="34" charset="0"/>
              </a:rPr>
              <a:t>8,3 pp.</a:t>
            </a:r>
            <a:endParaRPr lang="es-AR" altLang="es-AR" dirty="0">
              <a:latin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D5482BD-D83B-77F8-5C94-37138D68D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2475601"/>
            <a:ext cx="710565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3581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2387D-95D0-659A-0DA5-C3F613AB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3A616145-891C-0688-2A66-425B632AF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052736"/>
            <a:ext cx="842486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Si observamos lo que acabamos de ver, nos encontramos con que el análisis sistemático de las tablas de contingencia nos permitió detectar una relación que se </a:t>
            </a:r>
            <a:r>
              <a:rPr lang="es-AR" altLang="es-AR" b="1" dirty="0">
                <a:latin typeface="Cambria" panose="02040503050406030204" pitchFamily="18" charset="0"/>
                <a:ea typeface="Cambria" panose="02040503050406030204" pitchFamily="18" charset="0"/>
              </a:rPr>
              <a:t>altera al introducir una variable de control. En este caso, la educación.</a:t>
            </a:r>
            <a:endParaRPr lang="es-AR" altLang="es-A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B37D9830-DEAA-6B64-7B6A-06848C6D12F1}"/>
              </a:ext>
            </a:extLst>
          </p:cNvPr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9" name="2 Rectángulo">
            <a:extLst>
              <a:ext uri="{FF2B5EF4-FFF2-40B4-BE49-F238E27FC236}">
                <a16:creationId xmlns:a16="http://schemas.microsoft.com/office/drawing/2014/main" id="{ECD87E71-EEA8-9A97-84DD-A6E4614807D3}"/>
              </a:ext>
            </a:extLst>
          </p:cNvPr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0" name="18 Rectángulo redondeado">
            <a:extLst>
              <a:ext uri="{FF2B5EF4-FFF2-40B4-BE49-F238E27FC236}">
                <a16:creationId xmlns:a16="http://schemas.microsoft.com/office/drawing/2014/main" id="{5D14AB46-7B57-9B85-BD0E-5AF5C185A973}"/>
              </a:ext>
            </a:extLst>
          </p:cNvPr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11" name="19 Conector recto">
            <a:extLst>
              <a:ext uri="{FF2B5EF4-FFF2-40B4-BE49-F238E27FC236}">
                <a16:creationId xmlns:a16="http://schemas.microsoft.com/office/drawing/2014/main" id="{D38C6A6E-463A-7FE5-E55C-D8748FD2E398}"/>
              </a:ext>
            </a:extLst>
          </p:cNvPr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0 CuadroTexto">
            <a:extLst>
              <a:ext uri="{FF2B5EF4-FFF2-40B4-BE49-F238E27FC236}">
                <a16:creationId xmlns:a16="http://schemas.microsoft.com/office/drawing/2014/main" id="{37D5DFCC-C797-0F8D-88C2-B827EA20F0B3}"/>
              </a:ext>
            </a:extLst>
          </p:cNvPr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Un ejemplo de interacción</a:t>
            </a:r>
          </a:p>
        </p:txBody>
      </p:sp>
      <p:sp>
        <p:nvSpPr>
          <p:cNvPr id="31" name="Oval 7">
            <a:extLst>
              <a:ext uri="{FF2B5EF4-FFF2-40B4-BE49-F238E27FC236}">
                <a16:creationId xmlns:a16="http://schemas.microsoft.com/office/drawing/2014/main" id="{DBB3ADFF-AB6A-404E-DC40-D665AE4BC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7546" y="2840230"/>
            <a:ext cx="1401601" cy="601830"/>
          </a:xfrm>
          <a:prstGeom prst="rect">
            <a:avLst/>
          </a:prstGeom>
          <a:solidFill>
            <a:srgbClr val="006600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s-ES" altLang="es-AR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Edad</a:t>
            </a:r>
          </a:p>
        </p:txBody>
      </p:sp>
      <p:sp>
        <p:nvSpPr>
          <p:cNvPr id="32" name="Oval 7">
            <a:extLst>
              <a:ext uri="{FF2B5EF4-FFF2-40B4-BE49-F238E27FC236}">
                <a16:creationId xmlns:a16="http://schemas.microsoft.com/office/drawing/2014/main" id="{212A2091-3728-7E85-0B6D-EE9E4B661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455" y="2835301"/>
            <a:ext cx="1517633" cy="601828"/>
          </a:xfrm>
          <a:prstGeom prst="rect">
            <a:avLst/>
          </a:prstGeom>
          <a:solidFill>
            <a:srgbClr val="006600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s-ES" altLang="es-AR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Problemas</a:t>
            </a:r>
          </a:p>
          <a:p>
            <a:pPr algn="ctr"/>
            <a:r>
              <a:rPr lang="es-ES" altLang="es-AR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de empleo</a:t>
            </a:r>
            <a:endParaRPr lang="es-ES" altLang="es-AR" sz="1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33" name="28 Conector recto de flecha">
            <a:extLst>
              <a:ext uri="{FF2B5EF4-FFF2-40B4-BE49-F238E27FC236}">
                <a16:creationId xmlns:a16="http://schemas.microsoft.com/office/drawing/2014/main" id="{64D59FD4-7B83-3DC4-C45A-1AC9AD82E6F9}"/>
              </a:ext>
            </a:extLst>
          </p:cNvPr>
          <p:cNvCxnSpPr>
            <a:cxnSpLocks noChangeShapeType="1"/>
            <a:endCxn id="32" idx="1"/>
          </p:cNvCxnSpPr>
          <p:nvPr/>
        </p:nvCxnSpPr>
        <p:spPr bwMode="auto">
          <a:xfrm>
            <a:off x="4129147" y="3136215"/>
            <a:ext cx="627308" cy="0"/>
          </a:xfrm>
          <a:prstGeom prst="straightConnector1">
            <a:avLst/>
          </a:prstGeom>
          <a:ln w="28575">
            <a:headEnd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Rectangle 4">
            <a:extLst>
              <a:ext uri="{FF2B5EF4-FFF2-40B4-BE49-F238E27FC236}">
                <a16:creationId xmlns:a16="http://schemas.microsoft.com/office/drawing/2014/main" id="{44359BB3-66E4-2AB9-7234-1D374C846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367" y="2229863"/>
            <a:ext cx="84248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Efectivamente, partimos de una hipótesis que planteaba esto:</a:t>
            </a:r>
          </a:p>
        </p:txBody>
      </p:sp>
      <p:sp>
        <p:nvSpPr>
          <p:cNvPr id="41" name="Rectangle 4">
            <a:extLst>
              <a:ext uri="{FF2B5EF4-FFF2-40B4-BE49-F238E27FC236}">
                <a16:creationId xmlns:a16="http://schemas.microsoft.com/office/drawing/2014/main" id="{AA619CBE-C63D-CE2E-621F-C5740906A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131" y="3789483"/>
            <a:ext cx="84248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Y encontramos esto:</a:t>
            </a:r>
          </a:p>
        </p:txBody>
      </p:sp>
      <p:sp>
        <p:nvSpPr>
          <p:cNvPr id="42" name="Rectangle 4">
            <a:extLst>
              <a:ext uri="{FF2B5EF4-FFF2-40B4-BE49-F238E27FC236}">
                <a16:creationId xmlns:a16="http://schemas.microsoft.com/office/drawing/2014/main" id="{995DA48C-9150-A923-BFE0-17A3BD277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26" y="5899092"/>
            <a:ext cx="8424863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just" eaLnBrk="1" hangingPunct="1"/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La relación observada entre </a:t>
            </a:r>
            <a:r>
              <a:rPr lang="es-AR" altLang="es-AR" b="1" dirty="0">
                <a:latin typeface="Cambria" panose="02040503050406030204" pitchFamily="18" charset="0"/>
                <a:ea typeface="Cambria" panose="02040503050406030204" pitchFamily="18" charset="0"/>
              </a:rPr>
              <a:t>X </a:t>
            </a: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e </a:t>
            </a:r>
            <a:r>
              <a:rPr lang="es-AR" altLang="es-AR" b="1" dirty="0">
                <a:latin typeface="Cambria" panose="02040503050406030204" pitchFamily="18" charset="0"/>
                <a:ea typeface="Cambria" panose="02040503050406030204" pitchFamily="18" charset="0"/>
              </a:rPr>
              <a:t>Y</a:t>
            </a: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 se acentúa entre personas de mayor nivel educativo </a:t>
            </a:r>
            <a:r>
              <a:rPr lang="es-AR" altLang="es-AR" b="1" dirty="0">
                <a:latin typeface="Cambria" panose="02040503050406030204" pitchFamily="18" charset="0"/>
                <a:ea typeface="Cambria" panose="02040503050406030204" pitchFamily="18" charset="0"/>
              </a:rPr>
              <a:t>(t’)</a:t>
            </a: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 y se debilita entre personas con bajo nivel educativo </a:t>
            </a:r>
            <a:r>
              <a:rPr lang="es-AR" altLang="es-AR" b="1" dirty="0">
                <a:latin typeface="Cambria" panose="02040503050406030204" pitchFamily="18" charset="0"/>
                <a:ea typeface="Cambria" panose="02040503050406030204" pitchFamily="18" charset="0"/>
              </a:rPr>
              <a:t>(t)</a:t>
            </a: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2" name="Oval 7">
            <a:extLst>
              <a:ext uri="{FF2B5EF4-FFF2-40B4-BE49-F238E27FC236}">
                <a16:creationId xmlns:a16="http://schemas.microsoft.com/office/drawing/2014/main" id="{ABE5744A-AD7F-23DB-9D25-79BE5C7EE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3619" y="5054097"/>
            <a:ext cx="1401601" cy="601830"/>
          </a:xfrm>
          <a:prstGeom prst="rect">
            <a:avLst/>
          </a:prstGeom>
          <a:solidFill>
            <a:srgbClr val="006600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s-ES" altLang="es-AR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Edad</a:t>
            </a:r>
          </a:p>
        </p:txBody>
      </p:sp>
      <p:sp>
        <p:nvSpPr>
          <p:cNvPr id="3" name="Oval 7">
            <a:extLst>
              <a:ext uri="{FF2B5EF4-FFF2-40B4-BE49-F238E27FC236}">
                <a16:creationId xmlns:a16="http://schemas.microsoft.com/office/drawing/2014/main" id="{2FD08DCF-ADFC-F93A-E845-ABA46B391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079" y="5046362"/>
            <a:ext cx="1517633" cy="601828"/>
          </a:xfrm>
          <a:prstGeom prst="rect">
            <a:avLst/>
          </a:prstGeom>
          <a:solidFill>
            <a:srgbClr val="006600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s-ES" altLang="es-AR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Problemas</a:t>
            </a:r>
          </a:p>
          <a:p>
            <a:pPr algn="ctr"/>
            <a:r>
              <a:rPr lang="es-ES" altLang="es-AR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de empleo</a:t>
            </a:r>
            <a:endParaRPr lang="es-ES" altLang="es-AR" sz="1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4" name="28 Conector recto de flecha">
            <a:extLst>
              <a:ext uri="{FF2B5EF4-FFF2-40B4-BE49-F238E27FC236}">
                <a16:creationId xmlns:a16="http://schemas.microsoft.com/office/drawing/2014/main" id="{C11AD6D6-B9AE-23D2-5CA2-8865F6F266DC}"/>
              </a:ext>
            </a:extLst>
          </p:cNvPr>
          <p:cNvCxnSpPr>
            <a:cxnSpLocks noChangeShapeType="1"/>
            <a:stCxn id="2" idx="3"/>
            <a:endCxn id="3" idx="1"/>
          </p:cNvCxnSpPr>
          <p:nvPr/>
        </p:nvCxnSpPr>
        <p:spPr bwMode="auto">
          <a:xfrm flipV="1">
            <a:off x="3635220" y="5347276"/>
            <a:ext cx="1634859" cy="7736"/>
          </a:xfrm>
          <a:prstGeom prst="straightConnector1">
            <a:avLst/>
          </a:prstGeom>
          <a:ln w="28575">
            <a:headEnd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Oval 7">
            <a:extLst>
              <a:ext uri="{FF2B5EF4-FFF2-40B4-BE49-F238E27FC236}">
                <a16:creationId xmlns:a16="http://schemas.microsoft.com/office/drawing/2014/main" id="{4C3FAEC4-2BB6-D0C1-022B-9AC1FC6D6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870" y="4164426"/>
            <a:ext cx="1353855" cy="644369"/>
          </a:xfrm>
          <a:prstGeom prst="rect">
            <a:avLst/>
          </a:prstGeom>
          <a:solidFill>
            <a:srgbClr val="006600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s-ES" altLang="es-AR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Educación</a:t>
            </a:r>
          </a:p>
        </p:txBody>
      </p:sp>
      <p:cxnSp>
        <p:nvCxnSpPr>
          <p:cNvPr id="16" name="28 Conector recto de flecha">
            <a:extLst>
              <a:ext uri="{FF2B5EF4-FFF2-40B4-BE49-F238E27FC236}">
                <a16:creationId xmlns:a16="http://schemas.microsoft.com/office/drawing/2014/main" id="{5BFD9F07-93AF-AA1D-3CEB-D345DD5E56D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39797" y="4808795"/>
            <a:ext cx="0" cy="538481"/>
          </a:xfrm>
          <a:prstGeom prst="straightConnector1">
            <a:avLst/>
          </a:prstGeom>
          <a:ln w="28575">
            <a:headEnd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4297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DFB30-458C-4C40-1C34-B74D60590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08827B92-5B83-048D-365C-99D5AD238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030" y="3782221"/>
            <a:ext cx="5664170" cy="275833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791DFC5-AA46-FA65-E5E2-BC1780E02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603" y="1584718"/>
            <a:ext cx="4387406" cy="2224840"/>
          </a:xfrm>
          <a:prstGeom prst="rect">
            <a:avLst/>
          </a:prstGeom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623B765F-A843-89EA-A510-72BFAD4AE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052736"/>
            <a:ext cx="84248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Veámoslo gráficamente:</a:t>
            </a: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1B91E270-DB99-EF35-A2E2-AA813350F3D1}"/>
              </a:ext>
            </a:extLst>
          </p:cNvPr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9" name="2 Rectángulo">
            <a:extLst>
              <a:ext uri="{FF2B5EF4-FFF2-40B4-BE49-F238E27FC236}">
                <a16:creationId xmlns:a16="http://schemas.microsoft.com/office/drawing/2014/main" id="{9B430F37-0C9F-4E78-CC0B-7F55850C4CDA}"/>
              </a:ext>
            </a:extLst>
          </p:cNvPr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0" name="18 Rectángulo redondeado">
            <a:extLst>
              <a:ext uri="{FF2B5EF4-FFF2-40B4-BE49-F238E27FC236}">
                <a16:creationId xmlns:a16="http://schemas.microsoft.com/office/drawing/2014/main" id="{454832B0-47D7-695F-7486-4FA317DB96E5}"/>
              </a:ext>
            </a:extLst>
          </p:cNvPr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11" name="19 Conector recto">
            <a:extLst>
              <a:ext uri="{FF2B5EF4-FFF2-40B4-BE49-F238E27FC236}">
                <a16:creationId xmlns:a16="http://schemas.microsoft.com/office/drawing/2014/main" id="{C933E57C-E3FA-A655-A897-2D166265A6DA}"/>
              </a:ext>
            </a:extLst>
          </p:cNvPr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0 CuadroTexto">
            <a:extLst>
              <a:ext uri="{FF2B5EF4-FFF2-40B4-BE49-F238E27FC236}">
                <a16:creationId xmlns:a16="http://schemas.microsoft.com/office/drawing/2014/main" id="{9107B941-50F4-080C-E7A6-AB9BC66602DF}"/>
              </a:ext>
            </a:extLst>
          </p:cNvPr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Un ejemplo de interacción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10D767C9-ADC2-3338-8522-16CDA1EAF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810" y="1853113"/>
            <a:ext cx="24422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just" eaLnBrk="1" hangingPunct="1"/>
            <a:r>
              <a:rPr lang="es-AR" altLang="es-AR" sz="1400" dirty="0">
                <a:solidFill>
                  <a:srgbClr val="FF0000"/>
                </a:solidFill>
                <a:latin typeface="Abadi" panose="020B0604020104020204" pitchFamily="34" charset="0"/>
                <a:ea typeface="Cambria" panose="02040503050406030204" pitchFamily="18" charset="0"/>
              </a:rPr>
              <a:t>Y cuando controlamos por educación…</a:t>
            </a:r>
          </a:p>
        </p:txBody>
      </p:sp>
      <p:sp>
        <p:nvSpPr>
          <p:cNvPr id="3" name="Flecha: doblada 2">
            <a:extLst>
              <a:ext uri="{FF2B5EF4-FFF2-40B4-BE49-F238E27FC236}">
                <a16:creationId xmlns:a16="http://schemas.microsoft.com/office/drawing/2014/main" id="{57EA2FE2-8D98-1999-CCD3-A676DDF2CC8F}"/>
              </a:ext>
            </a:extLst>
          </p:cNvPr>
          <p:cNvSpPr/>
          <p:nvPr/>
        </p:nvSpPr>
        <p:spPr>
          <a:xfrm rot="5400000">
            <a:off x="5278401" y="1710651"/>
            <a:ext cx="958191" cy="237099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7" name="Abrir llave 6">
            <a:extLst>
              <a:ext uri="{FF2B5EF4-FFF2-40B4-BE49-F238E27FC236}">
                <a16:creationId xmlns:a16="http://schemas.microsoft.com/office/drawing/2014/main" id="{F009418D-5480-76E7-9EB2-FFBE5E861431}"/>
              </a:ext>
            </a:extLst>
          </p:cNvPr>
          <p:cNvSpPr/>
          <p:nvPr/>
        </p:nvSpPr>
        <p:spPr>
          <a:xfrm flipH="1">
            <a:off x="4644009" y="4690330"/>
            <a:ext cx="432047" cy="226921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0753A11-02B7-3B42-529C-0BA88DC079BD}"/>
              </a:ext>
            </a:extLst>
          </p:cNvPr>
          <p:cNvCxnSpPr>
            <a:cxnSpLocks/>
          </p:cNvCxnSpPr>
          <p:nvPr/>
        </p:nvCxnSpPr>
        <p:spPr>
          <a:xfrm>
            <a:off x="4644009" y="4690330"/>
            <a:ext cx="86409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EA9AB6E5-5AF5-3920-232F-E56654BB440D}"/>
              </a:ext>
            </a:extLst>
          </p:cNvPr>
          <p:cNvCxnSpPr>
            <a:cxnSpLocks/>
          </p:cNvCxnSpPr>
          <p:nvPr/>
        </p:nvCxnSpPr>
        <p:spPr>
          <a:xfrm>
            <a:off x="4644009" y="4917258"/>
            <a:ext cx="86409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Abrir llave 21">
            <a:extLst>
              <a:ext uri="{FF2B5EF4-FFF2-40B4-BE49-F238E27FC236}">
                <a16:creationId xmlns:a16="http://schemas.microsoft.com/office/drawing/2014/main" id="{5A28B3D9-4E1C-F8F8-4087-3939332CAAED}"/>
              </a:ext>
            </a:extLst>
          </p:cNvPr>
          <p:cNvSpPr/>
          <p:nvPr/>
        </p:nvSpPr>
        <p:spPr>
          <a:xfrm flipH="1">
            <a:off x="7092280" y="4786359"/>
            <a:ext cx="432047" cy="442839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E03E301E-3FD4-7AB7-2540-97657711197C}"/>
              </a:ext>
            </a:extLst>
          </p:cNvPr>
          <p:cNvCxnSpPr>
            <a:cxnSpLocks/>
          </p:cNvCxnSpPr>
          <p:nvPr/>
        </p:nvCxnSpPr>
        <p:spPr>
          <a:xfrm>
            <a:off x="7092281" y="4786359"/>
            <a:ext cx="86409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FFFB31C-FA5C-7FB2-89D4-20D971EEC1A0}"/>
              </a:ext>
            </a:extLst>
          </p:cNvPr>
          <p:cNvCxnSpPr>
            <a:cxnSpLocks/>
          </p:cNvCxnSpPr>
          <p:nvPr/>
        </p:nvCxnSpPr>
        <p:spPr>
          <a:xfrm>
            <a:off x="7092280" y="5229200"/>
            <a:ext cx="86409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460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50825" y="1052736"/>
            <a:ext cx="84248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Hipótesis original: </a:t>
            </a:r>
            <a:r>
              <a:rPr lang="es-AR" altLang="es-AR" b="1" i="1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“Cuanto mayor es el origen social, mayores son las chances de alcanzar destinos sociales superiores”.</a:t>
            </a:r>
          </a:p>
        </p:txBody>
      </p:sp>
      <p:sp>
        <p:nvSpPr>
          <p:cNvPr id="8" name="14 Rectángulo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9" name="2 Rectángulo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0" name="18 Rectángulo redondeado"/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11" name="19 Conector recto"/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0 CuadroTexto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Un ejemplo de efectos directos e indirectos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4A34D3C-972A-0968-D1D5-BA877F643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201" y="2049499"/>
            <a:ext cx="5455598" cy="2587191"/>
          </a:xfrm>
          <a:prstGeom prst="rect">
            <a:avLst/>
          </a:prstGeom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E5B3A610-4BEE-0ED4-D17B-789580D8D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3928" y="4711030"/>
            <a:ext cx="1860130" cy="307777"/>
          </a:xfrm>
          <a:prstGeom prst="rect">
            <a:avLst/>
          </a:prstGeom>
          <a:solidFill>
            <a:srgbClr val="FFC0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ctr" eaLnBrk="1" hangingPunct="1"/>
            <a:r>
              <a:rPr lang="el-GR" b="1" dirty="0">
                <a:latin typeface="Cambria" panose="02040503050406030204" pitchFamily="18" charset="0"/>
                <a:ea typeface="Cambria" panose="02040503050406030204" pitchFamily="18" charset="0"/>
              </a:rPr>
              <a:t>ε </a:t>
            </a:r>
            <a:r>
              <a:rPr lang="es-AR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AR" dirty="0">
                <a:latin typeface="Cambria" panose="02040503050406030204" pitchFamily="18" charset="0"/>
                <a:ea typeface="Cambria" panose="02040503050406030204" pitchFamily="18" charset="0"/>
              </a:rPr>
              <a:t>= ± 64,1 pp.  </a:t>
            </a:r>
            <a:endParaRPr lang="es-AR" altLang="es-A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4878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50825" y="1052736"/>
            <a:ext cx="864234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Queremos comprobar si la relación original se mantiene controlando el nivel educativo alcanzado.</a:t>
            </a:r>
          </a:p>
        </p:txBody>
      </p:sp>
      <p:sp>
        <p:nvSpPr>
          <p:cNvPr id="8" name="14 Rectángulo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9" name="2 Rectángulo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0" name="18 Rectángulo redondeado"/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11" name="19 Conector recto"/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0 CuadroTexto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Un ejemplo de efectos directos e indirectos</a:t>
            </a: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270257" y="1962640"/>
            <a:ext cx="86423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Calculamos los cuadros parciales </a:t>
            </a:r>
            <a:r>
              <a:rPr lang="es-AR" altLang="es-AR" b="1" dirty="0">
                <a:latin typeface="Cambria" panose="02040503050406030204" pitchFamily="18" charset="0"/>
                <a:ea typeface="Cambria" panose="02040503050406030204" pitchFamily="18" charset="0"/>
              </a:rPr>
              <a:t>[XY, t] </a:t>
            </a: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y </a:t>
            </a:r>
            <a:r>
              <a:rPr lang="es-AR" altLang="es-AR" b="1" dirty="0">
                <a:latin typeface="Cambria" panose="02040503050406030204" pitchFamily="18" charset="0"/>
                <a:ea typeface="Cambria" panose="02040503050406030204" pitchFamily="18" charset="0"/>
              </a:rPr>
              <a:t>[XY, t’]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5E72A6E-6960-4397-67D2-2DEAA4368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74" y="2602024"/>
            <a:ext cx="4286250" cy="30384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9E5BA23-6E01-169F-9204-10A94CA9B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2959" y="3739064"/>
            <a:ext cx="1860130" cy="307777"/>
          </a:xfrm>
          <a:prstGeom prst="rect">
            <a:avLst/>
          </a:prstGeom>
          <a:solidFill>
            <a:srgbClr val="FFC0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ctr" eaLnBrk="1" hangingPunct="1"/>
            <a:r>
              <a:rPr lang="el-GR" b="1" dirty="0">
                <a:latin typeface="Cambria" panose="02040503050406030204" pitchFamily="18" charset="0"/>
                <a:ea typeface="Cambria" panose="02040503050406030204" pitchFamily="18" charset="0"/>
              </a:rPr>
              <a:t>ε </a:t>
            </a:r>
            <a:r>
              <a:rPr lang="es-AR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AR" dirty="0">
                <a:latin typeface="Cambria" panose="02040503050406030204" pitchFamily="18" charset="0"/>
                <a:ea typeface="Cambria" panose="02040503050406030204" pitchFamily="18" charset="0"/>
              </a:rPr>
              <a:t>= ± 16,4 pp.  </a:t>
            </a:r>
            <a:endParaRPr lang="es-AR" altLang="es-A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EFBDD29-C36A-1DB8-7379-EECCFA04F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2959" y="4469541"/>
            <a:ext cx="1860130" cy="307777"/>
          </a:xfrm>
          <a:prstGeom prst="rect">
            <a:avLst/>
          </a:prstGeom>
          <a:solidFill>
            <a:srgbClr val="FFC0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ctr" eaLnBrk="1" hangingPunct="1"/>
            <a:r>
              <a:rPr lang="el-GR" b="1" dirty="0">
                <a:latin typeface="Cambria" panose="02040503050406030204" pitchFamily="18" charset="0"/>
                <a:ea typeface="Cambria" panose="02040503050406030204" pitchFamily="18" charset="0"/>
              </a:rPr>
              <a:t>ε </a:t>
            </a:r>
            <a:r>
              <a:rPr lang="es-AR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AR" dirty="0">
                <a:latin typeface="Cambria" panose="02040503050406030204" pitchFamily="18" charset="0"/>
                <a:ea typeface="Cambria" panose="02040503050406030204" pitchFamily="18" charset="0"/>
              </a:rPr>
              <a:t>= ± 35,2 pp.  </a:t>
            </a:r>
            <a:endParaRPr lang="es-AR" altLang="es-A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1595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50825" y="1052736"/>
            <a:ext cx="86423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Calculamos el primer marginal </a:t>
            </a:r>
            <a:r>
              <a:rPr lang="es-AR" altLang="es-AR" b="1" dirty="0">
                <a:latin typeface="Cambria" panose="02040503050406030204" pitchFamily="18" charset="0"/>
                <a:ea typeface="Cambria" panose="02040503050406030204" pitchFamily="18" charset="0"/>
              </a:rPr>
              <a:t>[XT]</a:t>
            </a:r>
          </a:p>
        </p:txBody>
      </p:sp>
      <p:sp>
        <p:nvSpPr>
          <p:cNvPr id="8" name="14 Rectángulo"/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9" name="2 Rectángulo"/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0" name="18 Rectángulo redondeado"/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11" name="19 Conector recto"/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0 CuadroTexto"/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Un ejemplo de efectos directos e indirectos</a:t>
            </a: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02445" y="3315772"/>
            <a:ext cx="86423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Y el segundo marginal </a:t>
            </a:r>
            <a:r>
              <a:rPr lang="es-AR" altLang="es-AR" b="1" dirty="0">
                <a:latin typeface="Cambria" panose="02040503050406030204" pitchFamily="18" charset="0"/>
                <a:ea typeface="Cambria" panose="02040503050406030204" pitchFamily="18" charset="0"/>
              </a:rPr>
              <a:t>[TY]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956D8FE-B16A-707C-68A4-4AB3A8277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423" y="1608764"/>
            <a:ext cx="4048125" cy="1514475"/>
          </a:xfrm>
          <a:prstGeom prst="rect">
            <a:avLst/>
          </a:prstGeom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4D21EC2B-BA8C-0936-B27F-9595D577F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4605" y="2542243"/>
            <a:ext cx="1860130" cy="307777"/>
          </a:xfrm>
          <a:prstGeom prst="rect">
            <a:avLst/>
          </a:prstGeom>
          <a:solidFill>
            <a:srgbClr val="FFC0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ctr" eaLnBrk="1" hangingPunct="1"/>
            <a:r>
              <a:rPr lang="el-GR" b="1" dirty="0">
                <a:latin typeface="Cambria" panose="02040503050406030204" pitchFamily="18" charset="0"/>
                <a:ea typeface="Cambria" panose="02040503050406030204" pitchFamily="18" charset="0"/>
              </a:rPr>
              <a:t>ε </a:t>
            </a:r>
            <a:r>
              <a:rPr lang="es-AR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AR" dirty="0">
                <a:latin typeface="Cambria" panose="02040503050406030204" pitchFamily="18" charset="0"/>
                <a:ea typeface="Cambria" panose="02040503050406030204" pitchFamily="18" charset="0"/>
              </a:rPr>
              <a:t>= ± 67,9 pp.  </a:t>
            </a:r>
            <a:endParaRPr lang="es-AR" altLang="es-A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52D04D0-DFB9-069B-304D-22F974A12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984" y="4016708"/>
            <a:ext cx="3943350" cy="15621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A14C544-E21A-DE36-CB02-53CD4C9C6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209" y="5046901"/>
            <a:ext cx="1860130" cy="307777"/>
          </a:xfrm>
          <a:prstGeom prst="rect">
            <a:avLst/>
          </a:prstGeom>
          <a:solidFill>
            <a:srgbClr val="FFC0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ctr" eaLnBrk="1" hangingPunct="1"/>
            <a:r>
              <a:rPr lang="el-GR" b="1" dirty="0">
                <a:latin typeface="Cambria" panose="02040503050406030204" pitchFamily="18" charset="0"/>
                <a:ea typeface="Cambria" panose="02040503050406030204" pitchFamily="18" charset="0"/>
              </a:rPr>
              <a:t>ε </a:t>
            </a:r>
            <a:r>
              <a:rPr lang="es-AR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s-AR" dirty="0">
                <a:latin typeface="Cambria" panose="02040503050406030204" pitchFamily="18" charset="0"/>
                <a:ea typeface="Cambria" panose="02040503050406030204" pitchFamily="18" charset="0"/>
              </a:rPr>
              <a:t>= ± 76,5 pp.  </a:t>
            </a:r>
            <a:endParaRPr lang="es-AR" altLang="es-A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2808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C878C-9FFD-953E-23DF-1AC7E64F6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F8465F80-9F85-F8D1-1DF5-E03EAC5CB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052736"/>
            <a:ext cx="842486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Si observamos lo que acabamos de ver, nos encontramos con que el análisis sistemático de las tablas de contingencia nos permitió detectar una relación que se </a:t>
            </a:r>
            <a:r>
              <a:rPr lang="es-AR" altLang="es-AR" b="1" dirty="0">
                <a:latin typeface="Cambria" panose="02040503050406030204" pitchFamily="18" charset="0"/>
                <a:ea typeface="Cambria" panose="02040503050406030204" pitchFamily="18" charset="0"/>
              </a:rPr>
              <a:t>explica por la presencia de la variable de control. </a:t>
            </a:r>
            <a:endParaRPr lang="es-AR" altLang="es-A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14 Rectángulo">
            <a:extLst>
              <a:ext uri="{FF2B5EF4-FFF2-40B4-BE49-F238E27FC236}">
                <a16:creationId xmlns:a16="http://schemas.microsoft.com/office/drawing/2014/main" id="{794587B2-403E-C6C9-1B03-1644FD66D911}"/>
              </a:ext>
            </a:extLst>
          </p:cNvPr>
          <p:cNvSpPr/>
          <p:nvPr/>
        </p:nvSpPr>
        <p:spPr>
          <a:xfrm>
            <a:off x="0" y="981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9" name="2 Rectángulo">
            <a:extLst>
              <a:ext uri="{FF2B5EF4-FFF2-40B4-BE49-F238E27FC236}">
                <a16:creationId xmlns:a16="http://schemas.microsoft.com/office/drawing/2014/main" id="{64E453E5-1551-767D-33F5-C2F81552159C}"/>
              </a:ext>
            </a:extLst>
          </p:cNvPr>
          <p:cNvSpPr/>
          <p:nvPr/>
        </p:nvSpPr>
        <p:spPr>
          <a:xfrm>
            <a:off x="0" y="6669360"/>
            <a:ext cx="9144000" cy="1788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glow>
              <a:schemeClr val="bg1">
                <a:lumMod val="95000"/>
                <a:alpha val="40000"/>
              </a:schemeClr>
            </a:glo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0" name="18 Rectángulo redondeado">
            <a:extLst>
              <a:ext uri="{FF2B5EF4-FFF2-40B4-BE49-F238E27FC236}">
                <a16:creationId xmlns:a16="http://schemas.microsoft.com/office/drawing/2014/main" id="{DFAF07BB-ADF5-23C0-1BF2-27BA415C91EB}"/>
              </a:ext>
            </a:extLst>
          </p:cNvPr>
          <p:cNvSpPr/>
          <p:nvPr/>
        </p:nvSpPr>
        <p:spPr>
          <a:xfrm>
            <a:off x="250825" y="849413"/>
            <a:ext cx="923106" cy="14401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cxnSp>
        <p:nvCxnSpPr>
          <p:cNvPr id="11" name="19 Conector recto">
            <a:extLst>
              <a:ext uri="{FF2B5EF4-FFF2-40B4-BE49-F238E27FC236}">
                <a16:creationId xmlns:a16="http://schemas.microsoft.com/office/drawing/2014/main" id="{4C51937D-705A-BCC0-E1EA-9883134002DD}"/>
              </a:ext>
            </a:extLst>
          </p:cNvPr>
          <p:cNvCxnSpPr/>
          <p:nvPr/>
        </p:nvCxnSpPr>
        <p:spPr>
          <a:xfrm flipV="1">
            <a:off x="1121953" y="922419"/>
            <a:ext cx="7771222" cy="1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0 CuadroTexto">
            <a:extLst>
              <a:ext uri="{FF2B5EF4-FFF2-40B4-BE49-F238E27FC236}">
                <a16:creationId xmlns:a16="http://schemas.microsoft.com/office/drawing/2014/main" id="{1A89655F-A6FA-F038-A7BE-45AF0B8F6FF1}"/>
              </a:ext>
            </a:extLst>
          </p:cNvPr>
          <p:cNvSpPr txBox="1"/>
          <p:nvPr/>
        </p:nvSpPr>
        <p:spPr>
          <a:xfrm>
            <a:off x="152779" y="298748"/>
            <a:ext cx="8740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Cambria" panose="02040503050406030204" pitchFamily="18" charset="0"/>
              </a:rPr>
              <a:t>Un ejemplo de efectos directos e indirectos</a:t>
            </a:r>
          </a:p>
        </p:txBody>
      </p:sp>
      <p:sp>
        <p:nvSpPr>
          <p:cNvPr id="31" name="Oval 7">
            <a:extLst>
              <a:ext uri="{FF2B5EF4-FFF2-40B4-BE49-F238E27FC236}">
                <a16:creationId xmlns:a16="http://schemas.microsoft.com/office/drawing/2014/main" id="{F7DA5973-EA58-ADA9-833D-187B8807A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7546" y="2840230"/>
            <a:ext cx="1401601" cy="601830"/>
          </a:xfrm>
          <a:prstGeom prst="rect">
            <a:avLst/>
          </a:prstGeom>
          <a:solidFill>
            <a:srgbClr val="006600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s-ES" altLang="es-AR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Clase </a:t>
            </a:r>
          </a:p>
          <a:p>
            <a:pPr algn="ctr"/>
            <a:r>
              <a:rPr lang="es-ES" altLang="es-AR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de origen</a:t>
            </a:r>
          </a:p>
        </p:txBody>
      </p:sp>
      <p:sp>
        <p:nvSpPr>
          <p:cNvPr id="32" name="Oval 7">
            <a:extLst>
              <a:ext uri="{FF2B5EF4-FFF2-40B4-BE49-F238E27FC236}">
                <a16:creationId xmlns:a16="http://schemas.microsoft.com/office/drawing/2014/main" id="{ED569781-1C52-18F0-5433-896431370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455" y="2835301"/>
            <a:ext cx="1517633" cy="601828"/>
          </a:xfrm>
          <a:prstGeom prst="rect">
            <a:avLst/>
          </a:prstGeom>
          <a:solidFill>
            <a:srgbClr val="006600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s-ES" altLang="es-AR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Clase de </a:t>
            </a:r>
          </a:p>
          <a:p>
            <a:pPr algn="ctr"/>
            <a:r>
              <a:rPr lang="es-ES" altLang="es-AR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destino</a:t>
            </a:r>
            <a:endParaRPr lang="es-ES" altLang="es-AR" sz="1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33" name="28 Conector recto de flecha">
            <a:extLst>
              <a:ext uri="{FF2B5EF4-FFF2-40B4-BE49-F238E27FC236}">
                <a16:creationId xmlns:a16="http://schemas.microsoft.com/office/drawing/2014/main" id="{21149937-B273-FA0A-CB88-D88B530C126A}"/>
              </a:ext>
            </a:extLst>
          </p:cNvPr>
          <p:cNvCxnSpPr>
            <a:cxnSpLocks noChangeShapeType="1"/>
            <a:endCxn id="32" idx="1"/>
          </p:cNvCxnSpPr>
          <p:nvPr/>
        </p:nvCxnSpPr>
        <p:spPr bwMode="auto">
          <a:xfrm>
            <a:off x="4129147" y="3136215"/>
            <a:ext cx="627308" cy="0"/>
          </a:xfrm>
          <a:prstGeom prst="straightConnector1">
            <a:avLst/>
          </a:prstGeom>
          <a:ln w="28575">
            <a:headEnd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Rectangle 4">
            <a:extLst>
              <a:ext uri="{FF2B5EF4-FFF2-40B4-BE49-F238E27FC236}">
                <a16:creationId xmlns:a16="http://schemas.microsoft.com/office/drawing/2014/main" id="{69F1FCAA-5DA9-C92F-3357-D2A0A3EBF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367" y="2229863"/>
            <a:ext cx="84248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Efectivamente, partimos de una hipótesis que planteaba esto:</a:t>
            </a:r>
          </a:p>
        </p:txBody>
      </p:sp>
      <p:sp>
        <p:nvSpPr>
          <p:cNvPr id="41" name="Rectangle 4">
            <a:extLst>
              <a:ext uri="{FF2B5EF4-FFF2-40B4-BE49-F238E27FC236}">
                <a16:creationId xmlns:a16="http://schemas.microsoft.com/office/drawing/2014/main" id="{7F7BDD5F-5912-99EB-6058-A9072AE9D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131" y="3789483"/>
            <a:ext cx="84248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Y encontramos esto:</a:t>
            </a:r>
          </a:p>
        </p:txBody>
      </p:sp>
      <p:sp>
        <p:nvSpPr>
          <p:cNvPr id="42" name="Rectangle 4">
            <a:extLst>
              <a:ext uri="{FF2B5EF4-FFF2-40B4-BE49-F238E27FC236}">
                <a16:creationId xmlns:a16="http://schemas.microsoft.com/office/drawing/2014/main" id="{BE5010ED-0864-5DD7-8FE7-8317E169D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85" y="5652431"/>
            <a:ext cx="8424863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La relación observada entre </a:t>
            </a:r>
            <a:r>
              <a:rPr lang="es-AR" altLang="es-AR" b="1" dirty="0">
                <a:latin typeface="Cambria" panose="02040503050406030204" pitchFamily="18" charset="0"/>
                <a:ea typeface="Cambria" panose="02040503050406030204" pitchFamily="18" charset="0"/>
              </a:rPr>
              <a:t>x </a:t>
            </a: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e </a:t>
            </a:r>
            <a:r>
              <a:rPr lang="es-AR" altLang="es-AR" b="1" dirty="0">
                <a:latin typeface="Cambria" panose="02040503050406030204" pitchFamily="18" charset="0"/>
                <a:ea typeface="Cambria" panose="02040503050406030204" pitchFamily="18" charset="0"/>
              </a:rPr>
              <a:t>y</a:t>
            </a: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 se puede explicar a través del rol “mediador” de la </a:t>
            </a:r>
            <a:r>
              <a:rPr lang="es-AR" altLang="es-AR" b="1" dirty="0">
                <a:latin typeface="Cambria" panose="02040503050406030204" pitchFamily="18" charset="0"/>
                <a:ea typeface="Cambria" panose="02040503050406030204" pitchFamily="18" charset="0"/>
              </a:rPr>
              <a:t>educación</a:t>
            </a:r>
            <a:r>
              <a:rPr lang="es-AR" altLang="es-AR" dirty="0">
                <a:latin typeface="Cambria" panose="02040503050406030204" pitchFamily="18" charset="0"/>
                <a:ea typeface="Cambria" panose="02040503050406030204" pitchFamily="18" charset="0"/>
              </a:rPr>
              <a:t>, que es más fuerte que la relación entre las variables originales.</a:t>
            </a:r>
          </a:p>
        </p:txBody>
      </p:sp>
      <p:sp>
        <p:nvSpPr>
          <p:cNvPr id="2" name="Oval 7">
            <a:extLst>
              <a:ext uri="{FF2B5EF4-FFF2-40B4-BE49-F238E27FC236}">
                <a16:creationId xmlns:a16="http://schemas.microsoft.com/office/drawing/2014/main" id="{03BC67D3-E599-95C6-4C8C-A22E06A9D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9929" y="4662514"/>
            <a:ext cx="1401601" cy="601830"/>
          </a:xfrm>
          <a:prstGeom prst="rect">
            <a:avLst/>
          </a:prstGeom>
          <a:solidFill>
            <a:srgbClr val="006600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s-ES" altLang="es-AR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Clase de </a:t>
            </a:r>
            <a:br>
              <a:rPr lang="es-ES" altLang="es-AR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r>
              <a:rPr lang="es-ES" altLang="es-AR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origen</a:t>
            </a:r>
          </a:p>
        </p:txBody>
      </p:sp>
      <p:sp>
        <p:nvSpPr>
          <p:cNvPr id="3" name="Oval 7">
            <a:extLst>
              <a:ext uri="{FF2B5EF4-FFF2-40B4-BE49-F238E27FC236}">
                <a16:creationId xmlns:a16="http://schemas.microsoft.com/office/drawing/2014/main" id="{9EADA0A7-39F4-0132-B60D-6EB4BEA3B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4348" y="4688316"/>
            <a:ext cx="1517633" cy="601828"/>
          </a:xfrm>
          <a:prstGeom prst="rect">
            <a:avLst/>
          </a:prstGeom>
          <a:solidFill>
            <a:srgbClr val="006600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s-ES" altLang="es-AR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Clase de </a:t>
            </a:r>
          </a:p>
          <a:p>
            <a:pPr algn="ctr"/>
            <a:r>
              <a:rPr lang="es-ES" altLang="es-AR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destino</a:t>
            </a:r>
            <a:endParaRPr lang="es-ES" altLang="es-AR" sz="1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4" name="28 Conector recto de flecha">
            <a:extLst>
              <a:ext uri="{FF2B5EF4-FFF2-40B4-BE49-F238E27FC236}">
                <a16:creationId xmlns:a16="http://schemas.microsoft.com/office/drawing/2014/main" id="{E334AEA3-2E60-2E99-94CA-1F19DFB80841}"/>
              </a:ext>
            </a:extLst>
          </p:cNvPr>
          <p:cNvCxnSpPr>
            <a:cxnSpLocks noChangeShapeType="1"/>
            <a:stCxn id="2" idx="3"/>
          </p:cNvCxnSpPr>
          <p:nvPr/>
        </p:nvCxnSpPr>
        <p:spPr bwMode="auto">
          <a:xfrm flipV="1">
            <a:off x="3171530" y="4434727"/>
            <a:ext cx="627308" cy="528702"/>
          </a:xfrm>
          <a:prstGeom prst="straightConnector1">
            <a:avLst/>
          </a:prstGeom>
          <a:ln w="38100">
            <a:headEnd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Oval 7">
            <a:extLst>
              <a:ext uri="{FF2B5EF4-FFF2-40B4-BE49-F238E27FC236}">
                <a16:creationId xmlns:a16="http://schemas.microsoft.com/office/drawing/2014/main" id="{FAF5D3D2-3B8D-AD9D-FB7D-01ADE212D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6328" y="4085213"/>
            <a:ext cx="1353855" cy="644369"/>
          </a:xfrm>
          <a:prstGeom prst="rect">
            <a:avLst/>
          </a:prstGeom>
          <a:solidFill>
            <a:srgbClr val="006600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s-ES" altLang="es-AR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Educación</a:t>
            </a:r>
          </a:p>
        </p:txBody>
      </p:sp>
      <p:cxnSp>
        <p:nvCxnSpPr>
          <p:cNvPr id="13" name="28 Conector recto de flecha">
            <a:extLst>
              <a:ext uri="{FF2B5EF4-FFF2-40B4-BE49-F238E27FC236}">
                <a16:creationId xmlns:a16="http://schemas.microsoft.com/office/drawing/2014/main" id="{D367266F-0E74-F96B-2BA7-88BF3D314662}"/>
              </a:ext>
            </a:extLst>
          </p:cNvPr>
          <p:cNvCxnSpPr>
            <a:cxnSpLocks noChangeShapeType="1"/>
            <a:stCxn id="15" idx="3"/>
          </p:cNvCxnSpPr>
          <p:nvPr/>
        </p:nvCxnSpPr>
        <p:spPr bwMode="auto">
          <a:xfrm>
            <a:off x="5140183" y="4407398"/>
            <a:ext cx="583945" cy="529950"/>
          </a:xfrm>
          <a:prstGeom prst="straightConnector1">
            <a:avLst/>
          </a:prstGeom>
          <a:ln w="38100">
            <a:headEnd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28 Conector recto de flecha">
            <a:extLst>
              <a:ext uri="{FF2B5EF4-FFF2-40B4-BE49-F238E27FC236}">
                <a16:creationId xmlns:a16="http://schemas.microsoft.com/office/drawing/2014/main" id="{EB69CF68-6E20-6D94-1869-68CA0200308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57922" y="5085148"/>
            <a:ext cx="2606426" cy="0"/>
          </a:xfrm>
          <a:prstGeom prst="straightConnector1">
            <a:avLst/>
          </a:prstGeom>
          <a:ln w="9525">
            <a:headEnd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5757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8155</TotalTime>
  <Words>2374</Words>
  <Application>Microsoft Office PowerPoint</Application>
  <PresentationFormat>Presentación en pantalla (4:3)</PresentationFormat>
  <Paragraphs>493</Paragraphs>
  <Slides>32</Slides>
  <Notes>32</Notes>
  <HiddenSlides>5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9" baseType="lpstr">
      <vt:lpstr>Abadi</vt:lpstr>
      <vt:lpstr>Arial</vt:lpstr>
      <vt:lpstr>Calibri</vt:lpstr>
      <vt:lpstr>Cambria</vt:lpstr>
      <vt:lpstr>Times New Roman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Santiago Poy</dc:creator>
  <cp:lastModifiedBy>Santiago Poy</cp:lastModifiedBy>
  <cp:revision>448</cp:revision>
  <dcterms:created xsi:type="dcterms:W3CDTF">2018-06-06T19:52:13Z</dcterms:created>
  <dcterms:modified xsi:type="dcterms:W3CDTF">2026-02-26T01:56:55Z</dcterms:modified>
</cp:coreProperties>
</file>