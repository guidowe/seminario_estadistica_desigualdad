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343" r:id="rId2"/>
    <p:sldId id="317" r:id="rId3"/>
    <p:sldId id="344" r:id="rId4"/>
    <p:sldId id="345" r:id="rId5"/>
    <p:sldId id="452" r:id="rId6"/>
    <p:sldId id="430" r:id="rId7"/>
    <p:sldId id="431" r:id="rId8"/>
    <p:sldId id="432" r:id="rId9"/>
    <p:sldId id="433" r:id="rId10"/>
    <p:sldId id="434" r:id="rId11"/>
    <p:sldId id="435" r:id="rId12"/>
    <p:sldId id="436" r:id="rId13"/>
    <p:sldId id="437" r:id="rId14"/>
    <p:sldId id="438" r:id="rId15"/>
    <p:sldId id="455" r:id="rId16"/>
    <p:sldId id="443" r:id="rId17"/>
    <p:sldId id="444" r:id="rId18"/>
    <p:sldId id="445" r:id="rId19"/>
    <p:sldId id="453" r:id="rId20"/>
    <p:sldId id="458" r:id="rId21"/>
    <p:sldId id="461" r:id="rId22"/>
    <p:sldId id="456" r:id="rId23"/>
    <p:sldId id="457" r:id="rId24"/>
    <p:sldId id="446" r:id="rId25"/>
    <p:sldId id="448" r:id="rId26"/>
    <p:sldId id="449" r:id="rId27"/>
    <p:sldId id="459" r:id="rId28"/>
    <p:sldId id="472" r:id="rId29"/>
    <p:sldId id="450" r:id="rId30"/>
    <p:sldId id="473" r:id="rId31"/>
    <p:sldId id="460" r:id="rId32"/>
    <p:sldId id="462" r:id="rId33"/>
    <p:sldId id="463" r:id="rId34"/>
    <p:sldId id="464" r:id="rId35"/>
    <p:sldId id="465" r:id="rId36"/>
    <p:sldId id="467" r:id="rId37"/>
    <p:sldId id="468" r:id="rId38"/>
    <p:sldId id="469" r:id="rId39"/>
    <p:sldId id="470" r:id="rId40"/>
    <p:sldId id="471" r:id="rId41"/>
    <p:sldId id="439" r:id="rId42"/>
    <p:sldId id="440" r:id="rId43"/>
    <p:sldId id="441" r:id="rId44"/>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2835" userDrawn="1">
          <p15:clr>
            <a:srgbClr val="A4A3A4"/>
          </p15:clr>
        </p15:guide>
        <p15:guide id="3" pos="521">
          <p15:clr>
            <a:srgbClr val="A4A3A4"/>
          </p15:clr>
        </p15:guide>
        <p15:guide id="4" orient="horz" pos="2251" userDrawn="1">
          <p15:clr>
            <a:srgbClr val="A4A3A4"/>
          </p15:clr>
        </p15:guide>
        <p15:guide id="5" orient="horz" pos="482" userDrawn="1">
          <p15:clr>
            <a:srgbClr val="A4A3A4"/>
          </p15:clr>
        </p15:guide>
        <p15:guide id="6" orient="horz" pos="210">
          <p15:clr>
            <a:srgbClr val="A4A3A4"/>
          </p15:clr>
        </p15:guide>
        <p15:guide id="7" pos="158">
          <p15:clr>
            <a:srgbClr val="A4A3A4"/>
          </p15:clr>
        </p15:guide>
        <p15:guide id="8" pos="5602">
          <p15:clr>
            <a:srgbClr val="A4A3A4"/>
          </p15:clr>
        </p15:guide>
        <p15:guide id="9" pos="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A85"/>
    <a:srgbClr val="CAE8E7"/>
    <a:srgbClr val="EFF7F7"/>
    <a:srgbClr val="DDEFEF"/>
    <a:srgbClr val="3DC3BD"/>
    <a:srgbClr val="737373"/>
    <a:srgbClr val="22706C"/>
    <a:srgbClr val="319F9A"/>
    <a:srgbClr val="565656"/>
    <a:srgbClr val="F4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96" autoAdjust="0"/>
    <p:restoredTop sz="94704" autoAdjust="0"/>
  </p:normalViewPr>
  <p:slideViewPr>
    <p:cSldViewPr>
      <p:cViewPr varScale="1">
        <p:scale>
          <a:sx n="100" d="100"/>
          <a:sy n="100" d="100"/>
        </p:scale>
        <p:origin x="2004" y="96"/>
      </p:cViewPr>
      <p:guideLst>
        <p:guide orient="horz" pos="2205"/>
        <p:guide pos="2835"/>
        <p:guide pos="521"/>
        <p:guide orient="horz" pos="2251"/>
        <p:guide orient="horz" pos="482"/>
        <p:guide orient="horz" pos="210"/>
        <p:guide pos="158"/>
        <p:guide pos="5602"/>
        <p:guide pos="24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26535-4EDE-46AE-846D-10CF575EF3AC}" type="datetimeFigureOut">
              <a:rPr lang="es-AR" smtClean="0"/>
              <a:t>23/8/2020</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6145D8-ED58-44A9-BC65-988CF3BEDD8C}" type="slidenum">
              <a:rPr lang="es-AR" smtClean="0"/>
              <a:t>‹Nº›</a:t>
            </a:fld>
            <a:endParaRPr lang="es-AR"/>
          </a:p>
        </p:txBody>
      </p:sp>
    </p:spTree>
    <p:extLst>
      <p:ext uri="{BB962C8B-B14F-4D97-AF65-F5344CB8AC3E}">
        <p14:creationId xmlns:p14="http://schemas.microsoft.com/office/powerpoint/2010/main" val="394972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a:t>
            </a:fld>
            <a:endParaRPr lang="es-AR" dirty="0"/>
          </a:p>
        </p:txBody>
      </p:sp>
    </p:spTree>
    <p:extLst>
      <p:ext uri="{BB962C8B-B14F-4D97-AF65-F5344CB8AC3E}">
        <p14:creationId xmlns:p14="http://schemas.microsoft.com/office/powerpoint/2010/main" val="3428897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a:t>
            </a:fld>
            <a:endParaRPr lang="es-AR" dirty="0"/>
          </a:p>
        </p:txBody>
      </p:sp>
    </p:spTree>
    <p:extLst>
      <p:ext uri="{BB962C8B-B14F-4D97-AF65-F5344CB8AC3E}">
        <p14:creationId xmlns:p14="http://schemas.microsoft.com/office/powerpoint/2010/main" val="342889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3</a:t>
            </a:fld>
            <a:endParaRPr lang="es-AR" dirty="0"/>
          </a:p>
        </p:txBody>
      </p:sp>
    </p:spTree>
    <p:extLst>
      <p:ext uri="{BB962C8B-B14F-4D97-AF65-F5344CB8AC3E}">
        <p14:creationId xmlns:p14="http://schemas.microsoft.com/office/powerpoint/2010/main" val="292802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4</a:t>
            </a:fld>
            <a:endParaRPr lang="es-AR" dirty="0"/>
          </a:p>
        </p:txBody>
      </p:sp>
    </p:spTree>
    <p:extLst>
      <p:ext uri="{BB962C8B-B14F-4D97-AF65-F5344CB8AC3E}">
        <p14:creationId xmlns:p14="http://schemas.microsoft.com/office/powerpoint/2010/main" val="3937015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5</a:t>
            </a:fld>
            <a:endParaRPr lang="es-MX" altLang="es-AR"/>
          </a:p>
        </p:txBody>
      </p:sp>
    </p:spTree>
    <p:extLst>
      <p:ext uri="{BB962C8B-B14F-4D97-AF65-F5344CB8AC3E}">
        <p14:creationId xmlns:p14="http://schemas.microsoft.com/office/powerpoint/2010/main" val="2457002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6</a:t>
            </a:fld>
            <a:endParaRPr lang="es-MX" altLang="es-AR"/>
          </a:p>
        </p:txBody>
      </p:sp>
    </p:spTree>
    <p:extLst>
      <p:ext uri="{BB962C8B-B14F-4D97-AF65-F5344CB8AC3E}">
        <p14:creationId xmlns:p14="http://schemas.microsoft.com/office/powerpoint/2010/main" val="3222563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452093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686476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4108327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2807124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4205266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2333212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132099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899207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407163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16</a:t>
            </a:fld>
            <a:endParaRPr lang="es-MX" altLang="es-AR"/>
          </a:p>
        </p:txBody>
      </p:sp>
    </p:spTree>
    <p:extLst>
      <p:ext uri="{BB962C8B-B14F-4D97-AF65-F5344CB8AC3E}">
        <p14:creationId xmlns:p14="http://schemas.microsoft.com/office/powerpoint/2010/main" val="3688211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17</a:t>
            </a:fld>
            <a:endParaRPr lang="es-MX" altLang="es-AR"/>
          </a:p>
        </p:txBody>
      </p:sp>
    </p:spTree>
    <p:extLst>
      <p:ext uri="{BB962C8B-B14F-4D97-AF65-F5344CB8AC3E}">
        <p14:creationId xmlns:p14="http://schemas.microsoft.com/office/powerpoint/2010/main" val="3776278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18</a:t>
            </a:fld>
            <a:endParaRPr lang="es-MX" altLang="es-AR"/>
          </a:p>
        </p:txBody>
      </p:sp>
    </p:spTree>
    <p:extLst>
      <p:ext uri="{BB962C8B-B14F-4D97-AF65-F5344CB8AC3E}">
        <p14:creationId xmlns:p14="http://schemas.microsoft.com/office/powerpoint/2010/main" val="448646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19</a:t>
            </a:fld>
            <a:endParaRPr lang="es-MX" altLang="es-AR"/>
          </a:p>
        </p:txBody>
      </p:sp>
    </p:spTree>
    <p:extLst>
      <p:ext uri="{BB962C8B-B14F-4D97-AF65-F5344CB8AC3E}">
        <p14:creationId xmlns:p14="http://schemas.microsoft.com/office/powerpoint/2010/main" val="2491618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20</a:t>
            </a:fld>
            <a:endParaRPr lang="es-MX" altLang="es-AR"/>
          </a:p>
        </p:txBody>
      </p:sp>
    </p:spTree>
    <p:extLst>
      <p:ext uri="{BB962C8B-B14F-4D97-AF65-F5344CB8AC3E}">
        <p14:creationId xmlns:p14="http://schemas.microsoft.com/office/powerpoint/2010/main" val="1455792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21</a:t>
            </a:fld>
            <a:endParaRPr lang="es-MX" altLang="es-AR"/>
          </a:p>
        </p:txBody>
      </p:sp>
    </p:spTree>
    <p:extLst>
      <p:ext uri="{BB962C8B-B14F-4D97-AF65-F5344CB8AC3E}">
        <p14:creationId xmlns:p14="http://schemas.microsoft.com/office/powerpoint/2010/main" val="3406426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242839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59153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24</a:t>
            </a:fld>
            <a:endParaRPr lang="es-MX" altLang="es-AR"/>
          </a:p>
        </p:txBody>
      </p:sp>
    </p:spTree>
    <p:extLst>
      <p:ext uri="{BB962C8B-B14F-4D97-AF65-F5344CB8AC3E}">
        <p14:creationId xmlns:p14="http://schemas.microsoft.com/office/powerpoint/2010/main" val="1428917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25</a:t>
            </a:fld>
            <a:endParaRPr lang="es-MX" altLang="es-AR"/>
          </a:p>
        </p:txBody>
      </p:sp>
    </p:spTree>
    <p:extLst>
      <p:ext uri="{BB962C8B-B14F-4D97-AF65-F5344CB8AC3E}">
        <p14:creationId xmlns:p14="http://schemas.microsoft.com/office/powerpoint/2010/main" val="3855948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26</a:t>
            </a:fld>
            <a:endParaRPr lang="es-MX" altLang="es-AR"/>
          </a:p>
        </p:txBody>
      </p:sp>
    </p:spTree>
    <p:extLst>
      <p:ext uri="{BB962C8B-B14F-4D97-AF65-F5344CB8AC3E}">
        <p14:creationId xmlns:p14="http://schemas.microsoft.com/office/powerpoint/2010/main" val="2465719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27</a:t>
            </a:fld>
            <a:endParaRPr lang="es-MX" altLang="es-AR"/>
          </a:p>
        </p:txBody>
      </p:sp>
    </p:spTree>
    <p:extLst>
      <p:ext uri="{BB962C8B-B14F-4D97-AF65-F5344CB8AC3E}">
        <p14:creationId xmlns:p14="http://schemas.microsoft.com/office/powerpoint/2010/main" val="1998953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28</a:t>
            </a:fld>
            <a:endParaRPr lang="es-MX" altLang="es-AR"/>
          </a:p>
        </p:txBody>
      </p:sp>
    </p:spTree>
    <p:extLst>
      <p:ext uri="{BB962C8B-B14F-4D97-AF65-F5344CB8AC3E}">
        <p14:creationId xmlns:p14="http://schemas.microsoft.com/office/powerpoint/2010/main" val="3418675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29</a:t>
            </a:fld>
            <a:endParaRPr lang="es-MX" altLang="es-AR"/>
          </a:p>
        </p:txBody>
      </p:sp>
    </p:spTree>
    <p:extLst>
      <p:ext uri="{BB962C8B-B14F-4D97-AF65-F5344CB8AC3E}">
        <p14:creationId xmlns:p14="http://schemas.microsoft.com/office/powerpoint/2010/main" val="6757217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30</a:t>
            </a:fld>
            <a:endParaRPr lang="es-MX" altLang="es-AR"/>
          </a:p>
        </p:txBody>
      </p:sp>
    </p:spTree>
    <p:extLst>
      <p:ext uri="{BB962C8B-B14F-4D97-AF65-F5344CB8AC3E}">
        <p14:creationId xmlns:p14="http://schemas.microsoft.com/office/powerpoint/2010/main" val="7536468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31</a:t>
            </a:fld>
            <a:endParaRPr lang="es-MX" altLang="es-AR"/>
          </a:p>
        </p:txBody>
      </p:sp>
    </p:spTree>
    <p:extLst>
      <p:ext uri="{BB962C8B-B14F-4D97-AF65-F5344CB8AC3E}">
        <p14:creationId xmlns:p14="http://schemas.microsoft.com/office/powerpoint/2010/main" val="2561046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274469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2979050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4527254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35</a:t>
            </a:fld>
            <a:endParaRPr lang="es-MX" altLang="es-AR"/>
          </a:p>
        </p:txBody>
      </p:sp>
    </p:spTree>
    <p:extLst>
      <p:ext uri="{BB962C8B-B14F-4D97-AF65-F5344CB8AC3E}">
        <p14:creationId xmlns:p14="http://schemas.microsoft.com/office/powerpoint/2010/main" val="5776313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1451213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5675008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4760857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39</a:t>
            </a:fld>
            <a:endParaRPr lang="es-MX" altLang="es-AR"/>
          </a:p>
        </p:txBody>
      </p:sp>
    </p:spTree>
    <p:extLst>
      <p:ext uri="{BB962C8B-B14F-4D97-AF65-F5344CB8AC3E}">
        <p14:creationId xmlns:p14="http://schemas.microsoft.com/office/powerpoint/2010/main" val="983176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40</a:t>
            </a:fld>
            <a:endParaRPr lang="es-MX" altLang="es-AR"/>
          </a:p>
        </p:txBody>
      </p:sp>
    </p:spTree>
    <p:extLst>
      <p:ext uri="{BB962C8B-B14F-4D97-AF65-F5344CB8AC3E}">
        <p14:creationId xmlns:p14="http://schemas.microsoft.com/office/powerpoint/2010/main" val="21951809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6297933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25516578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AR" altLang="es-AR" dirty="0"/>
          </a:p>
        </p:txBody>
      </p:sp>
    </p:spTree>
    <p:extLst>
      <p:ext uri="{BB962C8B-B14F-4D97-AF65-F5344CB8AC3E}">
        <p14:creationId xmlns:p14="http://schemas.microsoft.com/office/powerpoint/2010/main" val="1029930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30A94F0A-27A0-4BC8-96DF-D3D95F3434E5}" type="datetime1">
              <a:rPr lang="es-AR" smtClean="0"/>
              <a:t>23/8/2020</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66071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72D5A0D-784F-49F2-83AC-868962BD57AA}" type="datetime1">
              <a:rPr lang="es-AR" smtClean="0"/>
              <a:t>23/8/2020</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78557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30685D93-CCB6-4AA2-9A06-B691E4A94039}" type="datetime1">
              <a:rPr lang="es-AR" smtClean="0"/>
              <a:t>23/8/2020</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9815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34A891F9-CB0F-4879-B678-E3140E49A5AB}" type="datetime1">
              <a:rPr lang="es-AR" smtClean="0"/>
              <a:t>23/8/2020</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10933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C6697B4B-8FC8-4ED2-A7B7-30B7B546CB7C}" type="datetime1">
              <a:rPr lang="es-AR" smtClean="0"/>
              <a:t>23/8/2020</a:t>
            </a:fld>
            <a:endParaRPr lang="es-AR"/>
          </a:p>
        </p:txBody>
      </p:sp>
      <p:sp>
        <p:nvSpPr>
          <p:cNvPr id="8" name="7 Marcador de pie de página"/>
          <p:cNvSpPr>
            <a:spLocks noGrp="1"/>
          </p:cNvSpPr>
          <p:nvPr>
            <p:ph type="ftr" sz="quarter" idx="11"/>
          </p:nvPr>
        </p:nvSpPr>
        <p:spPr/>
        <p:txBody>
          <a:bodyPr/>
          <a:lstStyle/>
          <a:p>
            <a:r>
              <a:rPr lang="es-AR"/>
              <a:t>Curso SPSS / ODSA-UCA</a:t>
            </a:r>
          </a:p>
        </p:txBody>
      </p:sp>
      <p:sp>
        <p:nvSpPr>
          <p:cNvPr id="9" name="8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8077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4E9A48A6-89ED-45E3-8DC8-69DD7242770A}" type="datetime1">
              <a:rPr lang="es-AR" smtClean="0"/>
              <a:t>23/8/2020</a:t>
            </a:fld>
            <a:endParaRPr lang="es-AR"/>
          </a:p>
        </p:txBody>
      </p:sp>
      <p:sp>
        <p:nvSpPr>
          <p:cNvPr id="4" name="3 Marcador de pie de página"/>
          <p:cNvSpPr>
            <a:spLocks noGrp="1"/>
          </p:cNvSpPr>
          <p:nvPr>
            <p:ph type="ftr" sz="quarter" idx="11"/>
          </p:nvPr>
        </p:nvSpPr>
        <p:spPr/>
        <p:txBody>
          <a:bodyPr/>
          <a:lstStyle/>
          <a:p>
            <a:r>
              <a:rPr lang="es-AR"/>
              <a:t>Curso SPSS / ODSA-UCA</a:t>
            </a:r>
          </a:p>
        </p:txBody>
      </p:sp>
      <p:sp>
        <p:nvSpPr>
          <p:cNvPr id="5" name="4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320559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FAC46B7-96E1-4D69-97A5-BA2B575DCD5B}" type="datetime1">
              <a:rPr lang="es-AR" smtClean="0"/>
              <a:t>23/8/2020</a:t>
            </a:fld>
            <a:endParaRPr lang="es-AR"/>
          </a:p>
        </p:txBody>
      </p:sp>
      <p:sp>
        <p:nvSpPr>
          <p:cNvPr id="3" name="2 Marcador de pie de página"/>
          <p:cNvSpPr>
            <a:spLocks noGrp="1"/>
          </p:cNvSpPr>
          <p:nvPr>
            <p:ph type="ftr" sz="quarter" idx="11"/>
          </p:nvPr>
        </p:nvSpPr>
        <p:spPr/>
        <p:txBody>
          <a:bodyPr/>
          <a:lstStyle/>
          <a:p>
            <a:r>
              <a:rPr lang="es-AR"/>
              <a:t>Curso SPSS / ODSA-UCA</a:t>
            </a:r>
          </a:p>
        </p:txBody>
      </p:sp>
      <p:sp>
        <p:nvSpPr>
          <p:cNvPr id="4" name="3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20053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37C0133-B3AE-415F-AD7D-09671FB6B581}" type="datetime1">
              <a:rPr lang="es-AR" smtClean="0"/>
              <a:t>23/8/2020</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48927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FB310E0-D14B-4604-84DC-1535BBF9C4BF}" type="datetime1">
              <a:rPr lang="es-AR" smtClean="0"/>
              <a:t>23/8/2020</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956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909CC5D-9AA7-445A-80D8-6FCD964E68D7}" type="datetime1">
              <a:rPr lang="es-AR" smtClean="0"/>
              <a:t>23/8/2020</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618306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13CEEFF5-E6F6-49FF-AEE7-0991FC29FF6F}" type="datetime1">
              <a:rPr lang="es-AR" smtClean="0"/>
              <a:t>23/8/2020</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0356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CBB71-18DF-4B96-AB10-74B37F964650}" type="datetime1">
              <a:rPr lang="es-AR" smtClean="0"/>
              <a:t>23/8/2020</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a:t>Curso SPSS / ODSA-UCA</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2C5D-0833-432E-A649-4B28246F9627}" type="slidenum">
              <a:rPr lang="es-AR" smtClean="0"/>
              <a:t>‹Nº›</a:t>
            </a:fld>
            <a:endParaRPr lang="es-AR"/>
          </a:p>
        </p:txBody>
      </p:sp>
    </p:spTree>
    <p:extLst>
      <p:ext uri="{BB962C8B-B14F-4D97-AF65-F5344CB8AC3E}">
        <p14:creationId xmlns:p14="http://schemas.microsoft.com/office/powerpoint/2010/main" val="320857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240.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90.png"/><Relationship Id="rId4" Type="http://schemas.openxmlformats.org/officeDocument/2006/relationships/image" Target="../media/image280.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3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39810" y="2402304"/>
            <a:ext cx="8163636" cy="1061829"/>
          </a:xfrm>
          <a:prstGeom prst="rect">
            <a:avLst/>
          </a:prstGeom>
          <a:noFill/>
        </p:spPr>
        <p:txBody>
          <a:bodyPr wrap="square" rtlCol="0">
            <a:spAutoFit/>
          </a:bodyPr>
          <a:lstStyle/>
          <a:p>
            <a:pPr algn="just"/>
            <a:r>
              <a:rPr lang="es-AR" sz="2100" b="1" dirty="0" smtClean="0">
                <a:latin typeface="Cambria" panose="02040503050406030204" pitchFamily="18" charset="0"/>
              </a:rPr>
              <a:t>METODOLOGÍA CUANTITATIVA Y HERRAMIENTAS BÁSICAS DE ESTADÍSTICA APLICADA</a:t>
            </a:r>
          </a:p>
          <a:p>
            <a:r>
              <a:rPr lang="es-AR" sz="2100" b="1" i="1" dirty="0" smtClean="0">
                <a:latin typeface="Cambria" panose="02040503050406030204" pitchFamily="18" charset="0"/>
              </a:rPr>
              <a:t>Análisis de tablas de contingencia</a:t>
            </a:r>
            <a:endParaRPr lang="es-AR" sz="2100" b="1" i="1" dirty="0">
              <a:latin typeface="Cambria" panose="02040503050406030204" pitchFamily="18" charset="0"/>
            </a:endParaRPr>
          </a:p>
        </p:txBody>
      </p:sp>
      <p:sp>
        <p:nvSpPr>
          <p:cNvPr id="19" name="18 Rectángulo redondeado"/>
          <p:cNvSpPr/>
          <p:nvPr/>
        </p:nvSpPr>
        <p:spPr>
          <a:xfrm>
            <a:off x="827088" y="346413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703164" y="3536140"/>
            <a:ext cx="7190011"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765175" y="4025532"/>
            <a:ext cx="3240360" cy="1077218"/>
          </a:xfrm>
          <a:prstGeom prst="rect">
            <a:avLst/>
          </a:prstGeom>
          <a:noFill/>
        </p:spPr>
        <p:txBody>
          <a:bodyPr wrap="square" rtlCol="0">
            <a:spAutoFit/>
          </a:bodyPr>
          <a:lstStyle/>
          <a:p>
            <a:r>
              <a:rPr lang="es-ES" sz="1600" dirty="0" smtClean="0">
                <a:latin typeface="Cambria" panose="02040503050406030204" pitchFamily="18" charset="0"/>
              </a:rPr>
              <a:t>Agosto de 2020</a:t>
            </a:r>
            <a:endParaRPr lang="es-ES" sz="1600" dirty="0">
              <a:latin typeface="Cambria" panose="02040503050406030204" pitchFamily="18" charset="0"/>
            </a:endParaRPr>
          </a:p>
          <a:p>
            <a:endParaRPr lang="es-ES" sz="1600" dirty="0">
              <a:latin typeface="Cambria" panose="02040503050406030204" pitchFamily="18" charset="0"/>
            </a:endParaRPr>
          </a:p>
          <a:p>
            <a:r>
              <a:rPr lang="es-ES" sz="1600" dirty="0" smtClean="0">
                <a:latin typeface="Cambria" panose="02040503050406030204" pitchFamily="18" charset="0"/>
              </a:rPr>
              <a:t>Profesor: Dr. Santiago Poy</a:t>
            </a:r>
            <a:endParaRPr lang="es-ES" sz="1600" dirty="0">
              <a:latin typeface="Cambria" panose="02040503050406030204" pitchFamily="18" charset="0"/>
            </a:endParaRPr>
          </a:p>
          <a:p>
            <a:r>
              <a:rPr lang="es-ES" sz="1600" dirty="0" smtClean="0">
                <a:latin typeface="Cambria" panose="02040503050406030204" pitchFamily="18" charset="0"/>
              </a:rPr>
              <a:t>Correo: santiagopoy@hotmail.com</a:t>
            </a:r>
            <a:endParaRPr lang="es-AR" sz="1600" dirty="0">
              <a:latin typeface="Cambria" panose="02040503050406030204" pitchFamily="18" charset="0"/>
            </a:endParaRPr>
          </a:p>
        </p:txBody>
      </p:sp>
      <p:pic>
        <p:nvPicPr>
          <p:cNvPr id="10" name="Imagen 9" descr="C:\Users\Javier\Desktop\SOLE\2020\PSICO\Equipo Ead\posgrado virtual.jpeg"/>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12536" b="6257"/>
          <a:stretch/>
        </p:blipFill>
        <p:spPr bwMode="auto">
          <a:xfrm>
            <a:off x="-3076" y="1"/>
            <a:ext cx="9144000" cy="1772816"/>
          </a:xfrm>
          <a:prstGeom prst="rect">
            <a:avLst/>
          </a:prstGeom>
          <a:noFill/>
          <a:ln>
            <a:noFill/>
          </a:ln>
        </p:spPr>
      </p:pic>
    </p:spTree>
    <p:extLst>
      <p:ext uri="{BB962C8B-B14F-4D97-AF65-F5344CB8AC3E}">
        <p14:creationId xmlns:p14="http://schemas.microsoft.com/office/powerpoint/2010/main" val="33935071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Plan del curso</a:t>
            </a: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250823" y="1196752"/>
            <a:ext cx="8642351" cy="4524315"/>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s-AR" sz="1600" b="1" dirty="0">
                <a:latin typeface="Cambria" panose="02040503050406030204" pitchFamily="18" charset="0"/>
              </a:rPr>
              <a:t>Unidad </a:t>
            </a:r>
            <a:r>
              <a:rPr lang="es-AR" sz="1600" b="1" dirty="0" smtClean="0">
                <a:latin typeface="Cambria" panose="02040503050406030204" pitchFamily="18" charset="0"/>
              </a:rPr>
              <a:t>1 (Semana 1)</a:t>
            </a:r>
            <a:endParaRPr lang="es-AR" sz="1600" b="1" dirty="0">
              <a:latin typeface="Cambria" panose="02040503050406030204" pitchFamily="18" charset="0"/>
            </a:endParaRPr>
          </a:p>
          <a:p>
            <a:r>
              <a:rPr lang="es-AR" sz="1600" dirty="0">
                <a:latin typeface="Cambria" panose="02040503050406030204" pitchFamily="18" charset="0"/>
              </a:rPr>
              <a:t>Características generales de los diseños de investigación </a:t>
            </a:r>
            <a:r>
              <a:rPr lang="es-AR" sz="1600" dirty="0" smtClean="0">
                <a:latin typeface="Cambria" panose="02040503050406030204" pitchFamily="18" charset="0"/>
              </a:rPr>
              <a:t>cuantitativa</a:t>
            </a:r>
            <a:r>
              <a:rPr lang="es-AR" sz="1600" dirty="0">
                <a:latin typeface="Cambria" panose="02040503050406030204" pitchFamily="18" charset="0"/>
              </a:rPr>
              <a:t> </a:t>
            </a:r>
            <a:r>
              <a:rPr lang="es-AR" sz="1600" dirty="0" smtClean="0">
                <a:latin typeface="Cambria" panose="02040503050406030204" pitchFamily="18" charset="0"/>
              </a:rPr>
              <a:t>/ Problemas </a:t>
            </a:r>
            <a:r>
              <a:rPr lang="es-AR" sz="1600" dirty="0">
                <a:latin typeface="Cambria" panose="02040503050406030204" pitchFamily="18" charset="0"/>
              </a:rPr>
              <a:t>e </a:t>
            </a:r>
            <a:r>
              <a:rPr lang="es-AR" sz="1600" dirty="0" smtClean="0">
                <a:latin typeface="Cambria" panose="02040503050406030204" pitchFamily="18" charset="0"/>
              </a:rPr>
              <a:t>hipótesis / Muestreo</a:t>
            </a:r>
            <a:r>
              <a:rPr lang="es-AR" sz="1600" dirty="0">
                <a:latin typeface="Cambria" panose="02040503050406030204" pitchFamily="18" charset="0"/>
              </a:rPr>
              <a:t>, unidad de análisis y unidad de registro. </a:t>
            </a:r>
            <a:r>
              <a:rPr lang="es-AR" sz="1600" dirty="0" smtClean="0">
                <a:latin typeface="Cambria" panose="02040503050406030204" pitchFamily="18" charset="0"/>
              </a:rPr>
              <a:t>/ El </a:t>
            </a:r>
            <a:r>
              <a:rPr lang="es-AR" sz="1600" dirty="0">
                <a:latin typeface="Cambria" panose="02040503050406030204" pitchFamily="18" charset="0"/>
              </a:rPr>
              <a:t>proceso de </a:t>
            </a:r>
            <a:r>
              <a:rPr lang="es-AR" sz="1600" dirty="0" err="1" smtClean="0">
                <a:latin typeface="Cambria" panose="02040503050406030204" pitchFamily="18" charset="0"/>
              </a:rPr>
              <a:t>operacionalización</a:t>
            </a:r>
            <a:r>
              <a:rPr lang="es-AR" sz="1600" dirty="0" smtClean="0">
                <a:latin typeface="Cambria" panose="02040503050406030204" pitchFamily="18" charset="0"/>
              </a:rPr>
              <a:t> / La </a:t>
            </a:r>
            <a:r>
              <a:rPr lang="es-AR" sz="1600" dirty="0">
                <a:latin typeface="Cambria" panose="02040503050406030204" pitchFamily="18" charset="0"/>
              </a:rPr>
              <a:t>matriz de datos como enlace entre operaciones teórico-metodológicas y </a:t>
            </a:r>
            <a:r>
              <a:rPr lang="es-AR" sz="1600" dirty="0" smtClean="0">
                <a:latin typeface="Cambria" panose="02040503050406030204" pitchFamily="18" charset="0"/>
              </a:rPr>
              <a:t>estadísticas / Nociones </a:t>
            </a:r>
            <a:r>
              <a:rPr lang="es-AR" sz="1600" dirty="0">
                <a:latin typeface="Cambria" panose="02040503050406030204" pitchFamily="18" charset="0"/>
              </a:rPr>
              <a:t>de estadística </a:t>
            </a:r>
            <a:r>
              <a:rPr lang="es-AR" sz="1600" dirty="0" smtClean="0">
                <a:latin typeface="Cambria" panose="02040503050406030204" pitchFamily="18" charset="0"/>
              </a:rPr>
              <a:t>descriptiva / Introducción </a:t>
            </a:r>
            <a:r>
              <a:rPr lang="es-AR" sz="1600" dirty="0">
                <a:latin typeface="Cambria" panose="02040503050406030204" pitchFamily="18" charset="0"/>
              </a:rPr>
              <a:t>al software SPSS, su entorno y sus funcionalidades principales.</a:t>
            </a:r>
          </a:p>
          <a:p>
            <a:pPr marL="285750" indent="-285750">
              <a:lnSpc>
                <a:spcPct val="200000"/>
              </a:lnSpc>
              <a:buFont typeface="Wingdings" panose="05000000000000000000" pitchFamily="2" charset="2"/>
              <a:buChar char="§"/>
            </a:pPr>
            <a:r>
              <a:rPr lang="es-AR" sz="1600" b="1" dirty="0">
                <a:latin typeface="Cambria" panose="02040503050406030204" pitchFamily="18" charset="0"/>
              </a:rPr>
              <a:t>Unidad </a:t>
            </a:r>
            <a:r>
              <a:rPr lang="es-AR" sz="1600" b="1" dirty="0" smtClean="0">
                <a:latin typeface="Cambria" panose="02040503050406030204" pitchFamily="18" charset="0"/>
              </a:rPr>
              <a:t>2 (Semanas 2 y 3)</a:t>
            </a:r>
            <a:endParaRPr lang="es-AR" sz="1600" b="1" dirty="0">
              <a:latin typeface="Cambria" panose="02040503050406030204" pitchFamily="18" charset="0"/>
            </a:endParaRPr>
          </a:p>
          <a:p>
            <a:pPr algn="just"/>
            <a:r>
              <a:rPr lang="es-AR" sz="1600" dirty="0" smtClean="0">
                <a:latin typeface="Cambria" panose="02040503050406030204" pitchFamily="18" charset="0"/>
              </a:rPr>
              <a:t>Formulación </a:t>
            </a:r>
            <a:r>
              <a:rPr lang="es-AR" sz="1600" dirty="0">
                <a:latin typeface="Cambria" panose="02040503050406030204" pitchFamily="18" charset="0"/>
              </a:rPr>
              <a:t>de hipótesis </a:t>
            </a:r>
            <a:r>
              <a:rPr lang="es-AR" sz="1600" dirty="0" err="1" smtClean="0">
                <a:latin typeface="Cambria" panose="02040503050406030204" pitchFamily="18" charset="0"/>
              </a:rPr>
              <a:t>bivariadas</a:t>
            </a:r>
            <a:r>
              <a:rPr lang="es-AR" sz="1600" dirty="0" smtClean="0">
                <a:latin typeface="Cambria" panose="02040503050406030204" pitchFamily="18" charset="0"/>
              </a:rPr>
              <a:t> / Elaboración </a:t>
            </a:r>
            <a:r>
              <a:rPr lang="es-AR" sz="1600" dirty="0">
                <a:latin typeface="Cambria" panose="02040503050406030204" pitchFamily="18" charset="0"/>
              </a:rPr>
              <a:t>y análisis de tablas de contingencia. Cálculo de porcentajes, tasas, </a:t>
            </a:r>
            <a:r>
              <a:rPr lang="es-AR" sz="1600" dirty="0" smtClean="0">
                <a:latin typeface="Cambria" panose="02040503050406030204" pitchFamily="18" charset="0"/>
              </a:rPr>
              <a:t>razones / Concepto </a:t>
            </a:r>
            <a:r>
              <a:rPr lang="es-AR" sz="1600" dirty="0">
                <a:latin typeface="Cambria" panose="02040503050406030204" pitchFamily="18" charset="0"/>
              </a:rPr>
              <a:t>de </a:t>
            </a:r>
            <a:r>
              <a:rPr lang="es-AR" sz="1600" dirty="0" smtClean="0">
                <a:latin typeface="Cambria" panose="02040503050406030204" pitchFamily="18" charset="0"/>
              </a:rPr>
              <a:t>asociación / Medidas </a:t>
            </a:r>
            <a:r>
              <a:rPr lang="es-AR" sz="1600" dirty="0">
                <a:latin typeface="Cambria" panose="02040503050406030204" pitchFamily="18" charset="0"/>
              </a:rPr>
              <a:t>de </a:t>
            </a:r>
            <a:r>
              <a:rPr lang="es-AR" sz="1600" dirty="0" smtClean="0">
                <a:latin typeface="Cambria" panose="02040503050406030204" pitchFamily="18" charset="0"/>
              </a:rPr>
              <a:t>asociación global y local / Prueba </a:t>
            </a:r>
            <a:r>
              <a:rPr lang="es-AR" sz="1600" dirty="0">
                <a:latin typeface="Cambria" panose="02040503050406030204" pitchFamily="18" charset="0"/>
              </a:rPr>
              <a:t>de hipótesis de independencia estadística y su </a:t>
            </a:r>
            <a:r>
              <a:rPr lang="es-AR" sz="1600" dirty="0" smtClean="0">
                <a:latin typeface="Cambria" panose="02040503050406030204" pitchFamily="18" charset="0"/>
              </a:rPr>
              <a:t>interpretación / Tabulaciones </a:t>
            </a:r>
            <a:r>
              <a:rPr lang="es-AR" sz="1600" dirty="0">
                <a:latin typeface="Cambria" panose="02040503050406030204" pitchFamily="18" charset="0"/>
              </a:rPr>
              <a:t>cruzadas con variables de control (tres variables</a:t>
            </a:r>
            <a:r>
              <a:rPr lang="es-AR" sz="1600" dirty="0" smtClean="0">
                <a:latin typeface="Cambria" panose="02040503050406030204" pitchFamily="18" charset="0"/>
              </a:rPr>
              <a:t>).</a:t>
            </a:r>
          </a:p>
          <a:p>
            <a:pPr marL="285750" indent="-285750">
              <a:lnSpc>
                <a:spcPct val="200000"/>
              </a:lnSpc>
              <a:buFont typeface="Wingdings" panose="05000000000000000000" pitchFamily="2" charset="2"/>
              <a:buChar char="§"/>
            </a:pPr>
            <a:r>
              <a:rPr lang="es-AR" sz="1600" b="1" dirty="0" smtClean="0">
                <a:latin typeface="Cambria" panose="02040503050406030204" pitchFamily="18" charset="0"/>
              </a:rPr>
              <a:t>Unidad 3 (Semana 4) </a:t>
            </a:r>
          </a:p>
          <a:p>
            <a:r>
              <a:rPr lang="es-AR" sz="1600" dirty="0" smtClean="0">
                <a:latin typeface="Cambria" panose="02040503050406030204" pitchFamily="18" charset="0"/>
              </a:rPr>
              <a:t>El </a:t>
            </a:r>
            <a:r>
              <a:rPr lang="es-AR" sz="1600" dirty="0">
                <a:latin typeface="Cambria" panose="02040503050406030204" pitchFamily="18" charset="0"/>
              </a:rPr>
              <a:t>análisis de correlación entre variables </a:t>
            </a:r>
            <a:r>
              <a:rPr lang="es-AR" sz="1600" dirty="0" smtClean="0">
                <a:latin typeface="Cambria" panose="02040503050406030204" pitchFamily="18" charset="0"/>
              </a:rPr>
              <a:t>cuantitativas / Naturaleza </a:t>
            </a:r>
            <a:r>
              <a:rPr lang="es-AR" sz="1600" dirty="0">
                <a:latin typeface="Cambria" panose="02040503050406030204" pitchFamily="18" charset="0"/>
              </a:rPr>
              <a:t>de la </a:t>
            </a:r>
            <a:r>
              <a:rPr lang="es-AR" sz="1600" dirty="0" smtClean="0">
                <a:latin typeface="Cambria" panose="02040503050406030204" pitchFamily="18" charset="0"/>
              </a:rPr>
              <a:t>correlación / Análisis de la varianza / El </a:t>
            </a:r>
            <a:r>
              <a:rPr lang="es-AR" sz="1600" dirty="0">
                <a:latin typeface="Cambria" panose="02040503050406030204" pitchFamily="18" charset="0"/>
              </a:rPr>
              <a:t>modelo de regresión lineal </a:t>
            </a:r>
            <a:r>
              <a:rPr lang="es-AR" sz="1600" dirty="0" smtClean="0">
                <a:latin typeface="Cambria" panose="02040503050406030204" pitchFamily="18" charset="0"/>
              </a:rPr>
              <a:t>simple / Referencia </a:t>
            </a:r>
            <a:r>
              <a:rPr lang="es-AR" sz="1600" dirty="0">
                <a:latin typeface="Cambria" panose="02040503050406030204" pitchFamily="18" charset="0"/>
              </a:rPr>
              <a:t>a las distintas técnicas estadísticas multivariadas disponibles y su utilidad para distintos problemas de investigación</a:t>
            </a:r>
            <a:r>
              <a:rPr lang="es-AR" sz="1600" dirty="0" smtClean="0">
                <a:latin typeface="Cambria" panose="02040503050406030204" pitchFamily="18" charset="0"/>
              </a:rPr>
              <a:t>.</a:t>
            </a:r>
            <a:endParaRPr lang="es-AR" sz="1600" dirty="0">
              <a:latin typeface="Cambria" panose="02040503050406030204" pitchFamily="18" charset="0"/>
            </a:endParaRPr>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39419947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Cronograma de trabajo</a:t>
            </a:r>
            <a:endParaRPr lang="es-AR" sz="2400" dirty="0">
              <a:latin typeface="Cambria" panose="02040503050406030204" pitchFamily="18" charset="0"/>
            </a:endParaRP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graphicFrame>
        <p:nvGraphicFramePr>
          <p:cNvPr id="2" name="Tabla 1"/>
          <p:cNvGraphicFramePr>
            <a:graphicFrameLocks noGrp="1"/>
          </p:cNvGraphicFramePr>
          <p:nvPr>
            <p:extLst>
              <p:ext uri="{D42A27DB-BD31-4B8C-83A1-F6EECF244321}">
                <p14:modId xmlns:p14="http://schemas.microsoft.com/office/powerpoint/2010/main" val="751056228"/>
              </p:ext>
            </p:extLst>
          </p:nvPr>
        </p:nvGraphicFramePr>
        <p:xfrm>
          <a:off x="250825" y="1216734"/>
          <a:ext cx="8595684" cy="4741812"/>
        </p:xfrm>
        <a:graphic>
          <a:graphicData uri="http://schemas.openxmlformats.org/drawingml/2006/table">
            <a:tbl>
              <a:tblPr firstRow="1" firstCol="1" bandRow="1">
                <a:tableStyleId>{1E171933-4619-4E11-9A3F-F7608DF75F80}</a:tableStyleId>
              </a:tblPr>
              <a:tblGrid>
                <a:gridCol w="554497">
                  <a:extLst>
                    <a:ext uri="{9D8B030D-6E8A-4147-A177-3AD203B41FA5}">
                      <a16:colId xmlns:a16="http://schemas.microsoft.com/office/drawing/2014/main" val="2752330272"/>
                    </a:ext>
                  </a:extLst>
                </a:gridCol>
                <a:gridCol w="689717">
                  <a:extLst>
                    <a:ext uri="{9D8B030D-6E8A-4147-A177-3AD203B41FA5}">
                      <a16:colId xmlns:a16="http://schemas.microsoft.com/office/drawing/2014/main" val="1646298691"/>
                    </a:ext>
                  </a:extLst>
                </a:gridCol>
                <a:gridCol w="710147">
                  <a:extLst>
                    <a:ext uri="{9D8B030D-6E8A-4147-A177-3AD203B41FA5}">
                      <a16:colId xmlns:a16="http://schemas.microsoft.com/office/drawing/2014/main" val="327493279"/>
                    </a:ext>
                  </a:extLst>
                </a:gridCol>
                <a:gridCol w="1792875">
                  <a:extLst>
                    <a:ext uri="{9D8B030D-6E8A-4147-A177-3AD203B41FA5}">
                      <a16:colId xmlns:a16="http://schemas.microsoft.com/office/drawing/2014/main" val="3035015317"/>
                    </a:ext>
                  </a:extLst>
                </a:gridCol>
                <a:gridCol w="1538973">
                  <a:extLst>
                    <a:ext uri="{9D8B030D-6E8A-4147-A177-3AD203B41FA5}">
                      <a16:colId xmlns:a16="http://schemas.microsoft.com/office/drawing/2014/main" val="627569628"/>
                    </a:ext>
                  </a:extLst>
                </a:gridCol>
                <a:gridCol w="1792875">
                  <a:extLst>
                    <a:ext uri="{9D8B030D-6E8A-4147-A177-3AD203B41FA5}">
                      <a16:colId xmlns:a16="http://schemas.microsoft.com/office/drawing/2014/main" val="2809638030"/>
                    </a:ext>
                  </a:extLst>
                </a:gridCol>
                <a:gridCol w="1516600">
                  <a:extLst>
                    <a:ext uri="{9D8B030D-6E8A-4147-A177-3AD203B41FA5}">
                      <a16:colId xmlns:a16="http://schemas.microsoft.com/office/drawing/2014/main" val="2181582080"/>
                    </a:ext>
                  </a:extLst>
                </a:gridCol>
              </a:tblGrid>
              <a:tr h="269171">
                <a:tc>
                  <a:txBody>
                    <a:bodyPr/>
                    <a:lstStyle/>
                    <a:p>
                      <a:pPr algn="ctr">
                        <a:spcAft>
                          <a:spcPts val="0"/>
                        </a:spcAft>
                      </a:pPr>
                      <a:r>
                        <a:rPr lang="es-AR" sz="900">
                          <a:effectLst/>
                        </a:rPr>
                        <a:t>Sem</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Lunes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Viernes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Sesión asincrónica (disponible: lunes)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Sesión sincrónica (miércoles)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Trabajo Práctico (miércoles)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Lecturas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extLst>
                  <a:ext uri="{0D108BD9-81ED-4DB2-BD59-A6C34878D82A}">
                    <a16:rowId xmlns:a16="http://schemas.microsoft.com/office/drawing/2014/main" val="3864607464"/>
                  </a:ext>
                </a:extLst>
              </a:tr>
              <a:tr h="1260062">
                <a:tc>
                  <a:txBody>
                    <a:bodyPr/>
                    <a:lstStyle/>
                    <a:p>
                      <a:pPr algn="ctr">
                        <a:spcAft>
                          <a:spcPts val="0"/>
                        </a:spcAft>
                      </a:pPr>
                      <a:r>
                        <a:rPr lang="es-AR" sz="900">
                          <a:effectLst/>
                        </a:rPr>
                        <a:t>1</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17-ago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21-ago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Presentación del curso y modalidad de trabajo</a:t>
                      </a:r>
                      <a:endParaRPr lang="es-AR" sz="1100">
                        <a:effectLst/>
                      </a:endParaRPr>
                    </a:p>
                    <a:p>
                      <a:pPr>
                        <a:spcAft>
                          <a:spcPts val="0"/>
                        </a:spcAft>
                      </a:pPr>
                      <a:r>
                        <a:rPr lang="es-AR" sz="900">
                          <a:effectLst/>
                        </a:rPr>
                        <a:t> </a:t>
                      </a:r>
                      <a:endParaRPr lang="es-AR" sz="1100">
                        <a:effectLst/>
                      </a:endParaRPr>
                    </a:p>
                    <a:p>
                      <a:pPr>
                        <a:spcAft>
                          <a:spcPts val="0"/>
                        </a:spcAft>
                      </a:pPr>
                      <a:r>
                        <a:rPr lang="es-AR" sz="900">
                          <a:effectLst/>
                        </a:rPr>
                        <a:t>Unidad 1</a:t>
                      </a:r>
                      <a:endParaRPr lang="es-AR" sz="1100">
                        <a:effectLst/>
                      </a:endParaRPr>
                    </a:p>
                    <a:p>
                      <a:pPr>
                        <a:spcAft>
                          <a:spcPts val="0"/>
                        </a:spcAft>
                      </a:pPr>
                      <a:r>
                        <a:rPr lang="es-AR" sz="900">
                          <a:effectLst/>
                        </a:rPr>
                        <a:t> </a:t>
                      </a:r>
                      <a:endParaRPr lang="es-AR" sz="1100">
                        <a:effectLst/>
                      </a:endParaRPr>
                    </a:p>
                    <a:p>
                      <a:pPr>
                        <a:spcAft>
                          <a:spcPts val="0"/>
                        </a:spcAft>
                      </a:pPr>
                      <a:r>
                        <a:rPr lang="es-AR" sz="900">
                          <a:effectLst/>
                        </a:rPr>
                        <a:t>Se enviará un correo a los/as doctorandos/as para que cuenten con el SPSS instalado.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Introducción al curso y preparación de entorno SPSS.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TP 1: </a:t>
                      </a:r>
                      <a:endParaRPr lang="es-AR" sz="1100">
                        <a:effectLst/>
                      </a:endParaRPr>
                    </a:p>
                    <a:p>
                      <a:pPr>
                        <a:spcAft>
                          <a:spcPts val="0"/>
                        </a:spcAft>
                      </a:pPr>
                      <a:r>
                        <a:rPr lang="es-AR" sz="900">
                          <a:effectLst/>
                        </a:rPr>
                        <a:t>Hipótesis teóricas y operativas. Indicadores empíricos. Análisis descriptivo univariado.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n-US" sz="900">
                          <a:effectLst/>
                        </a:rPr>
                        <a:t>Cortés y Rubalcava</a:t>
                      </a:r>
                      <a:br>
                        <a:rPr lang="en-US" sz="900">
                          <a:effectLst/>
                        </a:rPr>
                      </a:br>
                      <a:r>
                        <a:rPr lang="en-US" sz="900">
                          <a:effectLst/>
                        </a:rPr>
                        <a:t>Kish</a:t>
                      </a:r>
                      <a:br>
                        <a:rPr lang="en-US" sz="900">
                          <a:effectLst/>
                        </a:rPr>
                      </a:br>
                      <a:r>
                        <a:rPr lang="en-US" sz="900">
                          <a:effectLst/>
                        </a:rPr>
                        <a:t>Lazarsfeld</a:t>
                      </a:r>
                      <a:br>
                        <a:rPr lang="en-US" sz="900">
                          <a:effectLst/>
                        </a:rPr>
                      </a:br>
                      <a:r>
                        <a:rPr lang="en-US" sz="900">
                          <a:effectLst/>
                        </a:rPr>
                        <a:t>Ritchey</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extLst>
                  <a:ext uri="{0D108BD9-81ED-4DB2-BD59-A6C34878D82A}">
                    <a16:rowId xmlns:a16="http://schemas.microsoft.com/office/drawing/2014/main" val="2224511866"/>
                  </a:ext>
                </a:extLst>
              </a:tr>
              <a:tr h="916409">
                <a:tc>
                  <a:txBody>
                    <a:bodyPr/>
                    <a:lstStyle/>
                    <a:p>
                      <a:pPr algn="ctr">
                        <a:spcAft>
                          <a:spcPts val="0"/>
                        </a:spcAft>
                      </a:pPr>
                      <a:r>
                        <a:rPr lang="es-AR" sz="900">
                          <a:effectLst/>
                        </a:rPr>
                        <a:t>2</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24-ago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28-ago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Unidad 2 (primera parte)</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Discusión del TP 1 y puesta en común (se asignará la exposición de trabajos). Resolución de dudas.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TP 2: </a:t>
                      </a:r>
                      <a:endParaRPr lang="es-AR" sz="1100">
                        <a:effectLst/>
                      </a:endParaRPr>
                    </a:p>
                    <a:p>
                      <a:pPr>
                        <a:spcAft>
                          <a:spcPts val="0"/>
                        </a:spcAft>
                      </a:pPr>
                      <a:r>
                        <a:rPr lang="es-AR" sz="900">
                          <a:effectLst/>
                        </a:rPr>
                        <a:t>Análisis de tablas de contingencia bivariadas y asociación (variables cualitativas).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Chitarroni</a:t>
                      </a:r>
                      <a:br>
                        <a:rPr lang="es-AR" sz="900">
                          <a:effectLst/>
                        </a:rPr>
                      </a:br>
                      <a:r>
                        <a:rPr lang="es-AR" sz="900">
                          <a:effectLst/>
                        </a:rPr>
                        <a:t>García Ferrando</a:t>
                      </a:r>
                      <a:br>
                        <a:rPr lang="es-AR" sz="900">
                          <a:effectLst/>
                        </a:rPr>
                      </a:br>
                      <a:r>
                        <a:rPr lang="es-AR" sz="900">
                          <a:effectLst/>
                        </a:rPr>
                        <a:t>Hyman</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extLst>
                  <a:ext uri="{0D108BD9-81ED-4DB2-BD59-A6C34878D82A}">
                    <a16:rowId xmlns:a16="http://schemas.microsoft.com/office/drawing/2014/main" val="3314265487"/>
                  </a:ext>
                </a:extLst>
              </a:tr>
              <a:tr h="916409">
                <a:tc>
                  <a:txBody>
                    <a:bodyPr/>
                    <a:lstStyle/>
                    <a:p>
                      <a:pPr algn="ctr">
                        <a:spcAft>
                          <a:spcPts val="0"/>
                        </a:spcAft>
                      </a:pPr>
                      <a:r>
                        <a:rPr lang="es-AR" sz="900">
                          <a:effectLst/>
                        </a:rPr>
                        <a:t>3</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31-ago</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4-sep</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Unidad 2 (segunda parte)</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Discusión del TP 2 y puesta en común (se asignará la exposición de trabajos). Resolución de dudas.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TP 3: </a:t>
                      </a:r>
                      <a:endParaRPr lang="es-AR" sz="1100">
                        <a:effectLst/>
                      </a:endParaRPr>
                    </a:p>
                    <a:p>
                      <a:pPr>
                        <a:spcAft>
                          <a:spcPts val="0"/>
                        </a:spcAft>
                      </a:pPr>
                      <a:r>
                        <a:rPr lang="es-AR" sz="900">
                          <a:effectLst/>
                        </a:rPr>
                        <a:t>Análisis de contingencia e incorporación de variables de control.</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García Ferrando</a:t>
                      </a:r>
                      <a:br>
                        <a:rPr lang="es-AR" sz="900">
                          <a:effectLst/>
                        </a:rPr>
                      </a:br>
                      <a:r>
                        <a:rPr lang="es-AR" sz="900">
                          <a:effectLst/>
                        </a:rPr>
                        <a:t>Lazarsfeld</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extLst>
                  <a:ext uri="{0D108BD9-81ED-4DB2-BD59-A6C34878D82A}">
                    <a16:rowId xmlns:a16="http://schemas.microsoft.com/office/drawing/2014/main" val="3156409876"/>
                  </a:ext>
                </a:extLst>
              </a:tr>
              <a:tr h="1374612">
                <a:tc>
                  <a:txBody>
                    <a:bodyPr/>
                    <a:lstStyle/>
                    <a:p>
                      <a:pPr algn="ctr">
                        <a:spcAft>
                          <a:spcPts val="0"/>
                        </a:spcAft>
                      </a:pPr>
                      <a:r>
                        <a:rPr lang="es-AR" sz="900">
                          <a:effectLst/>
                        </a:rPr>
                        <a:t>4</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7-sep</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lgn="ctr">
                        <a:spcAft>
                          <a:spcPts val="0"/>
                        </a:spcAft>
                      </a:pPr>
                      <a:r>
                        <a:rPr lang="es-AR" sz="900">
                          <a:effectLst/>
                        </a:rPr>
                        <a:t>11-sep</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Unidad 3</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Discusión del TP 3 y puesta en común (se asignará la exposición de trabajos). Resolución de dudas.</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a:effectLst/>
                        </a:rPr>
                        <a:t>TP 4: </a:t>
                      </a:r>
                      <a:endParaRPr lang="es-AR" sz="1100">
                        <a:effectLst/>
                      </a:endParaRPr>
                    </a:p>
                    <a:p>
                      <a:pPr>
                        <a:spcAft>
                          <a:spcPts val="0"/>
                        </a:spcAft>
                      </a:pPr>
                      <a:r>
                        <a:rPr lang="es-AR" sz="900">
                          <a:effectLst/>
                        </a:rPr>
                        <a:t>Análisis de correlación e interpretación de resultados.</a:t>
                      </a:r>
                      <a:endParaRPr lang="es-AR" sz="1100">
                        <a:effectLst/>
                      </a:endParaRPr>
                    </a:p>
                    <a:p>
                      <a:pPr>
                        <a:spcAft>
                          <a:spcPts val="0"/>
                        </a:spcAft>
                      </a:pPr>
                      <a:r>
                        <a:rPr lang="es-AR" sz="900">
                          <a:effectLst/>
                        </a:rPr>
                        <a:t>(Deberá enviarse como tarea y será devuelto)</a:t>
                      </a:r>
                      <a:endParaRPr lang="es-AR" sz="1100">
                        <a:effectLst/>
                      </a:endParaRPr>
                    </a:p>
                    <a:p>
                      <a:pPr>
                        <a:spcAft>
                          <a:spcPts val="0"/>
                        </a:spcAft>
                      </a:pPr>
                      <a:r>
                        <a:rPr lang="es-AR" sz="900">
                          <a:effectLst/>
                        </a:rPr>
                        <a:t> </a:t>
                      </a:r>
                      <a:endParaRPr lang="es-AR" sz="1100">
                        <a:effectLst/>
                      </a:endParaRPr>
                    </a:p>
                    <a:p>
                      <a:pPr>
                        <a:spcAft>
                          <a:spcPts val="0"/>
                        </a:spcAft>
                      </a:pPr>
                      <a:r>
                        <a:rPr lang="es-AR" sz="900">
                          <a:effectLst/>
                        </a:rPr>
                        <a:t>Entrega de la consigna para el Trabajo Final.</a:t>
                      </a:r>
                      <a:endParaRPr lang="es-AR" sz="1100">
                        <a:effectLst/>
                        <a:latin typeface="Cambria" panose="02040503050406030204" pitchFamily="18" charset="0"/>
                        <a:ea typeface="MS Mincho"/>
                        <a:cs typeface="Times New Roman" panose="02020603050405020304" pitchFamily="18" charset="0"/>
                      </a:endParaRPr>
                    </a:p>
                  </a:txBody>
                  <a:tcPr marL="42147" marR="42147" marT="0" marB="0" anchor="ctr"/>
                </a:tc>
                <a:tc>
                  <a:txBody>
                    <a:bodyPr/>
                    <a:lstStyle/>
                    <a:p>
                      <a:pPr>
                        <a:spcAft>
                          <a:spcPts val="0"/>
                        </a:spcAft>
                      </a:pPr>
                      <a:r>
                        <a:rPr lang="es-AR" sz="900" dirty="0" err="1">
                          <a:effectLst/>
                        </a:rPr>
                        <a:t>Chitarroni</a:t>
                      </a:r>
                      <a:r>
                        <a:rPr lang="es-AR" sz="900" dirty="0">
                          <a:effectLst/>
                        </a:rPr>
                        <a:t/>
                      </a:r>
                      <a:br>
                        <a:rPr lang="es-AR" sz="900" dirty="0">
                          <a:effectLst/>
                        </a:rPr>
                      </a:br>
                      <a:r>
                        <a:rPr lang="es-AR" sz="900" dirty="0">
                          <a:effectLst/>
                        </a:rPr>
                        <a:t>García Ferrando</a:t>
                      </a:r>
                      <a:endParaRPr lang="es-AR" sz="1100" dirty="0">
                        <a:effectLst/>
                        <a:latin typeface="Cambria" panose="02040503050406030204" pitchFamily="18" charset="0"/>
                        <a:ea typeface="MS Mincho"/>
                        <a:cs typeface="Times New Roman" panose="02020603050405020304" pitchFamily="18" charset="0"/>
                      </a:endParaRPr>
                    </a:p>
                  </a:txBody>
                  <a:tcPr marL="42147" marR="42147" marT="0" marB="0" anchor="ctr"/>
                </a:tc>
                <a:extLst>
                  <a:ext uri="{0D108BD9-81ED-4DB2-BD59-A6C34878D82A}">
                    <a16:rowId xmlns:a16="http://schemas.microsoft.com/office/drawing/2014/main" val="2793217749"/>
                  </a:ext>
                </a:extLst>
              </a:tr>
            </a:tbl>
          </a:graphicData>
        </a:graphic>
      </p:graphicFrame>
    </p:spTree>
    <p:extLst>
      <p:ext uri="{BB962C8B-B14F-4D97-AF65-F5344CB8AC3E}">
        <p14:creationId xmlns:p14="http://schemas.microsoft.com/office/powerpoint/2010/main" val="5795466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Temas de esta semana</a:t>
            </a:r>
            <a:endParaRPr lang="es-AR" sz="2400" dirty="0">
              <a:latin typeface="Cambria" panose="02040503050406030204" pitchFamily="18" charset="0"/>
            </a:endParaRPr>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250823" y="1196752"/>
            <a:ext cx="8642351" cy="304698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s-AR" sz="1600" dirty="0">
                <a:latin typeface="Cambria" panose="02040503050406030204" pitchFamily="18" charset="0"/>
              </a:rPr>
              <a:t>Formulación de hipótesis </a:t>
            </a:r>
            <a:r>
              <a:rPr lang="es-AR" sz="1600" dirty="0" err="1" smtClean="0">
                <a:latin typeface="Cambria" panose="02040503050406030204" pitchFamily="18" charset="0"/>
              </a:rPr>
              <a:t>bivariadas</a:t>
            </a:r>
            <a:endParaRPr lang="es-AR" sz="1600" dirty="0" smtClean="0">
              <a:latin typeface="Cambria" panose="02040503050406030204" pitchFamily="18" charset="0"/>
            </a:endParaRPr>
          </a:p>
          <a:p>
            <a:pPr marL="285750" indent="-285750">
              <a:lnSpc>
                <a:spcPct val="200000"/>
              </a:lnSpc>
              <a:buFont typeface="Arial" panose="020B0604020202020204" pitchFamily="34" charset="0"/>
              <a:buChar char="•"/>
            </a:pPr>
            <a:r>
              <a:rPr lang="es-AR" sz="1600" dirty="0" smtClean="0">
                <a:latin typeface="Cambria" panose="02040503050406030204" pitchFamily="18" charset="0"/>
              </a:rPr>
              <a:t>Elaboración </a:t>
            </a:r>
            <a:r>
              <a:rPr lang="es-AR" sz="1600" dirty="0">
                <a:latin typeface="Cambria" panose="02040503050406030204" pitchFamily="18" charset="0"/>
              </a:rPr>
              <a:t>y análisis de tablas de contingencia. </a:t>
            </a:r>
            <a:endParaRPr lang="es-AR" sz="1600" dirty="0" smtClean="0">
              <a:latin typeface="Cambria" panose="02040503050406030204" pitchFamily="18" charset="0"/>
            </a:endParaRPr>
          </a:p>
          <a:p>
            <a:pPr marL="285750" indent="-285750">
              <a:lnSpc>
                <a:spcPct val="200000"/>
              </a:lnSpc>
              <a:buFont typeface="Arial" panose="020B0604020202020204" pitchFamily="34" charset="0"/>
              <a:buChar char="•"/>
            </a:pPr>
            <a:r>
              <a:rPr lang="es-AR" sz="1600" dirty="0" smtClean="0">
                <a:latin typeface="Cambria" panose="02040503050406030204" pitchFamily="18" charset="0"/>
              </a:rPr>
              <a:t>Cálculo </a:t>
            </a:r>
            <a:r>
              <a:rPr lang="es-AR" sz="1600" dirty="0">
                <a:latin typeface="Cambria" panose="02040503050406030204" pitchFamily="18" charset="0"/>
              </a:rPr>
              <a:t>de </a:t>
            </a:r>
            <a:r>
              <a:rPr lang="es-AR" sz="1600" dirty="0" smtClean="0">
                <a:latin typeface="Cambria" panose="02040503050406030204" pitchFamily="18" charset="0"/>
              </a:rPr>
              <a:t>porcentajes</a:t>
            </a:r>
          </a:p>
          <a:p>
            <a:pPr marL="285750" indent="-285750">
              <a:lnSpc>
                <a:spcPct val="200000"/>
              </a:lnSpc>
              <a:buFont typeface="Arial" panose="020B0604020202020204" pitchFamily="34" charset="0"/>
              <a:buChar char="•"/>
            </a:pPr>
            <a:r>
              <a:rPr lang="es-AR" sz="1600" dirty="0" smtClean="0">
                <a:latin typeface="Cambria" panose="02040503050406030204" pitchFamily="18" charset="0"/>
              </a:rPr>
              <a:t>Concepto </a:t>
            </a:r>
            <a:r>
              <a:rPr lang="es-AR" sz="1600" dirty="0">
                <a:latin typeface="Cambria" panose="02040503050406030204" pitchFamily="18" charset="0"/>
              </a:rPr>
              <a:t>de </a:t>
            </a:r>
            <a:r>
              <a:rPr lang="es-AR" sz="1600" dirty="0" smtClean="0">
                <a:latin typeface="Cambria" panose="02040503050406030204" pitchFamily="18" charset="0"/>
              </a:rPr>
              <a:t>asociación</a:t>
            </a:r>
          </a:p>
          <a:p>
            <a:pPr marL="285750" indent="-285750">
              <a:lnSpc>
                <a:spcPct val="200000"/>
              </a:lnSpc>
              <a:buFont typeface="Arial" panose="020B0604020202020204" pitchFamily="34" charset="0"/>
              <a:buChar char="•"/>
            </a:pPr>
            <a:r>
              <a:rPr lang="es-AR" sz="1600" dirty="0">
                <a:latin typeface="Cambria" panose="02040503050406030204" pitchFamily="18" charset="0"/>
              </a:rPr>
              <a:t>Prueba de hipótesis de independencia estadística y su interpretación</a:t>
            </a:r>
          </a:p>
          <a:p>
            <a:pPr marL="285750" indent="-285750">
              <a:lnSpc>
                <a:spcPct val="200000"/>
              </a:lnSpc>
              <a:buFont typeface="Arial" panose="020B0604020202020204" pitchFamily="34" charset="0"/>
              <a:buChar char="•"/>
            </a:pPr>
            <a:r>
              <a:rPr lang="es-AR" sz="1600" dirty="0" smtClean="0">
                <a:latin typeface="Cambria" panose="02040503050406030204" pitchFamily="18" charset="0"/>
              </a:rPr>
              <a:t>Medidas </a:t>
            </a:r>
            <a:r>
              <a:rPr lang="es-AR" sz="1600" dirty="0">
                <a:latin typeface="Cambria" panose="02040503050406030204" pitchFamily="18" charset="0"/>
              </a:rPr>
              <a:t>de asociación global y </a:t>
            </a:r>
            <a:r>
              <a:rPr lang="es-AR" sz="1600" dirty="0" smtClean="0">
                <a:latin typeface="Cambria" panose="02040503050406030204" pitchFamily="18" charset="0"/>
              </a:rPr>
              <a:t>local</a:t>
            </a:r>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Tree>
    <p:extLst>
      <p:ext uri="{BB962C8B-B14F-4D97-AF65-F5344CB8AC3E}">
        <p14:creationId xmlns:p14="http://schemas.microsoft.com/office/powerpoint/2010/main" val="662323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5" y="1052736"/>
            <a:ext cx="8642350"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sz="1600" dirty="0">
                <a:latin typeface="Cambria" panose="02040503050406030204" pitchFamily="18" charset="0"/>
                <a:ea typeface="Cambria" panose="02040503050406030204" pitchFamily="18" charset="0"/>
                <a:cs typeface="Calibri" panose="020F0502020204030204" pitchFamily="34" charset="0"/>
              </a:rPr>
              <a:t>Hasta ahora, nos centramos en el análisis detallado de una sola variable (estadística descriptiva </a:t>
            </a:r>
            <a:r>
              <a:rPr lang="es-AR" altLang="es-AR" sz="1600" dirty="0" err="1">
                <a:latin typeface="Cambria" panose="02040503050406030204" pitchFamily="18" charset="0"/>
                <a:ea typeface="Cambria" panose="02040503050406030204" pitchFamily="18" charset="0"/>
                <a:cs typeface="Calibri" panose="020F0502020204030204" pitchFamily="34" charset="0"/>
              </a:rPr>
              <a:t>univariada</a:t>
            </a:r>
            <a:r>
              <a:rPr lang="es-AR" altLang="es-AR" sz="1600" dirty="0" smtClean="0">
                <a:latin typeface="Cambria" panose="02040503050406030204" pitchFamily="18" charset="0"/>
                <a:ea typeface="Cambria" panose="02040503050406030204" pitchFamily="18" charset="0"/>
                <a:cs typeface="Calibri" panose="020F0502020204030204" pitchFamily="34" charset="0"/>
              </a:rPr>
              <a:t>).</a:t>
            </a:r>
          </a:p>
          <a:p>
            <a:pPr marL="285750" indent="-285750" algn="just">
              <a:buFont typeface="Arial" panose="020B0604020202020204" pitchFamily="34" charset="0"/>
              <a:buChar char="•"/>
            </a:pPr>
            <a:endParaRPr lang="es-AR" altLang="es-AR" sz="1600" dirty="0" smtClean="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Sin </a:t>
            </a:r>
            <a:r>
              <a:rPr lang="es-AR" altLang="es-AR" sz="1600" dirty="0">
                <a:latin typeface="Cambria" panose="02040503050406030204" pitchFamily="18" charset="0"/>
                <a:ea typeface="Cambria" panose="02040503050406030204" pitchFamily="18" charset="0"/>
                <a:cs typeface="Calibri" panose="020F0502020204030204" pitchFamily="34" charset="0"/>
              </a:rPr>
              <a:t>embargo, es habitual que nuestro interés sea analizar la relación entre dos o más variables. </a:t>
            </a:r>
            <a:r>
              <a:rPr lang="es-AR" altLang="es-AR" sz="1600" dirty="0" smtClean="0">
                <a:latin typeface="Cambria" panose="02040503050406030204" pitchFamily="18" charset="0"/>
                <a:ea typeface="Cambria" panose="02040503050406030204" pitchFamily="18" charset="0"/>
                <a:cs typeface="Calibri" panose="020F0502020204030204" pitchFamily="34" charset="0"/>
              </a:rPr>
              <a:t>Precisamente, las </a:t>
            </a:r>
            <a:r>
              <a:rPr lang="es-AR" altLang="es-AR" sz="1600" b="1" i="1" dirty="0">
                <a:solidFill>
                  <a:srgbClr val="2A8A85"/>
                </a:solidFill>
                <a:latin typeface="Cambria" panose="02040503050406030204" pitchFamily="18" charset="0"/>
                <a:ea typeface="Cambria" panose="02040503050406030204" pitchFamily="18" charset="0"/>
                <a:cs typeface="Calibri" panose="020F0502020204030204" pitchFamily="34" charset="0"/>
              </a:rPr>
              <a:t>hipótesis</a:t>
            </a:r>
            <a:r>
              <a:rPr lang="es-AR" altLang="es-AR" sz="1600" dirty="0">
                <a:latin typeface="Cambria" panose="02040503050406030204" pitchFamily="18" charset="0"/>
                <a:ea typeface="Cambria" panose="02040503050406030204" pitchFamily="18" charset="0"/>
                <a:cs typeface="Calibri" panose="020F0502020204030204" pitchFamily="34" charset="0"/>
              </a:rPr>
              <a:t> son, generalmente, </a:t>
            </a:r>
            <a:r>
              <a:rPr lang="es-AR" altLang="es-AR" sz="1600" dirty="0" smtClean="0">
                <a:latin typeface="Cambria" panose="02040503050406030204" pitchFamily="18" charset="0"/>
                <a:ea typeface="Cambria" panose="02040503050406030204" pitchFamily="18" charset="0"/>
                <a:cs typeface="Calibri" panose="020F0502020204030204" pitchFamily="34" charset="0"/>
              </a:rPr>
              <a:t>proposiciones que ponen </a:t>
            </a:r>
            <a:r>
              <a:rPr lang="es-AR" altLang="es-AR" sz="1600" dirty="0">
                <a:latin typeface="Cambria" panose="02040503050406030204" pitchFamily="18" charset="0"/>
                <a:ea typeface="Cambria" panose="02040503050406030204" pitchFamily="18" charset="0"/>
                <a:cs typeface="Calibri" panose="020F0502020204030204" pitchFamily="34" charset="0"/>
              </a:rPr>
              <a:t>en relación dos o más variables</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Por ejemplo: la proposición “</a:t>
            </a:r>
            <a:r>
              <a:rPr lang="es-AR" altLang="es-AR" sz="1600" b="1" i="1" dirty="0">
                <a:solidFill>
                  <a:schemeClr val="accent2">
                    <a:lumMod val="75000"/>
                  </a:schemeClr>
                </a:solidFill>
                <a:latin typeface="Cambria" panose="02040503050406030204" pitchFamily="18" charset="0"/>
                <a:ea typeface="Cambria" panose="02040503050406030204" pitchFamily="18" charset="0"/>
                <a:cs typeface="Calibri" panose="020F0502020204030204" pitchFamily="34" charset="0"/>
              </a:rPr>
              <a:t>c</a:t>
            </a:r>
            <a:r>
              <a:rPr lang="es-AR" altLang="es-AR" sz="1600" b="1" i="1" dirty="0" smtClean="0">
                <a:solidFill>
                  <a:schemeClr val="accent2">
                    <a:lumMod val="75000"/>
                  </a:schemeClr>
                </a:solidFill>
                <a:latin typeface="Cambria" panose="02040503050406030204" pitchFamily="18" charset="0"/>
                <a:ea typeface="Cambria" panose="02040503050406030204" pitchFamily="18" charset="0"/>
                <a:cs typeface="Calibri" panose="020F0502020204030204" pitchFamily="34" charset="0"/>
              </a:rPr>
              <a:t>uanto mayor sea el grado de satisfacción con su puesto de trabajo, las personas experimentarán mayores niveles de bienestar subjetivo”</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es una hipótesis. </a:t>
            </a:r>
          </a:p>
          <a:p>
            <a:pPr marL="285750" indent="-285750" algn="just">
              <a:buFont typeface="Arial" panose="020B0604020202020204" pitchFamily="34" charset="0"/>
              <a:buChar char="•"/>
            </a:pPr>
            <a:endParaRPr lang="es-AR" altLang="es-AR" sz="16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Los elementos a considerar son:</a:t>
            </a:r>
          </a:p>
          <a:p>
            <a:pPr marL="285750" indent="-285750" algn="just">
              <a:buFont typeface="Arial" panose="020B0604020202020204" pitchFamily="34" charset="0"/>
              <a:buChar char="•"/>
            </a:pPr>
            <a:endParaRPr lang="es-AR" altLang="es-AR" sz="1600" dirty="0">
              <a:latin typeface="Cambria" panose="02040503050406030204" pitchFamily="18" charset="0"/>
              <a:ea typeface="Cambria" panose="02040503050406030204" pitchFamily="18" charset="0"/>
              <a:cs typeface="Calibri" panose="020F0502020204030204" pitchFamily="34" charset="0"/>
            </a:endParaRPr>
          </a:p>
          <a:p>
            <a:pPr marL="1028700" lvl="1"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Las </a:t>
            </a:r>
            <a:r>
              <a:rPr lang="es-AR" altLang="es-AR" sz="1600"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variables</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(y su nivel de medición): en este caso, el “grado de satisfacción con el puesto de trabajo” (ordinal) y el “nivel de bienestar subjetivo” (ordinal).</a:t>
            </a:r>
          </a:p>
          <a:p>
            <a:pPr marL="1028700" lvl="1"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La </a:t>
            </a:r>
            <a:r>
              <a:rPr lang="es-AR" altLang="es-AR" sz="1600"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función de las variables</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estamos asumiendo que el “grado de satisfacción” </a:t>
            </a:r>
            <a:r>
              <a:rPr lang="es-AR" altLang="es-AR" sz="1600" i="1" dirty="0" smtClean="0">
                <a:latin typeface="Cambria" panose="02040503050406030204" pitchFamily="18" charset="0"/>
                <a:ea typeface="Cambria" panose="02040503050406030204" pitchFamily="18" charset="0"/>
                <a:cs typeface="Calibri" panose="020F0502020204030204" pitchFamily="34" charset="0"/>
              </a:rPr>
              <a:t>provoca</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(variable independiente) un mayor “bienestar subjetivo” (variable dependiente).</a:t>
            </a:r>
          </a:p>
          <a:p>
            <a:pPr marL="1028700" lvl="1"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La </a:t>
            </a:r>
            <a:r>
              <a:rPr lang="es-AR" altLang="es-AR" sz="1600"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unidad de análisis</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en este caso, las personas.</a:t>
            </a:r>
          </a:p>
          <a:p>
            <a:pPr marL="1028700" lvl="1"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El </a:t>
            </a:r>
            <a:r>
              <a:rPr lang="es-AR" altLang="es-AR" sz="1600"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sentido o dirección</a:t>
            </a:r>
            <a:r>
              <a:rPr lang="es-AR" altLang="es-AR" sz="1600" dirty="0" smtClean="0">
                <a:solidFill>
                  <a:srgbClr val="2A8A85"/>
                </a:solidFill>
                <a:latin typeface="Cambria" panose="02040503050406030204" pitchFamily="18" charset="0"/>
                <a:ea typeface="Cambria" panose="02040503050406030204" pitchFamily="18" charset="0"/>
                <a:cs typeface="Calibri" panose="020F0502020204030204" pitchFamily="34" charset="0"/>
              </a:rPr>
              <a:t> </a:t>
            </a:r>
            <a:r>
              <a:rPr lang="es-AR" altLang="es-AR" sz="1600" dirty="0" smtClean="0">
                <a:latin typeface="Cambria" panose="02040503050406030204" pitchFamily="18" charset="0"/>
                <a:ea typeface="Cambria" panose="02040503050406030204" pitchFamily="18" charset="0"/>
                <a:cs typeface="Calibri" panose="020F0502020204030204" pitchFamily="34" charset="0"/>
              </a:rPr>
              <a:t>de la relación entre las variables: en este caso, un sentido positivo (mayores valores en la variable independiente </a:t>
            </a:r>
            <a:r>
              <a:rPr lang="es-AR" altLang="es-AR" sz="1600" dirty="0" smtClean="0">
                <a:latin typeface="Cambria" panose="02040503050406030204" pitchFamily="18" charset="0"/>
                <a:ea typeface="Cambria" panose="02040503050406030204" pitchFamily="18" charset="0"/>
                <a:cs typeface="Calibri" panose="020F0502020204030204" pitchFamily="34" charset="0"/>
                <a:sym typeface="Wingdings" panose="05000000000000000000" pitchFamily="2" charset="2"/>
              </a:rPr>
              <a:t> mayores valores en la dependiente).</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a:t>
            </a:r>
          </a:p>
          <a:p>
            <a:pPr marL="1028700" lvl="1" algn="just">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cs typeface="Calibri" panose="020F0502020204030204" pitchFamily="34" charset="0"/>
              </a:rPr>
              <a:t>La </a:t>
            </a:r>
            <a:r>
              <a:rPr lang="es-AR" altLang="es-AR" sz="1600"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consecuencia observacional</a:t>
            </a:r>
            <a:r>
              <a:rPr lang="es-AR" altLang="es-AR" sz="1600" dirty="0" smtClean="0">
                <a:latin typeface="Cambria" panose="02040503050406030204" pitchFamily="18" charset="0"/>
                <a:ea typeface="Cambria" panose="02040503050406030204" pitchFamily="18" charset="0"/>
                <a:cs typeface="Calibri" panose="020F0502020204030204" pitchFamily="34" charset="0"/>
              </a:rPr>
              <a:t>: es decir, qué deberíamos encontrar si la hipótesis se comprueba. Aquí, deberíamos observar que las personas más satisfechas con su trabajo tienen mayores niveles de bienestar subjetivo. </a:t>
            </a:r>
            <a:endParaRPr lang="es-AR" altLang="es-AR" sz="1600" dirty="0">
              <a:latin typeface="Cambria" panose="02040503050406030204" pitchFamily="18" charset="0"/>
              <a:ea typeface="Cambria" panose="02040503050406030204" pitchFamily="18" charset="0"/>
              <a:cs typeface="Calibri" panose="020F0502020204030204" pitchFamily="34" charset="0"/>
            </a:endParaRPr>
          </a:p>
        </p:txBody>
      </p:sp>
      <p:sp>
        <p:nvSpPr>
          <p:cNvPr id="1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2 Rectángulo"/>
          <p:cNvSpPr/>
          <p:nvPr/>
        </p:nvSpPr>
        <p:spPr>
          <a:xfrm>
            <a:off x="0" y="6677566"/>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Formulación de hipótesis</a:t>
            </a:r>
            <a:endParaRPr lang="es-AR" sz="2400" dirty="0">
              <a:latin typeface="Cambria" panose="02040503050406030204" pitchFamily="18" charset="0"/>
            </a:endParaRPr>
          </a:p>
        </p:txBody>
      </p:sp>
    </p:spTree>
    <p:extLst>
      <p:ext uri="{BB962C8B-B14F-4D97-AF65-F5344CB8AC3E}">
        <p14:creationId xmlns:p14="http://schemas.microsoft.com/office/powerpoint/2010/main" val="2853291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8">
            <a:extLst>
              <a:ext uri="{FF2B5EF4-FFF2-40B4-BE49-F238E27FC236}">
                <a16:creationId xmlns:a16="http://schemas.microsoft.com/office/drawing/2014/main" id="{8D881FCD-F1FA-4926-A663-8110D654E879}"/>
              </a:ext>
            </a:extLst>
          </p:cNvPr>
          <p:cNvSpPr txBox="1"/>
          <p:nvPr/>
        </p:nvSpPr>
        <p:spPr>
          <a:xfrm>
            <a:off x="831280" y="4880272"/>
            <a:ext cx="3888432" cy="369332"/>
          </a:xfrm>
          <a:prstGeom prst="rect">
            <a:avLst/>
          </a:prstGeom>
          <a:solidFill>
            <a:schemeClr val="accent6">
              <a:lumMod val="20000"/>
              <a:lumOff val="80000"/>
            </a:schemeClr>
          </a:solidFill>
        </p:spPr>
        <p:txBody>
          <a:bodyPr wrap="square" rtlCol="0">
            <a:spAutoFit/>
          </a:bodyPr>
          <a:lstStyle/>
          <a:p>
            <a:pPr algn="ctr"/>
            <a:r>
              <a:rPr lang="es-AR" dirty="0">
                <a:latin typeface="Cambria" panose="02040503050406030204" pitchFamily="18" charset="0"/>
                <a:ea typeface="Cambria" panose="02040503050406030204" pitchFamily="18" charset="0"/>
                <a:cs typeface="Calibri" panose="020F0502020204030204" pitchFamily="34" charset="0"/>
              </a:rPr>
              <a:t>VARIABLE INDEPENDIENTE (X)</a:t>
            </a:r>
          </a:p>
        </p:txBody>
      </p:sp>
      <p:sp>
        <p:nvSpPr>
          <p:cNvPr id="12" name="CuadroTexto 8">
            <a:extLst>
              <a:ext uri="{FF2B5EF4-FFF2-40B4-BE49-F238E27FC236}">
                <a16:creationId xmlns:a16="http://schemas.microsoft.com/office/drawing/2014/main" id="{8D881FCD-F1FA-4926-A663-8110D654E879}"/>
              </a:ext>
            </a:extLst>
          </p:cNvPr>
          <p:cNvSpPr txBox="1"/>
          <p:nvPr/>
        </p:nvSpPr>
        <p:spPr>
          <a:xfrm>
            <a:off x="827088" y="4376216"/>
            <a:ext cx="3888432" cy="369332"/>
          </a:xfrm>
          <a:prstGeom prst="rect">
            <a:avLst/>
          </a:prstGeom>
          <a:solidFill>
            <a:schemeClr val="accent6">
              <a:lumMod val="20000"/>
              <a:lumOff val="80000"/>
            </a:schemeClr>
          </a:solidFill>
        </p:spPr>
        <p:txBody>
          <a:bodyPr wrap="square" rtlCol="0">
            <a:spAutoFit/>
          </a:bodyPr>
          <a:lstStyle/>
          <a:p>
            <a:pPr algn="ctr"/>
            <a:r>
              <a:rPr lang="es-AR" dirty="0">
                <a:latin typeface="Cambria" panose="02040503050406030204" pitchFamily="18" charset="0"/>
                <a:ea typeface="Cambria" panose="02040503050406030204" pitchFamily="18" charset="0"/>
                <a:cs typeface="Calibri" panose="020F0502020204030204" pitchFamily="34" charset="0"/>
              </a:rPr>
              <a:t>VARIABLE DEPENDIENTE (Y)</a:t>
            </a:r>
          </a:p>
        </p:txBody>
      </p:sp>
      <p:sp>
        <p:nvSpPr>
          <p:cNvPr id="13" name="CuadroTexto 8">
            <a:extLst>
              <a:ext uri="{FF2B5EF4-FFF2-40B4-BE49-F238E27FC236}">
                <a16:creationId xmlns:a16="http://schemas.microsoft.com/office/drawing/2014/main" id="{8D881FCD-F1FA-4926-A663-8110D654E879}"/>
              </a:ext>
            </a:extLst>
          </p:cNvPr>
          <p:cNvSpPr txBox="1"/>
          <p:nvPr/>
        </p:nvSpPr>
        <p:spPr>
          <a:xfrm>
            <a:off x="831280" y="5746537"/>
            <a:ext cx="3888432" cy="369332"/>
          </a:xfrm>
          <a:prstGeom prst="rect">
            <a:avLst/>
          </a:prstGeom>
          <a:solidFill>
            <a:schemeClr val="accent6">
              <a:lumMod val="20000"/>
              <a:lumOff val="80000"/>
            </a:schemeClr>
          </a:solidFill>
        </p:spPr>
        <p:txBody>
          <a:bodyPr wrap="square" rtlCol="0">
            <a:spAutoFit/>
          </a:bodyPr>
          <a:lstStyle/>
          <a:p>
            <a:pPr algn="ctr"/>
            <a:r>
              <a:rPr lang="es-AR" dirty="0">
                <a:latin typeface="Cambria" panose="02040503050406030204" pitchFamily="18" charset="0"/>
                <a:ea typeface="Cambria" panose="02040503050406030204" pitchFamily="18" charset="0"/>
                <a:cs typeface="Calibri" panose="020F0502020204030204" pitchFamily="34" charset="0"/>
              </a:rPr>
              <a:t>VARIABLE INTERVINIENTE (T)</a:t>
            </a:r>
          </a:p>
        </p:txBody>
      </p:sp>
      <p:sp>
        <p:nvSpPr>
          <p:cNvPr id="15" name="14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4785998" y="4804856"/>
            <a:ext cx="4104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ES" altLang="es-AR" sz="1600" dirty="0">
                <a:latin typeface="Cambria" panose="02040503050406030204" pitchFamily="18" charset="0"/>
                <a:ea typeface="Cambria" panose="02040503050406030204" pitchFamily="18" charset="0"/>
                <a:cs typeface="Calibri" panose="020F0502020204030204" pitchFamily="34" charset="0"/>
              </a:rPr>
              <a:t>Es el factor que influye en la variable a explicar</a:t>
            </a:r>
            <a:endParaRPr lang="es-AR" altLang="es-AR" sz="1600" dirty="0">
              <a:latin typeface="Cambria" panose="02040503050406030204" pitchFamily="18" charset="0"/>
              <a:ea typeface="Cambria" panose="02040503050406030204" pitchFamily="18" charset="0"/>
              <a:cs typeface="Calibri" panose="020F0502020204030204" pitchFamily="34" charset="0"/>
            </a:endParaRPr>
          </a:p>
        </p:txBody>
      </p:sp>
      <p:sp>
        <p:nvSpPr>
          <p:cNvPr id="16" name="1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4785998" y="4251365"/>
            <a:ext cx="41044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ES" altLang="es-AR" sz="1600" dirty="0">
                <a:latin typeface="Cambria" panose="02040503050406030204" pitchFamily="18" charset="0"/>
                <a:ea typeface="Cambria" panose="02040503050406030204" pitchFamily="18" charset="0"/>
                <a:cs typeface="Calibri" panose="020F0502020204030204" pitchFamily="34" charset="0"/>
              </a:rPr>
              <a:t>Aquella cuyo comportamiento hay que explicar</a:t>
            </a:r>
            <a:endParaRPr lang="es-AR" altLang="es-AR" sz="1600" dirty="0">
              <a:latin typeface="Cambria" panose="02040503050406030204" pitchFamily="18" charset="0"/>
              <a:ea typeface="Cambria" panose="02040503050406030204" pitchFamily="18" charset="0"/>
              <a:cs typeface="Calibri" panose="020F0502020204030204" pitchFamily="34" charset="0"/>
            </a:endParaRPr>
          </a:p>
        </p:txBody>
      </p:sp>
      <p:sp>
        <p:nvSpPr>
          <p:cNvPr id="17" name="16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4791720" y="5756523"/>
            <a:ext cx="41044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sz="1600" dirty="0">
                <a:latin typeface="Cambria" panose="02040503050406030204" pitchFamily="18" charset="0"/>
                <a:ea typeface="Cambria" panose="02040503050406030204" pitchFamily="18" charset="0"/>
                <a:cs typeface="Calibri" panose="020F0502020204030204" pitchFamily="34" charset="0"/>
              </a:rPr>
              <a:t>Se emplea para mantener constante un factor </a:t>
            </a:r>
          </a:p>
        </p:txBody>
      </p:sp>
      <p:sp>
        <p:nvSpPr>
          <p:cNvPr id="1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Formulación de hipótesis</a:t>
            </a:r>
            <a:endParaRPr lang="es-AR" sz="24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23" name="7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250825" y="1052736"/>
                <a:ext cx="8642350" cy="31393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indent="-285750" algn="just">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cs typeface="Calibri" panose="020F0502020204030204" pitchFamily="34" charset="0"/>
                  </a:rPr>
                  <a:t>Cuando relacionamos dos o más variables para analizar su relación, construimos una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tabla de contingencia </a:t>
                </a:r>
                <a:r>
                  <a:rPr lang="es-AR" altLang="es-AR" dirty="0">
                    <a:latin typeface="Cambria" panose="02040503050406030204" pitchFamily="18" charset="0"/>
                    <a:ea typeface="Cambria" panose="02040503050406030204" pitchFamily="18" charset="0"/>
                    <a:cs typeface="Calibri" panose="020F0502020204030204" pitchFamily="34" charset="0"/>
                  </a:rPr>
                  <a:t>o tabla </a:t>
                </a:r>
                <a:r>
                  <a:rPr lang="es-AR" altLang="es-AR" dirty="0" smtClean="0">
                    <a:latin typeface="Cambria" panose="02040503050406030204" pitchFamily="18" charset="0"/>
                    <a:ea typeface="Cambria" panose="02040503050406030204" pitchFamily="18" charset="0"/>
                    <a:cs typeface="Calibri" panose="020F0502020204030204" pitchFamily="34" charset="0"/>
                  </a:rPr>
                  <a:t>cruzada. Una tabla de contingencia es una tabla de frecuencias de la distribución conjunta de dos variables </a:t>
                </a:r>
                <a:r>
                  <a:rPr lang="es-AR" altLang="es-AR" i="1" dirty="0" smtClean="0">
                    <a:latin typeface="Cambria" panose="02040503050406030204" pitchFamily="18" charset="0"/>
                    <a:ea typeface="Cambria" panose="02040503050406030204" pitchFamily="18" charset="0"/>
                    <a:cs typeface="Calibri" panose="020F0502020204030204" pitchFamily="34" charset="0"/>
                  </a:rPr>
                  <a:t>cualitativas </a:t>
                </a:r>
                <a:r>
                  <a:rPr lang="es-AR" altLang="es-AR" dirty="0" smtClean="0">
                    <a:latin typeface="Cambria" panose="02040503050406030204" pitchFamily="18" charset="0"/>
                    <a:ea typeface="Cambria" panose="02040503050406030204" pitchFamily="18" charset="0"/>
                    <a:cs typeface="Calibri" panose="020F0502020204030204" pitchFamily="34" charset="0"/>
                  </a:rPr>
                  <a:t>(nominales u ordinales). </a:t>
                </a:r>
              </a:p>
              <a:p>
                <a:pPr marL="285750" indent="-285750" algn="just">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cs typeface="Calibri" panose="020F0502020204030204" pitchFamily="34" charset="0"/>
                  </a:rPr>
                  <a:t>Una tabla de contingencia determina un </a:t>
                </a:r>
                <a:r>
                  <a:rPr lang="es-AR" altLang="es-AR" b="1" i="1" dirty="0" smtClean="0">
                    <a:solidFill>
                      <a:srgbClr val="2A8A85"/>
                    </a:solidFill>
                    <a:latin typeface="Cambria" panose="02040503050406030204" pitchFamily="18" charset="0"/>
                    <a:ea typeface="Cambria" panose="02040503050406030204" pitchFamily="18" charset="0"/>
                    <a:cs typeface="Calibri" panose="020F0502020204030204" pitchFamily="34" charset="0"/>
                  </a:rPr>
                  <a:t>espacio de propiedades</a:t>
                </a:r>
                <a:r>
                  <a:rPr lang="es-AR" altLang="es-AR" b="1" i="1" dirty="0" smtClean="0">
                    <a:latin typeface="Cambria" panose="02040503050406030204" pitchFamily="18" charset="0"/>
                    <a:ea typeface="Cambria" panose="02040503050406030204" pitchFamily="18" charset="0"/>
                    <a:cs typeface="Calibri" panose="020F0502020204030204" pitchFamily="34" charset="0"/>
                  </a:rPr>
                  <a:t> </a:t>
                </a:r>
                <a:r>
                  <a:rPr lang="es-AR" altLang="es-AR" dirty="0" smtClean="0">
                    <a:latin typeface="Cambria" panose="02040503050406030204" pitchFamily="18" charset="0"/>
                    <a:ea typeface="Cambria" panose="02040503050406030204" pitchFamily="18" charset="0"/>
                    <a:cs typeface="Calibri" panose="020F0502020204030204" pitchFamily="34" charset="0"/>
                  </a:rPr>
                  <a:t>de dimensión </a:t>
                </a:r>
                <a14:m>
                  <m:oMath xmlns:m="http://schemas.openxmlformats.org/officeDocument/2006/math">
                    <m:r>
                      <a:rPr lang="es-AR" altLang="es-AR" b="0" i="1" smtClean="0">
                        <a:latin typeface="Cambria Math" panose="02040503050406030204" pitchFamily="18" charset="0"/>
                        <a:ea typeface="Cambria Math" panose="02040503050406030204" pitchFamily="18" charset="0"/>
                        <a:cs typeface="Calibri" panose="020F0502020204030204" pitchFamily="34" charset="0"/>
                      </a:rPr>
                      <m:t>𝑛</m:t>
                    </m:r>
                    <m:r>
                      <a:rPr lang="es-AR" altLang="es-AR" b="0" i="1" smtClean="0">
                        <a:latin typeface="Cambria Math" panose="02040503050406030204" pitchFamily="18" charset="0"/>
                        <a:ea typeface="Cambria Math" panose="02040503050406030204" pitchFamily="18" charset="0"/>
                        <a:cs typeface="Calibri" panose="020F0502020204030204" pitchFamily="34" charset="0"/>
                      </a:rPr>
                      <m:t>∙</m:t>
                    </m:r>
                    <m:r>
                      <a:rPr lang="es-AR" altLang="es-AR" b="0" i="1" smtClean="0">
                        <a:latin typeface="Cambria Math" panose="02040503050406030204" pitchFamily="18" charset="0"/>
                        <a:ea typeface="Cambria Math" panose="02040503050406030204" pitchFamily="18" charset="0"/>
                        <a:cs typeface="Calibri" panose="020F0502020204030204" pitchFamily="34" charset="0"/>
                      </a:rPr>
                      <m:t>𝑚</m:t>
                    </m:r>
                    <m:r>
                      <a:rPr lang="es-AR" altLang="es-AR" b="0" i="1" smtClean="0">
                        <a:latin typeface="Cambria Math" panose="02040503050406030204" pitchFamily="18" charset="0"/>
                        <a:ea typeface="Cambria Math" panose="02040503050406030204" pitchFamily="18" charset="0"/>
                        <a:cs typeface="Calibri" panose="020F0502020204030204" pitchFamily="34" charset="0"/>
                      </a:rPr>
                      <m:t> </m:t>
                    </m:r>
                  </m:oMath>
                </a14:m>
                <a:r>
                  <a:rPr lang="es-AR" altLang="es-AR" dirty="0" smtClean="0">
                    <a:latin typeface="Cambria" panose="02040503050406030204" pitchFamily="18" charset="0"/>
                    <a:ea typeface="Cambria" panose="02040503050406030204" pitchFamily="18" charset="0"/>
                    <a:cs typeface="Calibri" panose="020F0502020204030204" pitchFamily="34" charset="0"/>
                  </a:rPr>
                  <a:t>(filas x columnas), es decir, dependiendo del número de categorías de las variables. Esto es interesante porque una tarea habitual de la investigación es reducir o simplificar ese espacio de propiedades.</a:t>
                </a:r>
                <a:endParaRPr lang="es-AR" altLang="es-AR"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cs typeface="Calibri" panose="020F0502020204030204" pitchFamily="34" charset="0"/>
                </a:endParaRPr>
              </a:p>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cs typeface="Calibri" panose="020F0502020204030204" pitchFamily="34" charset="0"/>
                  </a:rPr>
                  <a:t>En una tabla de contingencia, las variables cumplen alguna de estas </a:t>
                </a:r>
                <a:r>
                  <a:rPr lang="es-AR" altLang="es-AR" b="1" i="1" dirty="0">
                    <a:solidFill>
                      <a:srgbClr val="2A8A85"/>
                    </a:solidFill>
                    <a:latin typeface="Cambria" panose="02040503050406030204" pitchFamily="18" charset="0"/>
                    <a:ea typeface="Cambria" panose="02040503050406030204" pitchFamily="18" charset="0"/>
                    <a:cs typeface="Calibri" panose="020F0502020204030204" pitchFamily="34" charset="0"/>
                  </a:rPr>
                  <a:t>funciones</a:t>
                </a:r>
                <a:r>
                  <a:rPr lang="es-AR" altLang="es-AR" dirty="0">
                    <a:latin typeface="Cambria" panose="02040503050406030204" pitchFamily="18" charset="0"/>
                    <a:ea typeface="Cambria" panose="02040503050406030204" pitchFamily="18" charset="0"/>
                    <a:cs typeface="Calibri" panose="020F0502020204030204" pitchFamily="34" charset="0"/>
                  </a:rPr>
                  <a:t>: </a:t>
                </a:r>
              </a:p>
            </p:txBody>
          </p:sp>
        </mc:Choice>
        <mc:Fallback xmlns="">
          <p:sp>
            <p:nvSpPr>
              <p:cNvPr id="23" name="7 CuadroTexto">
                <a:extLst>
                  <a:ext uri="{FF2B5EF4-FFF2-40B4-BE49-F238E27FC236}">
                    <a16:creationId xmlns:a16="http://schemas.microsoft.com/office/drawing/2014/main" id="{42703C3F-2E59-4071-B68B-8DFF6CDB764E}"/>
                  </a:ext>
                </a:extLst>
              </p:cNvPr>
              <p:cNvSpPr txBox="1">
                <a:spLocks noRot="1" noChangeAspect="1" noMove="1" noResize="1" noEditPoints="1" noAdjustHandles="1" noChangeArrowheads="1" noChangeShapeType="1" noTextEdit="1"/>
              </p:cNvSpPr>
              <p:nvPr/>
            </p:nvSpPr>
            <p:spPr bwMode="auto">
              <a:xfrm>
                <a:off x="250825" y="1052736"/>
                <a:ext cx="8642350" cy="3139321"/>
              </a:xfrm>
              <a:prstGeom prst="rect">
                <a:avLst/>
              </a:prstGeom>
              <a:blipFill>
                <a:blip r:embed="rId3"/>
                <a:stretch>
                  <a:fillRect l="-423" t="-1359" r="-635" b="-19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spTree>
    <p:extLst>
      <p:ext uri="{BB962C8B-B14F-4D97-AF65-F5344CB8AC3E}">
        <p14:creationId xmlns:p14="http://schemas.microsoft.com/office/powerpoint/2010/main" val="5463903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4"/>
          <p:cNvSpPr>
            <a:spLocks noChangeArrowheads="1"/>
          </p:cNvSpPr>
          <p:nvPr/>
        </p:nvSpPr>
        <p:spPr bwMode="auto">
          <a:xfrm>
            <a:off x="250825" y="980728"/>
            <a:ext cx="864234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rPr>
              <a:t>Un ejemplo para comenzar. Trabajamos con las variables: (1) consumo de diarios impresos y (2) grupo de edad. ¿Qué hipótesis podríamos formular que relacione estas variables?</a:t>
            </a:r>
          </a:p>
        </p:txBody>
      </p:sp>
      <p:graphicFrame>
        <p:nvGraphicFramePr>
          <p:cNvPr id="8238" name="Group 46"/>
          <p:cNvGraphicFramePr>
            <a:graphicFrameLocks noGrp="1"/>
          </p:cNvGraphicFramePr>
          <p:nvPr>
            <p:extLst>
              <p:ext uri="{D42A27DB-BD31-4B8C-83A1-F6EECF244321}">
                <p14:modId xmlns:p14="http://schemas.microsoft.com/office/powerpoint/2010/main" val="2228499061"/>
              </p:ext>
            </p:extLst>
          </p:nvPr>
        </p:nvGraphicFramePr>
        <p:xfrm>
          <a:off x="1550383" y="2610109"/>
          <a:ext cx="6508130" cy="322939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de edad. </a:t>
                      </a:r>
                      <a:b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año 2016. En porcentajes.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9288">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chemeClr val="tx1"/>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chemeClr val="tx1"/>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8"/>
                  </a:ext>
                </a:extLst>
              </a:tr>
            </a:tbl>
          </a:graphicData>
        </a:graphic>
      </p:graphicFrame>
      <p:sp>
        <p:nvSpPr>
          <p:cNvPr id="8" name="Rectangle 4"/>
          <p:cNvSpPr>
            <a:spLocks noChangeArrowheads="1"/>
          </p:cNvSpPr>
          <p:nvPr/>
        </p:nvSpPr>
        <p:spPr bwMode="auto">
          <a:xfrm>
            <a:off x="250825" y="1916832"/>
            <a:ext cx="8472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smtClean="0">
                <a:latin typeface="Cambria" panose="02040503050406030204" pitchFamily="18" charset="0"/>
                <a:ea typeface="Cambria" panose="02040503050406030204" pitchFamily="18" charset="0"/>
              </a:rPr>
              <a:t>Proponemos: </a:t>
            </a:r>
            <a:r>
              <a:rPr lang="es-ES" altLang="es-AR" b="1" i="1" dirty="0">
                <a:solidFill>
                  <a:schemeClr val="accent2"/>
                </a:solidFill>
                <a:latin typeface="Cambria" panose="02040503050406030204" pitchFamily="18" charset="0"/>
                <a:ea typeface="Cambria" panose="02040503050406030204" pitchFamily="18" charset="0"/>
              </a:rPr>
              <a:t>“A mayor edad, mayor </a:t>
            </a:r>
            <a:r>
              <a:rPr lang="es-ES" altLang="es-AR" b="1" i="1" dirty="0" smtClean="0">
                <a:solidFill>
                  <a:schemeClr val="accent2"/>
                </a:solidFill>
                <a:latin typeface="Cambria" panose="02040503050406030204" pitchFamily="18" charset="0"/>
                <a:ea typeface="Cambria" panose="02040503050406030204" pitchFamily="18" charset="0"/>
              </a:rPr>
              <a:t>será la propensión a consumir diarios </a:t>
            </a:r>
            <a:r>
              <a:rPr lang="es-ES" altLang="es-AR" b="1" i="1" dirty="0">
                <a:solidFill>
                  <a:schemeClr val="accent2"/>
                </a:solidFill>
                <a:latin typeface="Cambria" panose="02040503050406030204" pitchFamily="18" charset="0"/>
                <a:ea typeface="Cambria" panose="02040503050406030204" pitchFamily="18" charset="0"/>
              </a:rPr>
              <a:t>impresos”. </a:t>
            </a:r>
            <a:endParaRPr lang="es-ES" altLang="es-AR" i="1" dirty="0">
              <a:solidFill>
                <a:schemeClr val="accent2"/>
              </a:solidFill>
              <a:latin typeface="Cambria" panose="02040503050406030204" pitchFamily="18" charset="0"/>
              <a:ea typeface="Cambria" panose="02040503050406030204" pitchFamily="18" charset="0"/>
            </a:endParaRPr>
          </a:p>
        </p:txBody>
      </p:sp>
      <p:sp>
        <p:nvSpPr>
          <p:cNvPr id="9" name="CuadroTexto 8">
            <a:extLst>
              <a:ext uri="{FF2B5EF4-FFF2-40B4-BE49-F238E27FC236}">
                <a16:creationId xmlns:a16="http://schemas.microsoft.com/office/drawing/2014/main" id="{8D881FCD-F1FA-4926-A663-8110D654E879}"/>
              </a:ext>
            </a:extLst>
          </p:cNvPr>
          <p:cNvSpPr txBox="1"/>
          <p:nvPr/>
        </p:nvSpPr>
        <p:spPr>
          <a:xfrm>
            <a:off x="264997" y="4411422"/>
            <a:ext cx="827720" cy="369332"/>
          </a:xfrm>
          <a:prstGeom prst="rect">
            <a:avLst/>
          </a:prstGeom>
          <a:solidFill>
            <a:schemeClr val="accent6">
              <a:lumMod val="20000"/>
              <a:lumOff val="80000"/>
            </a:schemeClr>
          </a:solidFill>
        </p:spPr>
        <p:txBody>
          <a:bodyPr wrap="square" rtlCol="0">
            <a:spAutoFit/>
          </a:bodyPr>
          <a:lstStyle/>
          <a:p>
            <a:pPr algn="ctr"/>
            <a:r>
              <a:rPr lang="es-AR" dirty="0">
                <a:latin typeface="Cambria" panose="02040503050406030204" pitchFamily="18" charset="0"/>
                <a:ea typeface="Cambria" panose="02040503050406030204" pitchFamily="18" charset="0"/>
                <a:cs typeface="Calibri" panose="020F0502020204030204" pitchFamily="34" charset="0"/>
              </a:rPr>
              <a:t>(Y)</a:t>
            </a:r>
          </a:p>
        </p:txBody>
      </p:sp>
      <p:sp>
        <p:nvSpPr>
          <p:cNvPr id="10" name="CuadroTexto 8">
            <a:extLst>
              <a:ext uri="{FF2B5EF4-FFF2-40B4-BE49-F238E27FC236}">
                <a16:creationId xmlns:a16="http://schemas.microsoft.com/office/drawing/2014/main" id="{8D881FCD-F1FA-4926-A663-8110D654E879}"/>
              </a:ext>
            </a:extLst>
          </p:cNvPr>
          <p:cNvSpPr txBox="1"/>
          <p:nvPr/>
        </p:nvSpPr>
        <p:spPr>
          <a:xfrm>
            <a:off x="8058512" y="3184478"/>
            <a:ext cx="827720" cy="369332"/>
          </a:xfrm>
          <a:prstGeom prst="rect">
            <a:avLst/>
          </a:prstGeom>
          <a:solidFill>
            <a:schemeClr val="accent6">
              <a:lumMod val="20000"/>
              <a:lumOff val="80000"/>
            </a:schemeClr>
          </a:solidFill>
        </p:spPr>
        <p:txBody>
          <a:bodyPr wrap="square" rtlCol="0">
            <a:spAutoFit/>
          </a:bodyPr>
          <a:lstStyle/>
          <a:p>
            <a:pPr algn="ctr"/>
            <a:r>
              <a:rPr lang="es-AR" dirty="0">
                <a:latin typeface="Cambria" panose="02040503050406030204" pitchFamily="18" charset="0"/>
                <a:ea typeface="Cambria" panose="02040503050406030204" pitchFamily="18" charset="0"/>
                <a:cs typeface="Calibri" panose="020F0502020204030204" pitchFamily="34" charset="0"/>
              </a:rPr>
              <a:t>(X)</a:t>
            </a:r>
          </a:p>
        </p:txBody>
      </p:sp>
      <p:cxnSp>
        <p:nvCxnSpPr>
          <p:cNvPr id="11" name="AutoShape 51"/>
          <p:cNvCxnSpPr>
            <a:cxnSpLocks noChangeShapeType="1"/>
          </p:cNvCxnSpPr>
          <p:nvPr/>
        </p:nvCxnSpPr>
        <p:spPr bwMode="auto">
          <a:xfrm flipH="1">
            <a:off x="6367861" y="3369143"/>
            <a:ext cx="1690652" cy="4090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 name="AutoShape 51"/>
          <p:cNvCxnSpPr>
            <a:cxnSpLocks noChangeShapeType="1"/>
          </p:cNvCxnSpPr>
          <p:nvPr/>
        </p:nvCxnSpPr>
        <p:spPr bwMode="auto">
          <a:xfrm flipV="1">
            <a:off x="737049" y="4056682"/>
            <a:ext cx="662260" cy="31974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4"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Construcción de tablas de contingencia</a:t>
            </a:r>
            <a:endParaRPr lang="es-AR" sz="2400" dirty="0">
              <a:latin typeface="Cambria" panose="02040503050406030204" pitchFamily="18" charset="0"/>
            </a:endParaRPr>
          </a:p>
        </p:txBody>
      </p:sp>
      <p:sp>
        <p:nvSpPr>
          <p:cNvPr id="18" name="Rectangle 4"/>
          <p:cNvSpPr>
            <a:spLocks noChangeArrowheads="1"/>
          </p:cNvSpPr>
          <p:nvPr/>
        </p:nvSpPr>
        <p:spPr bwMode="auto">
          <a:xfrm>
            <a:off x="264443" y="5886452"/>
            <a:ext cx="8628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smtClean="0">
                <a:latin typeface="Cambria" panose="02040503050406030204" pitchFamily="18" charset="0"/>
                <a:ea typeface="Cambria" panose="02040503050406030204" pitchFamily="18" charset="0"/>
              </a:rPr>
              <a:t>De manera convencional, la variable independiente (X) se coloca en las </a:t>
            </a:r>
            <a:r>
              <a:rPr lang="es-ES" altLang="es-AR" b="1" i="1" dirty="0" smtClean="0">
                <a:solidFill>
                  <a:schemeClr val="accent2"/>
                </a:solidFill>
                <a:latin typeface="Cambria" panose="02040503050406030204" pitchFamily="18" charset="0"/>
                <a:ea typeface="Cambria" panose="02040503050406030204" pitchFamily="18" charset="0"/>
              </a:rPr>
              <a:t>columnas</a:t>
            </a:r>
            <a:r>
              <a:rPr lang="es-ES" altLang="es-AR" dirty="0" smtClean="0">
                <a:latin typeface="Cambria" panose="02040503050406030204" pitchFamily="18" charset="0"/>
                <a:ea typeface="Cambria" panose="02040503050406030204" pitchFamily="18" charset="0"/>
              </a:rPr>
              <a:t> y la variable dependiente (Y) se coloca en </a:t>
            </a:r>
            <a:r>
              <a:rPr lang="es-ES" altLang="es-AR" b="1" i="1" dirty="0" smtClean="0">
                <a:solidFill>
                  <a:schemeClr val="accent2"/>
                </a:solidFill>
                <a:latin typeface="Cambria" panose="02040503050406030204" pitchFamily="18" charset="0"/>
                <a:ea typeface="Cambria" panose="02040503050406030204" pitchFamily="18" charset="0"/>
              </a:rPr>
              <a:t>filas</a:t>
            </a:r>
            <a:r>
              <a:rPr lang="es-ES" altLang="es-AR" dirty="0" smtClean="0">
                <a:latin typeface="Cambria" panose="02040503050406030204" pitchFamily="18" charset="0"/>
                <a:ea typeface="Cambria" panose="02040503050406030204" pitchFamily="18" charset="0"/>
              </a:rPr>
              <a:t>.  </a:t>
            </a:r>
            <a:endParaRPr lang="es-ES" altLang="es-AR" i="1" dirty="0">
              <a:solidFill>
                <a:schemeClr val="accent2"/>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78149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238" name="Group 46"/>
          <p:cNvGraphicFramePr>
            <a:graphicFrameLocks noGrp="1"/>
          </p:cNvGraphicFramePr>
          <p:nvPr>
            <p:extLst>
              <p:ext uri="{D42A27DB-BD31-4B8C-83A1-F6EECF244321}">
                <p14:modId xmlns:p14="http://schemas.microsoft.com/office/powerpoint/2010/main" val="20577658"/>
              </p:ext>
            </p:extLst>
          </p:nvPr>
        </p:nvGraphicFramePr>
        <p:xfrm>
          <a:off x="1354734" y="2059252"/>
          <a:ext cx="6508130" cy="319637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600" b="1"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Consumo de diario impreso según grupo de edad. </a:t>
                      </a:r>
                      <a:br>
                        <a:rPr kumimoji="0" lang="es-ES" sz="1600" b="1"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Población de 18 años y más residente en el área Gran Buenos Aires, año 2016. En porcentajes.</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ysClr val="windowText" lastClr="000000"/>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ysClr val="windowText" lastClr="000000"/>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ysClr val="windowText" lastClr="000000"/>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ysClr val="windowText" lastClr="000000"/>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ysClr val="windowText" lastClr="000000"/>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0647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ysClr val="windowText" lastClr="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endParaRPr lang="es-AR" sz="1600" b="0" i="0" u="none" strike="noStrike" dirty="0">
                        <a:solidFill>
                          <a:sysClr val="windowText" lastClr="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 </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(N)</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ysClr val="windowText" lastClr="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ysClr val="windowText" lastClr="000000"/>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8"/>
                  </a:ext>
                </a:extLst>
              </a:tr>
            </a:tbl>
          </a:graphicData>
        </a:graphic>
      </p:graphicFrame>
      <p:sp>
        <p:nvSpPr>
          <p:cNvPr id="12" name="Text Box 46"/>
          <p:cNvSpPr txBox="1">
            <a:spLocks noChangeArrowheads="1"/>
          </p:cNvSpPr>
          <p:nvPr/>
        </p:nvSpPr>
        <p:spPr bwMode="auto">
          <a:xfrm>
            <a:off x="774700" y="1196975"/>
            <a:ext cx="1584325" cy="558800"/>
          </a:xfrm>
          <a:prstGeom prst="rect">
            <a:avLst/>
          </a:prstGeom>
          <a:solidFill>
            <a:srgbClr val="CAE8E7"/>
          </a:solidFill>
          <a:ln w="9525" algn="ctr">
            <a:solidFill>
              <a:srgbClr val="000000"/>
            </a:solidFill>
            <a:miter lim="800000"/>
            <a:headEnd/>
            <a:tailEnd/>
          </a:ln>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NUMERO DEL CUADRO</a:t>
            </a:r>
          </a:p>
        </p:txBody>
      </p:sp>
      <p:sp>
        <p:nvSpPr>
          <p:cNvPr id="13" name="Text Box 47"/>
          <p:cNvSpPr txBox="1">
            <a:spLocks noChangeArrowheads="1"/>
          </p:cNvSpPr>
          <p:nvPr/>
        </p:nvSpPr>
        <p:spPr bwMode="auto">
          <a:xfrm>
            <a:off x="5454650" y="1196975"/>
            <a:ext cx="1584325" cy="330200"/>
          </a:xfrm>
          <a:prstGeom prst="rect">
            <a:avLst/>
          </a:prstGeom>
          <a:solidFill>
            <a:srgbClr val="CAE8E7"/>
          </a:solidFill>
          <a:ln w="9525" algn="ctr">
            <a:solidFill>
              <a:srgbClr val="000000"/>
            </a:solidFill>
            <a:miter lim="800000"/>
            <a:headEnd/>
            <a:tailEnd/>
          </a:ln>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TITULO</a:t>
            </a:r>
          </a:p>
        </p:txBody>
      </p:sp>
      <p:sp>
        <p:nvSpPr>
          <p:cNvPr id="14" name="Text Box 48"/>
          <p:cNvSpPr txBox="1">
            <a:spLocks noChangeArrowheads="1"/>
          </p:cNvSpPr>
          <p:nvPr/>
        </p:nvSpPr>
        <p:spPr bwMode="auto">
          <a:xfrm>
            <a:off x="611188" y="5734050"/>
            <a:ext cx="1584325" cy="330200"/>
          </a:xfrm>
          <a:prstGeom prst="rect">
            <a:avLst/>
          </a:prstGeom>
          <a:solidFill>
            <a:srgbClr val="CAE8E7"/>
          </a:solidFill>
          <a:ln w="9525" algn="ctr">
            <a:solidFill>
              <a:srgbClr val="000000"/>
            </a:solidFill>
            <a:miter lim="800000"/>
            <a:headEnd/>
            <a:tailEnd/>
          </a:ln>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a:latin typeface="Cambria" panose="02040503050406030204" pitchFamily="18" charset="0"/>
                <a:ea typeface="Cambria" panose="02040503050406030204" pitchFamily="18" charset="0"/>
              </a:rPr>
              <a:t>FUENTE</a:t>
            </a:r>
          </a:p>
        </p:txBody>
      </p:sp>
      <p:cxnSp>
        <p:nvCxnSpPr>
          <p:cNvPr id="15" name="AutoShape 50"/>
          <p:cNvCxnSpPr>
            <a:cxnSpLocks noChangeShapeType="1"/>
          </p:cNvCxnSpPr>
          <p:nvPr/>
        </p:nvCxnSpPr>
        <p:spPr bwMode="auto">
          <a:xfrm rot="16200000" flipH="1">
            <a:off x="1450158" y="1800249"/>
            <a:ext cx="377081" cy="288132"/>
          </a:xfrm>
          <a:prstGeom prst="curvedConnector3">
            <a:avLst>
              <a:gd name="adj1" fmla="val 50000"/>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51"/>
          <p:cNvCxnSpPr>
            <a:cxnSpLocks noChangeShapeType="1"/>
            <a:stCxn id="13" idx="2"/>
          </p:cNvCxnSpPr>
          <p:nvPr/>
        </p:nvCxnSpPr>
        <p:spPr bwMode="auto">
          <a:xfrm rot="5400000">
            <a:off x="5380831" y="1051719"/>
            <a:ext cx="390525" cy="1341438"/>
          </a:xfrm>
          <a:prstGeom prst="curvedConnector3">
            <a:avLst>
              <a:gd name="adj1" fmla="val 50000"/>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53"/>
          <p:cNvCxnSpPr>
            <a:cxnSpLocks noChangeShapeType="1"/>
            <a:stCxn id="14" idx="0"/>
          </p:cNvCxnSpPr>
          <p:nvPr/>
        </p:nvCxnSpPr>
        <p:spPr bwMode="auto">
          <a:xfrm rot="5400000" flipH="1" flipV="1">
            <a:off x="1124559" y="5363976"/>
            <a:ext cx="648866" cy="91283"/>
          </a:xfrm>
          <a:prstGeom prst="curvedConnector3">
            <a:avLst>
              <a:gd name="adj1" fmla="val 50000"/>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6"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Construcción de tablas de contingencia</a:t>
            </a:r>
            <a:endParaRPr lang="es-AR" sz="2400" dirty="0">
              <a:latin typeface="Cambria" panose="02040503050406030204" pitchFamily="18" charset="0"/>
            </a:endParaRPr>
          </a:p>
        </p:txBody>
      </p:sp>
    </p:spTree>
    <p:extLst>
      <p:ext uri="{BB962C8B-B14F-4D97-AF65-F5344CB8AC3E}">
        <p14:creationId xmlns:p14="http://schemas.microsoft.com/office/powerpoint/2010/main" val="9719393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Rectangle 4"/>
          <p:cNvSpPr>
            <a:spLocks noChangeArrowheads="1"/>
          </p:cNvSpPr>
          <p:nvPr/>
        </p:nvSpPr>
        <p:spPr bwMode="auto">
          <a:xfrm>
            <a:off x="468313" y="1125538"/>
            <a:ext cx="8207375"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a:r>
              <a:rPr lang="es-AR" altLang="es-AR" sz="1700" b="1" dirty="0">
                <a:latin typeface="Cambria" panose="02040503050406030204" pitchFamily="18" charset="0"/>
                <a:ea typeface="Cambria" panose="02040503050406030204" pitchFamily="18" charset="0"/>
              </a:rPr>
              <a:t>1. </a:t>
            </a:r>
            <a:r>
              <a:rPr lang="es-AR" altLang="es-AR" sz="1700" b="1" u="sng" dirty="0">
                <a:latin typeface="Cambria" panose="02040503050406030204" pitchFamily="18" charset="0"/>
                <a:ea typeface="Cambria" panose="02040503050406030204" pitchFamily="18" charset="0"/>
              </a:rPr>
              <a:t>Número del Cuadro:</a:t>
            </a:r>
            <a:r>
              <a:rPr lang="es-AR" altLang="es-AR" sz="1700" b="1" dirty="0">
                <a:latin typeface="Cambria" panose="02040503050406030204" pitchFamily="18" charset="0"/>
                <a:ea typeface="Cambria" panose="02040503050406030204" pitchFamily="18" charset="0"/>
              </a:rPr>
              <a:t> </a:t>
            </a:r>
            <a:r>
              <a:rPr lang="es-AR" altLang="es-AR" sz="1700" dirty="0">
                <a:latin typeface="Cambria" panose="02040503050406030204" pitchFamily="18" charset="0"/>
                <a:ea typeface="Cambria" panose="02040503050406030204" pitchFamily="18" charset="0"/>
              </a:rPr>
              <a:t>es indispensable, para que cualquier lector pueda hallar fácilmente el Cuadro en cuestión. </a:t>
            </a:r>
            <a:endParaRPr lang="es-ES" altLang="es-AR" sz="1700" dirty="0">
              <a:latin typeface="Cambria" panose="02040503050406030204" pitchFamily="18" charset="0"/>
              <a:ea typeface="Cambria" panose="02040503050406030204" pitchFamily="18" charset="0"/>
            </a:endParaRPr>
          </a:p>
          <a:p>
            <a:pPr algn="just"/>
            <a:endParaRPr lang="es-AR" altLang="es-AR" sz="1700" b="1" u="sng" dirty="0">
              <a:latin typeface="Cambria" panose="02040503050406030204" pitchFamily="18" charset="0"/>
              <a:ea typeface="Cambria" panose="02040503050406030204" pitchFamily="18" charset="0"/>
            </a:endParaRPr>
          </a:p>
          <a:p>
            <a:pPr algn="just"/>
            <a:r>
              <a:rPr lang="es-AR" altLang="es-AR" sz="1700" b="1" dirty="0">
                <a:latin typeface="Cambria" panose="02040503050406030204" pitchFamily="18" charset="0"/>
                <a:ea typeface="Cambria" panose="02040503050406030204" pitchFamily="18" charset="0"/>
              </a:rPr>
              <a:t>2. </a:t>
            </a:r>
            <a:r>
              <a:rPr lang="es-AR" altLang="es-AR" sz="1700" b="1" u="sng" dirty="0">
                <a:latin typeface="Cambria" panose="02040503050406030204" pitchFamily="18" charset="0"/>
                <a:ea typeface="Cambria" panose="02040503050406030204" pitchFamily="18" charset="0"/>
              </a:rPr>
              <a:t>Título</a:t>
            </a:r>
            <a:r>
              <a:rPr lang="es-AR" altLang="es-AR" sz="1700" b="1" dirty="0">
                <a:latin typeface="Cambria" panose="02040503050406030204" pitchFamily="18" charset="0"/>
                <a:ea typeface="Cambria" panose="02040503050406030204" pitchFamily="18" charset="0"/>
              </a:rPr>
              <a:t>: </a:t>
            </a:r>
            <a:r>
              <a:rPr lang="es-AR" altLang="es-AR" sz="1700" dirty="0">
                <a:latin typeface="Cambria" panose="02040503050406030204" pitchFamily="18" charset="0"/>
                <a:ea typeface="Cambria" panose="02040503050406030204" pitchFamily="18" charset="0"/>
              </a:rPr>
              <a:t>permite entender el Cuadro sin tener que apelar al texto.  </a:t>
            </a:r>
            <a:r>
              <a:rPr lang="es-AR" altLang="es-AR" sz="1700" u="sng" dirty="0">
                <a:latin typeface="Cambria" panose="02040503050406030204" pitchFamily="18" charset="0"/>
                <a:ea typeface="Cambria" panose="02040503050406030204" pitchFamily="18" charset="0"/>
              </a:rPr>
              <a:t> </a:t>
            </a:r>
            <a:endParaRPr lang="es-ES" altLang="es-AR" sz="1700" dirty="0">
              <a:latin typeface="Cambria" panose="02040503050406030204" pitchFamily="18" charset="0"/>
              <a:ea typeface="Cambria" panose="02040503050406030204" pitchFamily="18" charset="0"/>
            </a:endParaRPr>
          </a:p>
          <a:p>
            <a:pPr algn="just"/>
            <a:endParaRPr lang="es-AR" altLang="es-AR" sz="1700" b="1" dirty="0">
              <a:latin typeface="Cambria" panose="02040503050406030204" pitchFamily="18" charset="0"/>
              <a:ea typeface="Cambria" panose="02040503050406030204" pitchFamily="18" charset="0"/>
            </a:endParaRPr>
          </a:p>
          <a:p>
            <a:pPr algn="just"/>
            <a:r>
              <a:rPr lang="es-AR" altLang="es-AR" sz="1700" b="1" dirty="0">
                <a:latin typeface="Cambria" panose="02040503050406030204" pitchFamily="18" charset="0"/>
                <a:ea typeface="Cambria" panose="02040503050406030204" pitchFamily="18" charset="0"/>
              </a:rPr>
              <a:t>¿Cómo dar título a un Cuadro?</a:t>
            </a:r>
            <a:r>
              <a:rPr lang="es-AR" altLang="es-AR" sz="1700" dirty="0">
                <a:latin typeface="Cambria" panose="02040503050406030204" pitchFamily="18" charset="0"/>
                <a:ea typeface="Cambria" panose="02040503050406030204" pitchFamily="18" charset="0"/>
              </a:rPr>
              <a:t> Primero nombramos a la </a:t>
            </a:r>
            <a:r>
              <a:rPr lang="es-AR" altLang="es-AR" sz="1700" b="1" dirty="0">
                <a:latin typeface="Cambria" panose="02040503050406030204" pitchFamily="18" charset="0"/>
                <a:ea typeface="Cambria" panose="02040503050406030204" pitchFamily="18" charset="0"/>
              </a:rPr>
              <a:t>variable dependiente</a:t>
            </a:r>
            <a:r>
              <a:rPr lang="es-AR" altLang="es-AR" sz="1700" dirty="0">
                <a:latin typeface="Cambria" panose="02040503050406030204" pitchFamily="18" charset="0"/>
                <a:ea typeface="Cambria" panose="02040503050406030204" pitchFamily="18" charset="0"/>
              </a:rPr>
              <a:t>, luego a la </a:t>
            </a:r>
            <a:r>
              <a:rPr lang="es-AR" altLang="es-AR" sz="1700" b="1" dirty="0">
                <a:latin typeface="Cambria" panose="02040503050406030204" pitchFamily="18" charset="0"/>
                <a:ea typeface="Cambria" panose="02040503050406030204" pitchFamily="18" charset="0"/>
              </a:rPr>
              <a:t>variable independiente</a:t>
            </a:r>
            <a:r>
              <a:rPr lang="es-AR" altLang="es-AR" sz="1700" dirty="0">
                <a:latin typeface="Cambria" panose="02040503050406030204" pitchFamily="18" charset="0"/>
                <a:ea typeface="Cambria" panose="02040503050406030204" pitchFamily="18" charset="0"/>
              </a:rPr>
              <a:t>. En el Cuadro de ejemplo: “</a:t>
            </a:r>
            <a:r>
              <a:rPr lang="es-AR" altLang="es-AR" sz="1700" u="sng" dirty="0">
                <a:latin typeface="Cambria" panose="02040503050406030204" pitchFamily="18" charset="0"/>
                <a:ea typeface="Cambria" panose="02040503050406030204" pitchFamily="18" charset="0"/>
              </a:rPr>
              <a:t>Consumo de diario impreso</a:t>
            </a:r>
            <a:r>
              <a:rPr lang="es-AR" altLang="es-AR" sz="1700" dirty="0">
                <a:latin typeface="Cambria" panose="02040503050406030204" pitchFamily="18" charset="0"/>
                <a:ea typeface="Cambria" panose="02040503050406030204" pitchFamily="18" charset="0"/>
              </a:rPr>
              <a:t> según </a:t>
            </a:r>
            <a:r>
              <a:rPr lang="es-AR" altLang="es-AR" sz="1700" u="sng" dirty="0">
                <a:latin typeface="Cambria" panose="02040503050406030204" pitchFamily="18" charset="0"/>
                <a:ea typeface="Cambria" panose="02040503050406030204" pitchFamily="18" charset="0"/>
              </a:rPr>
              <a:t>Grupo de edad</a:t>
            </a:r>
            <a:r>
              <a:rPr lang="es-AR" altLang="es-AR" sz="1700" dirty="0">
                <a:latin typeface="Cambria" panose="02040503050406030204" pitchFamily="18" charset="0"/>
                <a:ea typeface="Cambria" panose="02040503050406030204" pitchFamily="18" charset="0"/>
              </a:rPr>
              <a:t>”. También es común agregar el </a:t>
            </a:r>
            <a:r>
              <a:rPr lang="es-AR" altLang="es-AR" sz="1700" b="1" dirty="0">
                <a:latin typeface="Cambria" panose="02040503050406030204" pitchFamily="18" charset="0"/>
                <a:ea typeface="Cambria" panose="02040503050406030204" pitchFamily="18" charset="0"/>
              </a:rPr>
              <a:t>universo</a:t>
            </a:r>
            <a:r>
              <a:rPr lang="es-AR" altLang="es-AR" sz="1700" dirty="0">
                <a:latin typeface="Cambria" panose="02040503050406030204" pitchFamily="18" charset="0"/>
                <a:ea typeface="Cambria" panose="02040503050406030204" pitchFamily="18" charset="0"/>
              </a:rPr>
              <a:t> al que remite el Cuadro. Así: “</a:t>
            </a:r>
            <a:r>
              <a:rPr lang="es-AR" altLang="es-AR" sz="1700" u="sng" dirty="0">
                <a:latin typeface="Cambria" panose="02040503050406030204" pitchFamily="18" charset="0"/>
                <a:ea typeface="Cambria" panose="02040503050406030204" pitchFamily="18" charset="0"/>
              </a:rPr>
              <a:t>Población de 18 años y más residente en el Área Gran Buenos Aires</a:t>
            </a:r>
            <a:r>
              <a:rPr lang="es-AR" altLang="es-AR" sz="1700" dirty="0">
                <a:latin typeface="Cambria" panose="02040503050406030204" pitchFamily="18" charset="0"/>
                <a:ea typeface="Cambria" panose="02040503050406030204" pitchFamily="18" charset="0"/>
              </a:rPr>
              <a:t>”.</a:t>
            </a:r>
          </a:p>
          <a:p>
            <a:pPr algn="just"/>
            <a:endParaRPr lang="es-AR" altLang="es-AR" sz="1700" dirty="0">
              <a:latin typeface="Cambria" panose="02040503050406030204" pitchFamily="18" charset="0"/>
              <a:ea typeface="Cambria" panose="02040503050406030204" pitchFamily="18" charset="0"/>
            </a:endParaRPr>
          </a:p>
          <a:p>
            <a:pPr algn="just"/>
            <a:r>
              <a:rPr lang="es-AR" altLang="es-AR" sz="1700" b="1" dirty="0">
                <a:latin typeface="Cambria" panose="02040503050406030204" pitchFamily="18" charset="0"/>
                <a:ea typeface="Cambria" panose="02040503050406030204" pitchFamily="18" charset="0"/>
              </a:rPr>
              <a:t>3. </a:t>
            </a:r>
            <a:r>
              <a:rPr lang="es-AR" altLang="es-AR" sz="1700" b="1" u="sng" dirty="0">
                <a:latin typeface="Cambria" panose="02040503050406030204" pitchFamily="18" charset="0"/>
                <a:ea typeface="Cambria" panose="02040503050406030204" pitchFamily="18" charset="0"/>
              </a:rPr>
              <a:t>Nota superior</a:t>
            </a:r>
            <a:r>
              <a:rPr lang="es-AR" altLang="es-AR" sz="1700" b="1" dirty="0">
                <a:latin typeface="Cambria" panose="02040503050406030204" pitchFamily="18" charset="0"/>
                <a:ea typeface="Cambria" panose="02040503050406030204" pitchFamily="18" charset="0"/>
              </a:rPr>
              <a:t>: </a:t>
            </a:r>
            <a:r>
              <a:rPr lang="es-AR" altLang="es-AR" sz="1700" dirty="0">
                <a:latin typeface="Cambria" panose="02040503050406030204" pitchFamily="18" charset="0"/>
                <a:ea typeface="Cambria" panose="02040503050406030204" pitchFamily="18" charset="0"/>
              </a:rPr>
              <a:t>aparece debajo del título, y permite entender mejor el Cuadro. Brinda información adicional sobre la población, o bien sobre las unidades (pesos, dólares, porcentajes) en que se encuentra la información. </a:t>
            </a:r>
          </a:p>
          <a:p>
            <a:pPr algn="just"/>
            <a:endParaRPr lang="es-ES" altLang="es-AR" sz="1700" b="1" u="sng" dirty="0">
              <a:latin typeface="Cambria" panose="02040503050406030204" pitchFamily="18" charset="0"/>
              <a:ea typeface="Cambria" panose="02040503050406030204" pitchFamily="18" charset="0"/>
            </a:endParaRPr>
          </a:p>
          <a:p>
            <a:pPr algn="just"/>
            <a:r>
              <a:rPr lang="es-AR" altLang="es-AR" b="1" dirty="0">
                <a:latin typeface="Cambria" panose="02040503050406030204" pitchFamily="18" charset="0"/>
                <a:ea typeface="Cambria" panose="02040503050406030204" pitchFamily="18" charset="0"/>
              </a:rPr>
              <a:t>4. </a:t>
            </a:r>
            <a:r>
              <a:rPr lang="es-AR" altLang="es-AR" b="1" u="sng" dirty="0">
                <a:latin typeface="Cambria" panose="02040503050406030204" pitchFamily="18" charset="0"/>
                <a:ea typeface="Cambria" panose="02040503050406030204" pitchFamily="18" charset="0"/>
              </a:rPr>
              <a:t>Notas al pie</a:t>
            </a:r>
            <a:r>
              <a:rPr lang="es-AR" altLang="es-AR" dirty="0">
                <a:latin typeface="Cambria" panose="02040503050406030204" pitchFamily="18" charset="0"/>
                <a:ea typeface="Cambria" panose="02040503050406030204" pitchFamily="18" charset="0"/>
              </a:rPr>
              <a:t>: brindan la información adicional de </a:t>
            </a:r>
            <a:r>
              <a:rPr lang="es-AR" altLang="es-AR" u="sng" dirty="0">
                <a:latin typeface="Cambria" panose="02040503050406030204" pitchFamily="18" charset="0"/>
                <a:ea typeface="Cambria" panose="02040503050406030204" pitchFamily="18" charset="0"/>
              </a:rPr>
              <a:t>cualquier tipo de información</a:t>
            </a:r>
            <a:r>
              <a:rPr lang="es-AR" altLang="es-AR" dirty="0">
                <a:latin typeface="Cambria" panose="02040503050406030204" pitchFamily="18" charset="0"/>
                <a:ea typeface="Cambria" panose="02040503050406030204" pitchFamily="18" charset="0"/>
              </a:rPr>
              <a:t> que sea necesario agregar. </a:t>
            </a:r>
            <a:r>
              <a:rPr lang="es-AR" altLang="es-AR" b="1" dirty="0">
                <a:latin typeface="Cambria" panose="02040503050406030204" pitchFamily="18" charset="0"/>
                <a:ea typeface="Cambria" panose="02040503050406030204" pitchFamily="18" charset="0"/>
              </a:rPr>
              <a:t>Nunca</a:t>
            </a:r>
            <a:r>
              <a:rPr lang="es-AR" altLang="es-AR" dirty="0">
                <a:latin typeface="Cambria" panose="02040503050406030204" pitchFamily="18" charset="0"/>
                <a:ea typeface="Cambria" panose="02040503050406030204" pitchFamily="18" charset="0"/>
              </a:rPr>
              <a:t> se colocan a pie de página.</a:t>
            </a:r>
          </a:p>
          <a:p>
            <a:pPr algn="just"/>
            <a:endParaRPr lang="es-AR" altLang="es-AR" u="sng" dirty="0">
              <a:latin typeface="Cambria" panose="02040503050406030204" pitchFamily="18" charset="0"/>
              <a:ea typeface="Cambria" panose="02040503050406030204" pitchFamily="18" charset="0"/>
            </a:endParaRPr>
          </a:p>
          <a:p>
            <a:pPr algn="just"/>
            <a:r>
              <a:rPr lang="es-AR" altLang="es-AR" b="1" dirty="0">
                <a:latin typeface="Cambria" panose="02040503050406030204" pitchFamily="18" charset="0"/>
                <a:ea typeface="Cambria" panose="02040503050406030204" pitchFamily="18" charset="0"/>
              </a:rPr>
              <a:t>5. </a:t>
            </a:r>
            <a:r>
              <a:rPr lang="es-AR" altLang="es-AR" b="1" u="sng" dirty="0">
                <a:latin typeface="Cambria" panose="02040503050406030204" pitchFamily="18" charset="0"/>
                <a:ea typeface="Cambria" panose="02040503050406030204" pitchFamily="18" charset="0"/>
              </a:rPr>
              <a:t>Fuente</a:t>
            </a:r>
            <a:r>
              <a:rPr lang="es-AR" altLang="es-AR" b="1" dirty="0">
                <a:latin typeface="Cambria" panose="02040503050406030204" pitchFamily="18" charset="0"/>
                <a:ea typeface="Cambria" panose="02040503050406030204" pitchFamily="18" charset="0"/>
              </a:rPr>
              <a:t>: </a:t>
            </a:r>
            <a:r>
              <a:rPr lang="es-AR" altLang="es-AR" dirty="0">
                <a:latin typeface="Cambria" panose="02040503050406030204" pitchFamily="18" charset="0"/>
                <a:ea typeface="Cambria" panose="02040503050406030204" pitchFamily="18" charset="0"/>
              </a:rPr>
              <a:t>es fundamental, para cuando otros autores se sirven de nuestros Cuadros, o bien para cuando un lector quiere conocer la veracidad de nuestra información.</a:t>
            </a:r>
            <a:endParaRPr lang="es-AR" altLang="es-AR" b="1" u="sng" dirty="0">
              <a:latin typeface="Cambria" panose="02040503050406030204" pitchFamily="18" charset="0"/>
              <a:ea typeface="Cambria" panose="02040503050406030204" pitchFamily="18" charset="0"/>
            </a:endParaRPr>
          </a:p>
        </p:txBody>
      </p:sp>
      <p:sp>
        <p:nvSpPr>
          <p:cNvPr id="4"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6"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8"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Construcción de tablas de contingencia</a:t>
            </a:r>
            <a:endParaRPr lang="es-AR" sz="2400" dirty="0">
              <a:latin typeface="Cambria" panose="02040503050406030204" pitchFamily="18" charset="0"/>
            </a:endParaRPr>
          </a:p>
        </p:txBody>
      </p:sp>
    </p:spTree>
    <p:extLst>
      <p:ext uri="{BB962C8B-B14F-4D97-AF65-F5344CB8AC3E}">
        <p14:creationId xmlns:p14="http://schemas.microsoft.com/office/powerpoint/2010/main" val="11178188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4"/>
          <p:cNvSpPr>
            <a:spLocks noChangeArrowheads="1"/>
          </p:cNvSpPr>
          <p:nvPr/>
        </p:nvSpPr>
        <p:spPr bwMode="auto">
          <a:xfrm>
            <a:off x="250825" y="1196752"/>
            <a:ext cx="86423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smtClean="0">
                <a:latin typeface="Cambria" panose="02040503050406030204" pitchFamily="18" charset="0"/>
                <a:ea typeface="Cambria" panose="02040503050406030204" pitchFamily="18" charset="0"/>
              </a:rPr>
              <a:t>Como dijimos, una tabla de contingencia es una distribución de frecuencias conjuntas.  Veamos la siguiente tabla:</a:t>
            </a:r>
            <a:endParaRPr lang="es-ES" altLang="es-AR" dirty="0">
              <a:latin typeface="Cambria" panose="02040503050406030204" pitchFamily="18" charset="0"/>
              <a:ea typeface="Cambria" panose="02040503050406030204" pitchFamily="18" charset="0"/>
            </a:endParaRPr>
          </a:p>
        </p:txBody>
      </p:sp>
      <p:graphicFrame>
        <p:nvGraphicFramePr>
          <p:cNvPr id="8238" name="Group 46"/>
          <p:cNvGraphicFramePr>
            <a:graphicFrameLocks noGrp="1"/>
          </p:cNvGraphicFramePr>
          <p:nvPr>
            <p:extLst>
              <p:ext uri="{D42A27DB-BD31-4B8C-83A1-F6EECF244321}">
                <p14:modId xmlns:p14="http://schemas.microsoft.com/office/powerpoint/2010/main" val="2245022310"/>
              </p:ext>
            </p:extLst>
          </p:nvPr>
        </p:nvGraphicFramePr>
        <p:xfrm>
          <a:off x="611560" y="1969182"/>
          <a:ext cx="6508130" cy="292734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de edad. </a:t>
                      </a:r>
                      <a:b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año 2016. En porcentajes.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0647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144</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163</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85</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392</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37</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80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42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159</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181</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243</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127</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551</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7"/>
                  </a:ext>
                </a:extLst>
              </a:tr>
            </a:tbl>
          </a:graphicData>
        </a:graphic>
      </p:graphicFrame>
      <p:sp>
        <p:nvSpPr>
          <p:cNvPr id="8" name="Rectangle 4"/>
          <p:cNvSpPr>
            <a:spLocks noChangeArrowheads="1"/>
          </p:cNvSpPr>
          <p:nvPr/>
        </p:nvSpPr>
        <p:spPr bwMode="auto">
          <a:xfrm>
            <a:off x="286856" y="6023029"/>
            <a:ext cx="86063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rPr>
              <a:t>Hay tres formas de calcular los porcentajes: por </a:t>
            </a:r>
            <a:r>
              <a:rPr lang="es-ES" altLang="es-AR" b="1" i="1" dirty="0">
                <a:solidFill>
                  <a:schemeClr val="accent2"/>
                </a:solidFill>
                <a:latin typeface="Cambria" panose="02040503050406030204" pitchFamily="18" charset="0"/>
                <a:ea typeface="Cambria" panose="02040503050406030204" pitchFamily="18" charset="0"/>
              </a:rPr>
              <a:t>columna, </a:t>
            </a:r>
            <a:r>
              <a:rPr lang="es-ES" altLang="es-AR" dirty="0">
                <a:latin typeface="Cambria" panose="02040503050406030204" pitchFamily="18" charset="0"/>
                <a:ea typeface="Cambria" panose="02040503050406030204" pitchFamily="18" charset="0"/>
              </a:rPr>
              <a:t>por </a:t>
            </a:r>
            <a:r>
              <a:rPr lang="es-ES" altLang="es-AR" b="1" i="1" dirty="0" smtClean="0">
                <a:solidFill>
                  <a:schemeClr val="accent2"/>
                </a:solidFill>
                <a:latin typeface="Cambria" panose="02040503050406030204" pitchFamily="18" charset="0"/>
                <a:ea typeface="Cambria" panose="02040503050406030204" pitchFamily="18" charset="0"/>
              </a:rPr>
              <a:t>fila</a:t>
            </a:r>
            <a:r>
              <a:rPr lang="es-ES" altLang="es-AR" dirty="0" smtClean="0">
                <a:latin typeface="Cambria" panose="02040503050406030204" pitchFamily="18" charset="0"/>
                <a:ea typeface="Cambria" panose="02040503050406030204" pitchFamily="18" charset="0"/>
              </a:rPr>
              <a:t> </a:t>
            </a:r>
            <a:r>
              <a:rPr lang="es-ES" altLang="es-AR" dirty="0">
                <a:latin typeface="Cambria" panose="02040503050406030204" pitchFamily="18" charset="0"/>
                <a:ea typeface="Cambria" panose="02040503050406030204" pitchFamily="18" charset="0"/>
              </a:rPr>
              <a:t>y a nivel de </a:t>
            </a:r>
            <a:r>
              <a:rPr lang="es-ES" altLang="es-AR" b="1" i="1" dirty="0">
                <a:solidFill>
                  <a:schemeClr val="accent2"/>
                </a:solidFill>
                <a:latin typeface="Cambria" panose="02040503050406030204" pitchFamily="18" charset="0"/>
                <a:ea typeface="Cambria" panose="02040503050406030204" pitchFamily="18" charset="0"/>
              </a:rPr>
              <a:t>total</a:t>
            </a:r>
            <a:r>
              <a:rPr lang="es-ES" altLang="es-AR" dirty="0">
                <a:latin typeface="Cambria" panose="02040503050406030204" pitchFamily="18" charset="0"/>
                <a:ea typeface="Cambria" panose="02040503050406030204" pitchFamily="18" charset="0"/>
              </a:rPr>
              <a:t>. </a:t>
            </a:r>
          </a:p>
        </p:txBody>
      </p:sp>
      <p:sp>
        <p:nvSpPr>
          <p:cNvPr id="9"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latin typeface="Cambria" panose="02040503050406030204" pitchFamily="18" charset="0"/>
              <a:ea typeface="Cambria" panose="02040503050406030204" pitchFamily="18" charset="0"/>
            </a:endParaRPr>
          </a:p>
        </p:txBody>
      </p:sp>
      <p:cxnSp>
        <p:nvCxnSpPr>
          <p:cNvPr id="12"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ea typeface="Cambria" panose="02040503050406030204" pitchFamily="18" charset="0"/>
              </a:rPr>
              <a:t>Cálculo de porcentajes</a:t>
            </a:r>
            <a:endParaRPr lang="es-AR" sz="2400" dirty="0">
              <a:latin typeface="Cambria" panose="02040503050406030204" pitchFamily="18" charset="0"/>
              <a:ea typeface="Cambria" panose="02040503050406030204" pitchFamily="18" charset="0"/>
            </a:endParaRPr>
          </a:p>
        </p:txBody>
      </p:sp>
      <p:sp>
        <p:nvSpPr>
          <p:cNvPr id="2" name="Rectángulo 1"/>
          <p:cNvSpPr/>
          <p:nvPr/>
        </p:nvSpPr>
        <p:spPr>
          <a:xfrm>
            <a:off x="286855" y="5087298"/>
            <a:ext cx="8606319" cy="923330"/>
          </a:xfrm>
          <a:prstGeom prst="rect">
            <a:avLst/>
          </a:prstGeom>
        </p:spPr>
        <p:txBody>
          <a:bodyPr wrap="square">
            <a:spAutoFit/>
          </a:bodyPr>
          <a:lstStyle/>
          <a:p>
            <a:pPr marL="285750" indent="-285750" algn="just">
              <a:buFont typeface="Arial" panose="020B0604020202020204" pitchFamily="34" charset="0"/>
              <a:buChar char="•"/>
            </a:pPr>
            <a:r>
              <a:rPr lang="es-ES" altLang="es-AR" dirty="0" smtClean="0">
                <a:latin typeface="Cambria" panose="02040503050406030204" pitchFamily="18" charset="0"/>
                <a:ea typeface="Cambria" panose="02040503050406030204" pitchFamily="18" charset="0"/>
              </a:rPr>
              <a:t>Para posibilitar la interpretación, debemos calcular </a:t>
            </a:r>
            <a:r>
              <a:rPr lang="es-ES" altLang="es-AR" b="1" i="1" dirty="0" smtClean="0">
                <a:solidFill>
                  <a:srgbClr val="2A8A85"/>
                </a:solidFill>
                <a:latin typeface="Cambria" panose="02040503050406030204" pitchFamily="18" charset="0"/>
                <a:ea typeface="Cambria" panose="02040503050406030204" pitchFamily="18" charset="0"/>
              </a:rPr>
              <a:t>porcentajes</a:t>
            </a:r>
            <a:r>
              <a:rPr lang="es-ES" altLang="es-AR" b="1" i="1" dirty="0" smtClean="0">
                <a:latin typeface="Cambria" panose="02040503050406030204" pitchFamily="18" charset="0"/>
                <a:ea typeface="Cambria" panose="02040503050406030204" pitchFamily="18" charset="0"/>
              </a:rPr>
              <a:t>. </a:t>
            </a:r>
            <a:r>
              <a:rPr lang="es-ES" altLang="es-AR" dirty="0" smtClean="0">
                <a:latin typeface="Cambria" panose="02040503050406030204" pitchFamily="18" charset="0"/>
                <a:ea typeface="Cambria" panose="02040503050406030204" pitchFamily="18" charset="0"/>
              </a:rPr>
              <a:t>De </a:t>
            </a:r>
            <a:r>
              <a:rPr lang="es-ES" altLang="es-AR" dirty="0">
                <a:latin typeface="Cambria" panose="02040503050406030204" pitchFamily="18" charset="0"/>
                <a:ea typeface="Cambria" panose="02040503050406030204" pitchFamily="18" charset="0"/>
              </a:rPr>
              <a:t>acuerdo con cómo se calculen los porcentajes vamos a obtener información muy diferentes sobre la relación entre las variables X e Y. </a:t>
            </a:r>
          </a:p>
        </p:txBody>
      </p:sp>
      <p:sp>
        <p:nvSpPr>
          <p:cNvPr id="3" name="Elipse 2"/>
          <p:cNvSpPr/>
          <p:nvPr/>
        </p:nvSpPr>
        <p:spPr>
          <a:xfrm>
            <a:off x="6300192" y="3573463"/>
            <a:ext cx="648072" cy="792658"/>
          </a:xfrm>
          <a:prstGeom prst="ellipse">
            <a:avLst/>
          </a:prstGeom>
          <a:noFill/>
          <a:ln>
            <a:solidFill>
              <a:srgbClr val="2A8A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CuadroTexto 14">
            <a:extLst>
              <a:ext uri="{FF2B5EF4-FFF2-40B4-BE49-F238E27FC236}">
                <a16:creationId xmlns:a16="http://schemas.microsoft.com/office/drawing/2014/main" id="{8D881FCD-F1FA-4926-A663-8110D654E879}"/>
              </a:ext>
            </a:extLst>
          </p:cNvPr>
          <p:cNvSpPr txBox="1"/>
          <p:nvPr/>
        </p:nvSpPr>
        <p:spPr>
          <a:xfrm>
            <a:off x="7452320" y="3351407"/>
            <a:ext cx="1296144" cy="461665"/>
          </a:xfrm>
          <a:prstGeom prst="rect">
            <a:avLst/>
          </a:prstGeom>
          <a:solidFill>
            <a:schemeClr val="accent6">
              <a:lumMod val="20000"/>
              <a:lumOff val="80000"/>
            </a:schemeClr>
          </a:solidFill>
        </p:spPr>
        <p:txBody>
          <a:bodyPr wrap="square" rtlCol="0">
            <a:spAutoFit/>
          </a:bodyPr>
          <a:lstStyle/>
          <a:p>
            <a:pPr algn="ctr"/>
            <a:r>
              <a:rPr lang="es-AR" sz="1200" dirty="0" smtClean="0">
                <a:latin typeface="Cambria" panose="02040503050406030204" pitchFamily="18" charset="0"/>
                <a:ea typeface="Cambria" panose="02040503050406030204" pitchFamily="18" charset="0"/>
                <a:cs typeface="Calibri" panose="020F0502020204030204" pitchFamily="34" charset="0"/>
              </a:rPr>
              <a:t>Frecuencias marginales</a:t>
            </a:r>
            <a:endParaRPr lang="es-AR" sz="1200" dirty="0">
              <a:latin typeface="Cambria" panose="02040503050406030204" pitchFamily="18" charset="0"/>
              <a:ea typeface="Cambria" panose="02040503050406030204" pitchFamily="18" charset="0"/>
              <a:cs typeface="Calibri" panose="020F0502020204030204" pitchFamily="34" charset="0"/>
            </a:endParaRPr>
          </a:p>
        </p:txBody>
      </p:sp>
      <p:cxnSp>
        <p:nvCxnSpPr>
          <p:cNvPr id="16" name="AutoShape 51"/>
          <p:cNvCxnSpPr>
            <a:cxnSpLocks noChangeShapeType="1"/>
          </p:cNvCxnSpPr>
          <p:nvPr/>
        </p:nvCxnSpPr>
        <p:spPr bwMode="auto">
          <a:xfrm flipH="1">
            <a:off x="6948264" y="3698779"/>
            <a:ext cx="432048" cy="30584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CuadroTexto 18">
            <a:extLst>
              <a:ext uri="{FF2B5EF4-FFF2-40B4-BE49-F238E27FC236}">
                <a16:creationId xmlns:a16="http://schemas.microsoft.com/office/drawing/2014/main" id="{8D881FCD-F1FA-4926-A663-8110D654E879}"/>
              </a:ext>
            </a:extLst>
          </p:cNvPr>
          <p:cNvSpPr txBox="1"/>
          <p:nvPr/>
        </p:nvSpPr>
        <p:spPr>
          <a:xfrm>
            <a:off x="5737833" y="4665695"/>
            <a:ext cx="1296144" cy="461665"/>
          </a:xfrm>
          <a:prstGeom prst="rect">
            <a:avLst/>
          </a:prstGeom>
          <a:solidFill>
            <a:schemeClr val="accent6">
              <a:lumMod val="20000"/>
              <a:lumOff val="80000"/>
            </a:schemeClr>
          </a:solidFill>
        </p:spPr>
        <p:txBody>
          <a:bodyPr wrap="square" rtlCol="0">
            <a:spAutoFit/>
          </a:bodyPr>
          <a:lstStyle/>
          <a:p>
            <a:pPr algn="ctr"/>
            <a:r>
              <a:rPr lang="es-AR" sz="1200" dirty="0" smtClean="0">
                <a:latin typeface="Cambria" panose="02040503050406030204" pitchFamily="18" charset="0"/>
                <a:ea typeface="Cambria" panose="02040503050406030204" pitchFamily="18" charset="0"/>
                <a:cs typeface="Calibri" panose="020F0502020204030204" pitchFamily="34" charset="0"/>
              </a:rPr>
              <a:t>Frecuencias marginales</a:t>
            </a:r>
            <a:endParaRPr lang="es-AR" sz="1200" dirty="0">
              <a:latin typeface="Cambria" panose="02040503050406030204" pitchFamily="18" charset="0"/>
              <a:ea typeface="Cambria" panose="02040503050406030204" pitchFamily="18" charset="0"/>
              <a:cs typeface="Calibri" panose="020F0502020204030204" pitchFamily="34" charset="0"/>
            </a:endParaRPr>
          </a:p>
        </p:txBody>
      </p:sp>
      <p:cxnSp>
        <p:nvCxnSpPr>
          <p:cNvPr id="20" name="AutoShape 51"/>
          <p:cNvCxnSpPr>
            <a:cxnSpLocks noChangeShapeType="1"/>
          </p:cNvCxnSpPr>
          <p:nvPr/>
        </p:nvCxnSpPr>
        <p:spPr bwMode="auto">
          <a:xfrm flipH="1" flipV="1">
            <a:off x="5148064" y="4665695"/>
            <a:ext cx="517761" cy="34737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2" name="Elipse 21"/>
          <p:cNvSpPr/>
          <p:nvPr/>
        </p:nvSpPr>
        <p:spPr>
          <a:xfrm>
            <a:off x="3530841" y="4281339"/>
            <a:ext cx="2423417" cy="371955"/>
          </a:xfrm>
          <a:prstGeom prst="ellipse">
            <a:avLst/>
          </a:prstGeom>
          <a:noFill/>
          <a:ln>
            <a:solidFill>
              <a:srgbClr val="2A8A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CuadroTexto 22">
            <a:extLst>
              <a:ext uri="{FF2B5EF4-FFF2-40B4-BE49-F238E27FC236}">
                <a16:creationId xmlns:a16="http://schemas.microsoft.com/office/drawing/2014/main" id="{8D881FCD-F1FA-4926-A663-8110D654E879}"/>
              </a:ext>
            </a:extLst>
          </p:cNvPr>
          <p:cNvSpPr txBox="1"/>
          <p:nvPr/>
        </p:nvSpPr>
        <p:spPr>
          <a:xfrm>
            <a:off x="7380312" y="2563525"/>
            <a:ext cx="1296144" cy="461665"/>
          </a:xfrm>
          <a:prstGeom prst="rect">
            <a:avLst/>
          </a:prstGeom>
          <a:solidFill>
            <a:schemeClr val="accent4">
              <a:lumMod val="40000"/>
              <a:lumOff val="60000"/>
            </a:schemeClr>
          </a:solidFill>
        </p:spPr>
        <p:txBody>
          <a:bodyPr wrap="square" rtlCol="0">
            <a:spAutoFit/>
          </a:bodyPr>
          <a:lstStyle/>
          <a:p>
            <a:pPr algn="ctr"/>
            <a:r>
              <a:rPr lang="es-AR" sz="1200" dirty="0" smtClean="0">
                <a:latin typeface="Cambria" panose="02040503050406030204" pitchFamily="18" charset="0"/>
                <a:ea typeface="Cambria" panose="02040503050406030204" pitchFamily="18" charset="0"/>
                <a:cs typeface="Calibri" panose="020F0502020204030204" pitchFamily="34" charset="0"/>
              </a:rPr>
              <a:t>Frecuencias condicionales</a:t>
            </a:r>
            <a:endParaRPr lang="es-AR" sz="1200" dirty="0">
              <a:latin typeface="Cambria" panose="02040503050406030204" pitchFamily="18" charset="0"/>
              <a:ea typeface="Cambria" panose="02040503050406030204" pitchFamily="18" charset="0"/>
              <a:cs typeface="Calibri" panose="020F0502020204030204" pitchFamily="34" charset="0"/>
            </a:endParaRPr>
          </a:p>
        </p:txBody>
      </p:sp>
      <p:cxnSp>
        <p:nvCxnSpPr>
          <p:cNvPr id="24" name="AutoShape 51"/>
          <p:cNvCxnSpPr>
            <a:cxnSpLocks noChangeShapeType="1"/>
          </p:cNvCxnSpPr>
          <p:nvPr/>
        </p:nvCxnSpPr>
        <p:spPr bwMode="auto">
          <a:xfrm flipH="1">
            <a:off x="5954258" y="2910897"/>
            <a:ext cx="1354047" cy="902175"/>
          </a:xfrm>
          <a:prstGeom prst="straightConnector1">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775173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4"/>
          <p:cNvSpPr>
            <a:spLocks noChangeArrowheads="1"/>
          </p:cNvSpPr>
          <p:nvPr/>
        </p:nvSpPr>
        <p:spPr bwMode="auto">
          <a:xfrm>
            <a:off x="468312" y="4437112"/>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rPr>
              <a:t>Por regla general, el cálculo de los porcentajes suele hacerse en la dirección de la variable independiente. Es decir, con “100%” en cada una de las columnas. </a:t>
            </a:r>
          </a:p>
        </p:txBody>
      </p:sp>
      <p:graphicFrame>
        <p:nvGraphicFramePr>
          <p:cNvPr id="9" name="Group 46"/>
          <p:cNvGraphicFramePr>
            <a:graphicFrameLocks noGrp="1"/>
          </p:cNvGraphicFramePr>
          <p:nvPr>
            <p:extLst>
              <p:ext uri="{D42A27DB-BD31-4B8C-83A1-F6EECF244321}">
                <p14:modId xmlns:p14="http://schemas.microsoft.com/office/powerpoint/2010/main" val="3514408812"/>
              </p:ext>
            </p:extLst>
          </p:nvPr>
        </p:nvGraphicFramePr>
        <p:xfrm>
          <a:off x="1460810" y="1196752"/>
          <a:ext cx="6508130" cy="322939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a:t>
                      </a: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de edad.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
                      </a:r>
                      <a:b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año 2016. En porcentajes.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0647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79,6</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accent1">
                        <a:lumMod val="40000"/>
                        <a:lumOff val="60000"/>
                      </a:schemeClr>
                    </a:solidFill>
                  </a:tcPr>
                </a:tc>
                <a:tc>
                  <a:txBody>
                    <a:bodyPr/>
                    <a:lstStyle/>
                    <a:p>
                      <a:pPr algn="ctr" fontAlgn="t"/>
                      <a:r>
                        <a:rPr lang="es-AR" sz="1600" b="0" i="0" u="none" strike="noStrike">
                          <a:solidFill>
                            <a:srgbClr val="000000"/>
                          </a:solidFill>
                          <a:effectLst/>
                          <a:latin typeface="Calibri" panose="020F0502020204030204" pitchFamily="34" charset="0"/>
                        </a:rPr>
                        <a:t>67,1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66,9</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20,4</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algn="ctr" fontAlgn="t"/>
                      <a:r>
                        <a:rPr lang="es-AR" sz="1600" b="0" i="0" u="none" strike="noStrike">
                          <a:solidFill>
                            <a:srgbClr val="000000"/>
                          </a:solidFill>
                          <a:effectLst/>
                          <a:latin typeface="Calibri" panose="020F0502020204030204" pitchFamily="34" charset="0"/>
                        </a:rPr>
                        <a:t>32,9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33,1</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accent1">
                        <a:lumMod val="40000"/>
                        <a:lumOff val="60000"/>
                      </a:schemeClr>
                    </a:solidFill>
                  </a:tcPr>
                </a:tc>
                <a:tc>
                  <a:txBody>
                    <a:bodyPr/>
                    <a:lstStyle/>
                    <a:p>
                      <a:pPr algn="ctr" fontAlgn="t"/>
                      <a:r>
                        <a:rPr lang="es-AR" sz="1600" b="0" i="0" u="none" strike="noStrike">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(181)</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algn="ctr" fontAlgn="t"/>
                      <a:r>
                        <a:rPr lang="es-AR" sz="1600" b="0" i="0" u="none" strike="noStrike" dirty="0">
                          <a:solidFill>
                            <a:srgbClr val="000000"/>
                          </a:solidFill>
                          <a:effectLst/>
                          <a:latin typeface="Calibri" panose="020F0502020204030204" pitchFamily="34" charset="0"/>
                        </a:rPr>
                        <a:t>(243)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(127)</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(551)</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8"/>
                  </a:ext>
                </a:extLst>
              </a:tr>
            </a:tbl>
          </a:graphicData>
        </a:graphic>
      </p:graphicFrame>
      <p:sp>
        <p:nvSpPr>
          <p:cNvPr id="10" name="Rectangle 4"/>
          <p:cNvSpPr>
            <a:spLocks noChangeArrowheads="1"/>
          </p:cNvSpPr>
          <p:nvPr/>
        </p:nvSpPr>
        <p:spPr bwMode="auto">
          <a:xfrm>
            <a:off x="467544" y="5108978"/>
            <a:ext cx="8207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rPr>
              <a:t>Es la lectura que hacemos cuando buscamos comprobar la hipótesis.</a:t>
            </a:r>
          </a:p>
        </p:txBody>
      </p:sp>
      <p:sp>
        <p:nvSpPr>
          <p:cNvPr id="11" name="Rectangle 4"/>
          <p:cNvSpPr>
            <a:spLocks noChangeArrowheads="1"/>
          </p:cNvSpPr>
          <p:nvPr/>
        </p:nvSpPr>
        <p:spPr bwMode="auto">
          <a:xfrm>
            <a:off x="469081" y="5510050"/>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rPr>
              <a:t>Sólo 20,4% de los jóvenes consume diarios impresos, mientras 33,1% de los adultos de 46 años y más lo hace.</a:t>
            </a:r>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4"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Cálculo de porcentajes: por columna</a:t>
            </a:r>
            <a:endParaRPr lang="es-AR" sz="2400" dirty="0">
              <a:latin typeface="Cambria" panose="02040503050406030204" pitchFamily="18" charset="0"/>
            </a:endParaRPr>
          </a:p>
        </p:txBody>
      </p:sp>
    </p:spTree>
    <p:extLst>
      <p:ext uri="{BB962C8B-B14F-4D97-AF65-F5344CB8AC3E}">
        <p14:creationId xmlns:p14="http://schemas.microsoft.com/office/powerpoint/2010/main" val="28517701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4"/>
          <p:cNvSpPr>
            <a:spLocks noChangeArrowheads="1"/>
          </p:cNvSpPr>
          <p:nvPr/>
        </p:nvSpPr>
        <p:spPr bwMode="auto">
          <a:xfrm>
            <a:off x="250826" y="4437112"/>
            <a:ext cx="86423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lectura por filas nos dice otra cosa: cómo se “compone” la población en términos de la variable independiente.</a:t>
            </a:r>
          </a:p>
        </p:txBody>
      </p:sp>
      <p:graphicFrame>
        <p:nvGraphicFramePr>
          <p:cNvPr id="9" name="Group 46"/>
          <p:cNvGraphicFramePr>
            <a:graphicFrameLocks noGrp="1"/>
          </p:cNvGraphicFramePr>
          <p:nvPr>
            <p:extLst>
              <p:ext uri="{D42A27DB-BD31-4B8C-83A1-F6EECF244321}">
                <p14:modId xmlns:p14="http://schemas.microsoft.com/office/powerpoint/2010/main" val="1134177931"/>
              </p:ext>
            </p:extLst>
          </p:nvPr>
        </p:nvGraphicFramePr>
        <p:xfrm>
          <a:off x="1460810" y="1196752"/>
          <a:ext cx="6508130" cy="292734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a:t>
                      </a: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de edad.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
                      </a:r>
                      <a:b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año 2016. En porcentajes.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10647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dirty="0">
                          <a:solidFill>
                            <a:srgbClr val="000000"/>
                          </a:solidFill>
                          <a:effectLst/>
                          <a:latin typeface="Calibri" panose="020F0502020204030204" pitchFamily="34" charset="0"/>
                        </a:rPr>
                        <a:t>36,7</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dirty="0">
                          <a:solidFill>
                            <a:srgbClr val="000000"/>
                          </a:solidFill>
                          <a:effectLst/>
                          <a:latin typeface="Calibri" panose="020F0502020204030204" pitchFamily="34" charset="0"/>
                        </a:rPr>
                        <a:t>41,6</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a:solidFill>
                            <a:srgbClr val="000000"/>
                          </a:solidFill>
                          <a:effectLst/>
                          <a:latin typeface="Calibri" panose="020F0502020204030204" pitchFamily="34" charset="0"/>
                        </a:rPr>
                        <a:t>21,7</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algn="ctr" fontAlgn="t"/>
                      <a:r>
                        <a:rPr lang="es-AR" sz="1600" b="0" i="0" u="none" strike="noStrike" dirty="0">
                          <a:solidFill>
                            <a:srgbClr val="000000"/>
                          </a:solidFill>
                          <a:effectLst/>
                          <a:latin typeface="Calibri" panose="020F0502020204030204" pitchFamily="34" charset="0"/>
                        </a:rPr>
                        <a:t>23,3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algn="ctr" fontAlgn="t"/>
                      <a:r>
                        <a:rPr lang="es-AR" sz="1600" b="0" i="0" u="none" strike="noStrike" dirty="0">
                          <a:solidFill>
                            <a:srgbClr val="000000"/>
                          </a:solidFill>
                          <a:effectLst/>
                          <a:latin typeface="Calibri" panose="020F0502020204030204" pitchFamily="34" charset="0"/>
                        </a:rPr>
                        <a:t>50,3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algn="ctr" fontAlgn="t"/>
                      <a:r>
                        <a:rPr lang="es-AR" sz="1600" b="0" i="0" u="none" strike="noStrike" dirty="0">
                          <a:solidFill>
                            <a:srgbClr val="000000"/>
                          </a:solidFill>
                          <a:effectLst/>
                          <a:latin typeface="Calibri" panose="020F0502020204030204" pitchFamily="34" charset="0"/>
                        </a:rPr>
                        <a:t>26,4</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a:solidFill>
                            <a:srgbClr val="000000"/>
                          </a:solidFill>
                          <a:effectLst/>
                          <a:latin typeface="Calibri" panose="020F0502020204030204" pitchFamily="34" charset="0"/>
                        </a:rPr>
                        <a:t>32,8</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dirty="0">
                          <a:solidFill>
                            <a:srgbClr val="000000"/>
                          </a:solidFill>
                          <a:effectLst/>
                          <a:latin typeface="Calibri" panose="020F0502020204030204" pitchFamily="34" charset="0"/>
                        </a:rPr>
                        <a:t>44,1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dirty="0">
                          <a:solidFill>
                            <a:srgbClr val="000000"/>
                          </a:solidFill>
                          <a:effectLst/>
                          <a:latin typeface="Calibri" panose="020F0502020204030204" pitchFamily="34" charset="0"/>
                        </a:rPr>
                        <a:t>23,0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6"/>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7"/>
                  </a:ext>
                </a:extLst>
              </a:tr>
            </a:tbl>
          </a:graphicData>
        </a:graphic>
      </p:graphicFrame>
      <p:sp>
        <p:nvSpPr>
          <p:cNvPr id="11" name="Rectangle 4"/>
          <p:cNvSpPr>
            <a:spLocks noChangeArrowheads="1"/>
          </p:cNvSpPr>
          <p:nvPr/>
        </p:nvSpPr>
        <p:spPr bwMode="auto">
          <a:xfrm>
            <a:off x="250825" y="5085184"/>
            <a:ext cx="86423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rPr>
              <a:t>Por ejemplo: el 50,3% de los que leen diarios impresos tienen entre 31 y 45 años, mientras que 26,4% de los que leen tienen 46 años o más.</a:t>
            </a:r>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Cálculo de porcentajes: por fila</a:t>
            </a:r>
            <a:endParaRPr lang="es-AR" sz="2400" dirty="0">
              <a:latin typeface="Cambria" panose="02040503050406030204" pitchFamily="18" charset="0"/>
            </a:endParaRPr>
          </a:p>
        </p:txBody>
      </p:sp>
    </p:spTree>
    <p:extLst>
      <p:ext uri="{BB962C8B-B14F-4D97-AF65-F5344CB8AC3E}">
        <p14:creationId xmlns:p14="http://schemas.microsoft.com/office/powerpoint/2010/main" val="3306813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Rectangle 4"/>
          <p:cNvSpPr>
            <a:spLocks noChangeArrowheads="1"/>
          </p:cNvSpPr>
          <p:nvPr/>
        </p:nvSpPr>
        <p:spPr bwMode="auto">
          <a:xfrm>
            <a:off x="250825" y="4437112"/>
            <a:ext cx="86423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lectura sobre el total nos dice cómo está compuesta nuestra población en términos del cruce de las dos variables</a:t>
            </a:r>
            <a:r>
              <a:rPr lang="es-AR" altLang="es-AR" dirty="0" smtClean="0">
                <a:latin typeface="Cambria" panose="02040503050406030204" pitchFamily="18" charset="0"/>
                <a:ea typeface="Cambria" panose="02040503050406030204" pitchFamily="18" charset="0"/>
              </a:rPr>
              <a:t>. </a:t>
            </a:r>
            <a:endParaRPr lang="es-AR" altLang="es-AR" dirty="0">
              <a:latin typeface="Cambria" panose="02040503050406030204" pitchFamily="18" charset="0"/>
              <a:ea typeface="Cambria" panose="02040503050406030204" pitchFamily="18" charset="0"/>
            </a:endParaRPr>
          </a:p>
        </p:txBody>
      </p:sp>
      <p:graphicFrame>
        <p:nvGraphicFramePr>
          <p:cNvPr id="9" name="Group 46"/>
          <p:cNvGraphicFramePr>
            <a:graphicFrameLocks noGrp="1"/>
          </p:cNvGraphicFramePr>
          <p:nvPr>
            <p:extLst>
              <p:ext uri="{D42A27DB-BD31-4B8C-83A1-F6EECF244321}">
                <p14:modId xmlns:p14="http://schemas.microsoft.com/office/powerpoint/2010/main" val="34690011"/>
              </p:ext>
            </p:extLst>
          </p:nvPr>
        </p:nvGraphicFramePr>
        <p:xfrm>
          <a:off x="1460810" y="1196752"/>
          <a:ext cx="6508130" cy="2927346"/>
        </p:xfrm>
        <a:graphic>
          <a:graphicData uri="http://schemas.openxmlformats.org/drawingml/2006/table">
            <a:tbl>
              <a:tblPr/>
              <a:tblGrid>
                <a:gridCol w="2841625">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74712">
                  <a:extLst>
                    <a:ext uri="{9D8B030D-6E8A-4147-A177-3AD203B41FA5}">
                      <a16:colId xmlns:a16="http://schemas.microsoft.com/office/drawing/2014/main" val="20002"/>
                    </a:ext>
                  </a:extLst>
                </a:gridCol>
                <a:gridCol w="908968">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604101">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Cuadro 1.</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a:t>
                      </a:r>
                      <a:r>
                        <a:rPr kumimoji="0" lang="es-ES" sz="1600" b="1" i="0" u="none" strike="noStrike" cap="none" normalizeH="0" baseline="0">
                          <a:ln>
                            <a:noFill/>
                          </a:ln>
                          <a:solidFill>
                            <a:srgbClr val="000000"/>
                          </a:solidFill>
                          <a:effectLst/>
                          <a:latin typeface="Calibri" pitchFamily="34" charset="0"/>
                          <a:ea typeface="Times New Roman" pitchFamily="18" charset="0"/>
                          <a:cs typeface="Calibri" pitchFamily="34" charset="0"/>
                        </a:rPr>
                        <a:t>de edad. </a:t>
                      </a:r>
                      <a: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
                      </a:r>
                      <a:br>
                        <a:rPr kumimoji="0" lang="es-ES" sz="16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b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t>
                      </a: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año 2016. En porcentajes.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29753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106475">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2050">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18 a 30</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31 a 45</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46 y más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es-ES"/>
                    </a:p>
                  </a:txBody>
                  <a:tcPr/>
                </a:tc>
                <a:extLst>
                  <a:ext uri="{0D108BD9-81ED-4DB2-BD59-A6C34878D82A}">
                    <a16:rowId xmlns:a16="http://schemas.microsoft.com/office/drawing/2014/main" val="10003"/>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a:solidFill>
                            <a:srgbClr val="000000"/>
                          </a:solidFill>
                          <a:effectLst/>
                          <a:latin typeface="Calibri" panose="020F0502020204030204" pitchFamily="34" charset="0"/>
                        </a:rPr>
                        <a:t>26,1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a:solidFill>
                            <a:srgbClr val="000000"/>
                          </a:solidFill>
                          <a:effectLst/>
                          <a:latin typeface="Calibri" panose="020F0502020204030204" pitchFamily="34" charset="0"/>
                        </a:rPr>
                        <a:t>29,6</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a:solidFill>
                            <a:srgbClr val="000000"/>
                          </a:solidFill>
                          <a:effectLst/>
                          <a:latin typeface="Calibri" panose="020F0502020204030204" pitchFamily="34" charset="0"/>
                        </a:rPr>
                        <a:t>15,4</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a:solidFill>
                            <a:srgbClr val="000000"/>
                          </a:solidFill>
                          <a:effectLst/>
                          <a:latin typeface="Calibri" panose="020F0502020204030204"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4"/>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6,7</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14,5</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7,6</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020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32,8</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a:solidFill>
                            <a:srgbClr val="000000"/>
                          </a:solidFill>
                          <a:effectLst/>
                          <a:latin typeface="Calibri" panose="020F0502020204030204" pitchFamily="34" charset="0"/>
                        </a:rPr>
                        <a:t>44,1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23,0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algn="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6"/>
                  </a:ext>
                </a:extLst>
              </a:tr>
              <a:tr h="299946">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solidFill>
                      <a:schemeClr val="bg1"/>
                    </a:solid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7"/>
                  </a:ext>
                </a:extLst>
              </a:tr>
            </a:tbl>
          </a:graphicData>
        </a:graphic>
      </p:graphicFrame>
      <p:sp>
        <p:nvSpPr>
          <p:cNvPr id="11" name="Rectangle 4"/>
          <p:cNvSpPr>
            <a:spLocks noChangeArrowheads="1"/>
          </p:cNvSpPr>
          <p:nvPr/>
        </p:nvSpPr>
        <p:spPr bwMode="auto">
          <a:xfrm>
            <a:off x="251520" y="5093493"/>
            <a:ext cx="8642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a:buFont typeface="Arial" panose="020B0604020202020204" pitchFamily="34" charset="0"/>
              <a:buChar char="•"/>
            </a:pPr>
            <a:r>
              <a:rPr lang="es-ES" altLang="es-AR" dirty="0">
                <a:latin typeface="Cambria" panose="02040503050406030204" pitchFamily="18" charset="0"/>
                <a:ea typeface="Cambria" panose="02040503050406030204" pitchFamily="18" charset="0"/>
              </a:rPr>
              <a:t>Por ejemplo: el 29,6% no consume diarios impresos y tiene 31 a 45 años.</a:t>
            </a:r>
            <a:endParaRPr lang="es-AR" altLang="es-AR" dirty="0">
              <a:latin typeface="Cambria" panose="02040503050406030204" pitchFamily="18" charset="0"/>
              <a:ea typeface="Cambria" panose="02040503050406030204" pitchFamily="18" charset="0"/>
            </a:endParaRP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2"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Cálculo de porcentajes: total</a:t>
            </a:r>
            <a:endParaRPr lang="es-AR" sz="2400" dirty="0">
              <a:latin typeface="Cambria" panose="02040503050406030204" pitchFamily="18" charset="0"/>
            </a:endParaRPr>
          </a:p>
        </p:txBody>
      </p:sp>
      <p:sp>
        <p:nvSpPr>
          <p:cNvPr id="2" name="Rectángulo 1"/>
          <p:cNvSpPr/>
          <p:nvPr/>
        </p:nvSpPr>
        <p:spPr>
          <a:xfrm>
            <a:off x="261910" y="5568647"/>
            <a:ext cx="8641655" cy="646331"/>
          </a:xfrm>
          <a:prstGeom prst="rect">
            <a:avLst/>
          </a:prstGeom>
        </p:spPr>
        <p:txBody>
          <a:bodyPr wrap="square">
            <a:spAutoFit/>
          </a:bodyPr>
          <a:lstStyle/>
          <a:p>
            <a:pPr marL="285750" indent="-285750" algn="just">
              <a:buFont typeface="Arial" panose="020B0604020202020204" pitchFamily="34" charset="0"/>
              <a:buChar char="•"/>
            </a:pPr>
            <a:r>
              <a:rPr lang="es-AR" altLang="es-AR" dirty="0">
                <a:latin typeface="Cambria" panose="02040503050406030204" pitchFamily="18" charset="0"/>
                <a:ea typeface="Cambria" panose="02040503050406030204" pitchFamily="18" charset="0"/>
              </a:rPr>
              <a:t>En general, esto es útil cuando las dos variables nos ayudan a construir una tipología. Por ejemplo</a:t>
            </a:r>
            <a:r>
              <a:rPr lang="es-AR" altLang="es-AR" dirty="0" smtClean="0">
                <a:latin typeface="Cambria" panose="02040503050406030204" pitchFamily="18" charset="0"/>
                <a:ea typeface="Cambria" panose="02040503050406030204" pitchFamily="18" charset="0"/>
              </a:rPr>
              <a:t>: “jóvenes desinformados”, “jóvenes informados”, etc. </a:t>
            </a:r>
            <a:endParaRPr lang="es-AR" dirty="0"/>
          </a:p>
        </p:txBody>
      </p:sp>
    </p:spTree>
    <p:extLst>
      <p:ext uri="{BB962C8B-B14F-4D97-AF65-F5344CB8AC3E}">
        <p14:creationId xmlns:p14="http://schemas.microsoft.com/office/powerpoint/2010/main" val="36340054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88132" y="1210566"/>
            <a:ext cx="8424861" cy="2585323"/>
          </a:xfrm>
          <a:prstGeom prst="rect">
            <a:avLst/>
          </a:prstGeom>
          <a:noFill/>
          <a:ln w="9525" algn="ctr">
            <a:noFill/>
            <a:miter lim="800000"/>
            <a:headEnd/>
            <a:tailEnd/>
          </a:ln>
        </p:spPr>
        <p:txBody>
          <a:bodyPr wrap="square">
            <a:spAutoFit/>
          </a:bodyPr>
          <a:lstStyle/>
          <a:p>
            <a:pPr marL="285750" indent="-285750" algn="just">
              <a:buFont typeface="Arial" panose="020B0604020202020204" pitchFamily="34" charset="0"/>
              <a:buChar char="•"/>
              <a:defRPr/>
            </a:pPr>
            <a:r>
              <a:rPr lang="es-AR" dirty="0">
                <a:latin typeface="Cambria" panose="02040503050406030204" pitchFamily="18" charset="0"/>
                <a:ea typeface="Cambria" panose="02040503050406030204" pitchFamily="18" charset="0"/>
              </a:rPr>
              <a:t> Es inválido realizar expresiones del estilo: “Hay más personas” en una categoría que en otra, ya que aquí no trabajamos con cifras absolutas, sino con porcentajes.</a:t>
            </a:r>
          </a:p>
          <a:p>
            <a:pPr marL="285750" indent="-285750" algn="just">
              <a:buFont typeface="Arial" panose="020B0604020202020204" pitchFamily="34" charset="0"/>
              <a:buChar char="•"/>
              <a:defRPr/>
            </a:pPr>
            <a:endParaRPr lang="es-AR"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defRPr/>
            </a:pPr>
            <a:r>
              <a:rPr lang="es-AR" dirty="0">
                <a:latin typeface="Cambria" panose="02040503050406030204" pitchFamily="18" charset="0"/>
                <a:ea typeface="Cambria" panose="02040503050406030204" pitchFamily="18" charset="0"/>
              </a:rPr>
              <a:t> También es inválido aplicar una lectura por composición o por selectividad, cuando los porcentajes de nuestro Cuadro fueron calculados en otra dirección que no habilita esas conclusiones.</a:t>
            </a:r>
            <a:endParaRPr lang="es-ES"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defRPr/>
            </a:pPr>
            <a:endParaRPr lang="es-AR"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defRPr/>
            </a:pPr>
            <a:r>
              <a:rPr lang="es-AR" dirty="0">
                <a:latin typeface="Cambria" panose="02040503050406030204" pitchFamily="18" charset="0"/>
                <a:ea typeface="Cambria" panose="02040503050406030204" pitchFamily="18" charset="0"/>
              </a:rPr>
              <a:t> Es importante </a:t>
            </a:r>
            <a:r>
              <a:rPr lang="es-AR" b="1" dirty="0">
                <a:latin typeface="Cambria" panose="02040503050406030204" pitchFamily="18" charset="0"/>
                <a:ea typeface="Cambria" panose="02040503050406030204" pitchFamily="18" charset="0"/>
              </a:rPr>
              <a:t>no traducir</a:t>
            </a:r>
            <a:r>
              <a:rPr lang="es-AR" dirty="0">
                <a:latin typeface="Cambria" panose="02040503050406030204" pitchFamily="18" charset="0"/>
                <a:ea typeface="Cambria" panose="02040503050406030204" pitchFamily="18" charset="0"/>
              </a:rPr>
              <a:t> a palabras </a:t>
            </a:r>
            <a:r>
              <a:rPr lang="es-AR" i="1" dirty="0">
                <a:latin typeface="Cambria" panose="02040503050406030204" pitchFamily="18" charset="0"/>
                <a:ea typeface="Cambria" panose="02040503050406030204" pitchFamily="18" charset="0"/>
              </a:rPr>
              <a:t>todo el Cuadro</a:t>
            </a:r>
            <a:r>
              <a:rPr lang="es-AR" dirty="0">
                <a:latin typeface="Cambria" panose="02040503050406030204" pitchFamily="18" charset="0"/>
                <a:ea typeface="Cambria" panose="02040503050406030204" pitchFamily="18" charset="0"/>
              </a:rPr>
              <a:t>, ya que en ese caso, la presentación de éste pierde sentido. </a:t>
            </a:r>
            <a:endParaRPr lang="es-ES" dirty="0">
              <a:latin typeface="Cambria" panose="02040503050406030204" pitchFamily="18" charset="0"/>
              <a:ea typeface="Cambria" panose="02040503050406030204" pitchFamily="18" charset="0"/>
            </a:endParaRPr>
          </a:p>
        </p:txBody>
      </p:sp>
      <p:sp>
        <p:nvSpPr>
          <p:cNvPr id="4"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Cálculo de porcentajes: lecturas inválidas</a:t>
            </a:r>
            <a:endParaRPr lang="es-AR" sz="2400" dirty="0">
              <a:latin typeface="Cambria" panose="02040503050406030204" pitchFamily="18" charset="0"/>
            </a:endParaRPr>
          </a:p>
        </p:txBody>
      </p:sp>
    </p:spTree>
    <p:extLst>
      <p:ext uri="{BB962C8B-B14F-4D97-AF65-F5344CB8AC3E}">
        <p14:creationId xmlns:p14="http://schemas.microsoft.com/office/powerpoint/2010/main" val="7032492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3"/>
          <a:srcRect l="10626" t="2401" r="51574" b="17100"/>
          <a:stretch/>
        </p:blipFill>
        <p:spPr>
          <a:xfrm>
            <a:off x="380341" y="822615"/>
            <a:ext cx="4388105" cy="5256584"/>
          </a:xfrm>
          <a:prstGeom prst="rect">
            <a:avLst/>
          </a:prstGeom>
        </p:spPr>
      </p:pic>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eaLnBrk="1" hangingPunct="1"/>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Tablas de contingencia en SPSS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6371032" y="1627803"/>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Botón &gt; Casillas</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5" name="Imagen 4"/>
          <p:cNvPicPr>
            <a:picLocks noChangeAspect="1"/>
          </p:cNvPicPr>
          <p:nvPr/>
        </p:nvPicPr>
        <p:blipFill rotWithShape="1">
          <a:blip r:embed="rId4"/>
          <a:srcRect l="1" r="-160"/>
          <a:stretch/>
        </p:blipFill>
        <p:spPr>
          <a:xfrm>
            <a:off x="2544528" y="2231993"/>
            <a:ext cx="4691768" cy="2757929"/>
          </a:xfrm>
          <a:prstGeom prst="rect">
            <a:avLst/>
          </a:prstGeom>
          <a:effectLst>
            <a:outerShdw blurRad="50800" dist="38100" dir="10800000" sx="101000" sy="101000" algn="r" rotWithShape="0">
              <a:prstClr val="black">
                <a:alpha val="40000"/>
              </a:prstClr>
            </a:outerShdw>
          </a:effectLst>
        </p:spPr>
      </p:pic>
      <p:cxnSp>
        <p:nvCxnSpPr>
          <p:cNvPr id="20" name="AutoShape 50"/>
          <p:cNvCxnSpPr>
            <a:cxnSpLocks noChangeShapeType="1"/>
          </p:cNvCxnSpPr>
          <p:nvPr/>
        </p:nvCxnSpPr>
        <p:spPr bwMode="auto">
          <a:xfrm rot="5400000">
            <a:off x="5146053" y="1526759"/>
            <a:ext cx="1118068" cy="965765"/>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23" name="Text Box 46"/>
          <p:cNvSpPr txBox="1">
            <a:spLocks noChangeArrowheads="1"/>
          </p:cNvSpPr>
          <p:nvPr/>
        </p:nvSpPr>
        <p:spPr bwMode="auto">
          <a:xfrm>
            <a:off x="5276310" y="875643"/>
            <a:ext cx="2270031" cy="55399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Elegir las variables de filas y columnas</a:t>
            </a:r>
            <a:endParaRPr lang="es-ES" altLang="es-AR" sz="1500" b="1" dirty="0">
              <a:latin typeface="Cambria" panose="02040503050406030204" pitchFamily="18" charset="0"/>
              <a:ea typeface="Cambria" panose="02040503050406030204" pitchFamily="18" charset="0"/>
            </a:endParaRPr>
          </a:p>
        </p:txBody>
      </p:sp>
      <p:sp>
        <p:nvSpPr>
          <p:cNvPr id="17" name="Text Box 46"/>
          <p:cNvSpPr txBox="1">
            <a:spLocks noChangeArrowheads="1"/>
          </p:cNvSpPr>
          <p:nvPr/>
        </p:nvSpPr>
        <p:spPr bwMode="auto">
          <a:xfrm>
            <a:off x="2446707" y="6023524"/>
            <a:ext cx="2702080" cy="55399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Seleccionamos los porcentajes que queremos</a:t>
            </a:r>
            <a:endParaRPr lang="es-ES" altLang="es-AR" sz="1500" b="1" dirty="0">
              <a:latin typeface="Cambria" panose="02040503050406030204" pitchFamily="18" charset="0"/>
              <a:ea typeface="Cambria" panose="02040503050406030204" pitchFamily="18" charset="0"/>
            </a:endParaRPr>
          </a:p>
        </p:txBody>
      </p:sp>
      <p:sp>
        <p:nvSpPr>
          <p:cNvPr id="22" name="Text Box 46"/>
          <p:cNvSpPr txBox="1">
            <a:spLocks noChangeArrowheads="1"/>
          </p:cNvSpPr>
          <p:nvPr/>
        </p:nvSpPr>
        <p:spPr bwMode="auto">
          <a:xfrm>
            <a:off x="6398222" y="2716870"/>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endCxn id="22" idx="0"/>
          </p:cNvCxnSpPr>
          <p:nvPr/>
        </p:nvCxnSpPr>
        <p:spPr bwMode="auto">
          <a:xfrm rot="10800000" flipV="1">
            <a:off x="6812367" y="1950968"/>
            <a:ext cx="1123669" cy="765902"/>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9" name="Imagen 8"/>
          <p:cNvPicPr>
            <a:picLocks noChangeAspect="1"/>
          </p:cNvPicPr>
          <p:nvPr/>
        </p:nvPicPr>
        <p:blipFill>
          <a:blip r:embed="rId5"/>
          <a:stretch>
            <a:fillRect/>
          </a:stretch>
        </p:blipFill>
        <p:spPr>
          <a:xfrm>
            <a:off x="5306522" y="3365216"/>
            <a:ext cx="3823418" cy="3174262"/>
          </a:xfrm>
          <a:prstGeom prst="rect">
            <a:avLst/>
          </a:prstGeom>
          <a:effectLst>
            <a:outerShdw blurRad="50800" dist="38100" dir="10800000" algn="r" rotWithShape="0">
              <a:prstClr val="black">
                <a:alpha val="40000"/>
              </a:prstClr>
            </a:outerShdw>
          </a:effectLst>
        </p:spPr>
      </p:pic>
      <p:cxnSp>
        <p:nvCxnSpPr>
          <p:cNvPr id="19" name="AutoShape 50"/>
          <p:cNvCxnSpPr>
            <a:cxnSpLocks noChangeShapeType="1"/>
          </p:cNvCxnSpPr>
          <p:nvPr/>
        </p:nvCxnSpPr>
        <p:spPr bwMode="auto">
          <a:xfrm flipV="1">
            <a:off x="3823481" y="4989922"/>
            <a:ext cx="1405091" cy="1033602"/>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21" name="Text Box 46"/>
          <p:cNvSpPr txBox="1">
            <a:spLocks noChangeArrowheads="1"/>
          </p:cNvSpPr>
          <p:nvPr/>
        </p:nvSpPr>
        <p:spPr bwMode="auto">
          <a:xfrm>
            <a:off x="5348314" y="4618371"/>
            <a:ext cx="1471170" cy="743101"/>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395061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50826" y="1140346"/>
            <a:ext cx="864234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ES" altLang="es-AR" dirty="0">
                <a:latin typeface="Cambria" panose="02040503050406030204" pitchFamily="18" charset="0"/>
                <a:ea typeface="Cambria" panose="02040503050406030204" pitchFamily="18" charset="0"/>
              </a:rPr>
              <a:t>“Cuando establecemos una clasificación cruzada de dos variables, nuestro interés se centra (…) en el conocimiento de la forma en que se distribuye la variable dependiente para las diferentes categorías de la variable independiente o causal. La forma en que se relacionan dos variables se denomina </a:t>
            </a:r>
            <a:r>
              <a:rPr lang="es-ES" altLang="es-AR" b="1" dirty="0">
                <a:latin typeface="Cambria" panose="02040503050406030204" pitchFamily="18" charset="0"/>
                <a:ea typeface="Cambria" panose="02040503050406030204" pitchFamily="18" charset="0"/>
              </a:rPr>
              <a:t>asociación entre dos variables</a:t>
            </a:r>
            <a:r>
              <a:rPr lang="es-ES" altLang="es-AR" dirty="0">
                <a:latin typeface="Cambria" panose="02040503050406030204" pitchFamily="18" charset="0"/>
                <a:ea typeface="Cambria" panose="02040503050406030204" pitchFamily="18" charset="0"/>
              </a:rPr>
              <a:t>” (García Ferrando, p. 217)</a:t>
            </a:r>
            <a:endParaRPr lang="es-AR" altLang="es-AR" b="1" dirty="0">
              <a:latin typeface="Cambria" panose="02040503050406030204" pitchFamily="18" charset="0"/>
              <a:ea typeface="Cambria" panose="02040503050406030204" pitchFamily="18" charset="0"/>
            </a:endParaRPr>
          </a:p>
        </p:txBody>
      </p:sp>
      <p:sp>
        <p:nvSpPr>
          <p:cNvPr id="5" name="Rectangle 4"/>
          <p:cNvSpPr>
            <a:spLocks noChangeArrowheads="1"/>
          </p:cNvSpPr>
          <p:nvPr/>
        </p:nvSpPr>
        <p:spPr bwMode="auto">
          <a:xfrm>
            <a:off x="250825" y="2809165"/>
            <a:ext cx="86423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ES" altLang="es-AR" dirty="0">
                <a:latin typeface="Cambria" panose="02040503050406030204" pitchFamily="18" charset="0"/>
                <a:ea typeface="Cambria" panose="02040503050406030204" pitchFamily="18" charset="0"/>
              </a:rPr>
              <a:t>Se puede caracterizar la relación entre dos variables mediante el estudio de las siguientes características:</a:t>
            </a:r>
          </a:p>
          <a:p>
            <a:pPr marL="342900" indent="-342900" algn="just" eaLnBrk="1" hangingPunct="1">
              <a:buFont typeface="+mj-lt"/>
              <a:buAutoNum type="arabicPeriod"/>
            </a:pPr>
            <a:endParaRPr lang="es-ES" altLang="es-AR"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smtClean="0">
                <a:solidFill>
                  <a:srgbClr val="2A8A85"/>
                </a:solidFill>
                <a:latin typeface="Cambria" panose="02040503050406030204" pitchFamily="18" charset="0"/>
                <a:ea typeface="Cambria" panose="02040503050406030204" pitchFamily="18" charset="0"/>
              </a:rPr>
              <a:t>Existencia:</a:t>
            </a:r>
            <a:r>
              <a:rPr lang="es-ES" altLang="es-AR" b="1" i="1" dirty="0" smtClean="0">
                <a:latin typeface="Cambria" panose="02040503050406030204" pitchFamily="18" charset="0"/>
                <a:ea typeface="Cambria" panose="02040503050406030204" pitchFamily="18" charset="0"/>
              </a:rPr>
              <a:t> </a:t>
            </a:r>
            <a:r>
              <a:rPr lang="es-ES" altLang="es-AR" i="1" dirty="0" smtClean="0">
                <a:latin typeface="Cambria" panose="02040503050406030204" pitchFamily="18" charset="0"/>
                <a:ea typeface="Cambria" panose="02040503050406030204" pitchFamily="18" charset="0"/>
              </a:rPr>
              <a:t>¿hay asociación o hay </a:t>
            </a:r>
            <a:r>
              <a:rPr lang="es-ES" altLang="es-AR" b="1" i="1" dirty="0" smtClean="0">
                <a:solidFill>
                  <a:srgbClr val="2A8A85"/>
                </a:solidFill>
                <a:latin typeface="Cambria" panose="02040503050406030204" pitchFamily="18" charset="0"/>
                <a:ea typeface="Cambria" panose="02040503050406030204" pitchFamily="18" charset="0"/>
              </a:rPr>
              <a:t>independencia</a:t>
            </a:r>
            <a:r>
              <a:rPr lang="es-ES" altLang="es-AR" i="1" dirty="0" smtClean="0">
                <a:latin typeface="Cambria" panose="02040503050406030204" pitchFamily="18" charset="0"/>
                <a:ea typeface="Cambria" panose="02040503050406030204" pitchFamily="18" charset="0"/>
              </a:rPr>
              <a:t> estadística?</a:t>
            </a:r>
            <a:endParaRPr lang="es-ES" altLang="es-AR" i="1" dirty="0">
              <a:latin typeface="Cambria" panose="02040503050406030204" pitchFamily="18" charset="0"/>
              <a:ea typeface="Cambria" panose="02040503050406030204" pitchFamily="18" charset="0"/>
            </a:endParaRP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smtClean="0">
                <a:solidFill>
                  <a:srgbClr val="2A8A85"/>
                </a:solidFill>
                <a:latin typeface="Cambria" panose="02040503050406030204" pitchFamily="18" charset="0"/>
                <a:ea typeface="Cambria" panose="02040503050406030204" pitchFamily="18" charset="0"/>
              </a:rPr>
              <a:t>Fuerza:</a:t>
            </a:r>
            <a:r>
              <a:rPr lang="es-ES" altLang="es-AR" b="1" i="1" dirty="0" smtClean="0">
                <a:latin typeface="Cambria" panose="02040503050406030204" pitchFamily="18" charset="0"/>
                <a:ea typeface="Cambria" panose="02040503050406030204" pitchFamily="18" charset="0"/>
              </a:rPr>
              <a:t> </a:t>
            </a:r>
            <a:r>
              <a:rPr lang="es-ES" altLang="es-AR" i="1" dirty="0" smtClean="0">
                <a:latin typeface="Cambria" panose="02040503050406030204" pitchFamily="18" charset="0"/>
                <a:ea typeface="Cambria" panose="02040503050406030204" pitchFamily="18" charset="0"/>
              </a:rPr>
              <a:t>¿la asociación es fuerte o es débil?</a:t>
            </a:r>
            <a:endParaRPr lang="es-ES" altLang="es-AR" i="1" dirty="0">
              <a:latin typeface="Cambria" panose="02040503050406030204" pitchFamily="18" charset="0"/>
              <a:ea typeface="Cambria" panose="02040503050406030204" pitchFamily="18" charset="0"/>
            </a:endParaRP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smtClean="0">
                <a:solidFill>
                  <a:srgbClr val="2A8A85"/>
                </a:solidFill>
                <a:latin typeface="Cambria" panose="02040503050406030204" pitchFamily="18" charset="0"/>
                <a:ea typeface="Cambria" panose="02040503050406030204" pitchFamily="18" charset="0"/>
              </a:rPr>
              <a:t>Dirección:</a:t>
            </a:r>
            <a:r>
              <a:rPr lang="es-ES" altLang="es-AR" b="1" dirty="0" smtClean="0">
                <a:latin typeface="Cambria" panose="02040503050406030204" pitchFamily="18" charset="0"/>
                <a:ea typeface="Cambria" panose="02040503050406030204" pitchFamily="18" charset="0"/>
              </a:rPr>
              <a:t> </a:t>
            </a:r>
            <a:r>
              <a:rPr lang="es-ES" altLang="es-AR" i="1" dirty="0" smtClean="0">
                <a:latin typeface="Cambria" panose="02040503050406030204" pitchFamily="18" charset="0"/>
                <a:ea typeface="Cambria" panose="02040503050406030204" pitchFamily="18" charset="0"/>
              </a:rPr>
              <a:t>¿la asociación es positiva o negativa?</a:t>
            </a:r>
            <a:endParaRPr lang="es-ES" altLang="es-AR" i="1" dirty="0">
              <a:latin typeface="Cambria" panose="02040503050406030204" pitchFamily="18" charset="0"/>
              <a:ea typeface="Cambria" panose="02040503050406030204" pitchFamily="18" charset="0"/>
            </a:endParaRP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smtClean="0">
                <a:solidFill>
                  <a:srgbClr val="2A8A85"/>
                </a:solidFill>
                <a:latin typeface="Cambria" panose="02040503050406030204" pitchFamily="18" charset="0"/>
                <a:ea typeface="Cambria" panose="02040503050406030204" pitchFamily="18" charset="0"/>
              </a:rPr>
              <a:t>Naturaleza:</a:t>
            </a:r>
            <a:r>
              <a:rPr lang="es-ES" altLang="es-AR" b="1" dirty="0" smtClean="0">
                <a:latin typeface="Cambria" panose="02040503050406030204" pitchFamily="18" charset="0"/>
                <a:ea typeface="Cambria" panose="02040503050406030204" pitchFamily="18" charset="0"/>
              </a:rPr>
              <a:t> </a:t>
            </a:r>
            <a:r>
              <a:rPr lang="es-ES" altLang="es-AR" i="1" dirty="0" smtClean="0">
                <a:latin typeface="Cambria" panose="02040503050406030204" pitchFamily="18" charset="0"/>
                <a:ea typeface="Cambria" panose="02040503050406030204" pitchFamily="18" charset="0"/>
              </a:rPr>
              <a:t>¿la asociación es lineal, </a:t>
            </a:r>
            <a:r>
              <a:rPr lang="es-ES" altLang="es-AR" i="1" dirty="0" err="1" smtClean="0">
                <a:latin typeface="Cambria" panose="02040503050406030204" pitchFamily="18" charset="0"/>
                <a:ea typeface="Cambria" panose="02040503050406030204" pitchFamily="18" charset="0"/>
              </a:rPr>
              <a:t>curvilineal</a:t>
            </a:r>
            <a:r>
              <a:rPr lang="es-ES" altLang="es-AR" i="1" dirty="0" smtClean="0">
                <a:latin typeface="Cambria" panose="02040503050406030204" pitchFamily="18" charset="0"/>
                <a:ea typeface="Cambria" panose="02040503050406030204" pitchFamily="18" charset="0"/>
              </a:rPr>
              <a:t> o </a:t>
            </a:r>
            <a:r>
              <a:rPr lang="es-ES" altLang="es-AR" i="1" dirty="0" err="1" smtClean="0">
                <a:latin typeface="Cambria" panose="02040503050406030204" pitchFamily="18" charset="0"/>
                <a:ea typeface="Cambria" panose="02040503050406030204" pitchFamily="18" charset="0"/>
              </a:rPr>
              <a:t>rinconal</a:t>
            </a:r>
            <a:r>
              <a:rPr lang="es-ES" altLang="es-AR" i="1" dirty="0" smtClean="0">
                <a:latin typeface="Cambria" panose="02040503050406030204" pitchFamily="18" charset="0"/>
                <a:ea typeface="Cambria" panose="02040503050406030204" pitchFamily="18" charset="0"/>
              </a:rPr>
              <a:t>?</a:t>
            </a:r>
            <a:endParaRPr lang="es-AR" altLang="es-AR" i="1" dirty="0">
              <a:latin typeface="Cambria" panose="02040503050406030204" pitchFamily="18" charset="0"/>
              <a:ea typeface="Cambria" panose="02040503050406030204" pitchFamily="18" charset="0"/>
            </a:endParaRP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Asociación entre variables: concepto</a:t>
            </a:r>
            <a:endParaRPr lang="es-AR" sz="2400" dirty="0">
              <a:latin typeface="Cambria" panose="02040503050406030204" pitchFamily="18" charset="0"/>
            </a:endParaRPr>
          </a:p>
        </p:txBody>
      </p:sp>
    </p:spTree>
    <p:extLst>
      <p:ext uri="{BB962C8B-B14F-4D97-AF65-F5344CB8AC3E}">
        <p14:creationId xmlns:p14="http://schemas.microsoft.com/office/powerpoint/2010/main" val="19757678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50825" y="1052736"/>
            <a:ext cx="86423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Hablamos de </a:t>
            </a:r>
            <a:r>
              <a:rPr lang="es-AR" altLang="es-AR" b="1" i="1" dirty="0">
                <a:solidFill>
                  <a:srgbClr val="2A8A85"/>
                </a:solidFill>
                <a:latin typeface="Cambria" panose="02040503050406030204" pitchFamily="18" charset="0"/>
                <a:ea typeface="Cambria" panose="02040503050406030204" pitchFamily="18" charset="0"/>
              </a:rPr>
              <a:t>existencia</a:t>
            </a:r>
            <a:r>
              <a:rPr lang="es-AR" altLang="es-AR" dirty="0">
                <a:latin typeface="Cambria" panose="02040503050406030204" pitchFamily="18" charset="0"/>
                <a:ea typeface="Cambria" panose="02040503050406030204" pitchFamily="18" charset="0"/>
              </a:rPr>
              <a:t> de asociación cuando la distribución de una variable difiere de algún modo entre las diversas categorías de la segunda variable. </a:t>
            </a:r>
            <a:r>
              <a:rPr lang="es-AR" altLang="es-AR" dirty="0" smtClean="0">
                <a:latin typeface="Cambria" panose="02040503050406030204" pitchFamily="18" charset="0"/>
                <a:ea typeface="Cambria" panose="02040503050406030204" pitchFamily="18" charset="0"/>
              </a:rPr>
              <a:t>Su </a:t>
            </a:r>
            <a:r>
              <a:rPr lang="es-AR" altLang="es-AR" dirty="0">
                <a:latin typeface="Cambria" panose="02040503050406030204" pitchFamily="18" charset="0"/>
                <a:ea typeface="Cambria" panose="02040503050406030204" pitchFamily="18" charset="0"/>
              </a:rPr>
              <a:t>determinación requiere de la estimación de los porcentajes en la forma </a:t>
            </a:r>
            <a:r>
              <a:rPr lang="es-AR" altLang="es-AR" dirty="0" smtClean="0">
                <a:latin typeface="Cambria" panose="02040503050406030204" pitchFamily="18" charset="0"/>
                <a:ea typeface="Cambria" panose="02040503050406030204" pitchFamily="18" charset="0"/>
              </a:rPr>
              <a:t>apropiada (por columna).</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La asociación se </a:t>
            </a:r>
            <a:r>
              <a:rPr lang="es-AR" altLang="es-AR" dirty="0">
                <a:latin typeface="Cambria" panose="02040503050406030204" pitchFamily="18" charset="0"/>
                <a:ea typeface="Cambria" panose="02040503050406030204" pitchFamily="18" charset="0"/>
              </a:rPr>
              <a:t>manifiesta en que las distribuciones porcentuales condicionales difieren en mayor o menor grado entre sí</a:t>
            </a:r>
            <a:r>
              <a:rPr lang="es-AR" altLang="es-AR" dirty="0" smtClean="0">
                <a:latin typeface="Cambria" panose="02040503050406030204" pitchFamily="18" charset="0"/>
                <a:ea typeface="Cambria" panose="02040503050406030204" pitchFamily="18" charset="0"/>
              </a:rPr>
              <a:t>. Si no ocurre, hay </a:t>
            </a:r>
            <a:r>
              <a:rPr lang="es-AR" altLang="es-AR" b="1" i="1" dirty="0" smtClean="0">
                <a:solidFill>
                  <a:srgbClr val="2A8A85"/>
                </a:solidFill>
                <a:latin typeface="Cambria" panose="02040503050406030204" pitchFamily="18" charset="0"/>
                <a:ea typeface="Cambria" panose="02040503050406030204" pitchFamily="18" charset="0"/>
              </a:rPr>
              <a:t>independencia estadística.</a:t>
            </a:r>
            <a:endParaRPr lang="es-AR" altLang="es-AR" dirty="0">
              <a:solidFill>
                <a:srgbClr val="2A8A85"/>
              </a:solidFill>
              <a:latin typeface="Cambria" panose="02040503050406030204" pitchFamily="18" charset="0"/>
              <a:ea typeface="Cambria" panose="02040503050406030204" pitchFamily="18" charset="0"/>
            </a:endParaRPr>
          </a:p>
        </p:txBody>
      </p:sp>
      <p:graphicFrame>
        <p:nvGraphicFramePr>
          <p:cNvPr id="8" name="Group 46"/>
          <p:cNvGraphicFramePr>
            <a:graphicFrameLocks noGrp="1"/>
          </p:cNvGraphicFramePr>
          <p:nvPr>
            <p:extLst>
              <p:ext uri="{D42A27DB-BD31-4B8C-83A1-F6EECF244321}">
                <p14:modId xmlns:p14="http://schemas.microsoft.com/office/powerpoint/2010/main" val="3042005688"/>
              </p:ext>
            </p:extLst>
          </p:nvPr>
        </p:nvGraphicFramePr>
        <p:xfrm>
          <a:off x="252213" y="3737251"/>
          <a:ext cx="4074259" cy="2946523"/>
        </p:xfrm>
        <a:graphic>
          <a:graphicData uri="http://schemas.openxmlformats.org/drawingml/2006/table">
            <a:tbl>
              <a:tblPr/>
              <a:tblGrid>
                <a:gridCol w="1684057">
                  <a:extLst>
                    <a:ext uri="{9D8B030D-6E8A-4147-A177-3AD203B41FA5}">
                      <a16:colId xmlns:a16="http://schemas.microsoft.com/office/drawing/2014/main" val="20000"/>
                    </a:ext>
                  </a:extLst>
                </a:gridCol>
                <a:gridCol w="908230">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545868">
                  <a:extLst>
                    <a:ext uri="{9D8B030D-6E8A-4147-A177-3AD203B41FA5}">
                      <a16:colId xmlns:a16="http://schemas.microsoft.com/office/drawing/2014/main" val="20004"/>
                    </a:ext>
                  </a:extLst>
                </a:gridCol>
              </a:tblGrid>
              <a:tr h="688153">
                <a:tc gridSpan="4">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de edad.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año 2016. En porcentajes.</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4307">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Jóvenes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Adultos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79,6</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67,0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20,4</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33,0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4">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8"/>
                  </a:ext>
                </a:extLst>
              </a:tr>
            </a:tbl>
          </a:graphicData>
        </a:graphic>
      </p:graphicFrame>
      <p:graphicFrame>
        <p:nvGraphicFramePr>
          <p:cNvPr id="9" name="Group 46"/>
          <p:cNvGraphicFramePr>
            <a:graphicFrameLocks noGrp="1"/>
          </p:cNvGraphicFramePr>
          <p:nvPr>
            <p:extLst>
              <p:ext uri="{D42A27DB-BD31-4B8C-83A1-F6EECF244321}">
                <p14:modId xmlns:p14="http://schemas.microsoft.com/office/powerpoint/2010/main" val="1073290909"/>
              </p:ext>
            </p:extLst>
          </p:nvPr>
        </p:nvGraphicFramePr>
        <p:xfrm>
          <a:off x="4716709" y="3717032"/>
          <a:ext cx="4176465" cy="2946523"/>
        </p:xfrm>
        <a:graphic>
          <a:graphicData uri="http://schemas.openxmlformats.org/drawingml/2006/table">
            <a:tbl>
              <a:tblPr/>
              <a:tblGrid>
                <a:gridCol w="1684058">
                  <a:extLst>
                    <a:ext uri="{9D8B030D-6E8A-4147-A177-3AD203B41FA5}">
                      <a16:colId xmlns:a16="http://schemas.microsoft.com/office/drawing/2014/main" val="20000"/>
                    </a:ext>
                  </a:extLst>
                </a:gridCol>
                <a:gridCol w="908229">
                  <a:extLst>
                    <a:ext uri="{9D8B030D-6E8A-4147-A177-3AD203B41FA5}">
                      <a16:colId xmlns:a16="http://schemas.microsoft.com/office/drawing/2014/main" val="20002"/>
                    </a:ext>
                  </a:extLst>
                </a:gridCol>
                <a:gridCol w="102206">
                  <a:extLst>
                    <a:ext uri="{9D8B030D-6E8A-4147-A177-3AD203B41FA5}">
                      <a16:colId xmlns:a16="http://schemas.microsoft.com/office/drawing/2014/main" val="20003"/>
                    </a:ext>
                  </a:extLst>
                </a:gridCol>
                <a:gridCol w="740986">
                  <a:extLst>
                    <a:ext uri="{9D8B030D-6E8A-4147-A177-3AD203B41FA5}">
                      <a16:colId xmlns:a16="http://schemas.microsoft.com/office/drawing/2014/main" val="20005"/>
                    </a:ext>
                  </a:extLst>
                </a:gridCol>
                <a:gridCol w="740986">
                  <a:extLst>
                    <a:ext uri="{9D8B030D-6E8A-4147-A177-3AD203B41FA5}">
                      <a16:colId xmlns:a16="http://schemas.microsoft.com/office/drawing/2014/main" val="20004"/>
                    </a:ext>
                  </a:extLst>
                </a:gridCol>
              </a:tblGrid>
              <a:tr h="688153">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a:t>
                      </a:r>
                      <a:r>
                        <a:rPr kumimoji="0" lang="es-ES" sz="1400" b="1" i="0" u="none" strike="noStrike" cap="none" normalizeH="0" baseline="0">
                          <a:ln>
                            <a:noFill/>
                          </a:ln>
                          <a:solidFill>
                            <a:srgbClr val="000000"/>
                          </a:solidFill>
                          <a:effectLst/>
                          <a:latin typeface="Calibri" pitchFamily="34" charset="0"/>
                          <a:ea typeface="Times New Roman" pitchFamily="18" charset="0"/>
                          <a:cs typeface="Calibri" pitchFamily="34" charset="0"/>
                        </a:rPr>
                        <a:t>de edad.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de 18 años y más residente en el área Gran Buenos Aires, </a:t>
                      </a:r>
                      <a:r>
                        <a:rPr kumimoji="0" lang="es-ES" sz="1400" b="0" i="0" u="none" strike="noStrike" cap="none" normalizeH="0" baseline="0">
                          <a:ln>
                            <a:noFill/>
                          </a:ln>
                          <a:solidFill>
                            <a:srgbClr val="000000"/>
                          </a:solidFill>
                          <a:effectLst/>
                          <a:latin typeface="Calibri" pitchFamily="34" charset="0"/>
                          <a:ea typeface="Times New Roman" pitchFamily="18" charset="0"/>
                          <a:cs typeface="Calibri" pitchFamily="34" charset="0"/>
                        </a:rPr>
                        <a:t>año 2016. En porcentajes.</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s-AR"/>
                    </a:p>
                  </a:txBody>
                  <a:tcPr/>
                </a:tc>
                <a:tc>
                  <a:txBody>
                    <a:bodyPr/>
                    <a:lstStyle/>
                    <a:p>
                      <a:endParaRPr lang="es-A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tc hMerge="1">
                  <a:txBody>
                    <a:bodyPr/>
                    <a:lstStyle/>
                    <a:p>
                      <a:endParaRPr lang="es-AR"/>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4307">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Jóvenes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Adultos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algn="ctr" fontAlgn="t"/>
                      <a:r>
                        <a:rPr lang="es-AR" sz="1600" b="0" i="0" u="none" strike="noStrike" dirty="0">
                          <a:solidFill>
                            <a:srgbClr val="000000"/>
                          </a:solidFill>
                          <a:effectLst/>
                          <a:latin typeface="Calibri" panose="020F0502020204030204"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pPr algn="ctr" fontAlgn="t"/>
                      <a:endParaRPr lang="es-AR" sz="1600" b="0" i="0" u="none" strike="noStrike">
                        <a:solidFill>
                          <a:srgbClr val="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algn="ctr" fontAlgn="t"/>
                      <a:r>
                        <a:rPr lang="es-AR" sz="1600" b="0" i="0" u="none" strike="noStrike" dirty="0">
                          <a:solidFill>
                            <a:srgbClr val="000000"/>
                          </a:solidFill>
                          <a:effectLst/>
                          <a:latin typeface="Calibri" panose="020F0502020204030204"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algn="ctr" fontAlgn="t"/>
                      <a:endParaRPr lang="es-AR" sz="1600" b="0" i="0" u="none" strike="noStrike">
                        <a:solidFill>
                          <a:srgbClr val="000000"/>
                        </a:solidFill>
                        <a:effectLst/>
                        <a:latin typeface="Calibri" panose="020F0502020204030204" pitchFamily="34" charset="0"/>
                      </a:endParaRP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pPr algn="ctr" fontAlgn="t"/>
                      <a:endParaRPr lang="es-AR" sz="1600" b="0" i="0" u="none" strike="noStrike">
                        <a:solidFill>
                          <a:srgbClr val="000000"/>
                        </a:solidFill>
                        <a:effectLst/>
                        <a:latin typeface="Calibri" panose="020F0502020204030204" pitchFamily="34" charset="0"/>
                      </a:endParaRP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effectLst/>
                          <a:latin typeface="Calibri" panose="020F0502020204030204" pitchFamily="34" charset="0"/>
                        </a:rPr>
                        <a:t>100,0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5">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3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3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8"/>
                  </a:ext>
                </a:extLst>
              </a:tr>
            </a:tbl>
          </a:graphicData>
        </a:graphic>
      </p:graphicFrame>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2 Rectángulo"/>
          <p:cNvSpPr/>
          <p:nvPr/>
        </p:nvSpPr>
        <p:spPr>
          <a:xfrm>
            <a:off x="0" y="667917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1) existencia</a:t>
            </a:r>
            <a:endParaRPr lang="es-AR" sz="2400" dirty="0">
              <a:latin typeface="Cambria" panose="02040503050406030204" pitchFamily="18" charset="0"/>
            </a:endParaRPr>
          </a:p>
        </p:txBody>
      </p:sp>
      <p:sp>
        <p:nvSpPr>
          <p:cNvPr id="2" name="Rectángulo 1"/>
          <p:cNvSpPr/>
          <p:nvPr/>
        </p:nvSpPr>
        <p:spPr>
          <a:xfrm>
            <a:off x="1395796" y="3420368"/>
            <a:ext cx="1787092" cy="338554"/>
          </a:xfrm>
          <a:prstGeom prst="rect">
            <a:avLst/>
          </a:prstGeom>
          <a:solidFill>
            <a:schemeClr val="accent1">
              <a:lumMod val="20000"/>
              <a:lumOff val="80000"/>
            </a:schemeClr>
          </a:solidFill>
        </p:spPr>
        <p:txBody>
          <a:bodyPr wrap="none">
            <a:spAutoFit/>
          </a:bodyPr>
          <a:lstStyle/>
          <a:p>
            <a:pPr algn="just"/>
            <a:r>
              <a:rPr lang="es-ES" altLang="es-AR" sz="1600" b="1" dirty="0" smtClean="0">
                <a:latin typeface="Cambria" panose="02040503050406030204" pitchFamily="18" charset="0"/>
                <a:ea typeface="Cambria" panose="02040503050406030204" pitchFamily="18" charset="0"/>
              </a:rPr>
              <a:t>HAY ASOCIACIÓN</a:t>
            </a:r>
            <a:endParaRPr lang="es-ES" altLang="es-AR" sz="1600" b="1" dirty="0">
              <a:latin typeface="Cambria" panose="02040503050406030204" pitchFamily="18" charset="0"/>
              <a:ea typeface="Cambria" panose="02040503050406030204" pitchFamily="18" charset="0"/>
            </a:endParaRPr>
          </a:p>
        </p:txBody>
      </p:sp>
      <p:sp>
        <p:nvSpPr>
          <p:cNvPr id="15" name="Rectángulo 14"/>
          <p:cNvSpPr/>
          <p:nvPr/>
        </p:nvSpPr>
        <p:spPr>
          <a:xfrm>
            <a:off x="5940152" y="3405739"/>
            <a:ext cx="2114105" cy="338554"/>
          </a:xfrm>
          <a:prstGeom prst="rect">
            <a:avLst/>
          </a:prstGeom>
          <a:solidFill>
            <a:schemeClr val="accent1">
              <a:lumMod val="20000"/>
              <a:lumOff val="80000"/>
            </a:schemeClr>
          </a:solidFill>
        </p:spPr>
        <p:txBody>
          <a:bodyPr wrap="none">
            <a:spAutoFit/>
          </a:bodyPr>
          <a:lstStyle/>
          <a:p>
            <a:pPr algn="just"/>
            <a:r>
              <a:rPr lang="es-ES" altLang="es-AR" sz="1600" b="1" dirty="0" smtClean="0">
                <a:latin typeface="Cambria" panose="02040503050406030204" pitchFamily="18" charset="0"/>
                <a:ea typeface="Cambria" panose="02040503050406030204" pitchFamily="18" charset="0"/>
              </a:rPr>
              <a:t>NO HAY ASOCIACIÓN</a:t>
            </a:r>
            <a:endParaRPr lang="es-ES" altLang="es-AR" sz="1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617509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Un modo de evaluar la existencia de asociación en el caso de tablas de contingencia de 2x2 (es decir, con variables de dos categorías) es comparar </a:t>
            </a:r>
            <a:r>
              <a:rPr lang="es-AR" altLang="es-AR">
                <a:latin typeface="Cambria" panose="02040503050406030204" pitchFamily="18" charset="0"/>
                <a:ea typeface="Cambria" panose="02040503050406030204" pitchFamily="18" charset="0"/>
              </a:rPr>
              <a:t>los porcentajes.</a:t>
            </a:r>
            <a:endParaRPr lang="es-AR" altLang="es-AR" dirty="0">
              <a:latin typeface="Cambria" panose="02040503050406030204" pitchFamily="18" charset="0"/>
              <a:ea typeface="Cambria" panose="02040503050406030204" pitchFamily="18" charset="0"/>
            </a:endParaRPr>
          </a:p>
        </p:txBody>
      </p:sp>
      <p:sp>
        <p:nvSpPr>
          <p:cNvPr id="7" name="Rectangle 4">
            <a:extLst>
              <a:ext uri="{FF2B5EF4-FFF2-40B4-BE49-F238E27FC236}">
                <a16:creationId xmlns:a16="http://schemas.microsoft.com/office/drawing/2014/main" id="{8CA37703-E28F-4CBD-ACCB-8FA0ED32229C}"/>
              </a:ext>
            </a:extLst>
          </p:cNvPr>
          <p:cNvSpPr>
            <a:spLocks noChangeArrowheads="1"/>
          </p:cNvSpPr>
          <p:nvPr/>
        </p:nvSpPr>
        <p:spPr bwMode="auto">
          <a:xfrm>
            <a:off x="468312" y="2060848"/>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Así se llega al más sencillo de todos los </a:t>
            </a:r>
            <a:r>
              <a:rPr lang="es-AR" altLang="es-AR" b="1" i="1" dirty="0">
                <a:solidFill>
                  <a:srgbClr val="2A8A85"/>
                </a:solidFill>
                <a:latin typeface="Cambria" panose="02040503050406030204" pitchFamily="18" charset="0"/>
                <a:ea typeface="Cambria" panose="02040503050406030204" pitchFamily="18" charset="0"/>
              </a:rPr>
              <a:t>coeficientes de asociación</a:t>
            </a:r>
            <a:r>
              <a:rPr lang="es-AR" altLang="es-AR" dirty="0">
                <a:latin typeface="Cambria" panose="02040503050406030204" pitchFamily="18" charset="0"/>
                <a:ea typeface="Cambria" panose="02040503050406030204" pitchFamily="18" charset="0"/>
              </a:rPr>
              <a:t> que miden la existencia de relación entre dos variables.</a:t>
            </a:r>
          </a:p>
        </p:txBody>
      </p:sp>
      <p:sp>
        <p:nvSpPr>
          <p:cNvPr id="10" name="Rectangle 4">
            <a:extLst>
              <a:ext uri="{FF2B5EF4-FFF2-40B4-BE49-F238E27FC236}">
                <a16:creationId xmlns:a16="http://schemas.microsoft.com/office/drawing/2014/main" id="{8CA37703-E28F-4CBD-ACCB-8FA0ED32229C}"/>
              </a:ext>
            </a:extLst>
          </p:cNvPr>
          <p:cNvSpPr>
            <a:spLocks noChangeArrowheads="1"/>
          </p:cNvSpPr>
          <p:nvPr/>
        </p:nvSpPr>
        <p:spPr bwMode="auto">
          <a:xfrm>
            <a:off x="467544" y="28529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El </a:t>
            </a:r>
            <a:r>
              <a:rPr lang="es-AR" altLang="es-AR" b="1" i="1" dirty="0">
                <a:solidFill>
                  <a:srgbClr val="2A8A85"/>
                </a:solidFill>
                <a:latin typeface="Cambria" panose="02040503050406030204" pitchFamily="18" charset="0"/>
                <a:ea typeface="Cambria" panose="02040503050406030204" pitchFamily="18" charset="0"/>
              </a:rPr>
              <a:t>épsilon (</a:t>
            </a:r>
            <a:r>
              <a:rPr lang="el-GR" b="1" i="1" dirty="0">
                <a:solidFill>
                  <a:srgbClr val="2A8A85"/>
                </a:solidFill>
                <a:latin typeface="Cambria" panose="02040503050406030204" pitchFamily="18" charset="0"/>
                <a:ea typeface="Cambria" panose="02040503050406030204" pitchFamily="18" charset="0"/>
              </a:rPr>
              <a:t>ε</a:t>
            </a:r>
            <a:r>
              <a:rPr lang="es-AR" altLang="es-AR" b="1" i="1" dirty="0">
                <a:solidFill>
                  <a:srgbClr val="2A8A85"/>
                </a:solidFill>
                <a:latin typeface="Cambria" panose="02040503050406030204" pitchFamily="18" charset="0"/>
                <a:ea typeface="Cambria" panose="02040503050406030204" pitchFamily="18" charset="0"/>
              </a:rPr>
              <a:t>) </a:t>
            </a:r>
            <a:r>
              <a:rPr lang="es-AR" altLang="es-AR" dirty="0">
                <a:latin typeface="Cambria" panose="02040503050406030204" pitchFamily="18" charset="0"/>
                <a:ea typeface="Cambria" panose="02040503050406030204" pitchFamily="18" charset="0"/>
              </a:rPr>
              <a:t>son las diferencias porcentuales calculadas en la dirección en que se han realizado los porcentajes.</a:t>
            </a:r>
          </a:p>
        </p:txBody>
      </p:sp>
      <p:sp>
        <p:nvSpPr>
          <p:cNvPr id="11" name="Rectangle 4">
            <a:extLst>
              <a:ext uri="{FF2B5EF4-FFF2-40B4-BE49-F238E27FC236}">
                <a16:creationId xmlns:a16="http://schemas.microsoft.com/office/drawing/2014/main" id="{8CA37703-E28F-4CBD-ACCB-8FA0ED32229C}"/>
              </a:ext>
            </a:extLst>
          </p:cNvPr>
          <p:cNvSpPr>
            <a:spLocks noChangeArrowheads="1"/>
          </p:cNvSpPr>
          <p:nvPr/>
        </p:nvSpPr>
        <p:spPr bwMode="auto">
          <a:xfrm>
            <a:off x="469081" y="3646765"/>
            <a:ext cx="8207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En el ejemplo anterior, obtendríamos el épsilon del siguiente modo:</a:t>
            </a:r>
          </a:p>
        </p:txBody>
      </p:sp>
      <p:sp>
        <p:nvSpPr>
          <p:cNvPr id="12" name="Rectangle 4">
            <a:extLst>
              <a:ext uri="{FF2B5EF4-FFF2-40B4-BE49-F238E27FC236}">
                <a16:creationId xmlns:a16="http://schemas.microsoft.com/office/drawing/2014/main" id="{8CA37703-E28F-4CBD-ACCB-8FA0ED32229C}"/>
              </a:ext>
            </a:extLst>
          </p:cNvPr>
          <p:cNvSpPr>
            <a:spLocks noChangeArrowheads="1"/>
          </p:cNvSpPr>
          <p:nvPr/>
        </p:nvSpPr>
        <p:spPr bwMode="auto">
          <a:xfrm>
            <a:off x="2771800" y="4221088"/>
            <a:ext cx="52565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 de adultos que consumen diarios - % jóvenes</a:t>
            </a:r>
            <a:endParaRPr lang="es-AR" altLang="es-AR" dirty="0">
              <a:latin typeface="Cambria" panose="02040503050406030204" pitchFamily="18" charset="0"/>
              <a:ea typeface="Cambria" panose="02040503050406030204" pitchFamily="18" charset="0"/>
            </a:endParaRPr>
          </a:p>
        </p:txBody>
      </p:sp>
      <p:sp>
        <p:nvSpPr>
          <p:cNvPr id="13" name="Rectangle 4">
            <a:extLst>
              <a:ext uri="{FF2B5EF4-FFF2-40B4-BE49-F238E27FC236}">
                <a16:creationId xmlns:a16="http://schemas.microsoft.com/office/drawing/2014/main" id="{8CA37703-E28F-4CBD-ACCB-8FA0ED32229C}"/>
              </a:ext>
            </a:extLst>
          </p:cNvPr>
          <p:cNvSpPr>
            <a:spLocks noChangeArrowheads="1"/>
          </p:cNvSpPr>
          <p:nvPr/>
        </p:nvSpPr>
        <p:spPr bwMode="auto">
          <a:xfrm>
            <a:off x="3563888" y="4653136"/>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33 – 20,4 = 12,6 pp.  </a:t>
            </a:r>
            <a:endParaRPr lang="es-AR" altLang="es-AR" dirty="0">
              <a:latin typeface="Cambria" panose="02040503050406030204" pitchFamily="18" charset="0"/>
              <a:ea typeface="Cambria" panose="02040503050406030204" pitchFamily="18" charset="0"/>
            </a:endParaRPr>
          </a:p>
        </p:txBody>
      </p:sp>
      <p:sp>
        <p:nvSpPr>
          <p:cNvPr id="14" name="Rectangle 4">
            <a:extLst>
              <a:ext uri="{FF2B5EF4-FFF2-40B4-BE49-F238E27FC236}">
                <a16:creationId xmlns:a16="http://schemas.microsoft.com/office/drawing/2014/main" id="{8CA37703-E28F-4CBD-ACCB-8FA0ED32229C}"/>
              </a:ext>
            </a:extLst>
          </p:cNvPr>
          <p:cNvSpPr>
            <a:spLocks noChangeArrowheads="1"/>
          </p:cNvSpPr>
          <p:nvPr/>
        </p:nvSpPr>
        <p:spPr bwMode="auto">
          <a:xfrm>
            <a:off x="468313" y="5229200"/>
            <a:ext cx="431971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Notar que la medida es simétrica: no importa cómo lo calculemos, nos interesa el valor absoluto.</a:t>
            </a:r>
          </a:p>
        </p:txBody>
      </p:sp>
      <p:sp>
        <p:nvSpPr>
          <p:cNvPr id="1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6"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7"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18"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1) existencia</a:t>
            </a:r>
            <a:endParaRPr lang="es-AR" sz="2400" dirty="0">
              <a:latin typeface="Cambria" panose="02040503050406030204" pitchFamily="18" charset="0"/>
            </a:endParaRPr>
          </a:p>
        </p:txBody>
      </p:sp>
      <p:sp>
        <p:nvSpPr>
          <p:cNvPr id="20" name="AutoShape 138">
            <a:extLst>
              <a:ext uri="{FF2B5EF4-FFF2-40B4-BE49-F238E27FC236}">
                <a16:creationId xmlns:a16="http://schemas.microsoft.com/office/drawing/2014/main" id="{4B664DEA-FF66-46A1-B26C-2FDFDF42989B}"/>
              </a:ext>
            </a:extLst>
          </p:cNvPr>
          <p:cNvSpPr>
            <a:spLocks noChangeArrowheads="1"/>
          </p:cNvSpPr>
          <p:nvPr/>
        </p:nvSpPr>
        <p:spPr bwMode="auto">
          <a:xfrm>
            <a:off x="5848058" y="4893839"/>
            <a:ext cx="3024187" cy="1585913"/>
          </a:xfrm>
          <a:prstGeom prst="wedgeEllipseCallout">
            <a:avLst>
              <a:gd name="adj1" fmla="val -42215"/>
              <a:gd name="adj2" fmla="val -51835"/>
            </a:avLst>
          </a:prstGeom>
          <a:solidFill>
            <a:srgbClr val="FFCC00"/>
          </a:solidFill>
          <a:ln w="9525" algn="ctr">
            <a:solidFill>
              <a:schemeClr val="tx1"/>
            </a:solidFill>
            <a:miter lim="800000"/>
            <a:headEnd/>
            <a:tailEnd/>
          </a:ln>
        </p:spPr>
        <p:txBody>
          <a:bodyPr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s-ES" altLang="es-AR" sz="1500" dirty="0">
                <a:latin typeface="Cambria" panose="02040503050406030204" pitchFamily="18" charset="0"/>
                <a:ea typeface="Cambria" panose="02040503050406030204" pitchFamily="18" charset="0"/>
                <a:cs typeface="Calibri" panose="020F0502020204030204" pitchFamily="34" charset="0"/>
              </a:rPr>
              <a:t>El </a:t>
            </a:r>
            <a:r>
              <a:rPr lang="es-ES" altLang="es-AR" sz="1500" b="1" dirty="0">
                <a:latin typeface="Cambria" panose="02040503050406030204" pitchFamily="18" charset="0"/>
                <a:ea typeface="Cambria" panose="02040503050406030204" pitchFamily="18" charset="0"/>
                <a:cs typeface="Calibri" panose="020F0502020204030204" pitchFamily="34" charset="0"/>
              </a:rPr>
              <a:t>Épsilon </a:t>
            </a:r>
            <a:r>
              <a:rPr lang="es-ES" altLang="es-AR" sz="1500" dirty="0">
                <a:latin typeface="Cambria" panose="02040503050406030204" pitchFamily="18" charset="0"/>
                <a:ea typeface="Cambria" panose="02040503050406030204" pitchFamily="18" charset="0"/>
                <a:cs typeface="Calibri" panose="020F0502020204030204" pitchFamily="34" charset="0"/>
              </a:rPr>
              <a:t>se calcula restando los porcentajes en el sentido contrario en el que fueron calculados</a:t>
            </a:r>
          </a:p>
        </p:txBody>
      </p:sp>
    </p:spTree>
    <p:extLst>
      <p:ext uri="{BB962C8B-B14F-4D97-AF65-F5344CB8AC3E}">
        <p14:creationId xmlns:p14="http://schemas.microsoft.com/office/powerpoint/2010/main" val="24642337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4"/>
              <p:cNvSpPr>
                <a:spLocks noChangeArrowheads="1"/>
              </p:cNvSpPr>
              <p:nvPr/>
            </p:nvSpPr>
            <p:spPr bwMode="auto">
              <a:xfrm>
                <a:off x="250825" y="1052736"/>
                <a:ext cx="8642350" cy="3145541"/>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La lectura de los porcentajes es una forma intuitiva de evaluar la existencia de asociación. Sin embargo, no nos informa si es </a:t>
                </a:r>
                <a:r>
                  <a:rPr lang="es-AR" altLang="es-AR" i="1" dirty="0" smtClean="0">
                    <a:latin typeface="Cambria" panose="02040503050406030204" pitchFamily="18" charset="0"/>
                    <a:ea typeface="Cambria" panose="02040503050406030204" pitchFamily="18" charset="0"/>
                  </a:rPr>
                  <a:t>significativa</a:t>
                </a:r>
                <a:r>
                  <a:rPr lang="es-AR" altLang="es-AR" dirty="0" smtClean="0">
                    <a:latin typeface="Cambria" panose="02040503050406030204" pitchFamily="18" charset="0"/>
                    <a:ea typeface="Cambria" panose="02040503050406030204" pitchFamily="18" charset="0"/>
                  </a:rPr>
                  <a:t> desde el punto de vista estadístico.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Al trabajar con datos de una muestra, nos interesa saber si la asociación observada existe en la población estudiada o se debe al azar (es decir, al hecho de haber tomado una muestra y no otra).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Por lo tanto, en la práctica de la investigación debemos acompañar la lectura de porcentajes con una </a:t>
                </a:r>
                <a:r>
                  <a:rPr lang="es-AR" altLang="es-AR" b="1" i="1" dirty="0" smtClean="0">
                    <a:solidFill>
                      <a:srgbClr val="2A8A85"/>
                    </a:solidFill>
                    <a:latin typeface="Cambria" panose="02040503050406030204" pitchFamily="18" charset="0"/>
                    <a:ea typeface="Cambria" panose="02040503050406030204" pitchFamily="18" charset="0"/>
                  </a:rPr>
                  <a:t>prueba de hipótesis </a:t>
                </a:r>
                <a:r>
                  <a:rPr lang="es-AR" altLang="es-AR" dirty="0" smtClean="0">
                    <a:latin typeface="Cambria" panose="02040503050406030204" pitchFamily="18" charset="0"/>
                    <a:ea typeface="Cambria" panose="02040503050406030204" pitchFamily="18" charset="0"/>
                  </a:rPr>
                  <a:t>de independencia estadística mediante el test de </a:t>
                </a:r>
                <a:r>
                  <a:rPr lang="es-AR" altLang="es-AR" b="1" i="1" dirty="0" err="1" smtClean="0">
                    <a:solidFill>
                      <a:srgbClr val="2A8A85"/>
                    </a:solidFill>
                    <a:latin typeface="Cambria" panose="02040503050406030204" pitchFamily="18" charset="0"/>
                    <a:ea typeface="Cambria" panose="02040503050406030204" pitchFamily="18" charset="0"/>
                  </a:rPr>
                  <a:t>chi</a:t>
                </a:r>
                <a:r>
                  <a:rPr lang="es-AR" altLang="es-AR" b="1" i="1" dirty="0" smtClean="0">
                    <a:solidFill>
                      <a:srgbClr val="2A8A85"/>
                    </a:solidFill>
                    <a:latin typeface="Cambria" panose="02040503050406030204" pitchFamily="18" charset="0"/>
                    <a:ea typeface="Cambria" panose="02040503050406030204" pitchFamily="18" charset="0"/>
                  </a:rPr>
                  <a:t>-cuadrado </a:t>
                </a:r>
                <a:r>
                  <a:rPr lang="es-AR" altLang="es-AR" b="1" i="1" dirty="0">
                    <a:solidFill>
                      <a:srgbClr val="2A8A85"/>
                    </a:solidFill>
                    <a:latin typeface="Cambria" panose="02040503050406030204" pitchFamily="18" charset="0"/>
                    <a:ea typeface="Cambria" panose="02040503050406030204" pitchFamily="18" charset="0"/>
                  </a:rPr>
                  <a:t>(</a:t>
                </a:r>
                <a14:m>
                  <m:oMath xmlns:m="http://schemas.openxmlformats.org/officeDocument/2006/math">
                    <m:sSup>
                      <m:sSupPr>
                        <m:ctrlPr>
                          <a:rPr lang="es-AR" altLang="es-AR" b="1" i="1">
                            <a:solidFill>
                              <a:srgbClr val="2A8A85"/>
                            </a:solidFill>
                            <a:latin typeface="Cambria Math" panose="02040503050406030204" pitchFamily="18" charset="0"/>
                            <a:ea typeface="Cambria" panose="02040503050406030204" pitchFamily="18" charset="0"/>
                          </a:rPr>
                        </m:ctrlPr>
                      </m:sSupPr>
                      <m:e>
                        <m:r>
                          <a:rPr lang="es-AR" altLang="es-AR" b="1" i="1">
                            <a:solidFill>
                              <a:srgbClr val="2A8A85"/>
                            </a:solidFill>
                            <a:latin typeface="Cambria Math" panose="02040503050406030204" pitchFamily="18" charset="0"/>
                            <a:ea typeface="Cambria Math" panose="02040503050406030204" pitchFamily="18" charset="0"/>
                          </a:rPr>
                          <m:t>𝝌</m:t>
                        </m:r>
                      </m:e>
                      <m:sup>
                        <m:r>
                          <a:rPr lang="es-AR" altLang="es-AR" b="1" i="1">
                            <a:solidFill>
                              <a:srgbClr val="2A8A85"/>
                            </a:solidFill>
                            <a:latin typeface="Cambria Math" panose="02040503050406030204" pitchFamily="18" charset="0"/>
                            <a:ea typeface="Cambria" panose="02040503050406030204" pitchFamily="18" charset="0"/>
                          </a:rPr>
                          <m:t>𝟐</m:t>
                        </m:r>
                      </m:sup>
                    </m:sSup>
                  </m:oMath>
                </a14:m>
                <a:r>
                  <a:rPr lang="es-AR" altLang="es-AR" b="1" i="1" dirty="0">
                    <a:solidFill>
                      <a:srgbClr val="2A8A85"/>
                    </a:solidFill>
                    <a:latin typeface="Cambria" panose="02040503050406030204" pitchFamily="18" charset="0"/>
                    <a:ea typeface="Cambria" panose="02040503050406030204" pitchFamily="18" charset="0"/>
                  </a:rPr>
                  <a:t>)</a:t>
                </a:r>
                <a:r>
                  <a:rPr lang="es-AR" altLang="es-AR" dirty="0" smtClean="0">
                    <a:latin typeface="Cambria" panose="02040503050406030204" pitchFamily="18" charset="0"/>
                    <a:ea typeface="Cambria" panose="02040503050406030204" pitchFamily="18" charset="0"/>
                  </a:rPr>
                  <a:t>. </a:t>
                </a:r>
              </a:p>
            </p:txBody>
          </p:sp>
        </mc:Choice>
        <mc:Fallback xmlns="">
          <p:sp>
            <p:nvSpPr>
              <p:cNvPr id="4" name="Rectangle 4"/>
              <p:cNvSpPr>
                <a:spLocks noRot="1" noChangeAspect="1" noMove="1" noResize="1" noEditPoints="1" noAdjustHandles="1" noChangeArrowheads="1" noChangeShapeType="1" noTextEdit="1"/>
              </p:cNvSpPr>
              <p:nvPr/>
            </p:nvSpPr>
            <p:spPr bwMode="auto">
              <a:xfrm>
                <a:off x="250825" y="1052736"/>
                <a:ext cx="8642350" cy="3145541"/>
              </a:xfrm>
              <a:prstGeom prst="rect">
                <a:avLst/>
              </a:prstGeom>
              <a:blipFill>
                <a:blip r:embed="rId3"/>
                <a:stretch>
                  <a:fillRect l="-423" t="-1357" r="-635" b="-21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2 Rectángulo"/>
          <p:cNvSpPr/>
          <p:nvPr/>
        </p:nvSpPr>
        <p:spPr>
          <a:xfrm>
            <a:off x="0" y="667917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1) existencia</a:t>
            </a:r>
            <a:endParaRPr lang="es-AR" sz="2400" dirty="0">
              <a:latin typeface="Cambria" panose="02040503050406030204" pitchFamily="18" charset="0"/>
            </a:endParaRPr>
          </a:p>
        </p:txBody>
      </p:sp>
    </p:spTree>
    <p:extLst>
      <p:ext uri="{BB962C8B-B14F-4D97-AF65-F5344CB8AC3E}">
        <p14:creationId xmlns:p14="http://schemas.microsoft.com/office/powerpoint/2010/main" val="12167886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4"/>
              <p:cNvSpPr>
                <a:spLocks noChangeArrowheads="1"/>
              </p:cNvSpPr>
              <p:nvPr/>
            </p:nvSpPr>
            <p:spPr bwMode="auto">
              <a:xfrm>
                <a:off x="250825" y="1052736"/>
                <a:ext cx="8642350" cy="5632311"/>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La prueba de </a:t>
                </a:r>
                <a14:m>
                  <m:oMath xmlns:m="http://schemas.openxmlformats.org/officeDocument/2006/math">
                    <m:sSup>
                      <m:sSupPr>
                        <m:ctrlPr>
                          <a:rPr lang="es-AR" altLang="es-AR" i="1" smtClean="0">
                            <a:solidFill>
                              <a:schemeClr val="tx1"/>
                            </a:solidFill>
                            <a:latin typeface="Cambria Math" panose="02040503050406030204" pitchFamily="18" charset="0"/>
                            <a:ea typeface="Cambria" panose="02040503050406030204" pitchFamily="18" charset="0"/>
                          </a:rPr>
                        </m:ctrlPr>
                      </m:sSupPr>
                      <m:e>
                        <m:r>
                          <a:rPr lang="es-AR" altLang="es-AR" b="0" i="1">
                            <a:solidFill>
                              <a:schemeClr val="tx1"/>
                            </a:solidFill>
                            <a:latin typeface="Cambria Math" panose="02040503050406030204" pitchFamily="18" charset="0"/>
                            <a:ea typeface="Cambria Math" panose="02040503050406030204" pitchFamily="18" charset="0"/>
                          </a:rPr>
                          <m:t>𝜒</m:t>
                        </m:r>
                      </m:e>
                      <m:sup>
                        <m:r>
                          <a:rPr lang="es-AR" altLang="es-AR" b="0" i="1">
                            <a:solidFill>
                              <a:schemeClr val="tx1"/>
                            </a:solidFill>
                            <a:latin typeface="Cambria Math" panose="02040503050406030204" pitchFamily="18" charset="0"/>
                            <a:ea typeface="Cambria" panose="02040503050406030204" pitchFamily="18" charset="0"/>
                          </a:rPr>
                          <m:t>2</m:t>
                        </m:r>
                      </m:sup>
                    </m:sSup>
                  </m:oMath>
                </a14:m>
                <a:r>
                  <a:rPr lang="es-AR" altLang="es-AR" dirty="0" smtClean="0">
                    <a:solidFill>
                      <a:schemeClr val="tx1"/>
                    </a:solidFill>
                    <a:latin typeface="Cambria" panose="02040503050406030204" pitchFamily="18" charset="0"/>
                    <a:ea typeface="Cambria" panose="02040503050406030204" pitchFamily="18" charset="0"/>
                  </a:rPr>
                  <a:t>compara la </a:t>
                </a:r>
                <a:r>
                  <a:rPr lang="es-AR" altLang="es-AR" b="1" i="1" dirty="0" smtClean="0">
                    <a:solidFill>
                      <a:srgbClr val="2A8A85"/>
                    </a:solidFill>
                    <a:latin typeface="Cambria" panose="02040503050406030204" pitchFamily="18" charset="0"/>
                    <a:ea typeface="Cambria" panose="02040503050406030204" pitchFamily="18" charset="0"/>
                  </a:rPr>
                  <a:t>distribución observada </a:t>
                </a:r>
                <a:r>
                  <a:rPr lang="es-AR" altLang="es-AR" dirty="0" smtClean="0">
                    <a:solidFill>
                      <a:schemeClr val="tx1"/>
                    </a:solidFill>
                    <a:latin typeface="Cambria" panose="02040503050406030204" pitchFamily="18" charset="0"/>
                    <a:ea typeface="Cambria" panose="02040503050406030204" pitchFamily="18" charset="0"/>
                  </a:rPr>
                  <a:t>de X e Y con la </a:t>
                </a:r>
                <a:r>
                  <a:rPr lang="es-AR" altLang="es-AR" b="1" i="1" dirty="0" smtClean="0">
                    <a:solidFill>
                      <a:srgbClr val="2A8A85"/>
                    </a:solidFill>
                    <a:latin typeface="Cambria" panose="02040503050406030204" pitchFamily="18" charset="0"/>
                    <a:ea typeface="Cambria" panose="02040503050406030204" pitchFamily="18" charset="0"/>
                  </a:rPr>
                  <a:t>distribución esperada</a:t>
                </a:r>
                <a:r>
                  <a:rPr lang="es-AR" altLang="es-AR" dirty="0" smtClean="0">
                    <a:solidFill>
                      <a:srgbClr val="2A8A85"/>
                    </a:solidFill>
                    <a:latin typeface="Cambria" panose="02040503050406030204" pitchFamily="18" charset="0"/>
                    <a:ea typeface="Cambria" panose="02040503050406030204" pitchFamily="18" charset="0"/>
                  </a:rPr>
                  <a:t> </a:t>
                </a:r>
                <a:r>
                  <a:rPr lang="es-AR" altLang="es-AR" dirty="0" smtClean="0">
                    <a:solidFill>
                      <a:schemeClr val="tx1"/>
                    </a:solidFill>
                    <a:latin typeface="Cambria" panose="02040503050406030204" pitchFamily="18" charset="0"/>
                    <a:ea typeface="Cambria" panose="02040503050406030204" pitchFamily="18" charset="0"/>
                  </a:rPr>
                  <a:t>en caso de que no hubiera asociación. Es fácil imaginarse cómo sería la tabla de contingencia en caso de qu</a:t>
                </a:r>
                <a:r>
                  <a:rPr lang="es-AR" altLang="es-AR" dirty="0" smtClean="0">
                    <a:latin typeface="Cambria" panose="02040503050406030204" pitchFamily="18" charset="0"/>
                    <a:ea typeface="Cambria" panose="02040503050406030204" pitchFamily="18" charset="0"/>
                  </a:rPr>
                  <a:t>e no hubiera asociación: la variable dependiente no cambiaría en las distintas columnas de la variable independiente. </a:t>
                </a:r>
              </a:p>
              <a:p>
                <a:pPr marL="285750" indent="-285750" algn="just" eaLnBrk="1" hangingPunct="1">
                  <a:buFont typeface="Arial" panose="020B0604020202020204" pitchFamily="34" charset="0"/>
                  <a:buChar char="•"/>
                </a:pPr>
                <a:endParaRPr lang="es-AR" altLang="es-AR" dirty="0" smtClean="0">
                  <a:solidFill>
                    <a:schemeClr val="tx1"/>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solidFill>
                    <a:schemeClr val="tx1"/>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solidFill>
                    <a:schemeClr val="tx1"/>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solidFill>
                    <a:schemeClr val="tx1"/>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solidFill>
                    <a:schemeClr val="tx1"/>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Por lo tanto, el test de </a:t>
                </a:r>
                <a14:m>
                  <m:oMath xmlns:m="http://schemas.openxmlformats.org/officeDocument/2006/math">
                    <m:sSup>
                      <m:sSupPr>
                        <m:ctrlPr>
                          <a:rPr lang="es-AR" altLang="es-AR" i="1">
                            <a:latin typeface="Cambria Math" panose="02040503050406030204" pitchFamily="18" charset="0"/>
                            <a:ea typeface="Cambria" panose="02040503050406030204" pitchFamily="18" charset="0"/>
                          </a:rPr>
                        </m:ctrlPr>
                      </m:sSupPr>
                      <m:e>
                        <m:r>
                          <a:rPr lang="es-AR" altLang="es-AR" i="1">
                            <a:latin typeface="Cambria Math" panose="02040503050406030204" pitchFamily="18" charset="0"/>
                            <a:ea typeface="Cambria Math" panose="02040503050406030204" pitchFamily="18" charset="0"/>
                          </a:rPr>
                          <m:t>𝜒</m:t>
                        </m:r>
                      </m:e>
                      <m:sup>
                        <m:r>
                          <a:rPr lang="es-AR" altLang="es-AR" i="1">
                            <a:latin typeface="Cambria Math" panose="02040503050406030204" pitchFamily="18" charset="0"/>
                            <a:ea typeface="Cambria" panose="02040503050406030204" pitchFamily="18" charset="0"/>
                          </a:rPr>
                          <m:t>2</m:t>
                        </m:r>
                      </m:sup>
                    </m:sSup>
                  </m:oMath>
                </a14:m>
                <a:r>
                  <a:rPr lang="es-AR" altLang="es-AR" dirty="0" smtClean="0">
                    <a:latin typeface="Cambria" panose="02040503050406030204" pitchFamily="18" charset="0"/>
                    <a:ea typeface="Cambria" panose="02040503050406030204" pitchFamily="18" charset="0"/>
                  </a:rPr>
                  <a:t> opera como un clásico testeo de hipótesis:</a:t>
                </a:r>
                <a:endParaRPr lang="es-AR" altLang="es-AR" dirty="0">
                  <a:latin typeface="Cambria" panose="02040503050406030204" pitchFamily="18" charset="0"/>
                  <a:ea typeface="Cambria" panose="02040503050406030204" pitchFamily="18" charset="0"/>
                </a:endParaRPr>
              </a:p>
              <a:p>
                <a:pPr marL="1028700" lvl="1" algn="just" eaLnBrk="1" hangingPunct="1">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endParaRPr>
              </a:p>
              <a:p>
                <a:pPr marL="1028700" lvl="1"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Nuestra </a:t>
                </a:r>
                <a:r>
                  <a:rPr lang="es-AR" altLang="es-AR" b="1" i="1" dirty="0" smtClean="0">
                    <a:solidFill>
                      <a:srgbClr val="2A8A85"/>
                    </a:solidFill>
                    <a:latin typeface="Cambria" panose="02040503050406030204" pitchFamily="18" charset="0"/>
                    <a:ea typeface="Cambria" panose="02040503050406030204" pitchFamily="18" charset="0"/>
                  </a:rPr>
                  <a:t>hipótesis nula </a:t>
                </a:r>
                <a14:m>
                  <m:oMath xmlns:m="http://schemas.openxmlformats.org/officeDocument/2006/math">
                    <m:sSub>
                      <m:sSubPr>
                        <m:ctrlPr>
                          <a:rPr lang="es-AR" altLang="es-AR" i="1" smtClean="0">
                            <a:latin typeface="Cambria Math" panose="02040503050406030204" pitchFamily="18" charset="0"/>
                            <a:ea typeface="Cambria" panose="02040503050406030204" pitchFamily="18" charset="0"/>
                          </a:rPr>
                        </m:ctrlPr>
                      </m:sSubPr>
                      <m:e>
                        <m:r>
                          <a:rPr lang="es-AR" altLang="es-AR" b="0" i="1" smtClean="0">
                            <a:latin typeface="Cambria Math" panose="02040503050406030204" pitchFamily="18" charset="0"/>
                            <a:ea typeface="Cambria" panose="02040503050406030204" pitchFamily="18" charset="0"/>
                          </a:rPr>
                          <m:t>𝐻</m:t>
                        </m:r>
                      </m:e>
                      <m:sub>
                        <m:r>
                          <a:rPr lang="es-AR" altLang="es-AR" b="0" i="1" smtClean="0">
                            <a:latin typeface="Cambria Math" panose="02040503050406030204" pitchFamily="18" charset="0"/>
                            <a:ea typeface="Cambria" panose="02040503050406030204" pitchFamily="18" charset="0"/>
                          </a:rPr>
                          <m:t>0</m:t>
                        </m:r>
                      </m:sub>
                    </m:sSub>
                  </m:oMath>
                </a14:m>
                <a:r>
                  <a:rPr lang="es-AR" altLang="es-AR" dirty="0" smtClean="0">
                    <a:latin typeface="Cambria" panose="02040503050406030204" pitchFamily="18" charset="0"/>
                    <a:ea typeface="Cambria" panose="02040503050406030204" pitchFamily="18" charset="0"/>
                  </a:rPr>
                  <a:t>(que esperamos rechazar) es </a:t>
                </a:r>
                <a:r>
                  <a:rPr lang="es-AR" altLang="es-AR" i="1" dirty="0" smtClean="0">
                    <a:latin typeface="Cambria" panose="02040503050406030204" pitchFamily="18" charset="0"/>
                    <a:ea typeface="Cambria" panose="02040503050406030204" pitchFamily="18" charset="0"/>
                  </a:rPr>
                  <a:t>que ambas variables son independientes</a:t>
                </a:r>
                <a:r>
                  <a:rPr lang="es-AR" altLang="es-AR" dirty="0" smtClean="0">
                    <a:latin typeface="Cambria" panose="02040503050406030204" pitchFamily="18" charset="0"/>
                    <a:ea typeface="Cambria" panose="02040503050406030204" pitchFamily="18" charset="0"/>
                  </a:rPr>
                  <a:t>. Lógicamente, la </a:t>
                </a:r>
                <a:r>
                  <a:rPr lang="es-AR" altLang="es-AR" b="1" i="1" dirty="0" smtClean="0">
                    <a:solidFill>
                      <a:srgbClr val="2A8A85"/>
                    </a:solidFill>
                    <a:latin typeface="Cambria" panose="02040503050406030204" pitchFamily="18" charset="0"/>
                    <a:ea typeface="Cambria" panose="02040503050406030204" pitchFamily="18" charset="0"/>
                  </a:rPr>
                  <a:t>hipótesis alternativa </a:t>
                </a:r>
                <a14:m>
                  <m:oMath xmlns:m="http://schemas.openxmlformats.org/officeDocument/2006/math">
                    <m:sSub>
                      <m:sSubPr>
                        <m:ctrlPr>
                          <a:rPr lang="es-AR" altLang="es-AR" i="1">
                            <a:latin typeface="Cambria Math" panose="02040503050406030204" pitchFamily="18" charset="0"/>
                            <a:ea typeface="Cambria" panose="02040503050406030204" pitchFamily="18" charset="0"/>
                          </a:rPr>
                        </m:ctrlPr>
                      </m:sSubPr>
                      <m:e>
                        <m:r>
                          <a:rPr lang="es-AR" altLang="es-AR" i="1">
                            <a:latin typeface="Cambria Math" panose="02040503050406030204" pitchFamily="18" charset="0"/>
                            <a:ea typeface="Cambria" panose="02040503050406030204" pitchFamily="18" charset="0"/>
                          </a:rPr>
                          <m:t>𝐻</m:t>
                        </m:r>
                      </m:e>
                      <m:sub>
                        <m:r>
                          <a:rPr lang="es-AR" altLang="es-AR" b="0" i="1" smtClean="0">
                            <a:latin typeface="Cambria Math" panose="02040503050406030204" pitchFamily="18" charset="0"/>
                            <a:ea typeface="Cambria" panose="02040503050406030204" pitchFamily="18" charset="0"/>
                          </a:rPr>
                          <m:t>𝐴</m:t>
                        </m:r>
                      </m:sub>
                    </m:sSub>
                  </m:oMath>
                </a14:m>
                <a:r>
                  <a:rPr lang="es-AR" altLang="es-AR" dirty="0" smtClean="0">
                    <a:latin typeface="Cambria" panose="02040503050406030204" pitchFamily="18" charset="0"/>
                    <a:ea typeface="Cambria" panose="02040503050406030204" pitchFamily="18" charset="0"/>
                  </a:rPr>
                  <a:t>es el complemento: </a:t>
                </a:r>
                <a:r>
                  <a:rPr lang="es-AR" altLang="es-AR" i="1" dirty="0" smtClean="0">
                    <a:latin typeface="Cambria" panose="02040503050406030204" pitchFamily="18" charset="0"/>
                    <a:ea typeface="Cambria" panose="02040503050406030204" pitchFamily="18" charset="0"/>
                  </a:rPr>
                  <a:t>ambas variables no son independientes (están asociadas).</a:t>
                </a:r>
                <a:endParaRPr lang="es-AR" altLang="es-AR" dirty="0" smtClean="0">
                  <a:latin typeface="Cambria" panose="02040503050406030204" pitchFamily="18" charset="0"/>
                  <a:ea typeface="Cambria" panose="02040503050406030204" pitchFamily="18" charset="0"/>
                </a:endParaRPr>
              </a:p>
              <a:p>
                <a:pPr marL="1028700" lvl="1"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Se calcula el valor del </a:t>
                </a:r>
                <a:r>
                  <a:rPr lang="es-AR" altLang="es-AR" dirty="0" smtClean="0">
                    <a:solidFill>
                      <a:schemeClr val="tx1"/>
                    </a:solidFill>
                    <a:latin typeface="Cambria" panose="02040503050406030204" pitchFamily="18" charset="0"/>
                    <a:ea typeface="Cambria" panose="02040503050406030204" pitchFamily="18" charset="0"/>
                  </a:rPr>
                  <a:t>estadístico (</a:t>
                </a:r>
                <a14:m>
                  <m:oMath xmlns:m="http://schemas.openxmlformats.org/officeDocument/2006/math">
                    <m:sSup>
                      <m:sSupPr>
                        <m:ctrlPr>
                          <a:rPr lang="es-AR" altLang="es-AR" i="1" smtClean="0">
                            <a:solidFill>
                              <a:schemeClr val="tx1"/>
                            </a:solidFill>
                            <a:latin typeface="Cambria Math" panose="02040503050406030204" pitchFamily="18" charset="0"/>
                            <a:ea typeface="Cambria" panose="02040503050406030204" pitchFamily="18" charset="0"/>
                          </a:rPr>
                        </m:ctrlPr>
                      </m:sSupPr>
                      <m:e>
                        <m:r>
                          <m:rPr>
                            <m:sty m:val="p"/>
                          </m:rPr>
                          <a:rPr lang="es-AR" altLang="es-AR" b="0" i="0">
                            <a:solidFill>
                              <a:schemeClr val="tx1"/>
                            </a:solidFill>
                            <a:latin typeface="Cambria Math" panose="02040503050406030204" pitchFamily="18" charset="0"/>
                            <a:ea typeface="Cambria Math" panose="02040503050406030204" pitchFamily="18" charset="0"/>
                          </a:rPr>
                          <m:t>χ</m:t>
                        </m:r>
                      </m:e>
                      <m:sup>
                        <m:r>
                          <a:rPr lang="es-AR" altLang="es-AR" b="0" i="0" smtClean="0">
                            <a:solidFill>
                              <a:schemeClr val="tx1"/>
                            </a:solidFill>
                            <a:latin typeface="Cambria Math" panose="02040503050406030204" pitchFamily="18" charset="0"/>
                            <a:ea typeface="Cambria" panose="02040503050406030204" pitchFamily="18" charset="0"/>
                          </a:rPr>
                          <m:t>2</m:t>
                        </m:r>
                      </m:sup>
                    </m:sSup>
                  </m:oMath>
                </a14:m>
                <a:r>
                  <a:rPr lang="es-AR" altLang="es-AR" dirty="0" smtClean="0">
                    <a:solidFill>
                      <a:schemeClr val="tx1"/>
                    </a:solidFill>
                    <a:latin typeface="Cambria" panose="02040503050406030204" pitchFamily="18" charset="0"/>
                    <a:ea typeface="Cambria" panose="02040503050406030204" pitchFamily="18" charset="0"/>
                  </a:rPr>
                  <a:t>). </a:t>
                </a:r>
              </a:p>
              <a:p>
                <a:pPr marL="1028700" lvl="1"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Se determina la probabilidad del estadístico</a:t>
                </a:r>
              </a:p>
              <a:p>
                <a:pPr marL="1028700" lvl="1"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Se concluye sobre la aceptación o rechazo.</a:t>
                </a:r>
                <a:endParaRPr lang="es-AR" altLang="es-AR" dirty="0">
                  <a:latin typeface="Cambria" panose="02040503050406030204" pitchFamily="18" charset="0"/>
                  <a:ea typeface="Cambria" panose="02040503050406030204" pitchFamily="18" charset="0"/>
                </a:endParaRPr>
              </a:p>
            </p:txBody>
          </p:sp>
        </mc:Choice>
        <mc:Fallback xmlns="">
          <p:sp>
            <p:nvSpPr>
              <p:cNvPr id="4" name="Rectangle 4"/>
              <p:cNvSpPr>
                <a:spLocks noRot="1" noChangeAspect="1" noMove="1" noResize="1" noEditPoints="1" noAdjustHandles="1" noChangeArrowheads="1" noChangeShapeType="1" noTextEdit="1"/>
              </p:cNvSpPr>
              <p:nvPr/>
            </p:nvSpPr>
            <p:spPr bwMode="auto">
              <a:xfrm>
                <a:off x="250825" y="1052736"/>
                <a:ext cx="8642350" cy="5632311"/>
              </a:xfrm>
              <a:prstGeom prst="rect">
                <a:avLst/>
              </a:prstGeom>
              <a:blipFill>
                <a:blip r:embed="rId3"/>
                <a:stretch>
                  <a:fillRect l="-423" t="-758" r="-635" b="-64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2 Rectángulo"/>
          <p:cNvSpPr/>
          <p:nvPr/>
        </p:nvSpPr>
        <p:spPr>
          <a:xfrm>
            <a:off x="0" y="667917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Chi cuadrado </a:t>
                </a:r>
                <a14:m>
                  <m:oMath xmlns:m="http://schemas.openxmlformats.org/officeDocument/2006/math">
                    <m:sSup>
                      <m:sSupPr>
                        <m:ctrlPr>
                          <a:rPr lang="es-AR" altLang="es-AR" sz="2400" i="1">
                            <a:latin typeface="Cambria Math" panose="02040503050406030204" pitchFamily="18" charset="0"/>
                            <a:ea typeface="Cambria" panose="02040503050406030204" pitchFamily="18" charset="0"/>
                          </a:rPr>
                        </m:ctrlPr>
                      </m:sSupPr>
                      <m:e>
                        <m:r>
                          <a:rPr lang="es-AR" altLang="es-AR" sz="2400" i="1">
                            <a:latin typeface="Cambria Math" panose="02040503050406030204" pitchFamily="18" charset="0"/>
                            <a:ea typeface="Cambria Math" panose="02040503050406030204" pitchFamily="18" charset="0"/>
                          </a:rPr>
                          <m:t>𝜒</m:t>
                        </m:r>
                      </m:e>
                      <m:sup>
                        <m:r>
                          <a:rPr lang="es-AR" altLang="es-AR" sz="2400" i="1">
                            <a:latin typeface="Cambria Math" panose="02040503050406030204" pitchFamily="18" charset="0"/>
                            <a:ea typeface="Cambria" panose="02040503050406030204" pitchFamily="18" charset="0"/>
                          </a:rPr>
                          <m:t>2</m:t>
                        </m:r>
                      </m:sup>
                    </m:sSup>
                  </m:oMath>
                </a14:m>
                <a:endParaRPr lang="es-AR" sz="2400" dirty="0">
                  <a:latin typeface="Cambria" panose="02040503050406030204" pitchFamily="18" charset="0"/>
                </a:endParaRPr>
              </a:p>
            </p:txBody>
          </p:sp>
        </mc:Choice>
        <mc:Fallback xmlns="">
          <p:sp>
            <p:nvSpPr>
              <p:cNvPr id="14" name="10 CuadroTexto"/>
              <p:cNvSpPr txBox="1">
                <a:spLocks noRot="1" noChangeAspect="1" noMove="1" noResize="1" noEditPoints="1" noAdjustHandles="1" noChangeArrowheads="1" noChangeShapeType="1" noTextEdit="1"/>
              </p:cNvSpPr>
              <p:nvPr/>
            </p:nvSpPr>
            <p:spPr>
              <a:xfrm>
                <a:off x="152779" y="298748"/>
                <a:ext cx="8740395" cy="461665"/>
              </a:xfrm>
              <a:prstGeom prst="rect">
                <a:avLst/>
              </a:prstGeom>
              <a:blipFill>
                <a:blip r:embed="rId4"/>
                <a:stretch>
                  <a:fillRect l="-1046" t="-10526" b="-28947"/>
                </a:stretch>
              </a:blipFill>
            </p:spPr>
            <p:txBody>
              <a:bodyPr/>
              <a:lstStyle/>
              <a:p>
                <a:r>
                  <a:rPr lang="es-AR">
                    <a:noFill/>
                  </a:rPr>
                  <a:t> </a:t>
                </a:r>
              </a:p>
            </p:txBody>
          </p:sp>
        </mc:Fallback>
      </mc:AlternateContent>
      <p:pic>
        <p:nvPicPr>
          <p:cNvPr id="3" name="Imagen 2"/>
          <p:cNvPicPr>
            <a:picLocks noChangeAspect="1"/>
          </p:cNvPicPr>
          <p:nvPr/>
        </p:nvPicPr>
        <p:blipFill rotWithShape="1">
          <a:blip r:embed="rId5"/>
          <a:srcRect t="10035"/>
          <a:stretch/>
        </p:blipFill>
        <p:spPr>
          <a:xfrm>
            <a:off x="1475656" y="2348880"/>
            <a:ext cx="5876925" cy="1936626"/>
          </a:xfrm>
          <a:prstGeom prst="rect">
            <a:avLst/>
          </a:prstGeom>
        </p:spPr>
      </p:pic>
    </p:spTree>
    <p:extLst>
      <p:ext uri="{BB962C8B-B14F-4D97-AF65-F5344CB8AC3E}">
        <p14:creationId xmlns:p14="http://schemas.microsoft.com/office/powerpoint/2010/main" val="25783067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angle 4"/>
              <p:cNvSpPr>
                <a:spLocks noChangeArrowheads="1"/>
              </p:cNvSpPr>
              <p:nvPr/>
            </p:nvSpPr>
            <p:spPr bwMode="auto">
              <a:xfrm>
                <a:off x="152779" y="1093010"/>
                <a:ext cx="8740396" cy="646331"/>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Para obtener </a:t>
                </a:r>
                <a14:m>
                  <m:oMath xmlns:m="http://schemas.openxmlformats.org/officeDocument/2006/math">
                    <m:sSup>
                      <m:sSupPr>
                        <m:ctrlPr>
                          <a:rPr lang="es-AR" altLang="es-AR" i="1">
                            <a:latin typeface="Cambria Math" panose="02040503050406030204" pitchFamily="18" charset="0"/>
                            <a:ea typeface="Cambria" panose="02040503050406030204" pitchFamily="18" charset="0"/>
                          </a:rPr>
                        </m:ctrlPr>
                      </m:sSupPr>
                      <m:e>
                        <m:r>
                          <a:rPr lang="es-AR" altLang="es-AR" i="1">
                            <a:latin typeface="Cambria Math" panose="02040503050406030204" pitchFamily="18" charset="0"/>
                            <a:ea typeface="Cambria Math" panose="02040503050406030204" pitchFamily="18" charset="0"/>
                          </a:rPr>
                          <m:t>𝜒</m:t>
                        </m:r>
                      </m:e>
                      <m:sup>
                        <m:r>
                          <a:rPr lang="es-AR" altLang="es-AR" i="1">
                            <a:latin typeface="Cambria Math" panose="02040503050406030204" pitchFamily="18" charset="0"/>
                            <a:ea typeface="Cambria" panose="02040503050406030204" pitchFamily="18" charset="0"/>
                          </a:rPr>
                          <m:t>2</m:t>
                        </m:r>
                      </m:sup>
                    </m:sSup>
                  </m:oMath>
                </a14:m>
                <a:r>
                  <a:rPr lang="es-AR" altLang="es-AR" dirty="0" smtClean="0">
                    <a:latin typeface="Cambria" panose="02040503050406030204" pitchFamily="18" charset="0"/>
                    <a:ea typeface="Cambria" panose="02040503050406030204" pitchFamily="18" charset="0"/>
                  </a:rPr>
                  <a:t> trabajamos sobre las frecuencias observadas y las frecuencias esperadas en caso de no asociación. Siguiendo la fórmula:</a:t>
                </a:r>
              </a:p>
            </p:txBody>
          </p:sp>
        </mc:Choice>
        <mc:Fallback xmlns="">
          <p:sp>
            <p:nvSpPr>
              <p:cNvPr id="12" name="Rectangle 4"/>
              <p:cNvSpPr>
                <a:spLocks noRot="1" noChangeAspect="1" noMove="1" noResize="1" noEditPoints="1" noAdjustHandles="1" noChangeArrowheads="1" noChangeShapeType="1" noTextEdit="1"/>
              </p:cNvSpPr>
              <p:nvPr/>
            </p:nvSpPr>
            <p:spPr bwMode="auto">
              <a:xfrm>
                <a:off x="152779" y="1093010"/>
                <a:ext cx="8740396" cy="646331"/>
              </a:xfrm>
              <a:prstGeom prst="rect">
                <a:avLst/>
              </a:prstGeom>
              <a:blipFill>
                <a:blip r:embed="rId3"/>
                <a:stretch>
                  <a:fillRect l="-418" t="-5660" r="-628" b="-132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Chi cuadrado </a:t>
                </a:r>
                <a14:m>
                  <m:oMath xmlns:m="http://schemas.openxmlformats.org/officeDocument/2006/math">
                    <m:sSup>
                      <m:sSupPr>
                        <m:ctrlPr>
                          <a:rPr lang="es-AR" altLang="es-AR" sz="2400" i="1">
                            <a:latin typeface="Cambria Math" panose="02040503050406030204" pitchFamily="18" charset="0"/>
                            <a:ea typeface="Cambria" panose="02040503050406030204" pitchFamily="18" charset="0"/>
                          </a:rPr>
                        </m:ctrlPr>
                      </m:sSupPr>
                      <m:e>
                        <m:r>
                          <a:rPr lang="es-AR" altLang="es-AR" sz="2400" i="1">
                            <a:latin typeface="Cambria Math" panose="02040503050406030204" pitchFamily="18" charset="0"/>
                            <a:ea typeface="Cambria Math" panose="02040503050406030204" pitchFamily="18" charset="0"/>
                          </a:rPr>
                          <m:t>𝜒</m:t>
                        </m:r>
                      </m:e>
                      <m:sup>
                        <m:r>
                          <a:rPr lang="es-AR" altLang="es-AR" sz="2400" i="1">
                            <a:latin typeface="Cambria Math" panose="02040503050406030204" pitchFamily="18" charset="0"/>
                            <a:ea typeface="Cambria" panose="02040503050406030204" pitchFamily="18" charset="0"/>
                          </a:rPr>
                          <m:t>2</m:t>
                        </m:r>
                      </m:sup>
                    </m:sSup>
                  </m:oMath>
                </a14:m>
                <a:endParaRPr lang="es-AR" sz="2400" dirty="0">
                  <a:latin typeface="Cambria" panose="02040503050406030204" pitchFamily="18" charset="0"/>
                </a:endParaRPr>
              </a:p>
            </p:txBody>
          </p:sp>
        </mc:Choice>
        <mc:Fallback xmlns="">
          <p:sp>
            <p:nvSpPr>
              <p:cNvPr id="11" name="10 CuadroTexto"/>
              <p:cNvSpPr txBox="1">
                <a:spLocks noRot="1" noChangeAspect="1" noMove="1" noResize="1" noEditPoints="1" noAdjustHandles="1" noChangeArrowheads="1" noChangeShapeType="1" noTextEdit="1"/>
              </p:cNvSpPr>
              <p:nvPr/>
            </p:nvSpPr>
            <p:spPr>
              <a:xfrm>
                <a:off x="152779" y="298748"/>
                <a:ext cx="8740395" cy="461665"/>
              </a:xfrm>
              <a:prstGeom prst="rect">
                <a:avLst/>
              </a:prstGeom>
              <a:blipFill>
                <a:blip r:embed="rId4"/>
                <a:stretch>
                  <a:fillRect l="-1046" t="-10526" b="-28947"/>
                </a:stretch>
              </a:blipFill>
            </p:spPr>
            <p:txBody>
              <a:bodyPr/>
              <a:lstStyle/>
              <a:p>
                <a:r>
                  <a:rPr lang="es-AR">
                    <a:noFill/>
                  </a:rPr>
                  <a:t> </a:t>
                </a:r>
              </a:p>
            </p:txBody>
          </p:sp>
        </mc:Fallback>
      </mc:AlternateContent>
      <p:pic>
        <p:nvPicPr>
          <p:cNvPr id="14" name="Imagen 13"/>
          <p:cNvPicPr>
            <a:picLocks noChangeAspect="1"/>
          </p:cNvPicPr>
          <p:nvPr/>
        </p:nvPicPr>
        <p:blipFill rotWithShape="1">
          <a:blip r:embed="rId5"/>
          <a:srcRect t="10035"/>
          <a:stretch/>
        </p:blipFill>
        <p:spPr>
          <a:xfrm>
            <a:off x="1182811" y="2545314"/>
            <a:ext cx="5876925" cy="1936626"/>
          </a:xfrm>
          <a:prstGeom prst="rect">
            <a:avLst/>
          </a:prstGeom>
        </p:spPr>
      </p:pic>
      <mc:AlternateContent xmlns:mc="http://schemas.openxmlformats.org/markup-compatibility/2006" xmlns:a14="http://schemas.microsoft.com/office/drawing/2010/main">
        <mc:Choice Requires="a14">
          <p:sp>
            <p:nvSpPr>
              <p:cNvPr id="15" name="CuadroTexto 14"/>
              <p:cNvSpPr txBox="1"/>
              <p:nvPr/>
            </p:nvSpPr>
            <p:spPr>
              <a:xfrm>
                <a:off x="3123373" y="1795792"/>
                <a:ext cx="1862561" cy="718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altLang="es-AR" i="1" smtClean="0">
                              <a:latin typeface="Cambria Math" panose="02040503050406030204" pitchFamily="18" charset="0"/>
                              <a:ea typeface="Cambria" panose="02040503050406030204" pitchFamily="18" charset="0"/>
                            </a:rPr>
                          </m:ctrlPr>
                        </m:sSupPr>
                        <m:e>
                          <m:r>
                            <a:rPr lang="es-AR" altLang="es-AR" i="1">
                              <a:latin typeface="Cambria Math" panose="02040503050406030204" pitchFamily="18" charset="0"/>
                              <a:ea typeface="Cambria Math" panose="02040503050406030204" pitchFamily="18" charset="0"/>
                            </a:rPr>
                            <m:t>𝜒</m:t>
                          </m:r>
                        </m:e>
                        <m:sup>
                          <m:r>
                            <a:rPr lang="es-AR" altLang="es-AR" i="1">
                              <a:latin typeface="Cambria Math" panose="02040503050406030204" pitchFamily="18" charset="0"/>
                              <a:ea typeface="Cambria" panose="02040503050406030204" pitchFamily="18" charset="0"/>
                            </a:rPr>
                            <m:t>2</m:t>
                          </m:r>
                        </m:sup>
                      </m:sSup>
                      <m:r>
                        <a:rPr lang="es-AR" b="0" i="1" smtClean="0">
                          <a:latin typeface="Cambria Math" panose="02040503050406030204" pitchFamily="18" charset="0"/>
                        </a:rPr>
                        <m:t>=</m:t>
                      </m:r>
                      <m:nary>
                        <m:naryPr>
                          <m:chr m:val="∑"/>
                          <m:subHide m:val="on"/>
                          <m:supHide m:val="on"/>
                          <m:ctrlPr>
                            <a:rPr lang="es-AR" b="0" i="1" smtClean="0">
                              <a:latin typeface="Cambria Math" panose="02040503050406030204" pitchFamily="18" charset="0"/>
                            </a:rPr>
                          </m:ctrlPr>
                        </m:naryPr>
                        <m:sub/>
                        <m:sup/>
                        <m:e>
                          <m:f>
                            <m:fPr>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sSub>
                                    <m:sSubPr>
                                      <m:ctrlPr>
                                        <a:rPr lang="es-AR" i="1">
                                          <a:latin typeface="Cambria Math" panose="02040503050406030204" pitchFamily="18" charset="0"/>
                                        </a:rPr>
                                      </m:ctrlPr>
                                    </m:sSubPr>
                                    <m:e>
                                      <m:r>
                                        <a:rPr lang="es-AR" b="0" i="1" smtClean="0">
                                          <a:latin typeface="Cambria Math" panose="02040503050406030204" pitchFamily="18" charset="0"/>
                                        </a:rPr>
                                        <m:t>(</m:t>
                                      </m:r>
                                      <m:r>
                                        <a:rPr lang="es-AR" i="1">
                                          <a:latin typeface="Cambria Math" panose="02040503050406030204" pitchFamily="18" charset="0"/>
                                        </a:rPr>
                                        <m:t>𝑓</m:t>
                                      </m:r>
                                    </m:e>
                                    <m:sub>
                                      <m:r>
                                        <a:rPr lang="es-AR" i="1">
                                          <a:latin typeface="Cambria Math" panose="02040503050406030204" pitchFamily="18" charset="0"/>
                                        </a:rPr>
                                        <m:t>𝑜</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𝑓</m:t>
                                      </m:r>
                                    </m:e>
                                    <m:sub>
                                      <m:r>
                                        <a:rPr lang="es-AR" i="1">
                                          <a:latin typeface="Cambria Math" panose="02040503050406030204" pitchFamily="18" charset="0"/>
                                        </a:rPr>
                                        <m:t>𝑒</m:t>
                                      </m:r>
                                    </m:sub>
                                  </m:sSub>
                                  <m:r>
                                    <a:rPr lang="es-AR" b="0" i="1" smtClean="0">
                                      <a:latin typeface="Cambria Math" panose="02040503050406030204" pitchFamily="18" charset="0"/>
                                    </a:rPr>
                                    <m:t>)</m:t>
                                  </m:r>
                                </m:e>
                                <m:sup>
                                  <m:r>
                                    <a:rPr lang="es-AR" b="0" i="1" smtClean="0">
                                      <a:latin typeface="Cambria Math" panose="02040503050406030204" pitchFamily="18" charset="0"/>
                                    </a:rPr>
                                    <m:t>2</m:t>
                                  </m:r>
                                </m:sup>
                              </m:sSup>
                            </m:num>
                            <m:den>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𝑒</m:t>
                                  </m:r>
                                </m:sub>
                              </m:sSub>
                            </m:den>
                          </m:f>
                        </m:e>
                      </m:nary>
                    </m:oMath>
                  </m:oMathPara>
                </a14:m>
                <a:endParaRPr lang="es-AR" dirty="0"/>
              </a:p>
            </p:txBody>
          </p:sp>
        </mc:Choice>
        <mc:Fallback xmlns="">
          <p:sp>
            <p:nvSpPr>
              <p:cNvPr id="15" name="CuadroTexto 14"/>
              <p:cNvSpPr txBox="1">
                <a:spLocks noRot="1" noChangeAspect="1" noMove="1" noResize="1" noEditPoints="1" noAdjustHandles="1" noChangeArrowheads="1" noChangeShapeType="1" noTextEdit="1"/>
              </p:cNvSpPr>
              <p:nvPr/>
            </p:nvSpPr>
            <p:spPr>
              <a:xfrm>
                <a:off x="3123373" y="1795792"/>
                <a:ext cx="1862561" cy="718402"/>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p:cNvSpPr txBox="1"/>
              <p:nvPr/>
            </p:nvSpPr>
            <p:spPr>
              <a:xfrm>
                <a:off x="1619672" y="4686007"/>
                <a:ext cx="6048672" cy="4550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altLang="es-AR" sz="1400" i="1" smtClean="0">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r>
                        <a:rPr lang="es-AR" sz="1400" b="0" i="1" smtClean="0">
                          <a:latin typeface="Cambria Math" panose="02040503050406030204" pitchFamily="18" charset="0"/>
                        </a:rPr>
                        <m:t>=</m:t>
                      </m:r>
                      <m:f>
                        <m:fPr>
                          <m:ctrlPr>
                            <a:rPr lang="es-AR" sz="1400" b="0" i="1" smtClean="0">
                              <a:latin typeface="Cambria Math" panose="02040503050406030204" pitchFamily="18" charset="0"/>
                            </a:rPr>
                          </m:ctrlPr>
                        </m:fPr>
                        <m:num>
                          <m:sSup>
                            <m:sSupPr>
                              <m:ctrlPr>
                                <a:rPr lang="es-AR" sz="1400" b="0" i="1" smtClean="0">
                                  <a:latin typeface="Cambria Math" panose="02040503050406030204" pitchFamily="18" charset="0"/>
                                </a:rPr>
                              </m:ctrlPr>
                            </m:sSupPr>
                            <m:e>
                              <m:r>
                                <a:rPr lang="es-AR" sz="1400" i="1">
                                  <a:latin typeface="Cambria Math" panose="02040503050406030204" pitchFamily="18" charset="0"/>
                                </a:rPr>
                                <m:t>(144−128,8)</m:t>
                              </m:r>
                            </m:e>
                            <m:sup>
                              <m:r>
                                <a:rPr lang="es-AR" sz="1400" b="0" i="1" smtClean="0">
                                  <a:latin typeface="Cambria Math" panose="02040503050406030204" pitchFamily="18" charset="0"/>
                                </a:rPr>
                                <m:t>2</m:t>
                              </m:r>
                            </m:sup>
                          </m:sSup>
                        </m:num>
                        <m:den>
                          <m:r>
                            <a:rPr lang="es-AR" sz="1400" b="0" i="1" smtClean="0">
                              <a:latin typeface="Cambria Math" panose="02040503050406030204" pitchFamily="18" charset="0"/>
                            </a:rPr>
                            <m:t>128,8</m:t>
                          </m:r>
                        </m:den>
                      </m:f>
                      <m:r>
                        <a:rPr lang="es-AR" sz="1400" b="0" i="1" smtClean="0">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248</m:t>
                              </m:r>
                              <m:r>
                                <a:rPr lang="es-AR" sz="1400" i="1">
                                  <a:latin typeface="Cambria Math" panose="02040503050406030204" pitchFamily="18" charset="0"/>
                                </a:rPr>
                                <m:t>−</m:t>
                              </m:r>
                              <m:r>
                                <a:rPr lang="es-AR" sz="1400" b="0" i="1" smtClean="0">
                                  <a:latin typeface="Cambria Math" panose="02040503050406030204" pitchFamily="18" charset="0"/>
                                </a:rPr>
                                <m:t>263</m:t>
                              </m:r>
                              <m:r>
                                <a:rPr lang="es-AR" sz="1400" i="1">
                                  <a:latin typeface="Cambria Math" panose="02040503050406030204" pitchFamily="18" charset="0"/>
                                </a:rPr>
                                <m:t>,</m:t>
                              </m:r>
                              <m:r>
                                <a:rPr lang="es-AR" sz="1400" b="0" i="1" smtClean="0">
                                  <a:latin typeface="Cambria Math" panose="02040503050406030204" pitchFamily="18" charset="0"/>
                                </a:rPr>
                                <m:t>2</m:t>
                              </m:r>
                              <m:r>
                                <a:rPr lang="es-AR" sz="1400" i="1">
                                  <a:latin typeface="Cambria Math" panose="02040503050406030204" pitchFamily="18" charset="0"/>
                                </a:rPr>
                                <m:t>)</m:t>
                              </m:r>
                            </m:e>
                            <m:sup>
                              <m:r>
                                <a:rPr lang="es-AR" sz="1400" i="1">
                                  <a:latin typeface="Cambria Math" panose="02040503050406030204" pitchFamily="18" charset="0"/>
                                </a:rPr>
                                <m:t>2</m:t>
                              </m:r>
                            </m:sup>
                          </m:sSup>
                        </m:num>
                        <m:den>
                          <m:r>
                            <a:rPr lang="es-AR" sz="1400" b="0" i="1" smtClean="0">
                              <a:latin typeface="Cambria Math" panose="02040503050406030204" pitchFamily="18" charset="0"/>
                            </a:rPr>
                            <m:t>263,2</m:t>
                          </m:r>
                        </m:den>
                      </m:f>
                      <m:r>
                        <a:rPr lang="es-AR" sz="1400" b="0" i="1" smtClean="0">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37</m:t>
                              </m:r>
                              <m:r>
                                <a:rPr lang="es-AR" sz="1400" i="1">
                                  <a:latin typeface="Cambria Math" panose="02040503050406030204" pitchFamily="18" charset="0"/>
                                </a:rPr>
                                <m:t>−</m:t>
                              </m:r>
                              <m:r>
                                <a:rPr lang="es-AR" sz="1400" b="0" i="1" smtClean="0">
                                  <a:latin typeface="Cambria Math" panose="02040503050406030204" pitchFamily="18" charset="0"/>
                                </a:rPr>
                                <m:t>52,2</m:t>
                              </m:r>
                              <m:r>
                                <a:rPr lang="es-AR" sz="1400" i="1">
                                  <a:latin typeface="Cambria Math" panose="02040503050406030204" pitchFamily="18" charset="0"/>
                                </a:rPr>
                                <m:t>)</m:t>
                              </m:r>
                            </m:e>
                            <m:sup>
                              <m:r>
                                <a:rPr lang="es-AR" sz="1400" i="1">
                                  <a:latin typeface="Cambria Math" panose="02040503050406030204" pitchFamily="18" charset="0"/>
                                </a:rPr>
                                <m:t>2</m:t>
                              </m:r>
                            </m:sup>
                          </m:sSup>
                        </m:num>
                        <m:den>
                          <m:r>
                            <a:rPr lang="es-AR" sz="1400" b="0" i="1" smtClean="0">
                              <a:latin typeface="Cambria Math" panose="02040503050406030204" pitchFamily="18" charset="0"/>
                            </a:rPr>
                            <m:t>52,2</m:t>
                          </m:r>
                        </m:den>
                      </m:f>
                      <m:r>
                        <a:rPr lang="es-AR" sz="1400" b="0" i="1" smtClean="0">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m:t>
                              </m:r>
                              <m:r>
                                <a:rPr lang="es-AR" sz="1400" b="0" i="1" smtClean="0">
                                  <a:latin typeface="Cambria Math" panose="02040503050406030204" pitchFamily="18" charset="0"/>
                                </a:rPr>
                                <m:t>122</m:t>
                              </m:r>
                              <m:r>
                                <a:rPr lang="es-AR" sz="1400" i="1">
                                  <a:latin typeface="Cambria Math" panose="02040503050406030204" pitchFamily="18" charset="0"/>
                                </a:rPr>
                                <m:t>−1</m:t>
                              </m:r>
                              <m:r>
                                <a:rPr lang="es-AR" sz="1400" b="0" i="1" smtClean="0">
                                  <a:latin typeface="Cambria Math" panose="02040503050406030204" pitchFamily="18" charset="0"/>
                                </a:rPr>
                                <m:t>06</m:t>
                              </m:r>
                              <m:r>
                                <a:rPr lang="es-AR" sz="1400" i="1">
                                  <a:latin typeface="Cambria Math" panose="02040503050406030204" pitchFamily="18" charset="0"/>
                                </a:rPr>
                                <m:t>,8)</m:t>
                              </m:r>
                            </m:e>
                            <m:sup>
                              <m:r>
                                <a:rPr lang="es-AR" sz="1400" i="1">
                                  <a:latin typeface="Cambria Math" panose="02040503050406030204" pitchFamily="18" charset="0"/>
                                </a:rPr>
                                <m:t>2</m:t>
                              </m:r>
                            </m:sup>
                          </m:sSup>
                        </m:num>
                        <m:den>
                          <m:r>
                            <a:rPr lang="es-AR" sz="1400" b="0" i="1" smtClean="0">
                              <a:latin typeface="Cambria Math" panose="02040503050406030204" pitchFamily="18" charset="0"/>
                            </a:rPr>
                            <m:t>106,8</m:t>
                          </m:r>
                        </m:den>
                      </m:f>
                    </m:oMath>
                  </m:oMathPara>
                </a14:m>
                <a:endParaRPr lang="es-AR" sz="1400" dirty="0"/>
              </a:p>
            </p:txBody>
          </p:sp>
        </mc:Choice>
        <mc:Fallback xmlns="">
          <p:sp>
            <p:nvSpPr>
              <p:cNvPr id="16" name="CuadroTexto 15"/>
              <p:cNvSpPr txBox="1">
                <a:spLocks noRot="1" noChangeAspect="1" noMove="1" noResize="1" noEditPoints="1" noAdjustHandles="1" noChangeArrowheads="1" noChangeShapeType="1" noTextEdit="1"/>
              </p:cNvSpPr>
              <p:nvPr/>
            </p:nvSpPr>
            <p:spPr>
              <a:xfrm>
                <a:off x="1619672" y="4686007"/>
                <a:ext cx="6048672" cy="455061"/>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1620485" y="5349848"/>
                <a:ext cx="604867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altLang="es-AR" sz="1400" i="1" smtClean="0">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r>
                        <a:rPr lang="es-AR" sz="1400" b="0" i="1" smtClean="0">
                          <a:latin typeface="Cambria Math" panose="02040503050406030204" pitchFamily="18" charset="0"/>
                        </a:rPr>
                        <m:t>=1,801+0,881+4,441+2,173</m:t>
                      </m:r>
                    </m:oMath>
                  </m:oMathPara>
                </a14:m>
                <a:endParaRPr lang="es-AR" sz="1400"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1620485" y="5349848"/>
                <a:ext cx="6048672" cy="215444"/>
              </a:xfrm>
              <a:prstGeom prst="rect">
                <a:avLst/>
              </a:prstGeom>
              <a:blipFill>
                <a:blip r:embed="rId8"/>
                <a:stretch>
                  <a:fillRect b="-2571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p:cNvSpPr txBox="1"/>
              <p:nvPr/>
            </p:nvSpPr>
            <p:spPr>
              <a:xfrm>
                <a:off x="1619672" y="5774072"/>
                <a:ext cx="604867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altLang="es-AR" sz="1400" i="1" smtClean="0">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r>
                        <a:rPr lang="es-AR" sz="1400" b="0" i="1" smtClean="0">
                          <a:latin typeface="Cambria Math" panose="02040503050406030204" pitchFamily="18" charset="0"/>
                        </a:rPr>
                        <m:t>=9,296</m:t>
                      </m:r>
                    </m:oMath>
                  </m:oMathPara>
                </a14:m>
                <a:endParaRPr lang="es-AR" sz="1400" dirty="0"/>
              </a:p>
            </p:txBody>
          </p:sp>
        </mc:Choice>
        <mc:Fallback xmlns="">
          <p:sp>
            <p:nvSpPr>
              <p:cNvPr id="18" name="CuadroTexto 17"/>
              <p:cNvSpPr txBox="1">
                <a:spLocks noRot="1" noChangeAspect="1" noMove="1" noResize="1" noEditPoints="1" noAdjustHandles="1" noChangeArrowheads="1" noChangeShapeType="1" noTextEdit="1"/>
              </p:cNvSpPr>
              <p:nvPr/>
            </p:nvSpPr>
            <p:spPr>
              <a:xfrm>
                <a:off x="1619672" y="5774072"/>
                <a:ext cx="6048672" cy="215444"/>
              </a:xfrm>
              <a:prstGeom prst="rect">
                <a:avLst/>
              </a:prstGeom>
              <a:blipFill>
                <a:blip r:embed="rId9"/>
                <a:stretch>
                  <a:fillRect b="-25000"/>
                </a:stretch>
              </a:blipFill>
            </p:spPr>
            <p:txBody>
              <a:bodyPr/>
              <a:lstStyle/>
              <a:p>
                <a:r>
                  <a:rPr lang="es-AR">
                    <a:noFill/>
                  </a:rPr>
                  <a:t> </a:t>
                </a:r>
              </a:p>
            </p:txBody>
          </p:sp>
        </mc:Fallback>
      </mc:AlternateContent>
    </p:spTree>
    <p:extLst>
      <p:ext uri="{BB962C8B-B14F-4D97-AF65-F5344CB8AC3E}">
        <p14:creationId xmlns:p14="http://schemas.microsoft.com/office/powerpoint/2010/main" val="4448643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Prueba de independencia estadística </a:t>
                </a:r>
                <a14:m>
                  <m:oMath xmlns:m="http://schemas.openxmlformats.org/officeDocument/2006/math">
                    <m:sSup>
                      <m:sSupPr>
                        <m:ctrlP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 </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mc:Choice>
        <mc:Fallback xmlns="">
          <p:sp>
            <p:nvSpPr>
              <p:cNvPr id="6146" name="Rectangle 2">
                <a:extLst>
                  <a:ext uri="{FF2B5EF4-FFF2-40B4-BE49-F238E27FC236}">
                    <a16:creationId xmlns:a16="http://schemas.microsoft.com/office/drawing/2014/main" id="{4F2485E4-3C6C-4A1D-B5F1-AA7F2AB7B061}"/>
                  </a:ext>
                </a:extLst>
              </p:cNvPr>
              <p:cNvSpPr>
                <a:spLocks noGrp="1" noRot="1" noChangeAspect="1" noMove="1" noResize="1" noEditPoints="1" noAdjustHandles="1" noChangeArrowheads="1" noChangeShapeType="1" noTextEdit="1"/>
              </p:cNvSpPr>
              <p:nvPr>
                <p:ph type="title" idx="4294967295"/>
              </p:nvPr>
            </p:nvSpPr>
            <p:spPr>
              <a:xfrm>
                <a:off x="0" y="230994"/>
                <a:ext cx="9324528" cy="630907"/>
              </a:xfrm>
              <a:blipFill>
                <a:blip r:embed="rId3"/>
                <a:stretch>
                  <a:fillRect l="-1307" t="-971" b="-18447"/>
                </a:stretch>
              </a:blipFill>
            </p:spPr>
            <p:txBody>
              <a:bodyPr/>
              <a:lstStyle/>
              <a:p>
                <a:r>
                  <a:rPr lang="es-AR">
                    <a:noFill/>
                  </a:rPr>
                  <a:t> </a:t>
                </a:r>
              </a:p>
            </p:txBody>
          </p:sp>
        </mc:Fallback>
      </mc:AlternateContent>
      <p:sp>
        <p:nvSpPr>
          <p:cNvPr id="27" name="Text Box 46"/>
          <p:cNvSpPr txBox="1">
            <a:spLocks noChangeArrowheads="1"/>
          </p:cNvSpPr>
          <p:nvPr/>
        </p:nvSpPr>
        <p:spPr bwMode="auto">
          <a:xfrm>
            <a:off x="5652120" y="953739"/>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Botón &gt; Estadísticos</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5" name="Imagen 4"/>
          <p:cNvPicPr>
            <a:picLocks noChangeAspect="1"/>
          </p:cNvPicPr>
          <p:nvPr/>
        </p:nvPicPr>
        <p:blipFill rotWithShape="1">
          <a:blip r:embed="rId4"/>
          <a:srcRect l="1" r="-160"/>
          <a:stretch/>
        </p:blipFill>
        <p:spPr>
          <a:xfrm>
            <a:off x="457019" y="1024854"/>
            <a:ext cx="4691768" cy="2757929"/>
          </a:xfrm>
          <a:prstGeom prst="rect">
            <a:avLst/>
          </a:prstGeom>
          <a:effectLst>
            <a:outerShdw blurRad="50800" dist="38100" dir="10800000" sx="101000" sy="101000" algn="r" rotWithShape="0">
              <a:prstClr val="black">
                <a:alpha val="40000"/>
              </a:prstClr>
            </a:outerShdw>
          </a:effectLst>
        </p:spPr>
      </p:pic>
      <p:sp>
        <p:nvSpPr>
          <p:cNvPr id="17" name="Text Box 46"/>
          <p:cNvSpPr txBox="1">
            <a:spLocks noChangeArrowheads="1"/>
          </p:cNvSpPr>
          <p:nvPr/>
        </p:nvSpPr>
        <p:spPr bwMode="auto">
          <a:xfrm>
            <a:off x="1451863" y="3946280"/>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Seleccionamos la prueba</a:t>
            </a:r>
            <a:endParaRPr lang="es-ES" altLang="es-AR" sz="1500" b="1" dirty="0">
              <a:latin typeface="Cambria" panose="02040503050406030204" pitchFamily="18" charset="0"/>
              <a:ea typeface="Cambria" panose="02040503050406030204" pitchFamily="18" charset="0"/>
            </a:endParaRPr>
          </a:p>
        </p:txBody>
      </p:sp>
      <p:sp>
        <p:nvSpPr>
          <p:cNvPr id="22" name="Text Box 46"/>
          <p:cNvSpPr txBox="1">
            <a:spLocks noChangeArrowheads="1"/>
          </p:cNvSpPr>
          <p:nvPr/>
        </p:nvSpPr>
        <p:spPr bwMode="auto">
          <a:xfrm>
            <a:off x="4320500" y="1346154"/>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endCxn id="22" idx="3"/>
          </p:cNvCxnSpPr>
          <p:nvPr/>
        </p:nvCxnSpPr>
        <p:spPr bwMode="auto">
          <a:xfrm rot="10800000" flipV="1">
            <a:off x="5148787" y="1034787"/>
            <a:ext cx="492558" cy="47294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6" name="Imagen 5"/>
          <p:cNvPicPr>
            <a:picLocks noChangeAspect="1"/>
          </p:cNvPicPr>
          <p:nvPr/>
        </p:nvPicPr>
        <p:blipFill>
          <a:blip r:embed="rId5"/>
          <a:stretch>
            <a:fillRect/>
          </a:stretch>
        </p:blipFill>
        <p:spPr>
          <a:xfrm>
            <a:off x="4350873" y="2142891"/>
            <a:ext cx="3184004" cy="3008614"/>
          </a:xfrm>
          <a:prstGeom prst="rect">
            <a:avLst/>
          </a:prstGeom>
        </p:spPr>
      </p:pic>
      <p:sp>
        <p:nvSpPr>
          <p:cNvPr id="21" name="Text Box 46"/>
          <p:cNvSpPr txBox="1">
            <a:spLocks noChangeArrowheads="1"/>
          </p:cNvSpPr>
          <p:nvPr/>
        </p:nvSpPr>
        <p:spPr bwMode="auto">
          <a:xfrm>
            <a:off x="4439076" y="2407053"/>
            <a:ext cx="950886" cy="338182"/>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9" name="AutoShape 50"/>
          <p:cNvCxnSpPr>
            <a:cxnSpLocks noChangeShapeType="1"/>
            <a:stCxn id="17" idx="0"/>
          </p:cNvCxnSpPr>
          <p:nvPr/>
        </p:nvCxnSpPr>
        <p:spPr bwMode="auto">
          <a:xfrm rot="5400000" flipH="1" flipV="1">
            <a:off x="2859959" y="2484282"/>
            <a:ext cx="1404942" cy="1519054"/>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531592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Prueba de independencia estadística </a:t>
                </a:r>
                <a14:m>
                  <m:oMath xmlns:m="http://schemas.openxmlformats.org/officeDocument/2006/math">
                    <m:sSup>
                      <m:sSupPr>
                        <m:ctrlP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 </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mc:Choice>
        <mc:Fallback xmlns="">
          <p:sp>
            <p:nvSpPr>
              <p:cNvPr id="6146" name="Rectangle 2">
                <a:extLst>
                  <a:ext uri="{FF2B5EF4-FFF2-40B4-BE49-F238E27FC236}">
                    <a16:creationId xmlns:a16="http://schemas.microsoft.com/office/drawing/2014/main" id="{4F2485E4-3C6C-4A1D-B5F1-AA7F2AB7B061}"/>
                  </a:ext>
                </a:extLst>
              </p:cNvPr>
              <p:cNvSpPr>
                <a:spLocks noGrp="1" noRot="1" noChangeAspect="1" noMove="1" noResize="1" noEditPoints="1" noAdjustHandles="1" noChangeArrowheads="1" noChangeShapeType="1" noTextEdit="1"/>
              </p:cNvSpPr>
              <p:nvPr>
                <p:ph type="title" idx="4294967295"/>
              </p:nvPr>
            </p:nvSpPr>
            <p:spPr>
              <a:xfrm>
                <a:off x="0" y="230994"/>
                <a:ext cx="9324528" cy="630907"/>
              </a:xfrm>
              <a:blipFill>
                <a:blip r:embed="rId3"/>
                <a:stretch>
                  <a:fillRect l="-1307" t="-971" b="-18447"/>
                </a:stretch>
              </a:blipFill>
            </p:spPr>
            <p:txBody>
              <a:bodyPr/>
              <a:lstStyle/>
              <a:p>
                <a:r>
                  <a:rPr lang="es-AR">
                    <a:noFill/>
                  </a:rPr>
                  <a:t> </a:t>
                </a:r>
              </a:p>
            </p:txBody>
          </p:sp>
        </mc:Fallback>
      </mc:AlternateContent>
      <p:sp>
        <p:nvSpPr>
          <p:cNvPr id="27" name="Text Box 46"/>
          <p:cNvSpPr txBox="1">
            <a:spLocks noChangeArrowheads="1"/>
          </p:cNvSpPr>
          <p:nvPr/>
        </p:nvSpPr>
        <p:spPr bwMode="auto">
          <a:xfrm>
            <a:off x="5544470" y="1454473"/>
            <a:ext cx="2702080" cy="1361911"/>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Interpretamos la significación del coeficiente:</a:t>
            </a:r>
          </a:p>
          <a:p>
            <a:pPr algn="ctr">
              <a:spcBef>
                <a:spcPct val="50000"/>
              </a:spcBef>
            </a:pPr>
            <a:r>
              <a:rPr lang="es-ES" altLang="es-AR" sz="1500" b="1" dirty="0" smtClean="0">
                <a:latin typeface="Cambria" panose="02040503050406030204" pitchFamily="18" charset="0"/>
                <a:ea typeface="Cambria" panose="02040503050406030204" pitchFamily="18" charset="0"/>
              </a:rPr>
              <a:t>Si </a:t>
            </a:r>
            <a:r>
              <a:rPr lang="es-ES" altLang="es-AR" sz="1500" b="1" i="1" dirty="0" smtClean="0">
                <a:latin typeface="Cambria" panose="02040503050406030204" pitchFamily="18" charset="0"/>
                <a:ea typeface="Cambria" panose="02040503050406030204" pitchFamily="18" charset="0"/>
              </a:rPr>
              <a:t>p&lt;0,05 </a:t>
            </a:r>
            <a:r>
              <a:rPr lang="es-ES" altLang="es-AR" sz="1500" b="1" i="1" dirty="0" smtClean="0">
                <a:latin typeface="Cambria" panose="02040503050406030204" pitchFamily="18" charset="0"/>
                <a:ea typeface="Cambria" panose="02040503050406030204" pitchFamily="18" charset="0"/>
                <a:sym typeface="Wingdings" panose="05000000000000000000" pitchFamily="2" charset="2"/>
              </a:rPr>
              <a:t> rechazamos hipótesis nula de no asociación</a:t>
            </a:r>
            <a:r>
              <a:rPr lang="es-ES" altLang="es-AR" sz="1500" b="1" dirty="0" smtClean="0">
                <a:latin typeface="Cambria" panose="02040503050406030204" pitchFamily="18" charset="0"/>
                <a:ea typeface="Cambria" panose="02040503050406030204" pitchFamily="18" charset="0"/>
              </a:rPr>
              <a:t> </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4" name="Imagen 3"/>
          <p:cNvPicPr>
            <a:picLocks noChangeAspect="1"/>
          </p:cNvPicPr>
          <p:nvPr/>
        </p:nvPicPr>
        <p:blipFill>
          <a:blip r:embed="rId4"/>
          <a:stretch>
            <a:fillRect/>
          </a:stretch>
        </p:blipFill>
        <p:spPr>
          <a:xfrm>
            <a:off x="1345448" y="3231387"/>
            <a:ext cx="5667375" cy="3105150"/>
          </a:xfrm>
          <a:prstGeom prst="rect">
            <a:avLst/>
          </a:prstGeom>
        </p:spPr>
      </p:pic>
      <p:pic>
        <p:nvPicPr>
          <p:cNvPr id="7" name="Imagen 6"/>
          <p:cNvPicPr>
            <a:picLocks noChangeAspect="1"/>
          </p:cNvPicPr>
          <p:nvPr/>
        </p:nvPicPr>
        <p:blipFill>
          <a:blip r:embed="rId5"/>
          <a:stretch>
            <a:fillRect/>
          </a:stretch>
        </p:blipFill>
        <p:spPr>
          <a:xfrm>
            <a:off x="432502" y="1031665"/>
            <a:ext cx="4657725" cy="1866900"/>
          </a:xfrm>
          <a:prstGeom prst="rect">
            <a:avLst/>
          </a:prstGeom>
        </p:spPr>
      </p:pic>
      <p:sp>
        <p:nvSpPr>
          <p:cNvPr id="21" name="Text Box 46"/>
          <p:cNvSpPr txBox="1">
            <a:spLocks noChangeArrowheads="1"/>
          </p:cNvSpPr>
          <p:nvPr/>
        </p:nvSpPr>
        <p:spPr bwMode="auto">
          <a:xfrm>
            <a:off x="4210865" y="3961911"/>
            <a:ext cx="937922" cy="338182"/>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p:cNvCxnSpPr>
          <p:nvPr/>
        </p:nvCxnSpPr>
        <p:spPr bwMode="auto">
          <a:xfrm rot="5400000">
            <a:off x="4901644" y="3063528"/>
            <a:ext cx="1285653" cy="791365"/>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8" name="Text Box 46"/>
          <p:cNvSpPr txBox="1">
            <a:spLocks noChangeArrowheads="1"/>
          </p:cNvSpPr>
          <p:nvPr/>
        </p:nvSpPr>
        <p:spPr bwMode="auto">
          <a:xfrm>
            <a:off x="2926989" y="3874821"/>
            <a:ext cx="640258" cy="454432"/>
          </a:xfrm>
          <a:prstGeom prst="ellipse">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769413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52779" y="1052736"/>
            <a:ext cx="874039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El análisis de asociación entre variables se interesa también por la </a:t>
            </a:r>
            <a:r>
              <a:rPr lang="es-AR" altLang="es-AR" b="1" i="1" dirty="0">
                <a:solidFill>
                  <a:srgbClr val="2A8A85"/>
                </a:solidFill>
                <a:latin typeface="Cambria" panose="02040503050406030204" pitchFamily="18" charset="0"/>
                <a:ea typeface="Cambria" panose="02040503050406030204" pitchFamily="18" charset="0"/>
              </a:rPr>
              <a:t>intensidad</a:t>
            </a:r>
            <a:r>
              <a:rPr lang="es-AR" altLang="es-AR" dirty="0">
                <a:latin typeface="Cambria" panose="02040503050406030204" pitchFamily="18" charset="0"/>
                <a:ea typeface="Cambria" panose="02040503050406030204" pitchFamily="18" charset="0"/>
              </a:rPr>
              <a:t> o fuerza con la que dichas variables se relacionan. </a:t>
            </a: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Volvamos a épsilon. Si </a:t>
            </a:r>
            <a:r>
              <a:rPr lang="es-AR" altLang="es-AR" dirty="0">
                <a:latin typeface="Cambria" panose="02040503050406030204" pitchFamily="18" charset="0"/>
                <a:ea typeface="Cambria" panose="02040503050406030204" pitchFamily="18" charset="0"/>
              </a:rPr>
              <a:t>los valores </a:t>
            </a:r>
            <a:r>
              <a:rPr lang="es-AR" altLang="es-AR" dirty="0" smtClean="0">
                <a:latin typeface="Cambria" panose="02040503050406030204" pitchFamily="18" charset="0"/>
                <a:ea typeface="Cambria" panose="02040503050406030204" pitchFamily="18" charset="0"/>
              </a:rPr>
              <a:t>son altos </a:t>
            </a:r>
            <a:r>
              <a:rPr lang="es-AR" altLang="es-AR" dirty="0">
                <a:latin typeface="Cambria" panose="02040503050406030204" pitchFamily="18" charset="0"/>
                <a:ea typeface="Cambria" panose="02040503050406030204" pitchFamily="18" charset="0"/>
              </a:rPr>
              <a:t>no es lo mismo que si son </a:t>
            </a:r>
            <a:r>
              <a:rPr lang="es-AR" altLang="es-AR" dirty="0" smtClean="0">
                <a:latin typeface="Cambria" panose="02040503050406030204" pitchFamily="18" charset="0"/>
                <a:ea typeface="Cambria" panose="02040503050406030204" pitchFamily="18" charset="0"/>
              </a:rPr>
              <a:t>bajos</a:t>
            </a:r>
            <a:r>
              <a:rPr lang="es-AR" altLang="es-AR" dirty="0">
                <a:latin typeface="Cambria" panose="02040503050406030204" pitchFamily="18" charset="0"/>
                <a:ea typeface="Cambria" panose="02040503050406030204" pitchFamily="18" charset="0"/>
              </a:rPr>
              <a:t>. Ello nos da una idea de la fuerza con que las variables están asociadas. </a:t>
            </a:r>
            <a:r>
              <a:rPr lang="es-AR" altLang="es-AR" dirty="0" smtClean="0">
                <a:latin typeface="Cambria" panose="02040503050406030204" pitchFamily="18" charset="0"/>
                <a:ea typeface="Cambria" panose="02040503050406030204" pitchFamily="18" charset="0"/>
              </a:rPr>
              <a:t>¿Es lo mismo obtener los resultados del cuadro izquierdo que los del cuadro derecho? ¡No!</a:t>
            </a: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p:graphicFrame>
        <p:nvGraphicFramePr>
          <p:cNvPr id="8" name="Group 46"/>
          <p:cNvGraphicFramePr>
            <a:graphicFrameLocks noGrp="1"/>
          </p:cNvGraphicFramePr>
          <p:nvPr>
            <p:extLst>
              <p:ext uri="{D42A27DB-BD31-4B8C-83A1-F6EECF244321}">
                <p14:modId xmlns:p14="http://schemas.microsoft.com/office/powerpoint/2010/main" val="1493497292"/>
              </p:ext>
            </p:extLst>
          </p:nvPr>
        </p:nvGraphicFramePr>
        <p:xfrm>
          <a:off x="418807" y="2701163"/>
          <a:ext cx="4081756" cy="2361914"/>
        </p:xfrm>
        <a:graphic>
          <a:graphicData uri="http://schemas.openxmlformats.org/drawingml/2006/table">
            <a:tbl>
              <a:tblPr/>
              <a:tblGrid>
                <a:gridCol w="1687156">
                  <a:extLst>
                    <a:ext uri="{9D8B030D-6E8A-4147-A177-3AD203B41FA5}">
                      <a16:colId xmlns:a16="http://schemas.microsoft.com/office/drawing/2014/main" val="20000"/>
                    </a:ext>
                  </a:extLst>
                </a:gridCol>
                <a:gridCol w="909901">
                  <a:extLst>
                    <a:ext uri="{9D8B030D-6E8A-4147-A177-3AD203B41FA5}">
                      <a16:colId xmlns:a16="http://schemas.microsoft.com/office/drawing/2014/main" val="20002"/>
                    </a:ext>
                  </a:extLst>
                </a:gridCol>
                <a:gridCol w="937827">
                  <a:extLst>
                    <a:ext uri="{9D8B030D-6E8A-4147-A177-3AD203B41FA5}">
                      <a16:colId xmlns:a16="http://schemas.microsoft.com/office/drawing/2014/main" val="20003"/>
                    </a:ext>
                  </a:extLst>
                </a:gridCol>
                <a:gridCol w="546872">
                  <a:extLst>
                    <a:ext uri="{9D8B030D-6E8A-4147-A177-3AD203B41FA5}">
                      <a16:colId xmlns:a16="http://schemas.microsoft.com/office/drawing/2014/main" val="20004"/>
                    </a:ext>
                  </a:extLst>
                </a:gridCol>
              </a:tblGrid>
              <a:tr h="685514">
                <a:tc gridSpan="4">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de edad. </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0"/>
                  </a:ext>
                </a:extLst>
              </a:tr>
              <a:tr h="25904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1148">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9675">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Jóvenes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Adultos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262976">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79,6</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67,0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71,1</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62976">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20,4</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33,0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28,9</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2976">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 name="Rectangle 4">
            <a:extLst>
              <a:ext uri="{FF2B5EF4-FFF2-40B4-BE49-F238E27FC236}">
                <a16:creationId xmlns:a16="http://schemas.microsoft.com/office/drawing/2014/main" id="{8CA37703-E28F-4CBD-ACCB-8FA0ED32229C}"/>
              </a:ext>
            </a:extLst>
          </p:cNvPr>
          <p:cNvSpPr>
            <a:spLocks noChangeArrowheads="1"/>
          </p:cNvSpPr>
          <p:nvPr/>
        </p:nvSpPr>
        <p:spPr bwMode="auto">
          <a:xfrm>
            <a:off x="1121953" y="5105314"/>
            <a:ext cx="3024336" cy="369332"/>
          </a:xfrm>
          <a:prstGeom prst="rect">
            <a:avLst/>
          </a:prstGeom>
          <a:solidFill>
            <a:srgbClr val="FFC000"/>
          </a:solidFill>
          <a:ln>
            <a:noFill/>
          </a:ln>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33 – 20,4 = </a:t>
            </a:r>
            <a:r>
              <a:rPr lang="es-AR" b="1" dirty="0">
                <a:latin typeface="Cambria" panose="02040503050406030204" pitchFamily="18" charset="0"/>
                <a:ea typeface="Cambria" panose="02040503050406030204" pitchFamily="18" charset="0"/>
              </a:rPr>
              <a:t>± 12,6 pp.  </a:t>
            </a:r>
            <a:endParaRPr lang="es-AR" altLang="es-AR" b="1" dirty="0">
              <a:latin typeface="Cambria" panose="02040503050406030204" pitchFamily="18" charset="0"/>
              <a:ea typeface="Cambria" panose="02040503050406030204" pitchFamily="18" charset="0"/>
            </a:endParaRPr>
          </a:p>
        </p:txBody>
      </p:sp>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3"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14"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2) fuerza</a:t>
            </a:r>
            <a:endParaRPr lang="es-AR" sz="2400" dirty="0">
              <a:latin typeface="Cambria" panose="02040503050406030204" pitchFamily="18" charset="0"/>
            </a:endParaRPr>
          </a:p>
        </p:txBody>
      </p:sp>
      <p:graphicFrame>
        <p:nvGraphicFramePr>
          <p:cNvPr id="16" name="Group 46"/>
          <p:cNvGraphicFramePr>
            <a:graphicFrameLocks noGrp="1"/>
          </p:cNvGraphicFramePr>
          <p:nvPr>
            <p:extLst>
              <p:ext uri="{D42A27DB-BD31-4B8C-83A1-F6EECF244321}">
                <p14:modId xmlns:p14="http://schemas.microsoft.com/office/powerpoint/2010/main" val="792029699"/>
              </p:ext>
            </p:extLst>
          </p:nvPr>
        </p:nvGraphicFramePr>
        <p:xfrm>
          <a:off x="4656826" y="2713011"/>
          <a:ext cx="4074259" cy="2374281"/>
        </p:xfrm>
        <a:graphic>
          <a:graphicData uri="http://schemas.openxmlformats.org/drawingml/2006/table">
            <a:tbl>
              <a:tblPr/>
              <a:tblGrid>
                <a:gridCol w="1684057">
                  <a:extLst>
                    <a:ext uri="{9D8B030D-6E8A-4147-A177-3AD203B41FA5}">
                      <a16:colId xmlns:a16="http://schemas.microsoft.com/office/drawing/2014/main" val="20000"/>
                    </a:ext>
                  </a:extLst>
                </a:gridCol>
                <a:gridCol w="908230">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545868">
                  <a:extLst>
                    <a:ext uri="{9D8B030D-6E8A-4147-A177-3AD203B41FA5}">
                      <a16:colId xmlns:a16="http://schemas.microsoft.com/office/drawing/2014/main" val="20004"/>
                    </a:ext>
                  </a:extLst>
                </a:gridCol>
              </a:tblGrid>
              <a:tr h="688153">
                <a:tc gridSpan="4">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 impreso según grupo de edad. </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tc hMerge="1">
                  <a:txBody>
                    <a:bodyPr/>
                    <a:lstStyle/>
                    <a:p>
                      <a:endParaRPr lang="es-ES"/>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5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Consumo de diarios impresos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Grupo de edad</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tc row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349">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Jóvenes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Adultos</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s-ES"/>
                    </a:p>
                  </a:txBody>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89,0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58,9</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68,8</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Sí</a:t>
                      </a:r>
                      <a:endParaRPr kumimoji="0" lang="es-ES" sz="16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11,0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41,1</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31,2</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600" b="0" i="0" u="none" strike="noStrike" cap="none" normalizeH="0" baseline="0">
                          <a:ln>
                            <a:noFill/>
                          </a:ln>
                          <a:solidFill>
                            <a:srgbClr val="000000"/>
                          </a:solidFill>
                          <a:effectLst/>
                          <a:latin typeface="Calibri" pitchFamily="34" charset="0"/>
                          <a:ea typeface="Times New Roman" pitchFamily="18" charset="0"/>
                          <a:cs typeface="Calibri" pitchFamily="34" charset="0"/>
                        </a:rPr>
                        <a:t>Total</a:t>
                      </a:r>
                      <a:endParaRPr kumimoji="0" lang="es-ES" sz="16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6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 name="Rectangle 4">
            <a:extLst>
              <a:ext uri="{FF2B5EF4-FFF2-40B4-BE49-F238E27FC236}">
                <a16:creationId xmlns:a16="http://schemas.microsoft.com/office/drawing/2014/main" id="{8CA37703-E28F-4CBD-ACCB-8FA0ED32229C}"/>
              </a:ext>
            </a:extLst>
          </p:cNvPr>
          <p:cNvSpPr>
            <a:spLocks noChangeArrowheads="1"/>
          </p:cNvSpPr>
          <p:nvPr/>
        </p:nvSpPr>
        <p:spPr bwMode="auto">
          <a:xfrm>
            <a:off x="5297421" y="5111476"/>
            <a:ext cx="3024336" cy="369332"/>
          </a:xfrm>
          <a:prstGeom prst="rect">
            <a:avLst/>
          </a:prstGeom>
          <a:solidFill>
            <a:srgbClr val="FFC000"/>
          </a:solidFill>
          <a:ln>
            <a:noFill/>
          </a:ln>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41,1 – 11,0 = </a:t>
            </a:r>
            <a:r>
              <a:rPr lang="es-AR" b="1" dirty="0">
                <a:latin typeface="Cambria" panose="02040503050406030204" pitchFamily="18" charset="0"/>
                <a:ea typeface="Cambria" panose="02040503050406030204" pitchFamily="18" charset="0"/>
              </a:rPr>
              <a:t>± 30,1 pp.  </a:t>
            </a:r>
            <a:endParaRPr lang="es-AR" altLang="es-AR" b="1" dirty="0">
              <a:latin typeface="Cambria" panose="02040503050406030204" pitchFamily="18" charset="0"/>
              <a:ea typeface="Cambria" panose="02040503050406030204" pitchFamily="18" charset="0"/>
            </a:endParaRPr>
          </a:p>
        </p:txBody>
      </p:sp>
      <p:sp>
        <p:nvSpPr>
          <p:cNvPr id="18" name="Rectangle 4">
            <a:extLst>
              <a:ext uri="{FF2B5EF4-FFF2-40B4-BE49-F238E27FC236}">
                <a16:creationId xmlns:a16="http://schemas.microsoft.com/office/drawing/2014/main" id="{8CA37703-E28F-4CBD-ACCB-8FA0ED32229C}"/>
              </a:ext>
            </a:extLst>
          </p:cNvPr>
          <p:cNvSpPr>
            <a:spLocks noChangeArrowheads="1"/>
          </p:cNvSpPr>
          <p:nvPr/>
        </p:nvSpPr>
        <p:spPr bwMode="auto">
          <a:xfrm>
            <a:off x="152779" y="5665747"/>
            <a:ext cx="87586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dirty="0" smtClean="0">
                <a:latin typeface="Cambria" panose="02040503050406030204" pitchFamily="18" charset="0"/>
                <a:ea typeface="Cambria" panose="02040503050406030204" pitchFamily="18" charset="0"/>
              </a:rPr>
              <a:t>Nuestra hipótesis luce más fuerte o robusta en el cuadro derecho, justamente porque la asociación es más fuerte. </a:t>
            </a:r>
            <a:endParaRPr lang="es-AR" altLang="es-A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004465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84768"/>
            <a:ext cx="864234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idea de</a:t>
            </a:r>
            <a:r>
              <a:rPr lang="es-AR" altLang="es-AR" i="1" dirty="0">
                <a:solidFill>
                  <a:srgbClr val="2A8A85"/>
                </a:solidFill>
                <a:latin typeface="Cambria" panose="02040503050406030204" pitchFamily="18" charset="0"/>
                <a:ea typeface="Cambria" panose="02040503050406030204" pitchFamily="18" charset="0"/>
              </a:rPr>
              <a:t> </a:t>
            </a:r>
            <a:r>
              <a:rPr lang="es-AR" altLang="es-AR" b="1" i="1" dirty="0">
                <a:solidFill>
                  <a:srgbClr val="2A8A85"/>
                </a:solidFill>
                <a:latin typeface="Cambria" panose="02040503050406030204" pitchFamily="18" charset="0"/>
                <a:ea typeface="Cambria" panose="02040503050406030204" pitchFamily="18" charset="0"/>
              </a:rPr>
              <a:t>dirección</a:t>
            </a:r>
            <a:r>
              <a:rPr lang="es-AR" altLang="es-AR" i="1" dirty="0">
                <a:solidFill>
                  <a:srgbClr val="2A8A85"/>
                </a:solidFill>
                <a:latin typeface="Cambria" panose="02040503050406030204" pitchFamily="18" charset="0"/>
                <a:ea typeface="Cambria" panose="02040503050406030204" pitchFamily="18" charset="0"/>
              </a:rPr>
              <a:t> </a:t>
            </a:r>
            <a:r>
              <a:rPr lang="es-AR" altLang="es-AR" dirty="0">
                <a:latin typeface="Cambria" panose="02040503050406030204" pitchFamily="18" charset="0"/>
                <a:ea typeface="Cambria" panose="02040503050406030204" pitchFamily="18" charset="0"/>
              </a:rPr>
              <a:t>de la asociación sólo tiene sentido cuando las variables son, al menos, de nivel de medición ordinal. </a:t>
            </a: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Cuando los valores altos (bajos) de una variable varían con los niveles altos (bajos) de la otra variable, hablamos de una </a:t>
            </a:r>
            <a:r>
              <a:rPr lang="es-AR" altLang="es-AR" b="1" i="1" dirty="0">
                <a:solidFill>
                  <a:srgbClr val="2A8A85"/>
                </a:solidFill>
                <a:latin typeface="Cambria" panose="02040503050406030204" pitchFamily="18" charset="0"/>
                <a:ea typeface="Cambria" panose="02040503050406030204" pitchFamily="18" charset="0"/>
              </a:rPr>
              <a:t>asociación positiva</a:t>
            </a:r>
            <a:r>
              <a:rPr lang="es-AR" altLang="es-AR" dirty="0">
                <a:latin typeface="Cambria" panose="02040503050406030204" pitchFamily="18" charset="0"/>
                <a:ea typeface="Cambria" panose="02040503050406030204" pitchFamily="18" charset="0"/>
              </a:rPr>
              <a:t>. Cuando los valores altos (bajos) se corresponden con los valores bajos (altos) de la otra variable, nos referimos a una </a:t>
            </a:r>
            <a:r>
              <a:rPr lang="es-AR" altLang="es-AR" b="1" i="1" dirty="0">
                <a:solidFill>
                  <a:srgbClr val="2A8A85"/>
                </a:solidFill>
                <a:latin typeface="Cambria" panose="02040503050406030204" pitchFamily="18" charset="0"/>
                <a:ea typeface="Cambria" panose="02040503050406030204" pitchFamily="18" charset="0"/>
              </a:rPr>
              <a:t>asociación negativa (o inversa)</a:t>
            </a:r>
            <a:r>
              <a:rPr lang="es-AR" altLang="es-AR" dirty="0">
                <a:latin typeface="Cambria" panose="02040503050406030204" pitchFamily="18" charset="0"/>
                <a:ea typeface="Cambria" panose="02040503050406030204" pitchFamily="18" charset="0"/>
              </a:rPr>
              <a:t>. </a:t>
            </a:r>
            <a:endParaRPr lang="es-AR" altLang="es-AR"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En el ejemplo a continuación, vemos una relación positiva entre origen socioeconómico y destino socioeconómico.</a:t>
            </a:r>
            <a:endParaRPr lang="es-AR" altLang="es-AR" dirty="0">
              <a:latin typeface="Cambria" panose="02040503050406030204" pitchFamily="18" charset="0"/>
              <a:ea typeface="Cambria" panose="02040503050406030204" pitchFamily="18" charset="0"/>
            </a:endParaRPr>
          </a:p>
        </p:txBody>
      </p:sp>
      <p:graphicFrame>
        <p:nvGraphicFramePr>
          <p:cNvPr id="12" name="11 Tabla"/>
          <p:cNvGraphicFramePr>
            <a:graphicFrameLocks noGrp="1"/>
          </p:cNvGraphicFramePr>
          <p:nvPr>
            <p:extLst>
              <p:ext uri="{D42A27DB-BD31-4B8C-83A1-F6EECF244321}">
                <p14:modId xmlns:p14="http://schemas.microsoft.com/office/powerpoint/2010/main" val="1389769328"/>
              </p:ext>
            </p:extLst>
          </p:nvPr>
        </p:nvGraphicFramePr>
        <p:xfrm>
          <a:off x="827088" y="4018834"/>
          <a:ext cx="5078250" cy="2012778"/>
        </p:xfrm>
        <a:graphic>
          <a:graphicData uri="http://schemas.openxmlformats.org/drawingml/2006/table">
            <a:tbl>
              <a:tblPr/>
              <a:tblGrid>
                <a:gridCol w="1244669">
                  <a:extLst>
                    <a:ext uri="{9D8B030D-6E8A-4147-A177-3AD203B41FA5}">
                      <a16:colId xmlns:a16="http://schemas.microsoft.com/office/drawing/2014/main" val="20000"/>
                    </a:ext>
                  </a:extLst>
                </a:gridCol>
                <a:gridCol w="647228">
                  <a:extLst>
                    <a:ext uri="{9D8B030D-6E8A-4147-A177-3AD203B41FA5}">
                      <a16:colId xmlns:a16="http://schemas.microsoft.com/office/drawing/2014/main" val="20001"/>
                    </a:ext>
                  </a:extLst>
                </a:gridCol>
                <a:gridCol w="697014">
                  <a:extLst>
                    <a:ext uri="{9D8B030D-6E8A-4147-A177-3AD203B41FA5}">
                      <a16:colId xmlns:a16="http://schemas.microsoft.com/office/drawing/2014/main" val="20002"/>
                    </a:ext>
                  </a:extLst>
                </a:gridCol>
                <a:gridCol w="796588">
                  <a:extLst>
                    <a:ext uri="{9D8B030D-6E8A-4147-A177-3AD203B41FA5}">
                      <a16:colId xmlns:a16="http://schemas.microsoft.com/office/drawing/2014/main" val="2372811546"/>
                    </a:ext>
                  </a:extLst>
                </a:gridCol>
                <a:gridCol w="846375">
                  <a:extLst>
                    <a:ext uri="{9D8B030D-6E8A-4147-A177-3AD203B41FA5}">
                      <a16:colId xmlns:a16="http://schemas.microsoft.com/office/drawing/2014/main" val="20003"/>
                    </a:ext>
                  </a:extLst>
                </a:gridCol>
                <a:gridCol w="846376">
                  <a:extLst>
                    <a:ext uri="{9D8B030D-6E8A-4147-A177-3AD203B41FA5}">
                      <a16:colId xmlns:a16="http://schemas.microsoft.com/office/drawing/2014/main" val="20004"/>
                    </a:ext>
                  </a:extLst>
                </a:gridCol>
              </a:tblGrid>
              <a:tr h="288032">
                <a:tc rowSpan="2" gridSpan="2">
                  <a:txBody>
                    <a:bodyPr/>
                    <a:lstStyle/>
                    <a:p>
                      <a:pPr algn="ctr" fontAlgn="ctr"/>
                      <a:r>
                        <a:rPr lang="es-AR" sz="1800" b="0" i="0" u="none" strike="noStrike" dirty="0">
                          <a:solidFill>
                            <a:srgbClr val="000000"/>
                          </a:solidFill>
                          <a:latin typeface="Calibri" pitchFamily="34" charset="0"/>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s-AR"/>
                    </a:p>
                  </a:txBody>
                  <a:tcPr/>
                </a:tc>
                <a:tc gridSpan="3">
                  <a:txBody>
                    <a:bodyPr/>
                    <a:lstStyle/>
                    <a:p>
                      <a:pPr algn="ctr" fontAlgn="b"/>
                      <a:r>
                        <a:rPr lang="es-AR" sz="1800" b="1" i="0" u="none" strike="noStrike" dirty="0" smtClean="0">
                          <a:solidFill>
                            <a:srgbClr val="000000"/>
                          </a:solidFill>
                          <a:latin typeface="Calibri" pitchFamily="34" charset="0"/>
                        </a:rPr>
                        <a:t>Origen </a:t>
                      </a:r>
                      <a:r>
                        <a:rPr lang="es-AR" sz="1800" b="1" i="0" u="none" strike="noStrike" dirty="0">
                          <a:solidFill>
                            <a:srgbClr val="000000"/>
                          </a:solidFill>
                          <a:latin typeface="Calibri" pitchFamily="34" charset="0"/>
                        </a:rPr>
                        <a:t>socioeconómico </a:t>
                      </a:r>
                      <a:r>
                        <a:rPr lang="es-AR" sz="1800" b="1" i="0" u="none" strike="noStrike" dirty="0" smtClean="0">
                          <a:solidFill>
                            <a:srgbClr val="000000"/>
                          </a:solidFill>
                          <a:latin typeface="Calibri" pitchFamily="34" charset="0"/>
                        </a:rPr>
                        <a:t>(padre)</a:t>
                      </a:r>
                      <a:endParaRPr lang="es-AR" sz="1800" b="1" i="0" u="none" strike="noStrike" dirty="0">
                        <a:solidFill>
                          <a:srgbClr val="000000"/>
                        </a:solidFill>
                        <a:latin typeface="Calibri" pitchFamily="34" charset="0"/>
                      </a:endParaRP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s-AR"/>
                    </a:p>
                  </a:txBody>
                  <a:tcPr/>
                </a:tc>
                <a:tc hMerge="1">
                  <a:txBody>
                    <a:bodyPr/>
                    <a:lstStyle/>
                    <a:p>
                      <a:endParaRPr lang="es-AR"/>
                    </a:p>
                  </a:txBody>
                  <a:tcPr/>
                </a:tc>
                <a:tc rowSpan="2">
                  <a:txBody>
                    <a:bodyPr/>
                    <a:lstStyle/>
                    <a:p>
                      <a:pPr algn="ctr" fontAlgn="b"/>
                      <a:r>
                        <a:rPr lang="es-AR" sz="1800" b="0" i="0" u="none" strike="noStrike">
                          <a:solidFill>
                            <a:srgbClr val="000000"/>
                          </a:solidFill>
                          <a:latin typeface="Calibri" pitchFamily="34" charset="0"/>
                        </a:rPr>
                        <a:t>Total</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9233">
                <a:tc gridSpan="2" vMerge="1">
                  <a:txBody>
                    <a:bodyPr/>
                    <a:lstStyle/>
                    <a:p>
                      <a:endParaRPr lang="es-AR"/>
                    </a:p>
                  </a:txBody>
                  <a:tcPr/>
                </a:tc>
                <a:tc hMerge="1" vMerge="1">
                  <a:txBody>
                    <a:bodyPr/>
                    <a:lstStyle/>
                    <a:p>
                      <a:endParaRPr lang="es-AR"/>
                    </a:p>
                  </a:txBody>
                  <a:tcPr/>
                </a:tc>
                <a:tc>
                  <a:txBody>
                    <a:bodyPr/>
                    <a:lstStyle/>
                    <a:p>
                      <a:pPr algn="ctr" fontAlgn="b"/>
                      <a:r>
                        <a:rPr lang="es-AR" sz="1800" b="0" i="0" u="none" strike="noStrike" dirty="0">
                          <a:solidFill>
                            <a:srgbClr val="000000"/>
                          </a:solidFill>
                          <a:latin typeface="Calibri" pitchFamily="34" charset="0"/>
                        </a:rPr>
                        <a:t>Alto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s-AR" sz="1800" b="0" i="0" u="none" strike="noStrike" dirty="0">
                          <a:solidFill>
                            <a:srgbClr val="000000"/>
                          </a:solidFill>
                          <a:latin typeface="Calibri" pitchFamily="34" charset="0"/>
                        </a:rPr>
                        <a:t>Medio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s-AR" sz="1800" b="0" i="0" u="none" strike="noStrike" dirty="0">
                          <a:solidFill>
                            <a:srgbClr val="000000"/>
                          </a:solidFill>
                          <a:latin typeface="Calibri" pitchFamily="34" charset="0"/>
                        </a:rPr>
                        <a:t>Bajo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s-AR"/>
                    </a:p>
                  </a:txBody>
                  <a:tcPr/>
                </a:tc>
                <a:extLst>
                  <a:ext uri="{0D108BD9-81ED-4DB2-BD59-A6C34878D82A}">
                    <a16:rowId xmlns:a16="http://schemas.microsoft.com/office/drawing/2014/main" val="10001"/>
                  </a:ext>
                </a:extLst>
              </a:tr>
              <a:tr h="246545">
                <a:tc rowSpan="3">
                  <a:txBody>
                    <a:bodyPr/>
                    <a:lstStyle/>
                    <a:p>
                      <a:pPr algn="l" fontAlgn="t"/>
                      <a:r>
                        <a:rPr lang="es-AR" sz="1800" b="1" i="0" u="none" strike="noStrike" dirty="0" smtClean="0">
                          <a:solidFill>
                            <a:srgbClr val="000000"/>
                          </a:solidFill>
                          <a:latin typeface="Calibri" pitchFamily="34" charset="0"/>
                        </a:rPr>
                        <a:t>Destino </a:t>
                      </a:r>
                      <a:r>
                        <a:rPr lang="es-AR" sz="1800" b="1" i="0" u="none" strike="noStrike" dirty="0">
                          <a:solidFill>
                            <a:srgbClr val="000000"/>
                          </a:solidFill>
                          <a:latin typeface="Calibri" pitchFamily="34" charset="0"/>
                        </a:rPr>
                        <a:t>socioeconómico </a:t>
                      </a:r>
                      <a:r>
                        <a:rPr lang="es-AR" sz="1800" b="1" i="0" u="none" strike="noStrike" dirty="0" smtClean="0">
                          <a:solidFill>
                            <a:srgbClr val="000000"/>
                          </a:solidFill>
                          <a:latin typeface="Calibri" pitchFamily="34" charset="0"/>
                        </a:rPr>
                        <a:t>(hijo)</a:t>
                      </a:r>
                      <a:endParaRPr lang="es-AR" sz="1800" b="1" i="0" u="none" strike="noStrike" dirty="0">
                        <a:solidFill>
                          <a:srgbClr val="000000"/>
                        </a:solidFill>
                        <a:latin typeface="Calibri" pitchFamily="34" charset="0"/>
                      </a:endParaRPr>
                    </a:p>
                  </a:txBody>
                  <a:tcPr marL="9525" marR="9525" marT="9525"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t"/>
                      <a:r>
                        <a:rPr lang="es-AR" sz="1800" b="0" i="0" u="none" strike="noStrike" dirty="0">
                          <a:solidFill>
                            <a:srgbClr val="000000"/>
                          </a:solidFill>
                          <a:latin typeface="Calibri" pitchFamily="34" charset="0"/>
                        </a:rPr>
                        <a:t>Alto</a:t>
                      </a:r>
                    </a:p>
                  </a:txBody>
                  <a:tcPr marL="9525" marR="9525" marT="9525"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smtClean="0">
                          <a:solidFill>
                            <a:srgbClr val="000000"/>
                          </a:solidFill>
                          <a:effectLst/>
                          <a:latin typeface="Calibri" panose="020F0502020204030204" pitchFamily="34" charset="0"/>
                          <a:cs typeface="Calibri" panose="020F0502020204030204" pitchFamily="34" charset="0"/>
                        </a:rPr>
                        <a:t>63,4</a:t>
                      </a:r>
                      <a:endParaRPr lang="es-AR" sz="1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smtClean="0">
                          <a:solidFill>
                            <a:srgbClr val="000000"/>
                          </a:solidFill>
                          <a:effectLst/>
                          <a:latin typeface="Calibri" panose="020F0502020204030204" pitchFamily="34" charset="0"/>
                          <a:cs typeface="Calibri" panose="020F0502020204030204" pitchFamily="34" charset="0"/>
                        </a:rPr>
                        <a:t>25,5</a:t>
                      </a:r>
                      <a:endParaRPr lang="es-AR" sz="1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46545">
                <a:tc vMerge="1">
                  <a:txBody>
                    <a:bodyPr/>
                    <a:lstStyle/>
                    <a:p>
                      <a:endParaRPr lang="es-AR"/>
                    </a:p>
                  </a:txBody>
                  <a:tcPr/>
                </a:tc>
                <a:tc>
                  <a:txBody>
                    <a:bodyPr/>
                    <a:lstStyle/>
                    <a:p>
                      <a:pPr algn="l" fontAlgn="t"/>
                      <a:r>
                        <a:rPr lang="es-AR" sz="1800" b="0" i="0" u="none" strike="noStrike" dirty="0">
                          <a:solidFill>
                            <a:srgbClr val="000000"/>
                          </a:solidFill>
                          <a:latin typeface="Calibri" pitchFamily="34" charset="0"/>
                        </a:rPr>
                        <a:t>Medio</a:t>
                      </a:r>
                    </a:p>
                  </a:txBody>
                  <a:tcPr marL="9525" marR="9525" marT="9525"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2</a:t>
                      </a:r>
                      <a:r>
                        <a:rPr lang="es-AR" sz="1600" b="0" i="0" u="none" strike="noStrike" dirty="0" smtClean="0">
                          <a:solidFill>
                            <a:srgbClr val="000000"/>
                          </a:solidFill>
                          <a:effectLst/>
                          <a:latin typeface="Calibri" panose="020F0502020204030204" pitchFamily="34" charset="0"/>
                          <a:cs typeface="Calibri" panose="020F0502020204030204" pitchFamily="34" charset="0"/>
                        </a:rPr>
                        <a:t>3,6</a:t>
                      </a:r>
                      <a:endParaRPr lang="es-AR" sz="1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smtClean="0">
                          <a:solidFill>
                            <a:srgbClr val="000000"/>
                          </a:solidFill>
                          <a:effectLst/>
                          <a:latin typeface="Calibri" panose="020F0502020204030204" pitchFamily="34" charset="0"/>
                          <a:cs typeface="Calibri" panose="020F0502020204030204" pitchFamily="34" charset="0"/>
                        </a:rPr>
                        <a:t>43,4</a:t>
                      </a:r>
                      <a:endParaRPr lang="es-AR" sz="1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46545">
                <a:tc vMerge="1">
                  <a:txBody>
                    <a:bodyPr/>
                    <a:lstStyle/>
                    <a:p>
                      <a:endParaRPr lang="es-AR"/>
                    </a:p>
                  </a:txBody>
                  <a:tcPr/>
                </a:tc>
                <a:tc>
                  <a:txBody>
                    <a:bodyPr/>
                    <a:lstStyle/>
                    <a:p>
                      <a:pPr algn="l" fontAlgn="t"/>
                      <a:r>
                        <a:rPr lang="es-AR" sz="1800" b="0" i="0" u="none" strike="noStrike" dirty="0">
                          <a:solidFill>
                            <a:srgbClr val="000000"/>
                          </a:solidFill>
                          <a:latin typeface="Calibri" pitchFamily="34" charset="0"/>
                        </a:rPr>
                        <a:t>Bajo</a:t>
                      </a:r>
                    </a:p>
                  </a:txBody>
                  <a:tcPr marL="9525" marR="9525" marT="9525"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13,1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61,6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31,1</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258872">
                <a:tc gridSpan="2">
                  <a:txBody>
                    <a:bodyPr/>
                    <a:lstStyle/>
                    <a:p>
                      <a:pPr algn="l" fontAlgn="t"/>
                      <a:r>
                        <a:rPr lang="es-AR" sz="1800" b="0" i="0" u="none" strike="noStrike" dirty="0">
                          <a:solidFill>
                            <a:srgbClr val="000000"/>
                          </a:solidFill>
                          <a:latin typeface="Calibri" pitchFamily="34" charset="0"/>
                        </a:rPr>
                        <a:t>Total</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AR"/>
                    </a:p>
                  </a:txBody>
                  <a:tcPr/>
                </a:tc>
                <a:tc>
                  <a:txBody>
                    <a:bodyPr/>
                    <a:lstStyle/>
                    <a:p>
                      <a:pPr algn="ctr" fontAlgn="b"/>
                      <a:r>
                        <a:rPr lang="es-AR" sz="1600" b="0" i="0" u="none" strike="noStrike">
                          <a:solidFill>
                            <a:srgbClr val="000000"/>
                          </a:solidFill>
                          <a:effectLst/>
                          <a:latin typeface="Calibri" panose="020F0502020204030204" pitchFamily="34" charset="0"/>
                          <a:cs typeface="Calibri" panose="020F0502020204030204" pitchFamily="34" charset="0"/>
                        </a:rPr>
                        <a:t>100,0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Text Box 46"/>
          <p:cNvSpPr txBox="1">
            <a:spLocks noChangeArrowheads="1"/>
          </p:cNvSpPr>
          <p:nvPr/>
        </p:nvSpPr>
        <p:spPr bwMode="auto">
          <a:xfrm>
            <a:off x="2916238" y="6073487"/>
            <a:ext cx="1584325" cy="553998"/>
          </a:xfrm>
          <a:prstGeom prst="rect">
            <a:avLst/>
          </a:prstGeom>
          <a:solidFill>
            <a:srgbClr val="CAE8E7"/>
          </a:solidFill>
          <a:ln w="9525" algn="ctr">
            <a:solidFill>
              <a:srgbClr val="000000"/>
            </a:solidFill>
            <a:miter lim="800000"/>
            <a:headEnd/>
            <a:tailEnd/>
          </a:ln>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ASOCIACIÓN POSITIVA</a:t>
            </a: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3) dirección</a:t>
            </a:r>
            <a:endParaRPr lang="es-AR" sz="2400" dirty="0">
              <a:latin typeface="Cambria" panose="02040503050406030204" pitchFamily="18" charset="0"/>
            </a:endParaRPr>
          </a:p>
        </p:txBody>
      </p:sp>
      <p:sp>
        <p:nvSpPr>
          <p:cNvPr id="16" name="Rectangle 4"/>
          <p:cNvSpPr>
            <a:spLocks noChangeArrowheads="1"/>
          </p:cNvSpPr>
          <p:nvPr/>
        </p:nvSpPr>
        <p:spPr bwMode="auto">
          <a:xfrm>
            <a:off x="5907182" y="3913926"/>
            <a:ext cx="298599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En una asociación positiva, los porcentajes altos se ubican en la </a:t>
            </a:r>
            <a:r>
              <a:rPr lang="es-AR" altLang="es-AR" b="1" i="1" dirty="0" smtClean="0">
                <a:solidFill>
                  <a:srgbClr val="2A8A85"/>
                </a:solidFill>
                <a:latin typeface="Cambria" panose="02040503050406030204" pitchFamily="18" charset="0"/>
                <a:ea typeface="Cambria" panose="02040503050406030204" pitchFamily="18" charset="0"/>
              </a:rPr>
              <a:t>diagonal principal</a:t>
            </a:r>
            <a:r>
              <a:rPr lang="es-AR" altLang="es-AR" dirty="0" smtClean="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En una asociación negativa, los porcentajes altos se ubican en la </a:t>
            </a:r>
            <a:r>
              <a:rPr lang="es-AR" altLang="es-AR" b="1" i="1" dirty="0" smtClean="0">
                <a:solidFill>
                  <a:srgbClr val="2A8A85"/>
                </a:solidFill>
                <a:latin typeface="Cambria" panose="02040503050406030204" pitchFamily="18" charset="0"/>
                <a:ea typeface="Cambria" panose="02040503050406030204" pitchFamily="18" charset="0"/>
              </a:rPr>
              <a:t>diagonal secundaria.</a:t>
            </a:r>
            <a:endParaRPr lang="es-AR" altLang="es-AR" b="1" i="1" dirty="0">
              <a:solidFill>
                <a:srgbClr val="2A8A85"/>
              </a:solidFill>
              <a:latin typeface="Cambria" panose="02040503050406030204" pitchFamily="18" charset="0"/>
              <a:ea typeface="Cambria" panose="02040503050406030204" pitchFamily="18" charset="0"/>
            </a:endParaRPr>
          </a:p>
        </p:txBody>
      </p:sp>
      <p:sp>
        <p:nvSpPr>
          <p:cNvPr id="2" name="Elipse 1"/>
          <p:cNvSpPr/>
          <p:nvPr/>
        </p:nvSpPr>
        <p:spPr>
          <a:xfrm rot="1225456">
            <a:off x="2531192" y="5128569"/>
            <a:ext cx="2696866" cy="437919"/>
          </a:xfrm>
          <a:prstGeom prst="ellipse">
            <a:avLst/>
          </a:prstGeom>
          <a:solidFill>
            <a:schemeClr val="bg1">
              <a:lumMod val="85000"/>
              <a:alpha val="27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310091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126485"/>
            <a:ext cx="864234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a:t>
            </a:r>
            <a:r>
              <a:rPr lang="es-AR" altLang="es-AR" b="1" i="1" dirty="0">
                <a:solidFill>
                  <a:srgbClr val="2A8A85"/>
                </a:solidFill>
                <a:latin typeface="Cambria" panose="02040503050406030204" pitchFamily="18" charset="0"/>
                <a:ea typeface="Cambria" panose="02040503050406030204" pitchFamily="18" charset="0"/>
              </a:rPr>
              <a:t>naturaleza</a:t>
            </a:r>
            <a:r>
              <a:rPr lang="es-AR" altLang="es-AR" dirty="0">
                <a:latin typeface="Cambria" panose="02040503050406030204" pitchFamily="18" charset="0"/>
                <a:ea typeface="Cambria" panose="02040503050406030204" pitchFamily="18" charset="0"/>
              </a:rPr>
              <a:t> de la asociación se refiere a la forma en que se distribuyen los datos en la tabla. </a:t>
            </a:r>
            <a:r>
              <a:rPr lang="es-AR" altLang="es-AR" dirty="0" smtClean="0">
                <a:latin typeface="Cambria" panose="02040503050406030204" pitchFamily="18" charset="0"/>
                <a:ea typeface="Cambria" panose="02040503050406030204" pitchFamily="18" charset="0"/>
              </a:rPr>
              <a:t>Para </a:t>
            </a:r>
            <a:r>
              <a:rPr lang="es-AR" altLang="es-AR" dirty="0">
                <a:latin typeface="Cambria" panose="02040503050406030204" pitchFamily="18" charset="0"/>
                <a:ea typeface="Cambria" panose="02040503050406030204" pitchFamily="18" charset="0"/>
              </a:rPr>
              <a:t>evaluar la naturaleza tenemos que ver cómo cambian los porcentajes de una categoría a otra de la variable. </a:t>
            </a: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Veamos los siguientes esquemas, donde las celdas sombreadas representan </a:t>
            </a:r>
            <a:r>
              <a:rPr lang="es-AR" altLang="es-AR" i="1" dirty="0" smtClean="0">
                <a:latin typeface="Cambria" panose="02040503050406030204" pitchFamily="18" charset="0"/>
                <a:ea typeface="Cambria" panose="02040503050406030204" pitchFamily="18" charset="0"/>
              </a:rPr>
              <a:t>aquellas en las que esperamos encontrar porcentajes elevados.</a:t>
            </a:r>
            <a:endParaRPr lang="es-AR" altLang="es-AR"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Análisis de asociación: 4) naturaleza</a:t>
            </a:r>
            <a:endParaRPr lang="es-AR" sz="2400" dirty="0">
              <a:latin typeface="Cambria" panose="02040503050406030204" pitchFamily="18" charset="0"/>
            </a:endParaRPr>
          </a:p>
        </p:txBody>
      </p:sp>
      <p:graphicFrame>
        <p:nvGraphicFramePr>
          <p:cNvPr id="2" name="Tabla 1"/>
          <p:cNvGraphicFramePr>
            <a:graphicFrameLocks noGrp="1"/>
          </p:cNvGraphicFramePr>
          <p:nvPr>
            <p:extLst>
              <p:ext uri="{D42A27DB-BD31-4B8C-83A1-F6EECF244321}">
                <p14:modId xmlns:p14="http://schemas.microsoft.com/office/powerpoint/2010/main" val="869883434"/>
              </p:ext>
            </p:extLst>
          </p:nvPr>
        </p:nvGraphicFramePr>
        <p:xfrm>
          <a:off x="701406" y="3077623"/>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2168769715"/>
                  </a:ext>
                </a:extLst>
              </a:tr>
            </a:tbl>
          </a:graphicData>
        </a:graphic>
      </p:graphicFrame>
      <p:graphicFrame>
        <p:nvGraphicFramePr>
          <p:cNvPr id="22" name="Tabla 21"/>
          <p:cNvGraphicFramePr>
            <a:graphicFrameLocks noGrp="1"/>
          </p:cNvGraphicFramePr>
          <p:nvPr>
            <p:extLst>
              <p:ext uri="{D42A27DB-BD31-4B8C-83A1-F6EECF244321}">
                <p14:modId xmlns:p14="http://schemas.microsoft.com/office/powerpoint/2010/main" val="3496257243"/>
              </p:ext>
            </p:extLst>
          </p:nvPr>
        </p:nvGraphicFramePr>
        <p:xfrm>
          <a:off x="3431024" y="3077623"/>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8769715"/>
                  </a:ext>
                </a:extLst>
              </a:tr>
            </a:tbl>
          </a:graphicData>
        </a:graphic>
      </p:graphicFrame>
      <p:graphicFrame>
        <p:nvGraphicFramePr>
          <p:cNvPr id="23" name="Tabla 22"/>
          <p:cNvGraphicFramePr>
            <a:graphicFrameLocks noGrp="1"/>
          </p:cNvGraphicFramePr>
          <p:nvPr>
            <p:extLst>
              <p:ext uri="{D42A27DB-BD31-4B8C-83A1-F6EECF244321}">
                <p14:modId xmlns:p14="http://schemas.microsoft.com/office/powerpoint/2010/main" val="1787763986"/>
              </p:ext>
            </p:extLst>
          </p:nvPr>
        </p:nvGraphicFramePr>
        <p:xfrm>
          <a:off x="6160642" y="3089835"/>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2168769715"/>
                  </a:ext>
                </a:extLst>
              </a:tr>
            </a:tbl>
          </a:graphicData>
        </a:graphic>
      </p:graphicFrame>
      <p:sp>
        <p:nvSpPr>
          <p:cNvPr id="24" name="Rectangle 4">
            <a:extLst>
              <a:ext uri="{FF2B5EF4-FFF2-40B4-BE49-F238E27FC236}">
                <a16:creationId xmlns:a16="http://schemas.microsoft.com/office/drawing/2014/main" id="{8CA37703-E28F-4CBD-ACCB-8FA0ED32229C}"/>
              </a:ext>
            </a:extLst>
          </p:cNvPr>
          <p:cNvSpPr>
            <a:spLocks noChangeArrowheads="1"/>
          </p:cNvSpPr>
          <p:nvPr/>
        </p:nvSpPr>
        <p:spPr bwMode="auto">
          <a:xfrm>
            <a:off x="701406" y="4336661"/>
            <a:ext cx="2183904" cy="338554"/>
          </a:xfrm>
          <a:prstGeom prst="rect">
            <a:avLst/>
          </a:prstGeom>
          <a:solidFill>
            <a:srgbClr val="FFC000"/>
          </a:solidFill>
          <a:ln>
            <a:noFill/>
          </a:ln>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smtClean="0">
                <a:latin typeface="Cambria" panose="02040503050406030204" pitchFamily="18" charset="0"/>
                <a:ea typeface="Cambria" panose="02040503050406030204" pitchFamily="18" charset="0"/>
              </a:rPr>
              <a:t>Relación lineal</a:t>
            </a:r>
            <a:endParaRPr lang="es-AR" altLang="es-AR" sz="1600" b="1" dirty="0">
              <a:latin typeface="Cambria" panose="02040503050406030204" pitchFamily="18" charset="0"/>
              <a:ea typeface="Cambria" panose="02040503050406030204" pitchFamily="18" charset="0"/>
            </a:endParaRPr>
          </a:p>
        </p:txBody>
      </p:sp>
      <p:sp>
        <p:nvSpPr>
          <p:cNvPr id="25" name="Rectangle 4">
            <a:extLst>
              <a:ext uri="{FF2B5EF4-FFF2-40B4-BE49-F238E27FC236}">
                <a16:creationId xmlns:a16="http://schemas.microsoft.com/office/drawing/2014/main" id="{8CA37703-E28F-4CBD-ACCB-8FA0ED32229C}"/>
              </a:ext>
            </a:extLst>
          </p:cNvPr>
          <p:cNvSpPr>
            <a:spLocks noChangeArrowheads="1"/>
          </p:cNvSpPr>
          <p:nvPr/>
        </p:nvSpPr>
        <p:spPr bwMode="auto">
          <a:xfrm>
            <a:off x="3431024" y="4345789"/>
            <a:ext cx="2183904" cy="338554"/>
          </a:xfrm>
          <a:prstGeom prst="rect">
            <a:avLst/>
          </a:prstGeom>
          <a:solidFill>
            <a:srgbClr val="FFC000"/>
          </a:solidFill>
          <a:ln>
            <a:noFill/>
          </a:ln>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smtClean="0">
                <a:latin typeface="Cambria" panose="02040503050406030204" pitchFamily="18" charset="0"/>
                <a:ea typeface="Cambria" panose="02040503050406030204" pitchFamily="18" charset="0"/>
              </a:rPr>
              <a:t>Relación </a:t>
            </a:r>
            <a:r>
              <a:rPr lang="es-AR" sz="1600" b="1" dirty="0" err="1" smtClean="0">
                <a:latin typeface="Cambria" panose="02040503050406030204" pitchFamily="18" charset="0"/>
                <a:ea typeface="Cambria" panose="02040503050406030204" pitchFamily="18" charset="0"/>
              </a:rPr>
              <a:t>curvilineal</a:t>
            </a:r>
            <a:endParaRPr lang="es-AR" altLang="es-AR" sz="1600" b="1" dirty="0">
              <a:latin typeface="Cambria" panose="02040503050406030204" pitchFamily="18" charset="0"/>
              <a:ea typeface="Cambria" panose="02040503050406030204" pitchFamily="18" charset="0"/>
            </a:endParaRPr>
          </a:p>
        </p:txBody>
      </p:sp>
      <p:sp>
        <p:nvSpPr>
          <p:cNvPr id="26" name="Rectangle 4">
            <a:extLst>
              <a:ext uri="{FF2B5EF4-FFF2-40B4-BE49-F238E27FC236}">
                <a16:creationId xmlns:a16="http://schemas.microsoft.com/office/drawing/2014/main" id="{8CA37703-E28F-4CBD-ACCB-8FA0ED32229C}"/>
              </a:ext>
            </a:extLst>
          </p:cNvPr>
          <p:cNvSpPr>
            <a:spLocks noChangeArrowheads="1"/>
          </p:cNvSpPr>
          <p:nvPr/>
        </p:nvSpPr>
        <p:spPr bwMode="auto">
          <a:xfrm>
            <a:off x="6160642" y="4345789"/>
            <a:ext cx="2183904" cy="338554"/>
          </a:xfrm>
          <a:prstGeom prst="rect">
            <a:avLst/>
          </a:prstGeom>
          <a:solidFill>
            <a:srgbClr val="FFC000"/>
          </a:solidFill>
          <a:ln>
            <a:noFill/>
          </a:ln>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smtClean="0">
                <a:latin typeface="Cambria" panose="02040503050406030204" pitchFamily="18" charset="0"/>
                <a:ea typeface="Cambria" panose="02040503050406030204" pitchFamily="18" charset="0"/>
              </a:rPr>
              <a:t>Relación </a:t>
            </a:r>
            <a:r>
              <a:rPr lang="es-AR" sz="1600" b="1" dirty="0" err="1" smtClean="0">
                <a:latin typeface="Cambria" panose="02040503050406030204" pitchFamily="18" charset="0"/>
                <a:ea typeface="Cambria" panose="02040503050406030204" pitchFamily="18" charset="0"/>
              </a:rPr>
              <a:t>rinconal</a:t>
            </a:r>
            <a:endParaRPr lang="es-AR" altLang="es-AR" sz="1600" b="1" dirty="0">
              <a:latin typeface="Cambria" panose="02040503050406030204" pitchFamily="18" charset="0"/>
              <a:ea typeface="Cambria" panose="02040503050406030204" pitchFamily="18" charset="0"/>
            </a:endParaRPr>
          </a:p>
        </p:txBody>
      </p:sp>
      <p:sp>
        <p:nvSpPr>
          <p:cNvPr id="28" name="Rectangle 4"/>
          <p:cNvSpPr>
            <a:spLocks noChangeArrowheads="1"/>
          </p:cNvSpPr>
          <p:nvPr/>
        </p:nvSpPr>
        <p:spPr bwMode="auto">
          <a:xfrm>
            <a:off x="409327" y="4839989"/>
            <a:ext cx="848384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“A mayor nivel socioeconómico, mayor nivel de bienestar subjetivo” (lineal)</a:t>
            </a:r>
            <a:endParaRPr lang="es-AR" altLang="es-AR" b="1"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“Las personas que realizan trabajos de calificación media tienen más chances de ser reemplazados por robots que los de calificación baja o alta” (</a:t>
            </a:r>
            <a:r>
              <a:rPr lang="es-AR" altLang="es-AR" dirty="0" err="1" smtClean="0">
                <a:latin typeface="Cambria" panose="02040503050406030204" pitchFamily="18" charset="0"/>
                <a:ea typeface="Cambria" panose="02040503050406030204" pitchFamily="18" charset="0"/>
              </a:rPr>
              <a:t>curvilineal</a:t>
            </a:r>
            <a:r>
              <a:rPr lang="es-AR" altLang="es-AR" dirty="0" smtClean="0">
                <a:latin typeface="Cambria" panose="02040503050406030204" pitchFamily="18" charset="0"/>
                <a:ea typeface="Cambria" panose="02040503050406030204" pitchFamily="18" charset="0"/>
              </a:rPr>
              <a:t>)</a:t>
            </a: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“Las personas de bajo nivel socioeconómico tienen propensión a experimentar alto déficit en la realización de ejercicio físico” (</a:t>
            </a:r>
            <a:r>
              <a:rPr lang="es-AR" altLang="es-AR" dirty="0" err="1" smtClean="0">
                <a:latin typeface="Cambria" panose="02040503050406030204" pitchFamily="18" charset="0"/>
                <a:ea typeface="Cambria" panose="02040503050406030204" pitchFamily="18" charset="0"/>
              </a:rPr>
              <a:t>rinconal</a:t>
            </a:r>
            <a:r>
              <a:rPr lang="es-AR" altLang="es-AR" dirty="0" smtClean="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0254247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52779" y="1052736"/>
            <a:ext cx="874039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Obviamente, el coeficiente épsilon es muy limitado y no es utilizado en la práctica de la investigación real. Veremos dos tipos de medidas que permiten evaluar la fuerza de la asociación:</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Una </a:t>
            </a:r>
            <a:r>
              <a:rPr lang="es-AR" altLang="es-AR" b="1" i="1" dirty="0" smtClean="0">
                <a:solidFill>
                  <a:srgbClr val="2A8A85"/>
                </a:solidFill>
                <a:latin typeface="Cambria" panose="02040503050406030204" pitchFamily="18" charset="0"/>
                <a:ea typeface="Cambria" panose="02040503050406030204" pitchFamily="18" charset="0"/>
              </a:rPr>
              <a:t>medida de asociación global </a:t>
            </a:r>
            <a:r>
              <a:rPr lang="es-AR" altLang="es-AR" i="1" dirty="0" smtClean="0">
                <a:latin typeface="Cambria" panose="02040503050406030204" pitchFamily="18" charset="0"/>
                <a:ea typeface="Cambria" panose="02040503050406030204" pitchFamily="18" charset="0"/>
              </a:rPr>
              <a:t>resume </a:t>
            </a:r>
            <a:r>
              <a:rPr lang="es-AR" altLang="es-AR" dirty="0" smtClean="0">
                <a:latin typeface="Cambria" panose="02040503050406030204" pitchFamily="18" charset="0"/>
                <a:ea typeface="Cambria" panose="02040503050406030204" pitchFamily="18" charset="0"/>
              </a:rPr>
              <a:t>la fuerza o el grado de asociación de la relación entre las dos variables de una tabla de contingencia. Tenemos aquí los </a:t>
            </a:r>
            <a:r>
              <a:rPr lang="es-AR" altLang="es-AR" b="1" i="1" dirty="0" smtClean="0">
                <a:solidFill>
                  <a:srgbClr val="2A8A85"/>
                </a:solidFill>
                <a:latin typeface="Cambria" panose="02040503050406030204" pitchFamily="18" charset="0"/>
                <a:ea typeface="Cambria" panose="02040503050406030204" pitchFamily="18" charset="0"/>
              </a:rPr>
              <a:t>coeficientes de asociación</a:t>
            </a:r>
            <a:r>
              <a:rPr lang="es-AR" altLang="es-AR" dirty="0" smtClean="0">
                <a:solidFill>
                  <a:srgbClr val="2A8A85"/>
                </a:solidFill>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Una </a:t>
            </a:r>
            <a:r>
              <a:rPr lang="es-AR" altLang="es-AR" b="1" i="1" dirty="0" smtClean="0">
                <a:solidFill>
                  <a:srgbClr val="2A8A85"/>
                </a:solidFill>
                <a:latin typeface="Cambria" panose="02040503050406030204" pitchFamily="18" charset="0"/>
                <a:ea typeface="Cambria" panose="02040503050406030204" pitchFamily="18" charset="0"/>
              </a:rPr>
              <a:t>medida de asociación local </a:t>
            </a:r>
            <a:r>
              <a:rPr lang="es-AR" altLang="es-AR" dirty="0" smtClean="0">
                <a:latin typeface="Cambria" panose="02040503050406030204" pitchFamily="18" charset="0"/>
                <a:ea typeface="Cambria" panose="02040503050406030204" pitchFamily="18" charset="0"/>
              </a:rPr>
              <a:t>nos informa sobre las características de la asociación </a:t>
            </a:r>
            <a:r>
              <a:rPr lang="es-AR" altLang="es-AR" dirty="0" err="1" smtClean="0">
                <a:latin typeface="Cambria" panose="02040503050406030204" pitchFamily="18" charset="0"/>
                <a:ea typeface="Cambria" panose="02040503050406030204" pitchFamily="18" charset="0"/>
              </a:rPr>
              <a:t>bivariada</a:t>
            </a:r>
            <a:r>
              <a:rPr lang="es-AR" altLang="es-AR" dirty="0" smtClean="0">
                <a:latin typeface="Cambria" panose="02040503050406030204" pitchFamily="18" charset="0"/>
                <a:ea typeface="Cambria" panose="02040503050406030204" pitchFamily="18" charset="0"/>
              </a:rPr>
              <a:t>, su naturaleza y la forma en que se relacionan las distintas categorías de las variables. Mencionaremos el </a:t>
            </a:r>
            <a:r>
              <a:rPr lang="es-AR" altLang="es-AR" i="1" dirty="0" smtClean="0">
                <a:latin typeface="Cambria" panose="02040503050406030204" pitchFamily="18" charset="0"/>
                <a:ea typeface="Cambria" panose="02040503050406030204" pitchFamily="18" charset="0"/>
              </a:rPr>
              <a:t>análisis de residuos</a:t>
            </a:r>
            <a:r>
              <a:rPr lang="es-AR" altLang="es-AR" dirty="0" smtClean="0">
                <a:latin typeface="Cambria" panose="02040503050406030204" pitchFamily="18" charset="0"/>
                <a:ea typeface="Cambria" panose="02040503050406030204" pitchFamily="18" charset="0"/>
              </a:rPr>
              <a:t> y el </a:t>
            </a:r>
            <a:r>
              <a:rPr lang="es-AR" altLang="es-AR" i="1" dirty="0" smtClean="0">
                <a:latin typeface="Cambria" panose="02040503050406030204" pitchFamily="18" charset="0"/>
                <a:ea typeface="Cambria" panose="02040503050406030204" pitchFamily="18" charset="0"/>
              </a:rPr>
              <a:t>análisis de razones</a:t>
            </a:r>
            <a:r>
              <a:rPr lang="es-AR" altLang="es-AR" dirty="0" smtClean="0">
                <a:latin typeface="Cambria" panose="02040503050406030204" pitchFamily="18" charset="0"/>
                <a:ea typeface="Cambria" panose="02040503050406030204" pitchFamily="18" charset="0"/>
              </a:rPr>
              <a:t>. </a:t>
            </a:r>
            <a:endParaRPr lang="es-AR" altLang="es-AR" dirty="0">
              <a:latin typeface="Cambria" panose="02040503050406030204" pitchFamily="18" charset="0"/>
              <a:ea typeface="Cambria" panose="02040503050406030204" pitchFamily="18" charset="0"/>
            </a:endParaRPr>
          </a:p>
        </p:txBody>
      </p:sp>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3"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14"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a:t>
            </a:r>
            <a:endParaRPr lang="es-AR" sz="2400" dirty="0">
              <a:latin typeface="Cambria" panose="02040503050406030204" pitchFamily="18" charset="0"/>
            </a:endParaRPr>
          </a:p>
        </p:txBody>
      </p:sp>
    </p:spTree>
    <p:extLst>
      <p:ext uri="{BB962C8B-B14F-4D97-AF65-F5344CB8AC3E}">
        <p14:creationId xmlns:p14="http://schemas.microsoft.com/office/powerpoint/2010/main" val="20372138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 global</a:t>
            </a:r>
            <a:endParaRPr lang="es-AR" sz="2400" dirty="0">
              <a:latin typeface="Cambria" panose="02040503050406030204" pitchFamily="18" charset="0"/>
            </a:endParaRPr>
          </a:p>
        </p:txBody>
      </p:sp>
      <mc:AlternateContent xmlns:mc="http://schemas.openxmlformats.org/markup-compatibility/2006">
        <mc:Choice xmlns:a14="http://schemas.microsoft.com/office/drawing/2010/main" Requires="a14">
          <p:sp>
            <p:nvSpPr>
              <p:cNvPr id="12" name="Rectangle 4"/>
              <p:cNvSpPr>
                <a:spLocks noChangeArrowheads="1"/>
              </p:cNvSpPr>
              <p:nvPr/>
            </p:nvSpPr>
            <p:spPr bwMode="auto">
              <a:xfrm>
                <a:off x="152779" y="1093010"/>
                <a:ext cx="8740396" cy="3976538"/>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Los coeficientes de asociación ofrecen una medida sintética del grado de asociación entre dos variables. Existen muchos coeficientes, que debemos seleccionar según el </a:t>
                </a:r>
                <a:r>
                  <a:rPr lang="es-AR" altLang="es-AR" b="1" i="1" dirty="0" smtClean="0">
                    <a:latin typeface="Cambria" panose="02040503050406030204" pitchFamily="18" charset="0"/>
                    <a:ea typeface="Cambria" panose="02040503050406030204" pitchFamily="18" charset="0"/>
                  </a:rPr>
                  <a:t>nivel de medición </a:t>
                </a:r>
                <a:r>
                  <a:rPr lang="es-AR" altLang="es-AR" dirty="0" smtClean="0">
                    <a:latin typeface="Cambria" panose="02040503050406030204" pitchFamily="18" charset="0"/>
                    <a:ea typeface="Cambria" panose="02040503050406030204" pitchFamily="18" charset="0"/>
                  </a:rPr>
                  <a:t>de las variables en la tabla.</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Los coeficientes de asociación se dividen en dos grupos: </a:t>
                </a:r>
              </a:p>
              <a:p>
                <a:pPr marL="285750" indent="-285750" algn="just" eaLnBrk="1" hangingPunct="1">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endParaRPr>
              </a:p>
              <a:p>
                <a:pPr marL="1028700" lvl="1" algn="just" eaLnBrk="1" hangingPunct="1">
                  <a:buFont typeface="Arial" panose="020B0604020202020204" pitchFamily="34" charset="0"/>
                  <a:buChar char="•"/>
                </a:pPr>
                <a:r>
                  <a:rPr lang="es-AR" altLang="es-AR" b="1" i="1" dirty="0" smtClean="0">
                    <a:solidFill>
                      <a:srgbClr val="2A8A85"/>
                    </a:solidFill>
                    <a:latin typeface="Cambria" panose="02040503050406030204" pitchFamily="18" charset="0"/>
                    <a:ea typeface="Cambria" panose="02040503050406030204" pitchFamily="18" charset="0"/>
                  </a:rPr>
                  <a:t>Los basados en </a:t>
                </a:r>
                <a14:m>
                  <m:oMath xmlns:m="http://schemas.openxmlformats.org/officeDocument/2006/math">
                    <m:sSup>
                      <m:sSupPr>
                        <m:ctrlPr>
                          <a:rPr lang="es-AR" altLang="es-AR" b="1" i="1" smtClean="0">
                            <a:solidFill>
                              <a:srgbClr val="2A8A85"/>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rgbClr val="2A8A85"/>
                            </a:solidFill>
                            <a:latin typeface="Cambria Math" panose="02040503050406030204" pitchFamily="18" charset="0"/>
                            <a:ea typeface="Cambria" panose="02040503050406030204" pitchFamily="18" charset="0"/>
                            <a:cs typeface="Calibri" panose="020F0502020204030204" pitchFamily="34" charset="0"/>
                          </a:rPr>
                          <m:t>𝝌</m:t>
                        </m:r>
                      </m:e>
                      <m:sup>
                        <m:r>
                          <a:rPr lang="es-AR" altLang="es-AR" b="1" i="1">
                            <a:solidFill>
                              <a:srgbClr val="2A8A85"/>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b="1" i="1" dirty="0" smtClean="0">
                    <a:solidFill>
                      <a:srgbClr val="2A8A85"/>
                    </a:solidFill>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son coeficientes en cuyo cálculo interviene este coeficiente.</a:t>
                </a:r>
              </a:p>
              <a:p>
                <a:pPr marL="1028700" lvl="1"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Los basados en la </a:t>
                </a:r>
                <a:r>
                  <a:rPr lang="es-AR" altLang="es-AR" b="1" i="1" dirty="0" smtClean="0">
                    <a:solidFill>
                      <a:srgbClr val="2A8A85"/>
                    </a:solidFill>
                    <a:latin typeface="Cambria" panose="02040503050406030204" pitchFamily="18" charset="0"/>
                    <a:ea typeface="Cambria" panose="02040503050406030204" pitchFamily="18" charset="0"/>
                  </a:rPr>
                  <a:t>reducción proporcional del error</a:t>
                </a:r>
                <a:r>
                  <a:rPr lang="es-AR" altLang="es-AR" dirty="0">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estos coeficientes miden la fuerza de la asociación comparando cuánto cambia la predicción que podríamos realizar sobre el ordenamiento de casos conociendo sólo la variable dependiente con respecto a la predicción que realizaríamos al introducir la variable independiente. </a:t>
                </a:r>
                <a:endParaRPr lang="es-AR" altLang="es-AR" dirty="0">
                  <a:latin typeface="Cambria" panose="02040503050406030204" pitchFamily="18" charset="0"/>
                  <a:ea typeface="Cambria" panose="02040503050406030204" pitchFamily="18" charset="0"/>
                </a:endParaRPr>
              </a:p>
              <a:p>
                <a:pPr lvl="1" indent="0" algn="just" eaLnBrk="1" hangingPunct="1"/>
                <a:endParaRPr lang="es-AR" altLang="es-AR" dirty="0" smtClean="0">
                  <a:latin typeface="Cambria" panose="02040503050406030204" pitchFamily="18" charset="0"/>
                  <a:ea typeface="Cambria" panose="02040503050406030204" pitchFamily="18" charset="0"/>
                </a:endParaRPr>
              </a:p>
            </p:txBody>
          </p:sp>
        </mc:Choice>
        <mc:Fallback>
          <p:sp>
            <p:nvSpPr>
              <p:cNvPr id="12" name="Rectangle 4"/>
              <p:cNvSpPr>
                <a:spLocks noRot="1" noChangeAspect="1" noMove="1" noResize="1" noEditPoints="1" noAdjustHandles="1" noChangeArrowheads="1" noChangeShapeType="1" noTextEdit="1"/>
              </p:cNvSpPr>
              <p:nvPr/>
            </p:nvSpPr>
            <p:spPr bwMode="auto">
              <a:xfrm>
                <a:off x="152779" y="1093010"/>
                <a:ext cx="8740396" cy="3976538"/>
              </a:xfrm>
              <a:prstGeom prst="rect">
                <a:avLst/>
              </a:prstGeom>
              <a:blipFill>
                <a:blip r:embed="rId3"/>
                <a:stretch>
                  <a:fillRect l="-418" t="-919" r="-6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p:spTree>
    <p:extLst>
      <p:ext uri="{BB962C8B-B14F-4D97-AF65-F5344CB8AC3E}">
        <p14:creationId xmlns:p14="http://schemas.microsoft.com/office/powerpoint/2010/main" val="7986606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10 CuadroTexto"/>
              <p:cNvSpPr txBox="1"/>
              <p:nvPr/>
            </p:nvSpPr>
            <p:spPr>
              <a:xfrm>
                <a:off x="152779" y="298748"/>
                <a:ext cx="8740395" cy="470000"/>
              </a:xfrm>
              <a:prstGeom prst="rect">
                <a:avLst/>
              </a:prstGeom>
              <a:noFill/>
            </p:spPr>
            <p:txBody>
              <a:bodyPr wrap="square" rtlCol="0">
                <a:spAutoFit/>
              </a:bodyPr>
              <a:lstStyle/>
              <a:p>
                <a:r>
                  <a:rPr lang="es-AR" sz="2400" dirty="0" smtClean="0">
                    <a:latin typeface="Cambria" panose="02040503050406030204" pitchFamily="18" charset="0"/>
                  </a:rPr>
                  <a:t>Medidas de asociación </a:t>
                </a:r>
                <a:r>
                  <a:rPr lang="es-AR" sz="2400" dirty="0" smtClean="0">
                    <a:latin typeface="Cambria" panose="02040503050406030204" pitchFamily="18" charset="0"/>
                  </a:rPr>
                  <a:t>global: coeficientes basados en </a:t>
                </a:r>
                <a14:m>
                  <m:oMath xmlns:m="http://schemas.openxmlformats.org/officeDocument/2006/math">
                    <m:sSup>
                      <m:sSupPr>
                        <m:ctrlPr>
                          <a:rPr lang="es-AR" altLang="es-AR" sz="2400"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𝜒</m:t>
                        </m:r>
                      </m:e>
                      <m:sup>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2</m:t>
                        </m:r>
                      </m:sup>
                    </m:sSup>
                  </m:oMath>
                </a14:m>
                <a:r>
                  <a:rPr lang="es-AR" sz="2400" dirty="0" smtClean="0">
                    <a:solidFill>
                      <a:schemeClr val="tx1"/>
                    </a:solidFill>
                    <a:latin typeface="Cambria" panose="02040503050406030204" pitchFamily="18" charset="0"/>
                  </a:rPr>
                  <a:t> </a:t>
                </a:r>
                <a:endParaRPr lang="es-AR" sz="2400" dirty="0">
                  <a:solidFill>
                    <a:schemeClr val="tx1"/>
                  </a:solidFill>
                  <a:latin typeface="Cambria" panose="02040503050406030204" pitchFamily="18" charset="0"/>
                </a:endParaRPr>
              </a:p>
            </p:txBody>
          </p:sp>
        </mc:Choice>
        <mc:Fallback>
          <p:sp>
            <p:nvSpPr>
              <p:cNvPr id="10" name="10 CuadroTexto"/>
              <p:cNvSpPr txBox="1">
                <a:spLocks noRot="1" noChangeAspect="1" noMove="1" noResize="1" noEditPoints="1" noAdjustHandles="1" noChangeArrowheads="1" noChangeShapeType="1" noTextEdit="1"/>
              </p:cNvSpPr>
              <p:nvPr/>
            </p:nvSpPr>
            <p:spPr>
              <a:xfrm>
                <a:off x="152779" y="298748"/>
                <a:ext cx="8740395" cy="470000"/>
              </a:xfrm>
              <a:prstGeom prst="rect">
                <a:avLst/>
              </a:prstGeom>
              <a:blipFill>
                <a:blip r:embed="rId3"/>
                <a:stretch>
                  <a:fillRect l="-1046" t="-10390" b="-27273"/>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2" name="Rectangle 4"/>
              <p:cNvSpPr>
                <a:spLocks noChangeArrowheads="1"/>
              </p:cNvSpPr>
              <p:nvPr/>
            </p:nvSpPr>
            <p:spPr bwMode="auto">
              <a:xfrm>
                <a:off x="152779" y="1093010"/>
                <a:ext cx="8740396" cy="5835636"/>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El coeficiente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dirty="0" smtClean="0">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no está “estandarizado”: como pudimos comprobar, cuando el </a:t>
                </a:r>
                <a:r>
                  <a:rPr lang="es-AR" altLang="es-AR" i="1" dirty="0" smtClean="0">
                    <a:latin typeface="Cambria" panose="02040503050406030204" pitchFamily="18" charset="0"/>
                    <a:ea typeface="Cambria" panose="02040503050406030204" pitchFamily="18" charset="0"/>
                  </a:rPr>
                  <a:t>n</a:t>
                </a:r>
                <a:r>
                  <a:rPr lang="es-AR" altLang="es-AR" dirty="0" smtClean="0">
                    <a:latin typeface="Cambria" panose="02040503050406030204" pitchFamily="18" charset="0"/>
                    <a:ea typeface="Cambria" panose="02040503050406030204" pitchFamily="18" charset="0"/>
                  </a:rPr>
                  <a:t> de la tabla es más grande, el valor de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dirty="0" smtClean="0">
                    <a:latin typeface="Cambria" panose="02040503050406030204" pitchFamily="18" charset="0"/>
                    <a:ea typeface="Cambria" panose="02040503050406030204" pitchFamily="18" charset="0"/>
                  </a:rPr>
                  <a:t> cambia sustantivamente. Esto hace que no podamos comparar la asociación entre dos tablas de contingencia de distinto </a:t>
                </a:r>
                <a:r>
                  <a:rPr lang="es-AR" altLang="es-AR" i="1" dirty="0" smtClean="0">
                    <a:latin typeface="Cambria" panose="02040503050406030204" pitchFamily="18" charset="0"/>
                    <a:ea typeface="Cambria" panose="02040503050406030204" pitchFamily="18" charset="0"/>
                  </a:rPr>
                  <a:t>n. </a:t>
                </a:r>
                <a:r>
                  <a:rPr lang="es-AR" altLang="es-AR" dirty="0" smtClean="0">
                    <a:latin typeface="Cambria" panose="02040503050406030204" pitchFamily="18" charset="0"/>
                    <a:ea typeface="Cambria" panose="02040503050406030204" pitchFamily="18" charset="0"/>
                  </a:rPr>
                  <a:t>Distintos coeficientes basados en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i="1" dirty="0" smtClean="0">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tratan de subsanar este punto. </a:t>
                </a:r>
                <a:endParaRPr lang="es-AR" altLang="es-AR" i="1"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Para tablas de contingencia de 2x2 (dos variables con dos categorías cada una), el coeficiente de asociación más habitual es </a:t>
                </a:r>
                <a:r>
                  <a:rPr lang="es-AR" altLang="es-AR" b="1" i="1" dirty="0" smtClean="0">
                    <a:solidFill>
                      <a:srgbClr val="2A8A85"/>
                    </a:solidFill>
                    <a:latin typeface="Cambria" panose="02040503050406030204" pitchFamily="18" charset="0"/>
                    <a:ea typeface="Cambria" panose="02040503050406030204" pitchFamily="18" charset="0"/>
                  </a:rPr>
                  <a:t>Phi</a:t>
                </a:r>
                <a:r>
                  <a:rPr lang="es-AR" altLang="es-AR" dirty="0" smtClean="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Cuando la tabla tiene más de 2x2, utilizaremos </a:t>
                </a:r>
                <a:r>
                  <a:rPr lang="es-AR" altLang="es-AR" dirty="0" smtClean="0">
                    <a:latin typeface="Cambria" panose="02040503050406030204" pitchFamily="18" charset="0"/>
                    <a:ea typeface="Cambria" panose="02040503050406030204" pitchFamily="18" charset="0"/>
                  </a:rPr>
                  <a:t>el coeficiente </a:t>
                </a:r>
                <a:r>
                  <a:rPr lang="es-AR" altLang="es-AR" b="1" i="1" dirty="0" smtClean="0">
                    <a:solidFill>
                      <a:srgbClr val="2A8A85"/>
                    </a:solidFill>
                    <a:latin typeface="Cambria" panose="02040503050406030204" pitchFamily="18" charset="0"/>
                    <a:ea typeface="Cambria" panose="02040503050406030204" pitchFamily="18" charset="0"/>
                  </a:rPr>
                  <a:t>V de </a:t>
                </a:r>
                <a:r>
                  <a:rPr lang="es-AR" altLang="es-AR" b="1" i="1" dirty="0" err="1" smtClean="0">
                    <a:solidFill>
                      <a:srgbClr val="2A8A85"/>
                    </a:solidFill>
                    <a:latin typeface="Cambria" panose="02040503050406030204" pitchFamily="18" charset="0"/>
                    <a:ea typeface="Cambria" panose="02040503050406030204" pitchFamily="18" charset="0"/>
                  </a:rPr>
                  <a:t>Cramer</a:t>
                </a:r>
                <a:r>
                  <a:rPr lang="es-AR" altLang="es-AR" dirty="0" smtClean="0">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Este </a:t>
                </a:r>
                <a:r>
                  <a:rPr lang="es-AR" altLang="es-AR" dirty="0" smtClean="0">
                    <a:latin typeface="Cambria" panose="02040503050406030204" pitchFamily="18" charset="0"/>
                    <a:ea typeface="Cambria" panose="02040503050406030204" pitchFamily="18" charset="0"/>
                  </a:rPr>
                  <a:t>coeficiente casi nunca alcanza un valor de 1 y, de hecho, valores de 0,3 pueden considerarse muy aceptables (López-Roldán y </a:t>
                </a:r>
                <a:r>
                  <a:rPr lang="es-AR" altLang="es-AR" dirty="0" err="1" smtClean="0">
                    <a:latin typeface="Cambria" panose="02040503050406030204" pitchFamily="18" charset="0"/>
                    <a:ea typeface="Cambria" panose="02040503050406030204" pitchFamily="18" charset="0"/>
                  </a:rPr>
                  <a:t>Fachelli</a:t>
                </a:r>
                <a:r>
                  <a:rPr lang="es-AR" altLang="es-AR" dirty="0" smtClean="0">
                    <a:latin typeface="Cambria" panose="02040503050406030204" pitchFamily="18" charset="0"/>
                    <a:ea typeface="Cambria" panose="02040503050406030204" pitchFamily="18" charset="0"/>
                  </a:rPr>
                  <a:t>, 2016).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lvl="1" indent="0" algn="just" eaLnBrk="1" hangingPunct="1"/>
                <a:endParaRPr lang="es-AR" altLang="es-AR" dirty="0">
                  <a:latin typeface="Cambria" panose="02040503050406030204" pitchFamily="18" charset="0"/>
                  <a:ea typeface="Cambria" panose="02040503050406030204" pitchFamily="18" charset="0"/>
                </a:endParaRPr>
              </a:p>
              <a:p>
                <a:pPr lvl="1" indent="0" algn="just" eaLnBrk="1" hangingPunct="1"/>
                <a:endParaRPr lang="es-AR" altLang="es-AR" dirty="0" smtClean="0">
                  <a:latin typeface="Cambria" panose="02040503050406030204" pitchFamily="18" charset="0"/>
                  <a:ea typeface="Cambria" panose="02040503050406030204" pitchFamily="18" charset="0"/>
                </a:endParaRPr>
              </a:p>
              <a:p>
                <a:pPr lvl="1" indent="0" algn="just" eaLnBrk="1" hangingPunct="1"/>
                <a:r>
                  <a:rPr lang="es-AR" altLang="es-AR" sz="1200" dirty="0" smtClean="0">
                    <a:latin typeface="Cambria" panose="02040503050406030204" pitchFamily="18" charset="0"/>
                    <a:ea typeface="Cambria" panose="02040503050406030204" pitchFamily="18" charset="0"/>
                  </a:rPr>
                  <a:t>Donde </a:t>
                </a:r>
                <a:r>
                  <a:rPr lang="es-AR" altLang="es-AR" sz="1200" i="1" dirty="0" smtClean="0">
                    <a:latin typeface="Cambria" panose="02040503050406030204" pitchFamily="18" charset="0"/>
                    <a:ea typeface="Cambria" panose="02040503050406030204" pitchFamily="18" charset="0"/>
                  </a:rPr>
                  <a:t>n</a:t>
                </a:r>
                <a:r>
                  <a:rPr lang="es-AR" altLang="es-AR" sz="1200" dirty="0" smtClean="0">
                    <a:latin typeface="Cambria" panose="02040503050406030204" pitchFamily="18" charset="0"/>
                    <a:ea typeface="Cambria" panose="02040503050406030204" pitchFamily="18" charset="0"/>
                  </a:rPr>
                  <a:t> es el tamaño de la muestra y </a:t>
                </a:r>
                <a:r>
                  <a:rPr lang="es-AR" altLang="es-AR" sz="1200" i="1" dirty="0" smtClean="0">
                    <a:latin typeface="Cambria" panose="02040503050406030204" pitchFamily="18" charset="0"/>
                    <a:ea typeface="Cambria" panose="02040503050406030204" pitchFamily="18" charset="0"/>
                  </a:rPr>
                  <a:t>k</a:t>
                </a:r>
                <a:r>
                  <a:rPr lang="es-AR" altLang="es-AR" sz="1200" dirty="0" smtClean="0">
                    <a:latin typeface="Cambria" panose="02040503050406030204" pitchFamily="18" charset="0"/>
                    <a:ea typeface="Cambria" panose="02040503050406030204" pitchFamily="18" charset="0"/>
                  </a:rPr>
                  <a:t> es el valor más pequeño entre filas o columnas en la tabla de contingencia. </a:t>
                </a:r>
              </a:p>
              <a:p>
                <a:pPr marL="285750" indent="-285750" algn="just" eaLnBrk="1" hangingPunct="1">
                  <a:buFont typeface="Arial" panose="020B0604020202020204" pitchFamily="34" charset="0"/>
                  <a:buChar char="•"/>
                </a:pPr>
                <a:endParaRPr lang="es-AR" altLang="es-AR" b="1"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Para </a:t>
                </a:r>
                <a:r>
                  <a:rPr lang="es-AR" altLang="es-AR" dirty="0" smtClean="0">
                    <a:latin typeface="Cambria" panose="02040503050406030204" pitchFamily="18" charset="0"/>
                    <a:ea typeface="Cambria" panose="02040503050406030204" pitchFamily="18" charset="0"/>
                  </a:rPr>
                  <a:t>variables ordinales podremos utilizar otros coeficientes, como los que se enumeran a continuación. </a:t>
                </a: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mc:Choice>
        <mc:Fallback>
          <p:sp>
            <p:nvSpPr>
              <p:cNvPr id="12" name="Rectangle 4"/>
              <p:cNvSpPr>
                <a:spLocks noRot="1" noChangeAspect="1" noMove="1" noResize="1" noEditPoints="1" noAdjustHandles="1" noChangeArrowheads="1" noChangeShapeType="1" noTextEdit="1"/>
              </p:cNvSpPr>
              <p:nvPr/>
            </p:nvSpPr>
            <p:spPr bwMode="auto">
              <a:xfrm>
                <a:off x="152779" y="1093010"/>
                <a:ext cx="8740396" cy="5835636"/>
              </a:xfrm>
              <a:prstGeom prst="rect">
                <a:avLst/>
              </a:prstGeom>
              <a:blipFill>
                <a:blip r:embed="rId4"/>
                <a:stretch>
                  <a:fillRect l="-418" t="-418" r="-6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p:cNvSpPr txBox="1"/>
              <p:nvPr/>
            </p:nvSpPr>
            <p:spPr>
              <a:xfrm>
                <a:off x="3480493" y="4795179"/>
                <a:ext cx="1332352" cy="636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rPr>
                        <m:t>𝑉</m:t>
                      </m:r>
                      <m:r>
                        <a:rPr lang="es-AR" sz="1400" b="0" i="1" smtClean="0">
                          <a:latin typeface="Cambria Math" panose="02040503050406030204" pitchFamily="18" charset="0"/>
                        </a:rPr>
                        <m:t>=</m:t>
                      </m:r>
                      <m:rad>
                        <m:radPr>
                          <m:degHide m:val="on"/>
                          <m:ctrlPr>
                            <a:rPr lang="es-AR" sz="1400" b="0" i="1" smtClean="0">
                              <a:latin typeface="Cambria Math" panose="02040503050406030204" pitchFamily="18" charset="0"/>
                            </a:rPr>
                          </m:ctrlPr>
                        </m:radPr>
                        <m:deg/>
                        <m:e>
                          <m:f>
                            <m:fPr>
                              <m:ctrlPr>
                                <a:rPr lang="es-AR" sz="1400" i="1">
                                  <a:latin typeface="Cambria Math" panose="02040503050406030204" pitchFamily="18" charset="0"/>
                                </a:rPr>
                              </m:ctrlPr>
                            </m:fPr>
                            <m:num>
                              <m:sSup>
                                <m:sSupPr>
                                  <m:ctrlPr>
                                    <a:rPr lang="es-AR" altLang="es-AR" sz="1400" i="1">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num>
                            <m:den>
                              <m:r>
                                <a:rPr lang="es-AR" sz="1400" i="1">
                                  <a:latin typeface="Cambria Math" panose="02040503050406030204" pitchFamily="18" charset="0"/>
                                </a:rPr>
                                <m:t>𝑛</m:t>
                              </m:r>
                              <m:r>
                                <a:rPr lang="es-AR" sz="1400" i="1">
                                  <a:latin typeface="Cambria Math" panose="02040503050406030204" pitchFamily="18" charset="0"/>
                                  <a:ea typeface="Cambria Math" panose="02040503050406030204" pitchFamily="18" charset="0"/>
                                </a:rPr>
                                <m:t>∙(</m:t>
                              </m:r>
                              <m:r>
                                <a:rPr lang="es-AR" sz="1400" i="1">
                                  <a:latin typeface="Cambria Math" panose="02040503050406030204" pitchFamily="18" charset="0"/>
                                  <a:ea typeface="Cambria Math" panose="02040503050406030204" pitchFamily="18" charset="0"/>
                                </a:rPr>
                                <m:t>𝑘</m:t>
                              </m:r>
                              <m:r>
                                <a:rPr lang="es-AR" sz="1400" i="1">
                                  <a:latin typeface="Cambria Math" panose="02040503050406030204" pitchFamily="18" charset="0"/>
                                  <a:ea typeface="Cambria Math" panose="02040503050406030204" pitchFamily="18" charset="0"/>
                                </a:rPr>
                                <m:t>−1)</m:t>
                              </m:r>
                            </m:den>
                          </m:f>
                        </m:e>
                      </m:rad>
                    </m:oMath>
                  </m:oMathPara>
                </a14:m>
                <a:endParaRPr lang="es-AR" sz="1400" i="1" dirty="0">
                  <a:latin typeface="Cambria Math" panose="02040503050406030204" pitchFamily="18" charset="0"/>
                  <a:ea typeface="Cambria Math" panose="02040503050406030204" pitchFamily="18" charset="0"/>
                </a:endParaRPr>
              </a:p>
            </p:txBody>
          </p:sp>
        </mc:Choice>
        <mc:Fallback>
          <p:sp>
            <p:nvSpPr>
              <p:cNvPr id="5" name="CuadroTexto 4"/>
              <p:cNvSpPr txBox="1">
                <a:spLocks noRot="1" noChangeAspect="1" noMove="1" noResize="1" noEditPoints="1" noAdjustHandles="1" noChangeArrowheads="1" noChangeShapeType="1" noTextEdit="1"/>
              </p:cNvSpPr>
              <p:nvPr/>
            </p:nvSpPr>
            <p:spPr>
              <a:xfrm>
                <a:off x="3480493" y="4795179"/>
                <a:ext cx="1332352" cy="63652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p:cNvSpPr txBox="1"/>
              <p:nvPr/>
            </p:nvSpPr>
            <p:spPr>
              <a:xfrm>
                <a:off x="3491880" y="3164280"/>
                <a:ext cx="1224136" cy="636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ea typeface="Cambria Math" panose="02040503050406030204" pitchFamily="18" charset="0"/>
                        </a:rPr>
                        <m:t>𝜙</m:t>
                      </m:r>
                      <m:r>
                        <a:rPr lang="es-AR" sz="1400" b="0" i="1" smtClean="0">
                          <a:latin typeface="Cambria Math" panose="02040503050406030204" pitchFamily="18" charset="0"/>
                        </a:rPr>
                        <m:t>=</m:t>
                      </m:r>
                      <m:rad>
                        <m:radPr>
                          <m:degHide m:val="on"/>
                          <m:ctrlPr>
                            <a:rPr lang="es-AR" sz="1400" b="0" i="1" smtClean="0">
                              <a:latin typeface="Cambria Math" panose="02040503050406030204" pitchFamily="18" charset="0"/>
                            </a:rPr>
                          </m:ctrlPr>
                        </m:radPr>
                        <m:deg/>
                        <m:e>
                          <m:f>
                            <m:fPr>
                              <m:ctrlPr>
                                <a:rPr lang="es-AR" sz="1400" i="1">
                                  <a:latin typeface="Cambria Math" panose="02040503050406030204" pitchFamily="18" charset="0"/>
                                </a:rPr>
                              </m:ctrlPr>
                            </m:fPr>
                            <m:num>
                              <m:sSup>
                                <m:sSupPr>
                                  <m:ctrlPr>
                                    <a:rPr lang="es-AR" altLang="es-AR" sz="1400" i="1">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num>
                            <m:den>
                              <m:r>
                                <a:rPr lang="es-AR" sz="1400" i="1">
                                  <a:latin typeface="Cambria Math" panose="02040503050406030204" pitchFamily="18" charset="0"/>
                                </a:rPr>
                                <m:t>𝑛</m:t>
                              </m:r>
                            </m:den>
                          </m:f>
                        </m:e>
                      </m:rad>
                    </m:oMath>
                  </m:oMathPara>
                </a14:m>
                <a:endParaRPr lang="es-AR" sz="1400" dirty="0"/>
              </a:p>
            </p:txBody>
          </p:sp>
        </mc:Choice>
        <mc:Fallback>
          <p:sp>
            <p:nvSpPr>
              <p:cNvPr id="11" name="CuadroTexto 10"/>
              <p:cNvSpPr txBox="1">
                <a:spLocks noRot="1" noChangeAspect="1" noMove="1" noResize="1" noEditPoints="1" noAdjustHandles="1" noChangeArrowheads="1" noChangeShapeType="1" noTextEdit="1"/>
              </p:cNvSpPr>
              <p:nvPr/>
            </p:nvSpPr>
            <p:spPr>
              <a:xfrm>
                <a:off x="3491880" y="3164280"/>
                <a:ext cx="1224136" cy="636521"/>
              </a:xfrm>
              <a:prstGeom prst="rect">
                <a:avLst/>
              </a:prstGeom>
              <a:blipFill>
                <a:blip r:embed="rId6"/>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5029664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70000"/>
          </a:xfrm>
          <a:prstGeom prst="rect">
            <a:avLst/>
          </a:prstGeom>
          <a:noFill/>
        </p:spPr>
        <p:txBody>
          <a:bodyPr wrap="square" rtlCol="0">
            <a:spAutoFit/>
          </a:bodyPr>
          <a:lstStyle/>
          <a:p>
            <a:r>
              <a:rPr lang="es-AR" sz="2400" dirty="0" smtClean="0">
                <a:latin typeface="Cambria" panose="02040503050406030204" pitchFamily="18" charset="0"/>
              </a:rPr>
              <a:t>Medidas de asociación </a:t>
            </a:r>
            <a:r>
              <a:rPr lang="es-AR" sz="2400" dirty="0" smtClean="0">
                <a:latin typeface="Cambria" panose="02040503050406030204" pitchFamily="18" charset="0"/>
              </a:rPr>
              <a:t>global</a:t>
            </a:r>
            <a:endParaRPr lang="es-AR" sz="2400" dirty="0">
              <a:solidFill>
                <a:schemeClr val="tx1"/>
              </a:solidFill>
              <a:latin typeface="Cambria" panose="02040503050406030204" pitchFamily="18" charset="0"/>
            </a:endParaRPr>
          </a:p>
        </p:txBody>
      </p:sp>
      <mc:AlternateContent xmlns:mc="http://schemas.openxmlformats.org/markup-compatibility/2006">
        <mc:Choice xmlns:a14="http://schemas.microsoft.com/office/drawing/2010/main" Requires="a14">
          <p:sp>
            <p:nvSpPr>
              <p:cNvPr id="12" name="Rectangle 4"/>
              <p:cNvSpPr>
                <a:spLocks noChangeArrowheads="1"/>
              </p:cNvSpPr>
              <p:nvPr/>
            </p:nvSpPr>
            <p:spPr bwMode="auto">
              <a:xfrm>
                <a:off x="152779" y="1093010"/>
                <a:ext cx="8740396" cy="2308324"/>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Como todos los coeficientes basados en </a:t>
                </a:r>
                <a14:m>
                  <m:oMath xmlns:m="http://schemas.openxmlformats.org/officeDocument/2006/math">
                    <m:sSup>
                      <m:sSupPr>
                        <m:ctrlPr>
                          <a:rPr lang="es-AR" altLang="es-AR" i="1">
                            <a:latin typeface="Cambria Math" panose="02040503050406030204" pitchFamily="18" charset="0"/>
                            <a:ea typeface="Cambria" panose="02040503050406030204" pitchFamily="18" charset="0"/>
                            <a:cs typeface="Calibri" panose="020F0502020204030204" pitchFamily="34" charset="0"/>
                          </a:rPr>
                        </m:ctrlPr>
                      </m:sSupPr>
                      <m:e>
                        <m:r>
                          <a:rPr lang="es-AR" altLang="es-AR" i="1">
                            <a:latin typeface="Cambria Math" panose="02040503050406030204" pitchFamily="18" charset="0"/>
                            <a:ea typeface="Cambria" panose="02040503050406030204" pitchFamily="18" charset="0"/>
                            <a:cs typeface="Calibri" panose="020F0502020204030204" pitchFamily="34" charset="0"/>
                          </a:rPr>
                          <m:t>𝜒</m:t>
                        </m:r>
                      </m:e>
                      <m:sup>
                        <m:r>
                          <a:rPr lang="es-AR" altLang="es-AR" i="1">
                            <a:latin typeface="Cambria Math" panose="02040503050406030204" pitchFamily="18" charset="0"/>
                            <a:ea typeface="Cambria" panose="02040503050406030204" pitchFamily="18" charset="0"/>
                            <a:cs typeface="Calibri" panose="020F0502020204030204" pitchFamily="34" charset="0"/>
                          </a:rPr>
                          <m:t>2</m:t>
                        </m:r>
                      </m:sup>
                    </m:sSup>
                  </m:oMath>
                </a14:m>
                <a:r>
                  <a:rPr lang="es-AR" dirty="0" smtClean="0">
                    <a:latin typeface="Cambria" panose="02040503050406030204" pitchFamily="18" charset="0"/>
                  </a:rPr>
                  <a:t>, los anteriores son especialmente apropiados para evaluar relaciones de asociación </a:t>
                </a:r>
                <a:r>
                  <a:rPr lang="es-AR" altLang="es-AR" b="1" i="1" dirty="0" smtClean="0">
                    <a:latin typeface="Cambria" panose="02040503050406030204" pitchFamily="18" charset="0"/>
                    <a:ea typeface="Cambria" panose="02040503050406030204" pitchFamily="18" charset="0"/>
                  </a:rPr>
                  <a:t>lineales</a:t>
                </a:r>
                <a:r>
                  <a:rPr lang="es-AR" altLang="es-AR" i="1" dirty="0" smtClean="0">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Esto significa que el coeficiente será muy alto cuando se aprecie un claro agrupamiento en torno a la diagonal principal. </a:t>
                </a:r>
              </a:p>
              <a:p>
                <a:pPr marL="285750" indent="-285750" algn="just" eaLnBrk="1" hangingPunct="1">
                  <a:buFont typeface="Arial" panose="020B0604020202020204" pitchFamily="34" charset="0"/>
                  <a:buChar char="•"/>
                </a:pPr>
                <a:endParaRPr lang="es-AR" altLang="es-AR" i="1" dirty="0" smtClean="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Con un supuesto menos exigente, que asuma relaciones </a:t>
                </a:r>
                <a:r>
                  <a:rPr lang="es-AR" altLang="es-AR" b="1" i="1" dirty="0" err="1" smtClean="0">
                    <a:latin typeface="Cambria" panose="02040503050406030204" pitchFamily="18" charset="0"/>
                    <a:ea typeface="Cambria" panose="02040503050406030204" pitchFamily="18" charset="0"/>
                  </a:rPr>
                  <a:t>rinconales</a:t>
                </a:r>
                <a:r>
                  <a:rPr lang="es-AR" altLang="es-AR" dirty="0" smtClean="0">
                    <a:latin typeface="Cambria" panose="02040503050406030204" pitchFamily="18" charset="0"/>
                    <a:ea typeface="Cambria" panose="02040503050406030204" pitchFamily="18" charset="0"/>
                  </a:rPr>
                  <a:t> (y </a:t>
                </a:r>
                <a:r>
                  <a:rPr lang="es-AR" altLang="es-AR" dirty="0" smtClean="0">
                    <a:latin typeface="Cambria" panose="02040503050406030204" pitchFamily="18" charset="0"/>
                    <a:ea typeface="Cambria" panose="02040503050406030204" pitchFamily="18" charset="0"/>
                  </a:rPr>
                  <a:t>tablas de </a:t>
                </a:r>
                <a:r>
                  <a:rPr lang="es-AR" altLang="es-AR" dirty="0" smtClean="0">
                    <a:latin typeface="Cambria" panose="02040503050406030204" pitchFamily="18" charset="0"/>
                    <a:ea typeface="Cambria" panose="02040503050406030204" pitchFamily="18" charset="0"/>
                  </a:rPr>
                  <a:t>2x2) </a:t>
                </a:r>
                <a:r>
                  <a:rPr lang="es-AR" altLang="es-AR" dirty="0" smtClean="0">
                    <a:latin typeface="Cambria" panose="02040503050406030204" pitchFamily="18" charset="0"/>
                    <a:ea typeface="Cambria" panose="02040503050406030204" pitchFamily="18" charset="0"/>
                  </a:rPr>
                  <a:t>podemos usar </a:t>
                </a:r>
                <a:r>
                  <a:rPr lang="es-AR" altLang="es-AR" b="1" i="1" dirty="0" smtClean="0">
                    <a:solidFill>
                      <a:srgbClr val="2A8A85"/>
                    </a:solidFill>
                    <a:latin typeface="Cambria" panose="02040503050406030204" pitchFamily="18" charset="0"/>
                    <a:ea typeface="Cambria" panose="02040503050406030204" pitchFamily="18" charset="0"/>
                  </a:rPr>
                  <a:t>Q de </a:t>
                </a:r>
                <a:r>
                  <a:rPr lang="es-AR" altLang="es-AR" b="1" i="1" dirty="0" err="1" smtClean="0">
                    <a:solidFill>
                      <a:srgbClr val="2A8A85"/>
                    </a:solidFill>
                    <a:latin typeface="Cambria" panose="02040503050406030204" pitchFamily="18" charset="0"/>
                    <a:ea typeface="Cambria" panose="02040503050406030204" pitchFamily="18" charset="0"/>
                  </a:rPr>
                  <a:t>Yule</a:t>
                </a:r>
                <a:r>
                  <a:rPr lang="es-AR" altLang="es-AR" dirty="0" smtClean="0">
                    <a:latin typeface="Cambria" panose="02040503050406030204" pitchFamily="18" charset="0"/>
                    <a:ea typeface="Cambria" panose="02040503050406030204" pitchFamily="18" charset="0"/>
                  </a:rPr>
                  <a:t> (para tablas de más de 2x2, utilizaremos el coeficiente </a:t>
                </a:r>
                <a:r>
                  <a:rPr lang="es-AR" altLang="es-AR" b="1" i="1" dirty="0" smtClean="0">
                    <a:solidFill>
                      <a:srgbClr val="2A8A85"/>
                    </a:solidFill>
                    <a:latin typeface="Cambria" panose="02040503050406030204" pitchFamily="18" charset="0"/>
                    <a:ea typeface="Cambria" panose="02040503050406030204" pitchFamily="18" charset="0"/>
                  </a:rPr>
                  <a:t>Gamma</a:t>
                </a:r>
                <a:r>
                  <a:rPr lang="es-AR" altLang="es-AR" dirty="0" smtClean="0">
                    <a:latin typeface="Cambria" panose="02040503050406030204" pitchFamily="18" charset="0"/>
                    <a:ea typeface="Cambria" panose="02040503050406030204" pitchFamily="18" charset="0"/>
                  </a:rPr>
                  <a:t>):</a:t>
                </a:r>
                <a:endParaRPr lang="es-AR" altLang="es-AR" dirty="0">
                  <a:latin typeface="Cambria" panose="02040503050406030204" pitchFamily="18" charset="0"/>
                  <a:ea typeface="Cambria" panose="02040503050406030204" pitchFamily="18" charset="0"/>
                </a:endParaRPr>
              </a:p>
            </p:txBody>
          </p:sp>
        </mc:Choice>
        <mc:Fallback>
          <p:sp>
            <p:nvSpPr>
              <p:cNvPr id="12" name="Rectangle 4"/>
              <p:cNvSpPr>
                <a:spLocks noRot="1" noChangeAspect="1" noMove="1" noResize="1" noEditPoints="1" noAdjustHandles="1" noChangeArrowheads="1" noChangeShapeType="1" noTextEdit="1"/>
              </p:cNvSpPr>
              <p:nvPr/>
            </p:nvSpPr>
            <p:spPr bwMode="auto">
              <a:xfrm>
                <a:off x="152779" y="1093010"/>
                <a:ext cx="8740396" cy="2308324"/>
              </a:xfrm>
              <a:prstGeom prst="rect">
                <a:avLst/>
              </a:prstGeom>
              <a:blipFill>
                <a:blip r:embed="rId3"/>
                <a:stretch>
                  <a:fillRect l="-418" t="-1583" r="-628" b="-29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p:cNvSpPr txBox="1"/>
              <p:nvPr/>
            </p:nvSpPr>
            <p:spPr>
              <a:xfrm>
                <a:off x="4143705" y="3812221"/>
                <a:ext cx="1727717" cy="707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𝑄</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𝑎𝑑</m:t>
                          </m:r>
                          <m:r>
                            <a:rPr lang="es-AR" sz="2400" b="0" i="1" smtClean="0">
                              <a:latin typeface="Cambria Math" panose="02040503050406030204" pitchFamily="18" charset="0"/>
                            </a:rPr>
                            <m:t>−</m:t>
                          </m:r>
                          <m:r>
                            <a:rPr lang="es-AR" sz="2400" b="0" i="1" smtClean="0">
                              <a:latin typeface="Cambria Math" panose="02040503050406030204" pitchFamily="18" charset="0"/>
                            </a:rPr>
                            <m:t>𝑏𝑐</m:t>
                          </m:r>
                        </m:num>
                        <m:den>
                          <m:r>
                            <a:rPr lang="es-AR" sz="2400" b="0" i="1" smtClean="0">
                              <a:latin typeface="Cambria Math" panose="02040503050406030204" pitchFamily="18" charset="0"/>
                            </a:rPr>
                            <m:t>𝑎𝑑</m:t>
                          </m:r>
                          <m:r>
                            <a:rPr lang="es-AR" sz="2400" b="0" i="1" smtClean="0">
                              <a:latin typeface="Cambria Math" panose="02040503050406030204" pitchFamily="18" charset="0"/>
                            </a:rPr>
                            <m:t>+</m:t>
                          </m:r>
                          <m:r>
                            <a:rPr lang="es-AR" sz="2400" b="0" i="1" smtClean="0">
                              <a:latin typeface="Cambria Math" panose="02040503050406030204" pitchFamily="18" charset="0"/>
                            </a:rPr>
                            <m:t>𝑏𝑐</m:t>
                          </m:r>
                        </m:den>
                      </m:f>
                    </m:oMath>
                  </m:oMathPara>
                </a14:m>
                <a:endParaRPr lang="es-AR" sz="2400" i="1" dirty="0">
                  <a:latin typeface="Cambria Math" panose="02040503050406030204" pitchFamily="18" charset="0"/>
                  <a:ea typeface="Cambria Math" panose="02040503050406030204" pitchFamily="18" charset="0"/>
                </a:endParaRPr>
              </a:p>
            </p:txBody>
          </p:sp>
        </mc:Choice>
        <mc:Fallback>
          <p:sp>
            <p:nvSpPr>
              <p:cNvPr id="5" name="CuadroTexto 4"/>
              <p:cNvSpPr txBox="1">
                <a:spLocks noRot="1" noChangeAspect="1" noMove="1" noResize="1" noEditPoints="1" noAdjustHandles="1" noChangeArrowheads="1" noChangeShapeType="1" noTextEdit="1"/>
              </p:cNvSpPr>
              <p:nvPr/>
            </p:nvSpPr>
            <p:spPr>
              <a:xfrm>
                <a:off x="4143705" y="3812221"/>
                <a:ext cx="1727717" cy="707438"/>
              </a:xfrm>
              <a:prstGeom prst="rect">
                <a:avLst/>
              </a:prstGeom>
              <a:blipFill>
                <a:blip r:embed="rId4"/>
                <a:stretch>
                  <a:fillRect/>
                </a:stretch>
              </a:blipFill>
            </p:spPr>
            <p:txBody>
              <a:bodyPr/>
              <a:lstStyle/>
              <a:p>
                <a:r>
                  <a:rPr lang="es-AR">
                    <a:noFill/>
                  </a:rPr>
                  <a:t> </a:t>
                </a:r>
              </a:p>
            </p:txBody>
          </p:sp>
        </mc:Fallback>
      </mc:AlternateContent>
      <p:graphicFrame>
        <p:nvGraphicFramePr>
          <p:cNvPr id="13" name="5 Marcador de contenido"/>
          <p:cNvGraphicFramePr>
            <a:graphicFrameLocks/>
          </p:cNvGraphicFramePr>
          <p:nvPr>
            <p:extLst>
              <p:ext uri="{D42A27DB-BD31-4B8C-83A1-F6EECF244321}">
                <p14:modId xmlns:p14="http://schemas.microsoft.com/office/powerpoint/2010/main" val="2863023721"/>
              </p:ext>
            </p:extLst>
          </p:nvPr>
        </p:nvGraphicFramePr>
        <p:xfrm>
          <a:off x="2267744" y="3824686"/>
          <a:ext cx="1277418" cy="731520"/>
        </p:xfrm>
        <a:graphic>
          <a:graphicData uri="http://schemas.openxmlformats.org/drawingml/2006/table">
            <a:tbl>
              <a:tblPr firstRow="1" bandRow="1">
                <a:tableStyleId>{5C22544A-7EE6-4342-B048-85BDC9FD1C3A}</a:tableStyleId>
              </a:tblPr>
              <a:tblGrid>
                <a:gridCol w="638709">
                  <a:extLst>
                    <a:ext uri="{9D8B030D-6E8A-4147-A177-3AD203B41FA5}">
                      <a16:colId xmlns:a16="http://schemas.microsoft.com/office/drawing/2014/main" val="20000"/>
                    </a:ext>
                  </a:extLst>
                </a:gridCol>
                <a:gridCol w="638709">
                  <a:extLst>
                    <a:ext uri="{9D8B030D-6E8A-4147-A177-3AD203B41FA5}">
                      <a16:colId xmlns:a16="http://schemas.microsoft.com/office/drawing/2014/main" val="20001"/>
                    </a:ext>
                  </a:extLst>
                </a:gridCol>
              </a:tblGrid>
              <a:tr h="321469">
                <a:tc>
                  <a:txBody>
                    <a:bodyPr/>
                    <a:lstStyle/>
                    <a:p>
                      <a:pPr algn="ctr"/>
                      <a:r>
                        <a:rPr lang="es-MX" sz="1800" b="0" baseline="0" dirty="0" smtClean="0">
                          <a:solidFill>
                            <a:schemeClr val="tx1"/>
                          </a:solidFill>
                          <a:latin typeface="Cambria Math" panose="02040503050406030204" pitchFamily="18" charset="0"/>
                          <a:ea typeface="Cambria Math" panose="02040503050406030204" pitchFamily="18" charset="0"/>
                        </a:rPr>
                        <a:t>a</a:t>
                      </a:r>
                      <a:endParaRPr lang="es-ES" sz="1800" b="0" baseline="0" dirty="0">
                        <a:solidFill>
                          <a:schemeClr val="tx1"/>
                        </a:solidFill>
                        <a:latin typeface="Cambria Math" panose="02040503050406030204" pitchFamily="18" charset="0"/>
                        <a:ea typeface="Cambria Math" panose="02040503050406030204" pitchFamily="18" charset="0"/>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s-MX" sz="1800" b="0" baseline="0" dirty="0" smtClean="0">
                          <a:solidFill>
                            <a:schemeClr val="tx1"/>
                          </a:solidFill>
                          <a:latin typeface="Cambria Math" panose="02040503050406030204" pitchFamily="18" charset="0"/>
                          <a:ea typeface="Cambria Math" panose="02040503050406030204" pitchFamily="18" charset="0"/>
                        </a:rPr>
                        <a:t>b</a:t>
                      </a:r>
                      <a:endParaRPr lang="es-ES" sz="1800" b="0" baseline="0" dirty="0">
                        <a:solidFill>
                          <a:schemeClr val="tx1"/>
                        </a:solidFill>
                        <a:latin typeface="Cambria Math" panose="02040503050406030204" pitchFamily="18" charset="0"/>
                        <a:ea typeface="Cambria Math" panose="02040503050406030204" pitchFamily="18" charset="0"/>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321469">
                <a:tc>
                  <a:txBody>
                    <a:bodyPr/>
                    <a:lstStyle/>
                    <a:p>
                      <a:pPr algn="ctr"/>
                      <a:r>
                        <a:rPr lang="es-MX" sz="1800" b="0" baseline="0" dirty="0" smtClean="0">
                          <a:solidFill>
                            <a:schemeClr val="tx1"/>
                          </a:solidFill>
                          <a:latin typeface="Cambria Math" panose="02040503050406030204" pitchFamily="18" charset="0"/>
                          <a:ea typeface="Cambria Math" panose="02040503050406030204" pitchFamily="18" charset="0"/>
                        </a:rPr>
                        <a:t>c</a:t>
                      </a:r>
                      <a:endParaRPr lang="es-ES" sz="1800" b="0" baseline="0" dirty="0">
                        <a:solidFill>
                          <a:schemeClr val="tx1"/>
                        </a:solidFill>
                        <a:latin typeface="Cambria Math" panose="02040503050406030204" pitchFamily="18" charset="0"/>
                        <a:ea typeface="Cambria Math" panose="02040503050406030204" pitchFamily="18" charset="0"/>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s-MX" sz="1800" b="0" baseline="0" dirty="0" smtClean="0">
                          <a:solidFill>
                            <a:schemeClr val="tx1"/>
                          </a:solidFill>
                          <a:latin typeface="Cambria Math" panose="02040503050406030204" pitchFamily="18" charset="0"/>
                          <a:ea typeface="Cambria Math" panose="02040503050406030204" pitchFamily="18" charset="0"/>
                        </a:rPr>
                        <a:t>d</a:t>
                      </a:r>
                      <a:endParaRPr lang="es-ES" sz="1800" b="0" baseline="0" dirty="0">
                        <a:solidFill>
                          <a:schemeClr val="tx1"/>
                        </a:solidFill>
                        <a:latin typeface="Cambria Math" panose="02040503050406030204" pitchFamily="18" charset="0"/>
                        <a:ea typeface="Cambria Math" panose="02040503050406030204" pitchFamily="18" charset="0"/>
                      </a:endParaRPr>
                    </a:p>
                  </a:txBody>
                  <a:tcPr marL="91439" marR="914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bl>
          </a:graphicData>
        </a:graphic>
      </p:graphicFrame>
      <p:sp>
        <p:nvSpPr>
          <p:cNvPr id="14" name="Rectangle 4"/>
          <p:cNvSpPr>
            <a:spLocks noChangeArrowheads="1"/>
          </p:cNvSpPr>
          <p:nvPr/>
        </p:nvSpPr>
        <p:spPr bwMode="auto">
          <a:xfrm>
            <a:off x="130365" y="4842824"/>
            <a:ext cx="87403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Cuando las tablas son de más de 2x2, utilizaremos el coeficiente </a:t>
            </a:r>
            <a:r>
              <a:rPr lang="es-AR" altLang="es-AR" b="1" i="1" dirty="0" smtClean="0">
                <a:solidFill>
                  <a:srgbClr val="2A8A85"/>
                </a:solidFill>
                <a:latin typeface="Cambria" panose="02040503050406030204" pitchFamily="18" charset="0"/>
                <a:ea typeface="Cambria" panose="02040503050406030204" pitchFamily="18" charset="0"/>
              </a:rPr>
              <a:t>Gamma</a:t>
            </a:r>
            <a:r>
              <a:rPr lang="es-AR" altLang="es-AR" dirty="0" smtClean="0">
                <a:latin typeface="Cambria" panose="02040503050406030204" pitchFamily="18" charset="0"/>
                <a:ea typeface="Cambria" panose="02040503050406030204" pitchFamily="18" charset="0"/>
              </a:rPr>
              <a:t>, que también es apropiado para medir el grado de asociación entre variables ordinales. Gamma es un coeficiente basado en la reducción proporcional del error y toma valores entre -1 y +1.</a:t>
            </a:r>
            <a:endParaRPr lang="es-AR" altLang="es-A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575195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pic>
        <p:nvPicPr>
          <p:cNvPr id="3" name="Imagen 2">
            <a:extLst>
              <a:ext uri="{FF2B5EF4-FFF2-40B4-BE49-F238E27FC236}">
                <a16:creationId xmlns:a16="http://schemas.microsoft.com/office/drawing/2014/main" id="{4342E596-F55D-4F88-86D4-E630460DC694}"/>
              </a:ext>
            </a:extLst>
          </p:cNvPr>
          <p:cNvPicPr>
            <a:picLocks noChangeAspect="1"/>
          </p:cNvPicPr>
          <p:nvPr/>
        </p:nvPicPr>
        <p:blipFill rotWithShape="1">
          <a:blip r:embed="rId3"/>
          <a:srcRect l="14563" t="19167" r="33462" b="16400"/>
          <a:stretch/>
        </p:blipFill>
        <p:spPr>
          <a:xfrm>
            <a:off x="1691680" y="2073816"/>
            <a:ext cx="6336704" cy="4418813"/>
          </a:xfrm>
          <a:prstGeom prst="rect">
            <a:avLst/>
          </a:prstGeom>
        </p:spPr>
      </p:pic>
      <p:sp>
        <p:nvSpPr>
          <p:cNvPr id="11" name="Rectangle 4">
            <a:extLst>
              <a:ext uri="{FF2B5EF4-FFF2-40B4-BE49-F238E27FC236}">
                <a16:creationId xmlns:a16="http://schemas.microsoft.com/office/drawing/2014/main" id="{766A353D-9192-40C5-880B-BFBC62CD9D68}"/>
              </a:ext>
            </a:extLst>
          </p:cNvPr>
          <p:cNvSpPr>
            <a:spLocks noChangeArrowheads="1"/>
          </p:cNvSpPr>
          <p:nvPr/>
        </p:nvSpPr>
        <p:spPr bwMode="auto">
          <a:xfrm>
            <a:off x="1691680" y="6419373"/>
            <a:ext cx="38164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AR" altLang="es-AR" sz="1200" dirty="0">
                <a:latin typeface="Cambria" panose="02040503050406030204" pitchFamily="18" charset="0"/>
                <a:ea typeface="Cambria" panose="02040503050406030204" pitchFamily="18" charset="0"/>
              </a:rPr>
              <a:t>Fuente: López Roldán &amp; </a:t>
            </a:r>
            <a:r>
              <a:rPr lang="es-AR" altLang="es-AR" sz="1200" dirty="0" err="1">
                <a:latin typeface="Cambria" panose="02040503050406030204" pitchFamily="18" charset="0"/>
                <a:ea typeface="Cambria" panose="02040503050406030204" pitchFamily="18" charset="0"/>
              </a:rPr>
              <a:t>Fachelli</a:t>
            </a:r>
            <a:r>
              <a:rPr lang="es-AR" altLang="es-AR" sz="1200" dirty="0">
                <a:latin typeface="Cambria" panose="02040503050406030204" pitchFamily="18" charset="0"/>
                <a:ea typeface="Cambria" panose="02040503050406030204" pitchFamily="18" charset="0"/>
              </a:rPr>
              <a:t> (2016)</a:t>
            </a:r>
            <a:endParaRPr lang="es-AR" altLang="es-AR" sz="1200" b="1" dirty="0">
              <a:latin typeface="Cambria" panose="02040503050406030204" pitchFamily="18" charset="0"/>
              <a:ea typeface="Cambria" panose="02040503050406030204" pitchFamily="18" charset="0"/>
            </a:endParaRP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 global</a:t>
            </a:r>
            <a:endParaRPr lang="es-AR" sz="2400" dirty="0">
              <a:latin typeface="Cambria" panose="02040503050406030204" pitchFamily="18" charset="0"/>
            </a:endParaRPr>
          </a:p>
        </p:txBody>
      </p:sp>
      <p:sp>
        <p:nvSpPr>
          <p:cNvPr id="12" name="Rectangle 4"/>
          <p:cNvSpPr>
            <a:spLocks noChangeArrowheads="1"/>
          </p:cNvSpPr>
          <p:nvPr/>
        </p:nvSpPr>
        <p:spPr bwMode="auto">
          <a:xfrm>
            <a:off x="130365" y="1032527"/>
            <a:ext cx="876281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sz="1600" dirty="0" smtClean="0">
                <a:latin typeface="Cambria" panose="02040503050406030204" pitchFamily="18" charset="0"/>
                <a:ea typeface="Cambria" panose="02040503050406030204" pitchFamily="18" charset="0"/>
              </a:rPr>
              <a:t>Para saber qué coeficiente de asociación usar, hay que: 1) evaluar el nivel de medición de las variables de la tabla; 2) elegir el coeficiente a partir de esta tabla, pero teniendo eligiendo en función de la variable que tiene </a:t>
            </a:r>
            <a:r>
              <a:rPr lang="es-AR" altLang="es-AR" sz="1600" i="1" dirty="0" smtClean="0">
                <a:latin typeface="Cambria" panose="02040503050406030204" pitchFamily="18" charset="0"/>
                <a:ea typeface="Cambria" panose="02040503050406030204" pitchFamily="18" charset="0"/>
              </a:rPr>
              <a:t>menor</a:t>
            </a:r>
            <a:r>
              <a:rPr lang="es-AR" altLang="es-AR" sz="1600" dirty="0" smtClean="0">
                <a:latin typeface="Cambria" panose="02040503050406030204" pitchFamily="18" charset="0"/>
                <a:ea typeface="Cambria" panose="02040503050406030204" pitchFamily="18" charset="0"/>
              </a:rPr>
              <a:t> nivel de medición (si tengo una variable nominal y otra ordinal, debo elegir coeficientes para variables nominales). </a:t>
            </a:r>
            <a:endParaRPr lang="es-AR" altLang="es-AR"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705216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Coeficientes de asociación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5652120" y="953739"/>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Botón &gt; Estadísticos</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5" name="Imagen 4"/>
          <p:cNvPicPr>
            <a:picLocks noChangeAspect="1"/>
          </p:cNvPicPr>
          <p:nvPr/>
        </p:nvPicPr>
        <p:blipFill rotWithShape="1">
          <a:blip r:embed="rId3"/>
          <a:srcRect l="1" r="-160"/>
          <a:stretch/>
        </p:blipFill>
        <p:spPr>
          <a:xfrm>
            <a:off x="457019" y="1024854"/>
            <a:ext cx="4691768" cy="2757929"/>
          </a:xfrm>
          <a:prstGeom prst="rect">
            <a:avLst/>
          </a:prstGeom>
          <a:effectLst>
            <a:outerShdw blurRad="50800" dist="38100" dir="10800000" sx="101000" sy="101000" algn="r" rotWithShape="0">
              <a:prstClr val="black">
                <a:alpha val="40000"/>
              </a:prstClr>
            </a:outerShdw>
          </a:effectLst>
        </p:spPr>
      </p:pic>
      <p:sp>
        <p:nvSpPr>
          <p:cNvPr id="17" name="Text Box 46"/>
          <p:cNvSpPr txBox="1">
            <a:spLocks noChangeArrowheads="1"/>
          </p:cNvSpPr>
          <p:nvPr/>
        </p:nvSpPr>
        <p:spPr bwMode="auto">
          <a:xfrm>
            <a:off x="1451863" y="3946280"/>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Seleccionamos el coeficiente</a:t>
            </a:r>
            <a:endParaRPr lang="es-ES" altLang="es-AR" sz="1500" b="1" dirty="0">
              <a:latin typeface="Cambria" panose="02040503050406030204" pitchFamily="18" charset="0"/>
              <a:ea typeface="Cambria" panose="02040503050406030204" pitchFamily="18" charset="0"/>
            </a:endParaRPr>
          </a:p>
        </p:txBody>
      </p:sp>
      <p:sp>
        <p:nvSpPr>
          <p:cNvPr id="22" name="Text Box 46"/>
          <p:cNvSpPr txBox="1">
            <a:spLocks noChangeArrowheads="1"/>
          </p:cNvSpPr>
          <p:nvPr/>
        </p:nvSpPr>
        <p:spPr bwMode="auto">
          <a:xfrm>
            <a:off x="4320500" y="1386732"/>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endCxn id="22" idx="3"/>
          </p:cNvCxnSpPr>
          <p:nvPr/>
        </p:nvCxnSpPr>
        <p:spPr bwMode="auto">
          <a:xfrm rot="10800000" flipV="1">
            <a:off x="5148787" y="1034787"/>
            <a:ext cx="492558" cy="47294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6" name="Imagen 5"/>
          <p:cNvPicPr>
            <a:picLocks noChangeAspect="1"/>
          </p:cNvPicPr>
          <p:nvPr/>
        </p:nvPicPr>
        <p:blipFill>
          <a:blip r:embed="rId4"/>
          <a:stretch>
            <a:fillRect/>
          </a:stretch>
        </p:blipFill>
        <p:spPr>
          <a:xfrm>
            <a:off x="4350873" y="2142891"/>
            <a:ext cx="3184004" cy="3008614"/>
          </a:xfrm>
          <a:prstGeom prst="rect">
            <a:avLst/>
          </a:prstGeom>
        </p:spPr>
      </p:pic>
      <p:sp>
        <p:nvSpPr>
          <p:cNvPr id="21" name="Text Box 46"/>
          <p:cNvSpPr txBox="1">
            <a:spLocks noChangeArrowheads="1"/>
          </p:cNvSpPr>
          <p:nvPr/>
        </p:nvSpPr>
        <p:spPr bwMode="auto">
          <a:xfrm>
            <a:off x="4400424" y="2692541"/>
            <a:ext cx="2979888" cy="1701772"/>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9" name="AutoShape 50"/>
          <p:cNvCxnSpPr>
            <a:cxnSpLocks noChangeShapeType="1"/>
            <a:stCxn id="17" idx="0"/>
          </p:cNvCxnSpPr>
          <p:nvPr/>
        </p:nvCxnSpPr>
        <p:spPr bwMode="auto">
          <a:xfrm rot="5400000" flipH="1" flipV="1">
            <a:off x="3066220" y="2661627"/>
            <a:ext cx="1021336" cy="1547970"/>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997707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Coeficientes de asociación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4" name="Imagen 3"/>
          <p:cNvPicPr>
            <a:picLocks noChangeAspect="1"/>
          </p:cNvPicPr>
          <p:nvPr/>
        </p:nvPicPr>
        <p:blipFill>
          <a:blip r:embed="rId3"/>
          <a:stretch>
            <a:fillRect/>
          </a:stretch>
        </p:blipFill>
        <p:spPr>
          <a:xfrm>
            <a:off x="539552" y="1225469"/>
            <a:ext cx="4657725" cy="1866900"/>
          </a:xfrm>
          <a:prstGeom prst="rect">
            <a:avLst/>
          </a:prstGeom>
        </p:spPr>
      </p:pic>
      <p:pic>
        <p:nvPicPr>
          <p:cNvPr id="7" name="Imagen 6"/>
          <p:cNvPicPr>
            <a:picLocks noChangeAspect="1"/>
          </p:cNvPicPr>
          <p:nvPr/>
        </p:nvPicPr>
        <p:blipFill>
          <a:blip r:embed="rId4"/>
          <a:stretch>
            <a:fillRect/>
          </a:stretch>
        </p:blipFill>
        <p:spPr>
          <a:xfrm>
            <a:off x="516568" y="3212976"/>
            <a:ext cx="3819525" cy="1323975"/>
          </a:xfrm>
          <a:prstGeom prst="rect">
            <a:avLst/>
          </a:prstGeom>
        </p:spPr>
      </p:pic>
      <p:sp>
        <p:nvSpPr>
          <p:cNvPr id="18" name="Text Box 46"/>
          <p:cNvSpPr txBox="1">
            <a:spLocks noChangeArrowheads="1"/>
          </p:cNvSpPr>
          <p:nvPr/>
        </p:nvSpPr>
        <p:spPr bwMode="auto">
          <a:xfrm>
            <a:off x="539552" y="5095853"/>
            <a:ext cx="3240360" cy="900246"/>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Leemos el coeficiente: </a:t>
            </a:r>
          </a:p>
          <a:p>
            <a:pPr algn="ctr">
              <a:spcBef>
                <a:spcPct val="50000"/>
              </a:spcBef>
            </a:pPr>
            <a:r>
              <a:rPr lang="es-ES" altLang="es-AR" sz="1500" b="1" dirty="0" smtClean="0">
                <a:latin typeface="Cambria" panose="02040503050406030204" pitchFamily="18" charset="0"/>
                <a:ea typeface="Cambria" panose="02040503050406030204" pitchFamily="18" charset="0"/>
              </a:rPr>
              <a:t>Tenemos un nivel de asociación medio-bajo, con V=0,130</a:t>
            </a:r>
            <a:endParaRPr lang="es-ES" altLang="es-AR" sz="1500" b="1" dirty="0">
              <a:latin typeface="Cambria" panose="02040503050406030204" pitchFamily="18" charset="0"/>
              <a:ea typeface="Cambria" panose="02040503050406030204" pitchFamily="18" charset="0"/>
            </a:endParaRPr>
          </a:p>
        </p:txBody>
      </p:sp>
      <p:cxnSp>
        <p:nvCxnSpPr>
          <p:cNvPr id="20" name="AutoShape 50"/>
          <p:cNvCxnSpPr>
            <a:cxnSpLocks noChangeShapeType="1"/>
          </p:cNvCxnSpPr>
          <p:nvPr/>
        </p:nvCxnSpPr>
        <p:spPr bwMode="auto">
          <a:xfrm rot="5400000" flipH="1" flipV="1">
            <a:off x="2126664" y="4234693"/>
            <a:ext cx="922277" cy="800044"/>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23" name="Text Box 46"/>
          <p:cNvSpPr txBox="1">
            <a:spLocks noChangeArrowheads="1"/>
          </p:cNvSpPr>
          <p:nvPr/>
        </p:nvSpPr>
        <p:spPr bwMode="auto">
          <a:xfrm>
            <a:off x="4139952" y="4657558"/>
            <a:ext cx="3240360" cy="1131079"/>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La asociación es estadísticamente significativa</a:t>
            </a:r>
          </a:p>
          <a:p>
            <a:pPr algn="ctr">
              <a:spcBef>
                <a:spcPct val="50000"/>
              </a:spcBef>
            </a:pPr>
            <a:r>
              <a:rPr lang="es-ES" altLang="es-AR" sz="1500" i="1" dirty="0" smtClean="0">
                <a:latin typeface="Cambria" panose="02040503050406030204" pitchFamily="18" charset="0"/>
                <a:ea typeface="Cambria" panose="02040503050406030204" pitchFamily="18" charset="0"/>
              </a:rPr>
              <a:t>(Esto ya lo sabíamos por la prueba de Chi Cuadrado)</a:t>
            </a:r>
            <a:endParaRPr lang="es-ES" altLang="es-AR" sz="1500" i="1" dirty="0">
              <a:latin typeface="Cambria" panose="02040503050406030204" pitchFamily="18" charset="0"/>
              <a:ea typeface="Cambria" panose="02040503050406030204" pitchFamily="18" charset="0"/>
            </a:endParaRPr>
          </a:p>
        </p:txBody>
      </p:sp>
      <p:cxnSp>
        <p:nvCxnSpPr>
          <p:cNvPr id="24" name="AutoShape 50"/>
          <p:cNvCxnSpPr>
            <a:cxnSpLocks noChangeShapeType="1"/>
          </p:cNvCxnSpPr>
          <p:nvPr/>
        </p:nvCxnSpPr>
        <p:spPr bwMode="auto">
          <a:xfrm rot="10800000">
            <a:off x="4211963" y="4005064"/>
            <a:ext cx="1548171" cy="652494"/>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5" name="CuadroTexto 24"/>
              <p:cNvSpPr txBox="1"/>
              <p:nvPr/>
            </p:nvSpPr>
            <p:spPr>
              <a:xfrm>
                <a:off x="5662919" y="3376127"/>
                <a:ext cx="2822376"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𝑉</m:t>
                      </m:r>
                      <m:r>
                        <a:rPr lang="es-AR" b="0" i="1" smtClean="0">
                          <a:latin typeface="Cambria Math" panose="02040503050406030204" pitchFamily="18" charset="0"/>
                        </a:rPr>
                        <m:t>=</m:t>
                      </m:r>
                      <m:rad>
                        <m:radPr>
                          <m:degHide m:val="on"/>
                          <m:ctrlPr>
                            <a:rPr lang="es-AR" b="0" i="1" smtClean="0">
                              <a:latin typeface="Cambria Math" panose="02040503050406030204" pitchFamily="18" charset="0"/>
                            </a:rPr>
                          </m:ctrlPr>
                        </m:radPr>
                        <m:deg/>
                        <m:e>
                          <m:f>
                            <m:fPr>
                              <m:ctrlPr>
                                <a:rPr lang="es-AR" i="1">
                                  <a:latin typeface="Cambria Math" panose="02040503050406030204" pitchFamily="18" charset="0"/>
                                </a:rPr>
                              </m:ctrlPr>
                            </m:fPr>
                            <m:num>
                              <m:r>
                                <a:rPr lang="es-AR" altLang="es-AR" b="0" i="1" smtClean="0">
                                  <a:latin typeface="Cambria Math" panose="02040503050406030204" pitchFamily="18" charset="0"/>
                                  <a:ea typeface="Cambria" panose="02040503050406030204" pitchFamily="18" charset="0"/>
                                </a:rPr>
                                <m:t>9,296</m:t>
                              </m:r>
                            </m:num>
                            <m:den>
                              <m:r>
                                <a:rPr lang="es-AR" b="0" i="1" smtClean="0">
                                  <a:latin typeface="Cambria Math" panose="02040503050406030204" pitchFamily="18" charset="0"/>
                                </a:rPr>
                                <m:t>551</m:t>
                              </m:r>
                              <m:r>
                                <a:rPr lang="es-AR" i="1">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2</m:t>
                              </m:r>
                              <m:r>
                                <a:rPr lang="es-AR" i="1">
                                  <a:latin typeface="Cambria Math" panose="02040503050406030204" pitchFamily="18" charset="0"/>
                                  <a:ea typeface="Cambria Math" panose="02040503050406030204" pitchFamily="18" charset="0"/>
                                </a:rPr>
                                <m:t>−1)</m:t>
                              </m:r>
                            </m:den>
                          </m:f>
                        </m:e>
                      </m:rad>
                      <m:r>
                        <a:rPr lang="es-AR" b="0" i="1" smtClean="0">
                          <a:latin typeface="Cambria Math" panose="02040503050406030204" pitchFamily="18" charset="0"/>
                        </a:rPr>
                        <m:t>=0,130</m:t>
                      </m:r>
                    </m:oMath>
                  </m:oMathPara>
                </a14:m>
                <a:endParaRPr lang="es-AR" dirty="0"/>
              </a:p>
            </p:txBody>
          </p:sp>
        </mc:Choice>
        <mc:Fallback xmlns="">
          <p:sp>
            <p:nvSpPr>
              <p:cNvPr id="25" name="CuadroTexto 24"/>
              <p:cNvSpPr txBox="1">
                <a:spLocks noRot="1" noChangeAspect="1" noMove="1" noResize="1" noEditPoints="1" noAdjustHandles="1" noChangeArrowheads="1" noChangeShapeType="1" noTextEdit="1"/>
              </p:cNvSpPr>
              <p:nvPr/>
            </p:nvSpPr>
            <p:spPr>
              <a:xfrm>
                <a:off x="5662919" y="3376127"/>
                <a:ext cx="2822376" cy="818366"/>
              </a:xfrm>
              <a:prstGeom prst="rect">
                <a:avLst/>
              </a:prstGeom>
              <a:blipFill>
                <a:blip r:embed="rId5"/>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9887374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p:cNvPicPr>
            <a:picLocks noChangeAspect="1"/>
          </p:cNvPicPr>
          <p:nvPr/>
        </p:nvPicPr>
        <p:blipFill>
          <a:blip r:embed="rId3"/>
          <a:stretch>
            <a:fillRect/>
          </a:stretch>
        </p:blipFill>
        <p:spPr>
          <a:xfrm>
            <a:off x="4500563" y="4272501"/>
            <a:ext cx="4185017" cy="1566735"/>
          </a:xfrm>
          <a:prstGeom prst="rect">
            <a:avLst/>
          </a:prstGeom>
        </p:spPr>
      </p:pic>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Coeficientes de asociación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8" name="Text Box 46"/>
          <p:cNvSpPr txBox="1">
            <a:spLocks noChangeArrowheads="1"/>
          </p:cNvSpPr>
          <p:nvPr/>
        </p:nvSpPr>
        <p:spPr bwMode="auto">
          <a:xfrm>
            <a:off x="539552" y="5095853"/>
            <a:ext cx="3240360" cy="1015663"/>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Vemos que se trata de una hipótesis en la que una celda tiende a “vaciarse” y, lógicamente, la otra se “llena” (</a:t>
            </a:r>
            <a:r>
              <a:rPr lang="es-ES" altLang="es-AR" sz="1500" b="1" i="1" dirty="0" err="1" smtClean="0">
                <a:latin typeface="Cambria" panose="02040503050406030204" pitchFamily="18" charset="0"/>
                <a:ea typeface="Cambria" panose="02040503050406030204" pitchFamily="18" charset="0"/>
              </a:rPr>
              <a:t>rinconal</a:t>
            </a:r>
            <a:r>
              <a:rPr lang="es-ES" altLang="es-AR" sz="1500" b="1" dirty="0" smtClean="0">
                <a:latin typeface="Cambria" panose="02040503050406030204" pitchFamily="18" charset="0"/>
                <a:ea typeface="Cambria" panose="02040503050406030204" pitchFamily="18" charset="0"/>
              </a:rPr>
              <a:t>)</a:t>
            </a:r>
          </a:p>
        </p:txBody>
      </p:sp>
      <p:sp>
        <p:nvSpPr>
          <p:cNvPr id="23" name="Text Box 46"/>
          <p:cNvSpPr txBox="1">
            <a:spLocks noChangeArrowheads="1"/>
          </p:cNvSpPr>
          <p:nvPr/>
        </p:nvSpPr>
        <p:spPr bwMode="auto">
          <a:xfrm>
            <a:off x="5682919" y="2650342"/>
            <a:ext cx="3240360" cy="124649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Mientras que los coeficientes que asumen relaciones diagonales nos “penalizan”, los coeficientes </a:t>
            </a:r>
            <a:r>
              <a:rPr lang="es-ES" altLang="es-AR" sz="1500" b="1" dirty="0" err="1" smtClean="0">
                <a:latin typeface="Cambria" panose="02040503050406030204" pitchFamily="18" charset="0"/>
                <a:ea typeface="Cambria" panose="02040503050406030204" pitchFamily="18" charset="0"/>
              </a:rPr>
              <a:t>rinconales</a:t>
            </a:r>
            <a:r>
              <a:rPr lang="es-ES" altLang="es-AR" sz="1500" b="1" dirty="0" smtClean="0">
                <a:latin typeface="Cambria" panose="02040503050406030204" pitchFamily="18" charset="0"/>
                <a:ea typeface="Cambria" panose="02040503050406030204" pitchFamily="18" charset="0"/>
              </a:rPr>
              <a:t> nos muestran que la asociación es alta.</a:t>
            </a:r>
            <a:endParaRPr lang="es-ES" altLang="es-AR" sz="1500" i="1" dirty="0">
              <a:latin typeface="Cambria" panose="02040503050406030204" pitchFamily="18" charset="0"/>
              <a:ea typeface="Cambria" panose="02040503050406030204" pitchFamily="18" charset="0"/>
            </a:endParaRPr>
          </a:p>
        </p:txBody>
      </p:sp>
      <p:cxnSp>
        <p:nvCxnSpPr>
          <p:cNvPr id="24" name="AutoShape 50"/>
          <p:cNvCxnSpPr>
            <a:cxnSpLocks noChangeShapeType="1"/>
          </p:cNvCxnSpPr>
          <p:nvPr/>
        </p:nvCxnSpPr>
        <p:spPr bwMode="auto">
          <a:xfrm rot="5400000">
            <a:off x="6521544" y="3968367"/>
            <a:ext cx="1002306" cy="859247"/>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3" name="Rectangle 4"/>
          <p:cNvSpPr>
            <a:spLocks noChangeArrowheads="1"/>
          </p:cNvSpPr>
          <p:nvPr/>
        </p:nvSpPr>
        <p:spPr bwMode="auto">
          <a:xfrm>
            <a:off x="152779" y="874818"/>
            <a:ext cx="87403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Veamos en el siguiente ejemplo las diferencias que podemos tener si alteramos el coeficiente empleado. Utilizamos las variables: nivel educativo (independiente) y empleo registrado (dependiente) y proponemos como hipótesis: “</a:t>
            </a:r>
            <a:r>
              <a:rPr lang="es-AR" altLang="es-AR" i="1" dirty="0" smtClean="0">
                <a:latin typeface="Cambria" panose="02040503050406030204" pitchFamily="18" charset="0"/>
                <a:ea typeface="Cambria" panose="02040503050406030204" pitchFamily="18" charset="0"/>
              </a:rPr>
              <a:t>Las personas de alto nivel educativo tienden a tener empleos registrados”</a:t>
            </a:r>
            <a:r>
              <a:rPr lang="es-AR" altLang="es-AR" dirty="0" smtClean="0">
                <a:latin typeface="Cambria" panose="02040503050406030204" pitchFamily="18" charset="0"/>
                <a:ea typeface="Cambria" panose="02040503050406030204" pitchFamily="18" charset="0"/>
              </a:rPr>
              <a:t>. </a:t>
            </a:r>
            <a:endParaRPr lang="es-AR" altLang="es-AR" dirty="0">
              <a:latin typeface="Cambria" panose="02040503050406030204" pitchFamily="18" charset="0"/>
              <a:ea typeface="Cambria" panose="02040503050406030204" pitchFamily="18" charset="0"/>
            </a:endParaRPr>
          </a:p>
        </p:txBody>
      </p:sp>
      <p:pic>
        <p:nvPicPr>
          <p:cNvPr id="6" name="Imagen 5"/>
          <p:cNvPicPr>
            <a:picLocks noChangeAspect="1"/>
          </p:cNvPicPr>
          <p:nvPr/>
        </p:nvPicPr>
        <p:blipFill>
          <a:blip r:embed="rId4"/>
          <a:stretch>
            <a:fillRect/>
          </a:stretch>
        </p:blipFill>
        <p:spPr>
          <a:xfrm>
            <a:off x="546996" y="2103619"/>
            <a:ext cx="4781524" cy="2069957"/>
          </a:xfrm>
          <a:prstGeom prst="rect">
            <a:avLst/>
          </a:prstGeom>
        </p:spPr>
      </p:pic>
      <p:cxnSp>
        <p:nvCxnSpPr>
          <p:cNvPr id="20" name="AutoShape 50"/>
          <p:cNvCxnSpPr>
            <a:cxnSpLocks noChangeShapeType="1"/>
          </p:cNvCxnSpPr>
          <p:nvPr/>
        </p:nvCxnSpPr>
        <p:spPr bwMode="auto">
          <a:xfrm flipV="1">
            <a:off x="2187781" y="3500440"/>
            <a:ext cx="2096189" cy="1595414"/>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21" name="AutoShape 50"/>
          <p:cNvCxnSpPr>
            <a:cxnSpLocks noChangeShapeType="1"/>
          </p:cNvCxnSpPr>
          <p:nvPr/>
        </p:nvCxnSpPr>
        <p:spPr bwMode="auto">
          <a:xfrm flipV="1">
            <a:off x="1615693" y="3060713"/>
            <a:ext cx="2664295" cy="203513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133483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80" y="333375"/>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 local: análisis de residuos</a:t>
            </a:r>
            <a:endParaRPr lang="es-AR" sz="24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2" name="Rectangle 4"/>
              <p:cNvSpPr>
                <a:spLocks noChangeArrowheads="1"/>
              </p:cNvSpPr>
              <p:nvPr/>
            </p:nvSpPr>
            <p:spPr bwMode="auto">
              <a:xfrm>
                <a:off x="152779" y="1093010"/>
                <a:ext cx="8740396" cy="2308324"/>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El análisis de residuos permite ver la relación entre pares de categorías y, por consiguiente, caracterizar mejor una relación </a:t>
                </a:r>
                <a:r>
                  <a:rPr lang="es-AR" altLang="es-AR" dirty="0" err="1" smtClean="0">
                    <a:latin typeface="Cambria" panose="02040503050406030204" pitchFamily="18" charset="0"/>
                    <a:ea typeface="Cambria" panose="02040503050406030204" pitchFamily="18" charset="0"/>
                  </a:rPr>
                  <a:t>bivariada</a:t>
                </a:r>
                <a:r>
                  <a:rPr lang="es-AR" altLang="es-AR" dirty="0" smtClean="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El análisis parte de lo que ya sabíamos de </a:t>
                </a:r>
                <a14:m>
                  <m:oMath xmlns:m="http://schemas.openxmlformats.org/officeDocument/2006/math">
                    <m:sSup>
                      <m:sSupPr>
                        <m:ctrlPr>
                          <a:rPr lang="es-AR" altLang="es-AR" i="1">
                            <a:latin typeface="Cambria Math" panose="02040503050406030204" pitchFamily="18" charset="0"/>
                            <a:ea typeface="Cambria" panose="02040503050406030204" pitchFamily="18" charset="0"/>
                          </a:rPr>
                        </m:ctrlPr>
                      </m:sSupPr>
                      <m:e>
                        <m:r>
                          <a:rPr lang="es-AR" altLang="es-AR" i="1">
                            <a:latin typeface="Cambria Math" panose="02040503050406030204" pitchFamily="18" charset="0"/>
                            <a:ea typeface="Cambria Math" panose="02040503050406030204" pitchFamily="18" charset="0"/>
                          </a:rPr>
                          <m:t>𝜒</m:t>
                        </m:r>
                      </m:e>
                      <m:sup>
                        <m:r>
                          <a:rPr lang="es-AR" altLang="es-AR" i="1">
                            <a:latin typeface="Cambria Math" panose="02040503050406030204" pitchFamily="18" charset="0"/>
                            <a:ea typeface="Cambria" panose="02040503050406030204" pitchFamily="18" charset="0"/>
                          </a:rPr>
                          <m:t>2</m:t>
                        </m:r>
                      </m:sup>
                    </m:sSup>
                  </m:oMath>
                </a14:m>
                <a:r>
                  <a:rPr lang="es-AR" altLang="es-AR" dirty="0" smtClean="0">
                    <a:latin typeface="Cambria" panose="02040503050406030204" pitchFamily="18" charset="0"/>
                    <a:ea typeface="Cambria" panose="02040503050406030204" pitchFamily="18" charset="0"/>
                  </a:rPr>
                  <a:t>: cuanto mayor es la </a:t>
                </a:r>
                <a:r>
                  <a:rPr lang="es-AR" altLang="es-AR" i="1" dirty="0" smtClean="0">
                    <a:latin typeface="Cambria" panose="02040503050406030204" pitchFamily="18" charset="0"/>
                    <a:ea typeface="Cambria" panose="02040503050406030204" pitchFamily="18" charset="0"/>
                  </a:rPr>
                  <a:t>diferencia</a:t>
                </a:r>
                <a:r>
                  <a:rPr lang="es-AR" altLang="es-AR" dirty="0" smtClean="0">
                    <a:latin typeface="Cambria" panose="02040503050406030204" pitchFamily="18" charset="0"/>
                    <a:ea typeface="Cambria" panose="02040503050406030204" pitchFamily="18" charset="0"/>
                  </a:rPr>
                  <a:t> entre las frecuencias observadas y las esperadas bajo supuesto de independencia, más fuerte es la asociación. Precisamente, esa diferencia es lo que llamamos </a:t>
                </a:r>
                <a:r>
                  <a:rPr lang="es-AR" altLang="es-AR" b="1" i="1" dirty="0" smtClean="0">
                    <a:solidFill>
                      <a:srgbClr val="2A8A85"/>
                    </a:solidFill>
                    <a:latin typeface="Cambria" panose="02040503050406030204" pitchFamily="18" charset="0"/>
                    <a:ea typeface="Cambria" panose="02040503050406030204" pitchFamily="18" charset="0"/>
                  </a:rPr>
                  <a:t>residuo</a:t>
                </a:r>
                <a:r>
                  <a:rPr lang="es-AR" altLang="es-AR" dirty="0" smtClean="0">
                    <a:latin typeface="Cambria" panose="02040503050406030204" pitchFamily="18" charset="0"/>
                    <a:ea typeface="Cambria" panose="02040503050406030204" pitchFamily="18" charset="0"/>
                  </a:rPr>
                  <a:t>. En general, trabajamos con los </a:t>
                </a:r>
                <a:r>
                  <a:rPr lang="es-AR" altLang="es-AR" b="1" i="1" dirty="0" smtClean="0">
                    <a:solidFill>
                      <a:srgbClr val="2A8A85"/>
                    </a:solidFill>
                    <a:latin typeface="Cambria" panose="02040503050406030204" pitchFamily="18" charset="0"/>
                    <a:ea typeface="Cambria" panose="02040503050406030204" pitchFamily="18" charset="0"/>
                  </a:rPr>
                  <a:t>residuos estandarizados</a:t>
                </a:r>
                <a:r>
                  <a:rPr lang="es-AR" altLang="es-AR" dirty="0" smtClean="0">
                    <a:latin typeface="Cambria" panose="02040503050406030204" pitchFamily="18" charset="0"/>
                    <a:ea typeface="Cambria" panose="02040503050406030204" pitchFamily="18" charset="0"/>
                  </a:rPr>
                  <a:t>:</a:t>
                </a: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mc:Choice>
        <mc:Fallback xmlns="">
          <p:sp>
            <p:nvSpPr>
              <p:cNvPr id="12" name="Rectangle 4"/>
              <p:cNvSpPr>
                <a:spLocks noRot="1" noChangeAspect="1" noMove="1" noResize="1" noEditPoints="1" noAdjustHandles="1" noChangeArrowheads="1" noChangeShapeType="1" noTextEdit="1"/>
              </p:cNvSpPr>
              <p:nvPr/>
            </p:nvSpPr>
            <p:spPr bwMode="auto">
              <a:xfrm>
                <a:off x="152779" y="1093010"/>
                <a:ext cx="8740396" cy="2308324"/>
              </a:xfrm>
              <a:prstGeom prst="rect">
                <a:avLst/>
              </a:prstGeom>
              <a:blipFill>
                <a:blip r:embed="rId3"/>
                <a:stretch>
                  <a:fillRect l="-418" t="-1583" r="-6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3591696" y="3141715"/>
                <a:ext cx="1243033" cy="642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AR" altLang="es-AR" b="0" i="1" smtClean="0">
                              <a:latin typeface="Cambria Math" panose="02040503050406030204" pitchFamily="18" charset="0"/>
                              <a:ea typeface="Cambria" panose="02040503050406030204" pitchFamily="18" charset="0"/>
                            </a:rPr>
                          </m:ctrlPr>
                        </m:sSubPr>
                        <m:e>
                          <m:r>
                            <a:rPr lang="es-AR" altLang="es-AR" b="0" i="1" smtClean="0">
                              <a:latin typeface="Cambria Math" panose="02040503050406030204" pitchFamily="18" charset="0"/>
                              <a:ea typeface="Cambria" panose="02040503050406030204" pitchFamily="18" charset="0"/>
                            </a:rPr>
                            <m:t>𝑅</m:t>
                          </m:r>
                        </m:e>
                        <m:sub>
                          <m:r>
                            <a:rPr lang="es-AR" altLang="es-AR" b="0" i="1" smtClean="0">
                              <a:latin typeface="Cambria Math" panose="02040503050406030204" pitchFamily="18" charset="0"/>
                              <a:ea typeface="Cambria" panose="02040503050406030204" pitchFamily="18" charset="0"/>
                            </a:rPr>
                            <m:t>𝑡</m:t>
                          </m:r>
                        </m:sub>
                      </m:sSub>
                      <m:r>
                        <a:rPr lang="es-AR" b="0" i="1" smtClean="0">
                          <a:latin typeface="Cambria Math" panose="02040503050406030204" pitchFamily="18" charset="0"/>
                        </a:rPr>
                        <m:t>=</m:t>
                      </m:r>
                      <m:f>
                        <m:fPr>
                          <m:ctrlPr>
                            <a:rPr lang="es-AR" i="1">
                              <a:latin typeface="Cambria Math" panose="02040503050406030204" pitchFamily="18" charset="0"/>
                            </a:rPr>
                          </m:ctrlPr>
                        </m:fPr>
                        <m:num>
                          <m:sSub>
                            <m:sSubPr>
                              <m:ctrlPr>
                                <a:rPr lang="es-AR" i="1">
                                  <a:latin typeface="Cambria Math" panose="02040503050406030204" pitchFamily="18" charset="0"/>
                                </a:rPr>
                              </m:ctrlPr>
                            </m:sSubPr>
                            <m:e>
                              <m:r>
                                <a:rPr lang="es-AR" i="1">
                                  <a:latin typeface="Cambria Math" panose="02040503050406030204" pitchFamily="18" charset="0"/>
                                </a:rPr>
                                <m:t>𝑓</m:t>
                              </m:r>
                            </m:e>
                            <m:sub>
                              <m:r>
                                <a:rPr lang="es-AR" i="1">
                                  <a:latin typeface="Cambria Math" panose="02040503050406030204" pitchFamily="18" charset="0"/>
                                </a:rPr>
                                <m:t>𝑜</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𝑓</m:t>
                              </m:r>
                            </m:e>
                            <m:sub>
                              <m:r>
                                <a:rPr lang="es-AR" i="1">
                                  <a:latin typeface="Cambria Math" panose="02040503050406030204" pitchFamily="18" charset="0"/>
                                </a:rPr>
                                <m:t>𝑒</m:t>
                              </m:r>
                            </m:sub>
                          </m:sSub>
                        </m:num>
                        <m:den>
                          <m:rad>
                            <m:radPr>
                              <m:degHide m:val="on"/>
                              <m:ctrlPr>
                                <a:rPr lang="es-AR" i="1" smtClean="0">
                                  <a:latin typeface="Cambria Math" panose="02040503050406030204" pitchFamily="18" charset="0"/>
                                </a:rPr>
                              </m:ctrlPr>
                            </m:radPr>
                            <m:deg/>
                            <m:e>
                              <m:sSub>
                                <m:sSubPr>
                                  <m:ctrlPr>
                                    <a:rPr lang="es-AR" i="1">
                                      <a:latin typeface="Cambria Math" panose="02040503050406030204" pitchFamily="18" charset="0"/>
                                    </a:rPr>
                                  </m:ctrlPr>
                                </m:sSubPr>
                                <m:e>
                                  <m:r>
                                    <a:rPr lang="es-AR" i="1">
                                      <a:latin typeface="Cambria Math" panose="02040503050406030204" pitchFamily="18" charset="0"/>
                                    </a:rPr>
                                    <m:t>𝑓</m:t>
                                  </m:r>
                                </m:e>
                                <m:sub>
                                  <m:r>
                                    <a:rPr lang="es-AR" i="1">
                                      <a:latin typeface="Cambria Math" panose="02040503050406030204" pitchFamily="18" charset="0"/>
                                    </a:rPr>
                                    <m:t>𝑒</m:t>
                                  </m:r>
                                </m:sub>
                              </m:sSub>
                            </m:e>
                          </m:rad>
                        </m:den>
                      </m:f>
                    </m:oMath>
                  </m:oMathPara>
                </a14:m>
                <a:endParaRPr lang="es-AR"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3591696" y="3141715"/>
                <a:ext cx="1243033" cy="64286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Rectangle 4"/>
              <p:cNvSpPr>
                <a:spLocks noChangeArrowheads="1"/>
              </p:cNvSpPr>
              <p:nvPr/>
            </p:nvSpPr>
            <p:spPr bwMode="auto">
              <a:xfrm>
                <a:off x="126170" y="3956185"/>
                <a:ext cx="8740396" cy="923330"/>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El análisis de residuos estandarizados o tipificados nos permite considerar como significativos estadísticamente todas las celdas en que </a:t>
                </a:r>
                <a14:m>
                  <m:oMath xmlns:m="http://schemas.openxmlformats.org/officeDocument/2006/math">
                    <m:sSub>
                      <m:sSubPr>
                        <m:ctrlPr>
                          <a:rPr lang="es-AR" altLang="es-AR" i="1">
                            <a:latin typeface="Cambria Math" panose="02040503050406030204" pitchFamily="18" charset="0"/>
                            <a:ea typeface="Cambria" panose="02040503050406030204" pitchFamily="18" charset="0"/>
                          </a:rPr>
                        </m:ctrlPr>
                      </m:sSubPr>
                      <m:e>
                        <m:r>
                          <a:rPr lang="es-AR" altLang="es-AR" i="1">
                            <a:latin typeface="Cambria Math" panose="02040503050406030204" pitchFamily="18" charset="0"/>
                            <a:ea typeface="Cambria" panose="02040503050406030204" pitchFamily="18" charset="0"/>
                          </a:rPr>
                          <m:t>𝑅</m:t>
                        </m:r>
                      </m:e>
                      <m:sub>
                        <m:r>
                          <a:rPr lang="es-AR" altLang="es-AR" i="1">
                            <a:latin typeface="Cambria Math" panose="02040503050406030204" pitchFamily="18" charset="0"/>
                            <a:ea typeface="Cambria" panose="02040503050406030204" pitchFamily="18" charset="0"/>
                          </a:rPr>
                          <m:t>𝑡</m:t>
                        </m:r>
                      </m:sub>
                    </m:sSub>
                    <m:r>
                      <a:rPr lang="es-AR" altLang="es-AR" i="1" smtClean="0">
                        <a:latin typeface="Cambria Math" panose="02040503050406030204" pitchFamily="18" charset="0"/>
                      </a:rPr>
                      <m:t>≥</m:t>
                    </m:r>
                    <m:r>
                      <a:rPr lang="es-AR" altLang="es-AR" i="1" smtClean="0">
                        <a:latin typeface="Cambria Math" panose="02040503050406030204" pitchFamily="18" charset="0"/>
                        <a:ea typeface="Cambria Math" panose="02040503050406030204" pitchFamily="18" charset="0"/>
                      </a:rPr>
                      <m:t>±</m:t>
                    </m:r>
                    <m:r>
                      <a:rPr lang="es-AR" altLang="es-AR" b="0" i="1" smtClean="0">
                        <a:latin typeface="Cambria Math" panose="02040503050406030204" pitchFamily="18" charset="0"/>
                        <a:ea typeface="Cambria Math" panose="02040503050406030204" pitchFamily="18" charset="0"/>
                      </a:rPr>
                      <m:t>1,96.</m:t>
                    </m:r>
                  </m:oMath>
                </a14:m>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mc:Choice>
        <mc:Fallback xmlns="">
          <p:sp>
            <p:nvSpPr>
              <p:cNvPr id="17" name="Rectangle 4"/>
              <p:cNvSpPr>
                <a:spLocks noRot="1" noChangeAspect="1" noMove="1" noResize="1" noEditPoints="1" noAdjustHandles="1" noChangeArrowheads="1" noChangeShapeType="1" noTextEdit="1"/>
              </p:cNvSpPr>
              <p:nvPr/>
            </p:nvSpPr>
            <p:spPr bwMode="auto">
              <a:xfrm>
                <a:off x="126170" y="3956185"/>
                <a:ext cx="8740396" cy="923330"/>
              </a:xfrm>
              <a:prstGeom prst="rect">
                <a:avLst/>
              </a:prstGeom>
              <a:blipFill>
                <a:blip r:embed="rId5"/>
                <a:stretch>
                  <a:fillRect l="-488" t="-4636" r="-6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p:spTree>
    <p:extLst>
      <p:ext uri="{BB962C8B-B14F-4D97-AF65-F5344CB8AC3E}">
        <p14:creationId xmlns:p14="http://schemas.microsoft.com/office/powerpoint/2010/main" val="1728551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Análisis de residuos tipificados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5652120" y="953739"/>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Botón &gt; Casillas</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5" name="Imagen 4"/>
          <p:cNvPicPr>
            <a:picLocks noChangeAspect="1"/>
          </p:cNvPicPr>
          <p:nvPr/>
        </p:nvPicPr>
        <p:blipFill rotWithShape="1">
          <a:blip r:embed="rId3"/>
          <a:srcRect l="1" r="-160"/>
          <a:stretch/>
        </p:blipFill>
        <p:spPr>
          <a:xfrm>
            <a:off x="457019" y="1024854"/>
            <a:ext cx="4691768" cy="2757929"/>
          </a:xfrm>
          <a:prstGeom prst="rect">
            <a:avLst/>
          </a:prstGeom>
          <a:effectLst>
            <a:outerShdw blurRad="50800" dist="38100" dir="10800000" sx="101000" sy="101000" algn="r" rotWithShape="0">
              <a:prstClr val="black">
                <a:alpha val="40000"/>
              </a:prstClr>
            </a:outerShdw>
          </a:effectLst>
        </p:spPr>
      </p:pic>
      <p:sp>
        <p:nvSpPr>
          <p:cNvPr id="17" name="Text Box 46"/>
          <p:cNvSpPr txBox="1">
            <a:spLocks noChangeArrowheads="1"/>
          </p:cNvSpPr>
          <p:nvPr/>
        </p:nvSpPr>
        <p:spPr bwMode="auto">
          <a:xfrm>
            <a:off x="1451863" y="4385484"/>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Seleccionamos los residuos</a:t>
            </a:r>
            <a:endParaRPr lang="es-ES" altLang="es-AR" sz="1500" b="1" dirty="0">
              <a:latin typeface="Cambria" panose="02040503050406030204" pitchFamily="18" charset="0"/>
              <a:ea typeface="Cambria" panose="02040503050406030204" pitchFamily="18" charset="0"/>
            </a:endParaRPr>
          </a:p>
        </p:txBody>
      </p:sp>
      <p:sp>
        <p:nvSpPr>
          <p:cNvPr id="22" name="Text Box 46"/>
          <p:cNvSpPr txBox="1">
            <a:spLocks noChangeArrowheads="1"/>
          </p:cNvSpPr>
          <p:nvPr/>
        </p:nvSpPr>
        <p:spPr bwMode="auto">
          <a:xfrm>
            <a:off x="4320500" y="1519038"/>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endCxn id="22" idx="3"/>
          </p:cNvCxnSpPr>
          <p:nvPr/>
        </p:nvCxnSpPr>
        <p:spPr bwMode="auto">
          <a:xfrm rot="10800000" flipV="1">
            <a:off x="5148787" y="1034787"/>
            <a:ext cx="492558" cy="47294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15" name="Imagen 14"/>
          <p:cNvPicPr>
            <a:picLocks noChangeAspect="1"/>
          </p:cNvPicPr>
          <p:nvPr/>
        </p:nvPicPr>
        <p:blipFill>
          <a:blip r:embed="rId4"/>
          <a:stretch>
            <a:fillRect/>
          </a:stretch>
        </p:blipFill>
        <p:spPr>
          <a:xfrm>
            <a:off x="4320500" y="1956296"/>
            <a:ext cx="3823418" cy="3174262"/>
          </a:xfrm>
          <a:prstGeom prst="rect">
            <a:avLst/>
          </a:prstGeom>
          <a:effectLst>
            <a:outerShdw blurRad="50800" dist="38100" dir="10800000" algn="r" rotWithShape="0">
              <a:prstClr val="black">
                <a:alpha val="40000"/>
              </a:prstClr>
            </a:outerShdw>
          </a:effectLst>
        </p:spPr>
      </p:pic>
      <p:sp>
        <p:nvSpPr>
          <p:cNvPr id="21" name="Text Box 46"/>
          <p:cNvSpPr txBox="1">
            <a:spLocks noChangeArrowheads="1"/>
          </p:cNvSpPr>
          <p:nvPr/>
        </p:nvSpPr>
        <p:spPr bwMode="auto">
          <a:xfrm>
            <a:off x="5903138" y="3219652"/>
            <a:ext cx="1670101" cy="87158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9" name="AutoShape 50"/>
          <p:cNvCxnSpPr>
            <a:cxnSpLocks noChangeShapeType="1"/>
            <a:endCxn id="21" idx="1"/>
          </p:cNvCxnSpPr>
          <p:nvPr/>
        </p:nvCxnSpPr>
        <p:spPr bwMode="auto">
          <a:xfrm flipV="1">
            <a:off x="2789864" y="3655445"/>
            <a:ext cx="3113274" cy="73003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153419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Análisis de residuos tipificados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2987824" y="4988958"/>
            <a:ext cx="2702080" cy="147732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De las cuatro celdas, sólo encontramos residuos estadísticamente significativos aquí. Esto podría sugerir que se trata de una relación </a:t>
            </a:r>
            <a:r>
              <a:rPr lang="es-ES" altLang="es-AR" sz="1500" b="1" dirty="0" err="1" smtClean="0">
                <a:latin typeface="Cambria" panose="02040503050406030204" pitchFamily="18" charset="0"/>
                <a:ea typeface="Cambria" panose="02040503050406030204" pitchFamily="18" charset="0"/>
              </a:rPr>
              <a:t>rinconal</a:t>
            </a:r>
            <a:r>
              <a:rPr lang="es-ES" altLang="es-AR" sz="1500" b="1" dirty="0" smtClean="0">
                <a:latin typeface="Cambria" panose="02040503050406030204" pitchFamily="18" charset="0"/>
                <a:ea typeface="Cambria" panose="02040503050406030204" pitchFamily="18" charset="0"/>
              </a:rPr>
              <a:t>.</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pic>
        <p:nvPicPr>
          <p:cNvPr id="4" name="Imagen 3"/>
          <p:cNvPicPr>
            <a:picLocks noChangeAspect="1"/>
          </p:cNvPicPr>
          <p:nvPr/>
        </p:nvPicPr>
        <p:blipFill>
          <a:blip r:embed="rId3"/>
          <a:stretch>
            <a:fillRect/>
          </a:stretch>
        </p:blipFill>
        <p:spPr>
          <a:xfrm>
            <a:off x="799169" y="1044020"/>
            <a:ext cx="6181725" cy="3429000"/>
          </a:xfrm>
          <a:prstGeom prst="rect">
            <a:avLst/>
          </a:prstGeom>
        </p:spPr>
      </p:pic>
      <p:cxnSp>
        <p:nvCxnSpPr>
          <p:cNvPr id="13" name="AutoShape 50"/>
          <p:cNvCxnSpPr>
            <a:cxnSpLocks noChangeShapeType="1"/>
          </p:cNvCxnSpPr>
          <p:nvPr/>
        </p:nvCxnSpPr>
        <p:spPr bwMode="auto">
          <a:xfrm rot="5400000" flipH="1" flipV="1">
            <a:off x="4222173" y="4104983"/>
            <a:ext cx="1258024" cy="558365"/>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8" name="Text Box 46"/>
          <p:cNvSpPr txBox="1">
            <a:spLocks noChangeArrowheads="1"/>
          </p:cNvSpPr>
          <p:nvPr/>
        </p:nvSpPr>
        <p:spPr bwMode="auto">
          <a:xfrm>
            <a:off x="4860032" y="3418508"/>
            <a:ext cx="540668" cy="336645"/>
          </a:xfrm>
          <a:prstGeom prst="ellipse">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28558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smtClean="0">
                <a:solidFill>
                  <a:schemeClr val="tx2"/>
                </a:solidFill>
                <a:latin typeface="Cambria" panose="02040503050406030204" pitchFamily="18" charset="0"/>
                <a:ea typeface="Cambria" panose="02040503050406030204" pitchFamily="18" charset="0"/>
                <a:cs typeface="Calibri" panose="020F0502020204030204" pitchFamily="34" charset="0"/>
              </a:rPr>
              <a:t>Análisis de residuos tipificados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2752858" y="5024976"/>
            <a:ext cx="2702080" cy="124649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smtClean="0">
                <a:latin typeface="Cambria" panose="02040503050406030204" pitchFamily="18" charset="0"/>
                <a:ea typeface="Cambria" panose="02040503050406030204" pitchFamily="18" charset="0"/>
              </a:rPr>
              <a:t>En cambio, en esta clásica relación “diagonal”, tenemos residuos estadísticamente significativos en casi todas las celdas</a:t>
            </a:r>
            <a:endParaRPr lang="es-ES" altLang="es-AR" sz="1500"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3" name="AutoShape 50"/>
          <p:cNvCxnSpPr>
            <a:cxnSpLocks noChangeShapeType="1"/>
          </p:cNvCxnSpPr>
          <p:nvPr/>
        </p:nvCxnSpPr>
        <p:spPr bwMode="auto">
          <a:xfrm rot="5400000" flipH="1" flipV="1">
            <a:off x="3905237" y="4249277"/>
            <a:ext cx="955691" cy="558368"/>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6" name="Imagen 5"/>
          <p:cNvPicPr>
            <a:picLocks noChangeAspect="1"/>
          </p:cNvPicPr>
          <p:nvPr/>
        </p:nvPicPr>
        <p:blipFill>
          <a:blip r:embed="rId3"/>
          <a:stretch>
            <a:fillRect/>
          </a:stretch>
        </p:blipFill>
        <p:spPr>
          <a:xfrm>
            <a:off x="1468431" y="1259790"/>
            <a:ext cx="5829300" cy="2790825"/>
          </a:xfrm>
          <a:prstGeom prst="rect">
            <a:avLst/>
          </a:prstGeom>
        </p:spPr>
      </p:pic>
    </p:spTree>
    <p:extLst>
      <p:ext uri="{BB962C8B-B14F-4D97-AF65-F5344CB8AC3E}">
        <p14:creationId xmlns:p14="http://schemas.microsoft.com/office/powerpoint/2010/main" val="14552793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80" y="333375"/>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 local: análisis de razones</a:t>
            </a:r>
            <a:endParaRPr lang="es-AR" sz="2400" dirty="0">
              <a:latin typeface="Cambria" panose="02040503050406030204" pitchFamily="18" charset="0"/>
            </a:endParaRPr>
          </a:p>
        </p:txBody>
      </p:sp>
      <p:sp>
        <p:nvSpPr>
          <p:cNvPr id="12" name="Rectangle 4"/>
          <p:cNvSpPr>
            <a:spLocks noChangeArrowheads="1"/>
          </p:cNvSpPr>
          <p:nvPr/>
        </p:nvSpPr>
        <p:spPr bwMode="auto">
          <a:xfrm>
            <a:off x="152779" y="1093010"/>
            <a:ext cx="87403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smtClean="0">
                <a:latin typeface="Cambria" panose="02040503050406030204" pitchFamily="18" charset="0"/>
                <a:ea typeface="Cambria" panose="02040503050406030204" pitchFamily="18" charset="0"/>
              </a:rPr>
              <a:t>Existen </a:t>
            </a:r>
            <a:r>
              <a:rPr lang="es-AR" altLang="es-AR" dirty="0">
                <a:latin typeface="Cambria" panose="02040503050406030204" pitchFamily="18" charset="0"/>
                <a:ea typeface="Cambria" panose="02040503050406030204" pitchFamily="18" charset="0"/>
              </a:rPr>
              <a:t>tres tipos </a:t>
            </a:r>
            <a:r>
              <a:rPr lang="es-AR" altLang="es-AR" dirty="0" smtClean="0">
                <a:latin typeface="Cambria" panose="02040503050406030204" pitchFamily="18" charset="0"/>
                <a:ea typeface="Cambria" panose="02040503050406030204" pitchFamily="18" charset="0"/>
              </a:rPr>
              <a:t>de razones que podemos calcular en una tabla de contingencia. Retomemos nuestro ejemplo:</a:t>
            </a:r>
          </a:p>
        </p:txBody>
      </p:sp>
      <p:pic>
        <p:nvPicPr>
          <p:cNvPr id="5" name="Imagen 4"/>
          <p:cNvPicPr>
            <a:picLocks noChangeAspect="1"/>
          </p:cNvPicPr>
          <p:nvPr/>
        </p:nvPicPr>
        <p:blipFill>
          <a:blip r:embed="rId3"/>
          <a:stretch>
            <a:fillRect/>
          </a:stretch>
        </p:blipFill>
        <p:spPr>
          <a:xfrm>
            <a:off x="2490788" y="1796915"/>
            <a:ext cx="4019550" cy="1581150"/>
          </a:xfrm>
          <a:prstGeom prst="rect">
            <a:avLst/>
          </a:prstGeom>
        </p:spPr>
      </p:pic>
      <p:sp>
        <p:nvSpPr>
          <p:cNvPr id="14" name="Rectangle 4"/>
          <p:cNvSpPr>
            <a:spLocks noChangeArrowheads="1"/>
          </p:cNvSpPr>
          <p:nvPr/>
        </p:nvSpPr>
        <p:spPr bwMode="auto">
          <a:xfrm>
            <a:off x="130365" y="3500438"/>
            <a:ext cx="874039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i="1" dirty="0" smtClean="0">
                <a:solidFill>
                  <a:srgbClr val="2A8A85"/>
                </a:solidFill>
                <a:latin typeface="Cambria" panose="02040503050406030204" pitchFamily="18" charset="0"/>
                <a:ea typeface="Cambria" panose="02040503050406030204" pitchFamily="18" charset="0"/>
              </a:rPr>
              <a:t>Razones marginales</a:t>
            </a:r>
            <a:r>
              <a:rPr lang="es-AR" altLang="es-AR" dirty="0" smtClean="0">
                <a:solidFill>
                  <a:srgbClr val="2A8A85"/>
                </a:solidFill>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se obtienen a partir de las frecuencias marginales de cada variable. Por ejemplo, la razón de no consumir diarios impresos frente a consumir es: 392/159=</a:t>
            </a:r>
            <a:r>
              <a:rPr lang="es-AR" altLang="es-AR" dirty="0" smtClean="0">
                <a:solidFill>
                  <a:srgbClr val="00B0F0"/>
                </a:solidFill>
                <a:latin typeface="Cambria" panose="02040503050406030204" pitchFamily="18" charset="0"/>
                <a:ea typeface="Cambria" panose="02040503050406030204" pitchFamily="18" charset="0"/>
              </a:rPr>
              <a:t>2,46</a:t>
            </a:r>
            <a:r>
              <a:rPr lang="es-AR" altLang="es-AR" dirty="0" smtClean="0">
                <a:latin typeface="Cambria" panose="02040503050406030204" pitchFamily="18" charset="0"/>
                <a:ea typeface="Cambria" panose="02040503050406030204" pitchFamily="18" charset="0"/>
              </a:rPr>
              <a:t>. Es decir, hay 2,46 personas que no consumen diarios impresos por cada persona que sí lo hace.  </a:t>
            </a:r>
          </a:p>
          <a:p>
            <a:pPr marL="285750" indent="-285750" algn="just" eaLnBrk="1" hangingPunct="1">
              <a:buFont typeface="Arial" panose="020B0604020202020204" pitchFamily="34" charset="0"/>
              <a:buChar char="•"/>
            </a:pPr>
            <a:endParaRPr lang="es-AR" altLang="es-AR" b="1" i="1" dirty="0" smtClean="0">
              <a:solidFill>
                <a:srgbClr val="2A8A85"/>
              </a:solidFill>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i="1" dirty="0" smtClean="0">
                <a:solidFill>
                  <a:srgbClr val="2A8A85"/>
                </a:solidFill>
                <a:latin typeface="Cambria" panose="02040503050406030204" pitchFamily="18" charset="0"/>
                <a:ea typeface="Cambria" panose="02040503050406030204" pitchFamily="18" charset="0"/>
              </a:rPr>
              <a:t>Razones condicionales</a:t>
            </a:r>
            <a:r>
              <a:rPr lang="es-AR" altLang="es-AR" dirty="0" smtClean="0">
                <a:solidFill>
                  <a:srgbClr val="2A8A85"/>
                </a:solidFill>
                <a:latin typeface="Cambria" panose="02040503050406030204" pitchFamily="18" charset="0"/>
                <a:ea typeface="Cambria" panose="02040503050406030204" pitchFamily="18" charset="0"/>
              </a:rPr>
              <a:t>: </a:t>
            </a:r>
            <a:r>
              <a:rPr lang="es-AR" altLang="es-AR" dirty="0" smtClean="0">
                <a:latin typeface="Cambria" panose="02040503050406030204" pitchFamily="18" charset="0"/>
                <a:ea typeface="Cambria" panose="02040503050406030204" pitchFamily="18" charset="0"/>
              </a:rPr>
              <a:t>se </a:t>
            </a:r>
            <a:r>
              <a:rPr lang="es-AR" altLang="es-AR" dirty="0">
                <a:latin typeface="Cambria" panose="02040503050406030204" pitchFamily="18" charset="0"/>
                <a:ea typeface="Cambria" panose="02040503050406030204" pitchFamily="18" charset="0"/>
              </a:rPr>
              <a:t>obtienen </a:t>
            </a:r>
            <a:r>
              <a:rPr lang="es-AR" altLang="es-AR" dirty="0" smtClean="0">
                <a:latin typeface="Cambria" panose="02040503050406030204" pitchFamily="18" charset="0"/>
                <a:ea typeface="Cambria" panose="02040503050406030204" pitchFamily="18" charset="0"/>
              </a:rPr>
              <a:t>de la misma forma, pero comparando dentro de cada categoría de la variable independiente. 1) La </a:t>
            </a:r>
            <a:r>
              <a:rPr lang="es-AR" altLang="es-AR" dirty="0">
                <a:latin typeface="Cambria" panose="02040503050406030204" pitchFamily="18" charset="0"/>
                <a:ea typeface="Cambria" panose="02040503050406030204" pitchFamily="18" charset="0"/>
              </a:rPr>
              <a:t>razón de no consumir diarios impresos frente a </a:t>
            </a:r>
            <a:r>
              <a:rPr lang="es-AR" altLang="es-AR" dirty="0" smtClean="0">
                <a:latin typeface="Cambria" panose="02040503050406030204" pitchFamily="18" charset="0"/>
                <a:ea typeface="Cambria" panose="02040503050406030204" pitchFamily="18" charset="0"/>
              </a:rPr>
              <a:t>consumir, entre jóvenes, </a:t>
            </a:r>
            <a:r>
              <a:rPr lang="es-AR" altLang="es-AR" dirty="0">
                <a:latin typeface="Cambria" panose="02040503050406030204" pitchFamily="18" charset="0"/>
                <a:ea typeface="Cambria" panose="02040503050406030204" pitchFamily="18" charset="0"/>
              </a:rPr>
              <a:t>es: </a:t>
            </a:r>
            <a:r>
              <a:rPr lang="es-AR" altLang="es-AR" dirty="0" smtClean="0">
                <a:latin typeface="Cambria" panose="02040503050406030204" pitchFamily="18" charset="0"/>
                <a:ea typeface="Cambria" panose="02040503050406030204" pitchFamily="18" charset="0"/>
              </a:rPr>
              <a:t>144/37=</a:t>
            </a:r>
            <a:r>
              <a:rPr lang="es-AR" altLang="es-AR" dirty="0" smtClean="0">
                <a:solidFill>
                  <a:srgbClr val="00B0F0"/>
                </a:solidFill>
                <a:latin typeface="Cambria" panose="02040503050406030204" pitchFamily="18" charset="0"/>
                <a:ea typeface="Cambria" panose="02040503050406030204" pitchFamily="18" charset="0"/>
              </a:rPr>
              <a:t>3,89 </a:t>
            </a:r>
            <a:r>
              <a:rPr lang="es-AR" altLang="es-AR" dirty="0" smtClean="0">
                <a:latin typeface="Cambria" panose="02040503050406030204" pitchFamily="18" charset="0"/>
                <a:ea typeface="Cambria" panose="02040503050406030204" pitchFamily="18" charset="0"/>
              </a:rPr>
              <a:t>y 2) entre adultos es: 248/122= </a:t>
            </a:r>
            <a:r>
              <a:rPr lang="es-AR" altLang="es-AR" dirty="0" smtClean="0">
                <a:solidFill>
                  <a:srgbClr val="00B0F0"/>
                </a:solidFill>
                <a:latin typeface="Cambria" panose="02040503050406030204" pitchFamily="18" charset="0"/>
                <a:ea typeface="Cambria" panose="02040503050406030204" pitchFamily="18" charset="0"/>
              </a:rPr>
              <a:t>2,03</a:t>
            </a:r>
            <a:r>
              <a:rPr lang="es-AR" altLang="es-AR" dirty="0" smtClean="0">
                <a:latin typeface="Cambria" panose="02040503050406030204" pitchFamily="18" charset="0"/>
                <a:ea typeface="Cambria" panose="02040503050406030204" pitchFamily="18" charset="0"/>
              </a:rPr>
              <a:t>.  Ya nos ofrece una idea de asociación, pues si ambas razones fueran iguales quiere decir que no hay diferencia en el consumo de diarios en función de la edad.</a:t>
            </a:r>
            <a:endParaRPr lang="es-AR" altLang="es-AR" b="1"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b="1" i="1"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400036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80" y="333375"/>
            <a:ext cx="8740395" cy="461665"/>
          </a:xfrm>
          <a:prstGeom prst="rect">
            <a:avLst/>
          </a:prstGeom>
          <a:noFill/>
        </p:spPr>
        <p:txBody>
          <a:bodyPr wrap="square" rtlCol="0">
            <a:spAutoFit/>
          </a:bodyPr>
          <a:lstStyle/>
          <a:p>
            <a:r>
              <a:rPr lang="es-AR" sz="2400" dirty="0" smtClean="0">
                <a:latin typeface="Cambria" panose="02040503050406030204" pitchFamily="18" charset="0"/>
              </a:rPr>
              <a:t>Medidas de asociación local: análisis de razones</a:t>
            </a:r>
            <a:endParaRPr lang="es-AR" sz="2400" dirty="0">
              <a:latin typeface="Cambria" panose="02040503050406030204" pitchFamily="18" charset="0"/>
            </a:endParaRPr>
          </a:p>
        </p:txBody>
      </p:sp>
      <p:pic>
        <p:nvPicPr>
          <p:cNvPr id="5" name="Imagen 4"/>
          <p:cNvPicPr>
            <a:picLocks noChangeAspect="1"/>
          </p:cNvPicPr>
          <p:nvPr/>
        </p:nvPicPr>
        <p:blipFill>
          <a:blip r:embed="rId3"/>
          <a:stretch>
            <a:fillRect/>
          </a:stretch>
        </p:blipFill>
        <p:spPr>
          <a:xfrm>
            <a:off x="2490788" y="1125402"/>
            <a:ext cx="4019550" cy="1581150"/>
          </a:xfrm>
          <a:prstGeom prst="rect">
            <a:avLst/>
          </a:prstGeom>
        </p:spPr>
      </p:pic>
      <p:sp>
        <p:nvSpPr>
          <p:cNvPr id="14" name="Rectangle 4"/>
          <p:cNvSpPr>
            <a:spLocks noChangeArrowheads="1"/>
          </p:cNvSpPr>
          <p:nvPr/>
        </p:nvSpPr>
        <p:spPr bwMode="auto">
          <a:xfrm>
            <a:off x="130365" y="3500438"/>
            <a:ext cx="87403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i="1" dirty="0" smtClean="0">
                <a:solidFill>
                  <a:srgbClr val="2A8A85"/>
                </a:solidFill>
                <a:latin typeface="Cambria" panose="02040503050406030204" pitchFamily="18" charset="0"/>
                <a:ea typeface="Cambria" panose="02040503050406030204" pitchFamily="18" charset="0"/>
              </a:rPr>
              <a:t>Razón de razones (</a:t>
            </a:r>
            <a:r>
              <a:rPr lang="es-AR" altLang="es-AR" b="1" i="1" dirty="0" err="1" smtClean="0">
                <a:solidFill>
                  <a:srgbClr val="2A8A85"/>
                </a:solidFill>
                <a:latin typeface="Cambria" panose="02040503050406030204" pitchFamily="18" charset="0"/>
                <a:ea typeface="Cambria" panose="02040503050406030204" pitchFamily="18" charset="0"/>
              </a:rPr>
              <a:t>odds</a:t>
            </a:r>
            <a:r>
              <a:rPr lang="es-AR" altLang="es-AR" b="1" i="1" dirty="0" smtClean="0">
                <a:solidFill>
                  <a:srgbClr val="2A8A85"/>
                </a:solidFill>
                <a:latin typeface="Cambria" panose="02040503050406030204" pitchFamily="18" charset="0"/>
                <a:ea typeface="Cambria" panose="02040503050406030204" pitchFamily="18" charset="0"/>
              </a:rPr>
              <a:t> ratio) o razón de momios: </a:t>
            </a:r>
            <a:r>
              <a:rPr lang="es-AR" altLang="es-AR" dirty="0" smtClean="0">
                <a:latin typeface="Cambria" panose="02040503050406030204" pitchFamily="18" charset="0"/>
                <a:ea typeface="Cambria" panose="02040503050406030204" pitchFamily="18" charset="0"/>
              </a:rPr>
              <a:t>es una medida muy utilizada que sintetiza la información anterior. Compara, entre grupos, las razones condicionales. Así, tendremos que:</a:t>
            </a:r>
            <a:endParaRPr lang="es-AR" altLang="es-AR" b="1" i="1" dirty="0" smtClean="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CuadroTexto 10"/>
              <p:cNvSpPr txBox="1"/>
              <p:nvPr/>
            </p:nvSpPr>
            <p:spPr>
              <a:xfrm>
                <a:off x="3203848" y="4494858"/>
                <a:ext cx="3082895"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altLang="es-AR" b="0" i="1" smtClean="0">
                          <a:latin typeface="Cambria Math" panose="02040503050406030204" pitchFamily="18" charset="0"/>
                          <a:ea typeface="Cambria" panose="02040503050406030204" pitchFamily="18" charset="0"/>
                        </a:rPr>
                        <m:t>𝑂𝑅</m:t>
                      </m:r>
                      <m:r>
                        <a:rPr lang="es-AR" b="0" i="1" smtClean="0">
                          <a:latin typeface="Cambria Math" panose="02040503050406030204" pitchFamily="18" charset="0"/>
                        </a:rPr>
                        <m:t>=</m:t>
                      </m:r>
                      <m:f>
                        <m:fPr>
                          <m:ctrlPr>
                            <a:rPr lang="es-AR" i="1">
                              <a:latin typeface="Cambria Math" panose="02040503050406030204" pitchFamily="18" charset="0"/>
                            </a:rPr>
                          </m:ctrlPr>
                        </m:fPr>
                        <m:num>
                          <m:r>
                            <a:rPr lang="es-AR" b="0" i="1" smtClean="0">
                              <a:latin typeface="Cambria Math" panose="02040503050406030204" pitchFamily="18" charset="0"/>
                            </a:rPr>
                            <m:t>144/37</m:t>
                          </m:r>
                        </m:num>
                        <m:den>
                          <m:r>
                            <a:rPr lang="es-AR" b="0" i="1" smtClean="0">
                              <a:latin typeface="Cambria Math" panose="02040503050406030204" pitchFamily="18" charset="0"/>
                            </a:rPr>
                            <m:t>248/122</m:t>
                          </m:r>
                        </m:den>
                      </m:f>
                      <m:r>
                        <a:rPr lang="es-AR" b="0" i="1" smtClean="0">
                          <a:latin typeface="Cambria Math" panose="02040503050406030204" pitchFamily="18" charset="0"/>
                        </a:rPr>
                        <m:t>=</m:t>
                      </m:r>
                      <m:f>
                        <m:fPr>
                          <m:ctrlPr>
                            <a:rPr lang="es-AR" i="1">
                              <a:latin typeface="Cambria Math" panose="02040503050406030204" pitchFamily="18" charset="0"/>
                            </a:rPr>
                          </m:ctrlPr>
                        </m:fPr>
                        <m:num>
                          <m:r>
                            <a:rPr lang="es-AR" b="0" i="1" smtClean="0">
                              <a:latin typeface="Cambria Math" panose="02040503050406030204" pitchFamily="18" charset="0"/>
                            </a:rPr>
                            <m:t>3,89</m:t>
                          </m:r>
                        </m:num>
                        <m:den>
                          <m:r>
                            <a:rPr lang="es-AR" b="0" i="1" smtClean="0">
                              <a:latin typeface="Cambria Math" panose="02040503050406030204" pitchFamily="18" charset="0"/>
                            </a:rPr>
                            <m:t>2,03</m:t>
                          </m:r>
                        </m:den>
                      </m:f>
                      <m:r>
                        <a:rPr lang="es-AR" b="0" i="1" smtClean="0">
                          <a:latin typeface="Cambria Math" panose="02040503050406030204" pitchFamily="18" charset="0"/>
                        </a:rPr>
                        <m:t>=</m:t>
                      </m:r>
                      <m:r>
                        <a:rPr lang="es-AR" b="1" i="1" smtClean="0">
                          <a:latin typeface="Cambria Math" panose="02040503050406030204" pitchFamily="18" charset="0"/>
                        </a:rPr>
                        <m:t>𝟏</m:t>
                      </m:r>
                      <m:r>
                        <a:rPr lang="es-AR" b="1" i="1" smtClean="0">
                          <a:latin typeface="Cambria Math" panose="02040503050406030204" pitchFamily="18" charset="0"/>
                        </a:rPr>
                        <m:t>,</m:t>
                      </m:r>
                      <m:r>
                        <a:rPr lang="es-AR" b="1" i="1" smtClean="0">
                          <a:latin typeface="Cambria Math" panose="02040503050406030204" pitchFamily="18" charset="0"/>
                        </a:rPr>
                        <m:t>𝟗𝟏</m:t>
                      </m:r>
                    </m:oMath>
                  </m:oMathPara>
                </a14:m>
                <a:endParaRPr lang="es-AR" b="1"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203848" y="4494858"/>
                <a:ext cx="3082895" cy="572657"/>
              </a:xfrm>
              <a:prstGeom prst="rect">
                <a:avLst/>
              </a:prstGeom>
              <a:blipFill>
                <a:blip r:embed="rId4"/>
                <a:stretch>
                  <a:fillRect/>
                </a:stretch>
              </a:blipFill>
            </p:spPr>
            <p:txBody>
              <a:bodyPr/>
              <a:lstStyle/>
              <a:p>
                <a:r>
                  <a:rPr lang="es-AR">
                    <a:noFill/>
                  </a:rPr>
                  <a:t> </a:t>
                </a:r>
              </a:p>
            </p:txBody>
          </p:sp>
        </mc:Fallback>
      </mc:AlternateContent>
      <p:sp>
        <p:nvSpPr>
          <p:cNvPr id="13" name="Rectangle 4"/>
          <p:cNvSpPr>
            <a:spLocks noChangeArrowheads="1"/>
          </p:cNvSpPr>
          <p:nvPr/>
        </p:nvSpPr>
        <p:spPr bwMode="auto">
          <a:xfrm>
            <a:off x="152779" y="5177232"/>
            <a:ext cx="87403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s-AR" altLang="es-AR" dirty="0" smtClean="0">
                <a:latin typeface="Cambria" panose="02040503050406030204" pitchFamily="18" charset="0"/>
                <a:ea typeface="Cambria" panose="02040503050406030204" pitchFamily="18" charset="0"/>
              </a:rPr>
              <a:t>Entre los jóvenes, las chances de no consumir diarios impresos (frente a consumirlos) son 1,91 veces las que se registran entre los adultos. </a:t>
            </a:r>
          </a:p>
        </p:txBody>
      </p:sp>
    </p:spTree>
    <p:extLst>
      <p:ext uri="{BB962C8B-B14F-4D97-AF65-F5344CB8AC3E}">
        <p14:creationId xmlns:p14="http://schemas.microsoft.com/office/powerpoint/2010/main" val="9940075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FF8EC2E2-775C-46D2-91C6-6514C2DF5001}"/>
              </a:ext>
            </a:extLst>
          </p:cNvPr>
          <p:cNvGraphicFramePr>
            <a:graphicFrameLocks noGrp="1"/>
          </p:cNvGraphicFramePr>
          <p:nvPr>
            <p:extLst>
              <p:ext uri="{D42A27DB-BD31-4B8C-83A1-F6EECF244321}">
                <p14:modId xmlns:p14="http://schemas.microsoft.com/office/powerpoint/2010/main" val="3734854778"/>
              </p:ext>
            </p:extLst>
          </p:nvPr>
        </p:nvGraphicFramePr>
        <p:xfrm>
          <a:off x="529797" y="2141394"/>
          <a:ext cx="7992888" cy="1417997"/>
        </p:xfrm>
        <a:graphic>
          <a:graphicData uri="http://schemas.openxmlformats.org/drawingml/2006/table">
            <a:tbl>
              <a:tblPr firstRow="1" firstCol="1" bandRow="1">
                <a:tableStyleId>{69C7853C-536D-4A76-A0AE-DD22124D55A5}</a:tableStyleId>
              </a:tblPr>
              <a:tblGrid>
                <a:gridCol w="2322572">
                  <a:extLst>
                    <a:ext uri="{9D8B030D-6E8A-4147-A177-3AD203B41FA5}">
                      <a16:colId xmlns:a16="http://schemas.microsoft.com/office/drawing/2014/main" val="1841971933"/>
                    </a:ext>
                  </a:extLst>
                </a:gridCol>
                <a:gridCol w="1645245">
                  <a:extLst>
                    <a:ext uri="{9D8B030D-6E8A-4147-A177-3AD203B41FA5}">
                      <a16:colId xmlns:a16="http://schemas.microsoft.com/office/drawing/2014/main" val="2685304676"/>
                    </a:ext>
                  </a:extLst>
                </a:gridCol>
                <a:gridCol w="1645245">
                  <a:extLst>
                    <a:ext uri="{9D8B030D-6E8A-4147-A177-3AD203B41FA5}">
                      <a16:colId xmlns:a16="http://schemas.microsoft.com/office/drawing/2014/main" val="924847915"/>
                    </a:ext>
                  </a:extLst>
                </a:gridCol>
                <a:gridCol w="1371938">
                  <a:extLst>
                    <a:ext uri="{9D8B030D-6E8A-4147-A177-3AD203B41FA5}">
                      <a16:colId xmlns:a16="http://schemas.microsoft.com/office/drawing/2014/main" val="1376171783"/>
                    </a:ext>
                  </a:extLst>
                </a:gridCol>
                <a:gridCol w="1007888">
                  <a:extLst>
                    <a:ext uri="{9D8B030D-6E8A-4147-A177-3AD203B41FA5}">
                      <a16:colId xmlns:a16="http://schemas.microsoft.com/office/drawing/2014/main" val="3807552415"/>
                    </a:ext>
                  </a:extLst>
                </a:gridCol>
              </a:tblGrid>
              <a:tr h="332881">
                <a:tc rowSpan="2">
                  <a:txBody>
                    <a:bodyPr/>
                    <a:lstStyle/>
                    <a:p>
                      <a:pP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Opinión sobre el gobierno nacional</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gridSpan="3">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Nivel socioeconómico</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hMerge="1">
                  <a:txBody>
                    <a:bodyPr/>
                    <a:lstStyle/>
                    <a:p>
                      <a:endParaRPr lang="es-AR"/>
                    </a:p>
                  </a:txBody>
                  <a:tcPr/>
                </a:tc>
                <a:tc hMerge="1">
                  <a:txBody>
                    <a:bodyPr/>
                    <a:lstStyle/>
                    <a:p>
                      <a:endParaRPr lang="es-AR"/>
                    </a:p>
                  </a:txBody>
                  <a:tcPr/>
                </a:tc>
                <a:tc rowSpan="2">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Total</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3057884638"/>
                  </a:ext>
                </a:extLst>
              </a:tr>
              <a:tr h="250745">
                <a:tc vMerge="1">
                  <a:txBody>
                    <a:bodyPr/>
                    <a:lstStyle/>
                    <a:p>
                      <a:endParaRPr lang="es-AR"/>
                    </a:p>
                  </a:txBody>
                  <a:tcP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Alto</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Medio</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Bajo</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vMerge="1">
                  <a:txBody>
                    <a:bodyPr/>
                    <a:lstStyle/>
                    <a:p>
                      <a:endParaRPr lang="es-AR"/>
                    </a:p>
                  </a:txBody>
                  <a:tcPr/>
                </a:tc>
                <a:extLst>
                  <a:ext uri="{0D108BD9-81ED-4DB2-BD59-A6C34878D82A}">
                    <a16:rowId xmlns:a16="http://schemas.microsoft.com/office/drawing/2014/main" val="1585240246"/>
                  </a:ext>
                </a:extLst>
              </a:tr>
              <a:tr h="250745">
                <a:tc>
                  <a:txBody>
                    <a:bodyPr/>
                    <a:lstStyle/>
                    <a:p>
                      <a:pPr algn="just">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Favorable</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F1</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2606514478"/>
                  </a:ext>
                </a:extLst>
              </a:tr>
              <a:tr h="332881">
                <a:tc>
                  <a:txBody>
                    <a:bodyPr/>
                    <a:lstStyle/>
                    <a:p>
                      <a:pPr algn="just">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Desfavorable </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es-AR" sz="1400" dirty="0">
                          <a:solidFill>
                            <a:sysClr val="windowText" lastClr="000000"/>
                          </a:solidFill>
                          <a:effectLst/>
                          <a:latin typeface="Calibri" panose="020F0502020204030204" pitchFamily="34" charset="0"/>
                          <a:cs typeface="Calibri" panose="020F0502020204030204" pitchFamily="34" charset="0"/>
                        </a:rPr>
                        <a:t>F2</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465154103"/>
                  </a:ext>
                </a:extLst>
              </a:tr>
              <a:tr h="250745">
                <a:tc>
                  <a:txBody>
                    <a:bodyPr/>
                    <a:lstStyle/>
                    <a:p>
                      <a:pPr algn="just">
                        <a:lnSpc>
                          <a:spcPct val="107000"/>
                        </a:lnSpc>
                        <a:spcAft>
                          <a:spcPts val="0"/>
                        </a:spcAft>
                      </a:pPr>
                      <a:r>
                        <a:rPr lang="es-AR" sz="1400">
                          <a:solidFill>
                            <a:sysClr val="windowText" lastClr="000000"/>
                          </a:solidFill>
                          <a:effectLst/>
                          <a:latin typeface="Calibri" panose="020F0502020204030204" pitchFamily="34" charset="0"/>
                          <a:cs typeface="Calibri" panose="020F0502020204030204" pitchFamily="34" charset="0"/>
                        </a:rPr>
                        <a:t>Total</a:t>
                      </a:r>
                      <a:endParaRPr lang="es-AR" sz="240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fr-FR" sz="1400" dirty="0">
                          <a:solidFill>
                            <a:sysClr val="windowText" lastClr="000000"/>
                          </a:solidFill>
                          <a:effectLst/>
                          <a:latin typeface="Calibri" panose="020F0502020204030204" pitchFamily="34" charset="0"/>
                          <a:cs typeface="Calibri" panose="020F0502020204030204" pitchFamily="34" charset="0"/>
                        </a:rPr>
                        <a:t>C1</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fr-FR" sz="1400" dirty="0">
                          <a:solidFill>
                            <a:sysClr val="windowText" lastClr="000000"/>
                          </a:solidFill>
                          <a:effectLst/>
                          <a:latin typeface="Calibri" panose="020F0502020204030204" pitchFamily="34" charset="0"/>
                          <a:cs typeface="Calibri" panose="020F0502020204030204" pitchFamily="34" charset="0"/>
                        </a:rPr>
                        <a:t>C2</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fr-FR" sz="1400" dirty="0">
                          <a:solidFill>
                            <a:sysClr val="windowText" lastClr="000000"/>
                          </a:solidFill>
                          <a:effectLst/>
                          <a:latin typeface="Calibri" panose="020F0502020204030204" pitchFamily="34" charset="0"/>
                          <a:cs typeface="Calibri" panose="020F0502020204030204" pitchFamily="34" charset="0"/>
                        </a:rPr>
                        <a:t>C3</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tc>
                  <a:txBody>
                    <a:bodyPr/>
                    <a:lstStyle/>
                    <a:p>
                      <a:pPr algn="ctr">
                        <a:lnSpc>
                          <a:spcPct val="107000"/>
                        </a:lnSpc>
                        <a:spcAft>
                          <a:spcPts val="0"/>
                        </a:spcAft>
                      </a:pPr>
                      <a:r>
                        <a:rPr lang="fr-FR" sz="1400" dirty="0">
                          <a:solidFill>
                            <a:sysClr val="windowText" lastClr="000000"/>
                          </a:solidFill>
                          <a:effectLst/>
                          <a:latin typeface="Calibri" panose="020F0502020204030204" pitchFamily="34" charset="0"/>
                          <a:cs typeface="Calibri" panose="020F0502020204030204" pitchFamily="34" charset="0"/>
                        </a:rPr>
                        <a:t>N</a:t>
                      </a:r>
                      <a:endParaRPr lang="es-AR" sz="240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tc>
                <a:extLst>
                  <a:ext uri="{0D108BD9-81ED-4DB2-BD59-A6C34878D82A}">
                    <a16:rowId xmlns:a16="http://schemas.microsoft.com/office/drawing/2014/main" val="1581418754"/>
                  </a:ext>
                </a:extLst>
              </a:tr>
            </a:tbl>
          </a:graphicData>
        </a:graphic>
      </p:graphicFrame>
      <p:sp>
        <p:nvSpPr>
          <p:cNvPr id="3" name="Rectángulo 2">
            <a:extLst>
              <a:ext uri="{FF2B5EF4-FFF2-40B4-BE49-F238E27FC236}">
                <a16:creationId xmlns:a16="http://schemas.microsoft.com/office/drawing/2014/main" id="{3CDF621C-5D1C-4ED0-9D4A-B3CC9F3E0239}"/>
              </a:ext>
            </a:extLst>
          </p:cNvPr>
          <p:cNvSpPr/>
          <p:nvPr/>
        </p:nvSpPr>
        <p:spPr>
          <a:xfrm>
            <a:off x="439012" y="1045824"/>
            <a:ext cx="8165436" cy="1146211"/>
          </a:xfrm>
          <a:prstGeom prst="rect">
            <a:avLst/>
          </a:prstGeom>
        </p:spPr>
        <p:txBody>
          <a:bodyPr wrap="square">
            <a:spAutoFit/>
          </a:bodyPr>
          <a:lstStyle/>
          <a:p>
            <a:pPr algn="just">
              <a:lnSpc>
                <a:spcPct val="107000"/>
              </a:lnSpc>
              <a:spcAft>
                <a:spcPts val="800"/>
              </a:spcAft>
            </a:pPr>
            <a:r>
              <a:rPr lang="es-AR" sz="1600" dirty="0">
                <a:latin typeface="Cambria" panose="02040503050406030204" pitchFamily="18" charset="0"/>
                <a:ea typeface="Cambria" panose="02040503050406030204" pitchFamily="18" charset="0"/>
                <a:cs typeface="Calibri" panose="020F0502020204030204" pitchFamily="34" charset="0"/>
              </a:rPr>
              <a:t>Se realizó una encuesta para conocer cuál es la opinión de la población adulta sobre el gobierno nacional. Para expresar los resultados, se elaboró una tabla cruzada como la siguiente. Allí se presentan las distintas bases (denominadores) que se pueden utilizar para calcular porcentajes. </a:t>
            </a:r>
            <a:endParaRPr lang="es-AR" sz="1600"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5" name="Rectángulo 4">
            <a:extLst>
              <a:ext uri="{FF2B5EF4-FFF2-40B4-BE49-F238E27FC236}">
                <a16:creationId xmlns:a16="http://schemas.microsoft.com/office/drawing/2014/main" id="{C158081C-DC9A-4724-B973-AEACFFD9C740}"/>
              </a:ext>
            </a:extLst>
          </p:cNvPr>
          <p:cNvSpPr/>
          <p:nvPr/>
        </p:nvSpPr>
        <p:spPr>
          <a:xfrm>
            <a:off x="441919" y="3573016"/>
            <a:ext cx="8079162" cy="2829621"/>
          </a:xfrm>
          <a:prstGeom prst="rect">
            <a:avLst/>
          </a:prstGeom>
        </p:spPr>
        <p:txBody>
          <a:bodyPr wrap="square">
            <a:spAutoFit/>
          </a:bodyPr>
          <a:lstStyle/>
          <a:p>
            <a:pPr algn="just">
              <a:lnSpc>
                <a:spcPct val="107000"/>
              </a:lnSpc>
              <a:spcAft>
                <a:spcPts val="800"/>
              </a:spcAft>
            </a:pPr>
            <a:r>
              <a:rPr lang="es-AR" sz="1600" dirty="0">
                <a:latin typeface="Cambria" panose="02040503050406030204" pitchFamily="18" charset="0"/>
                <a:ea typeface="Cambria" panose="02040503050406030204" pitchFamily="18" charset="0"/>
                <a:cs typeface="Calibri" panose="020F0502020204030204" pitchFamily="34" charset="0"/>
              </a:rPr>
              <a:t>Indique si es posible constatar las siguientes afirmaciones y, en ese caso, cómo deberían calcularse los porcentajes (es, decir, cuál debe ser la base) para comprobarlas. </a:t>
            </a:r>
          </a:p>
          <a:p>
            <a:pPr marL="342900" lvl="0" indent="-342900" algn="just">
              <a:lnSpc>
                <a:spcPct val="107000"/>
              </a:lnSpc>
              <a:spcAft>
                <a:spcPts val="0"/>
              </a:spcAft>
              <a:buFont typeface="+mj-lt"/>
              <a:buAutoNum type="alphaLcPeriod"/>
            </a:pPr>
            <a:r>
              <a:rPr lang="es-AR" sz="1600" dirty="0">
                <a:latin typeface="Cambria" panose="02040503050406030204" pitchFamily="18" charset="0"/>
                <a:ea typeface="Cambria" panose="02040503050406030204" pitchFamily="18" charset="0"/>
                <a:cs typeface="Calibri" panose="020F0502020204030204" pitchFamily="34" charset="0"/>
              </a:rPr>
              <a:t>Los adultos de nivel socioeconómico bajo tienen una postura más favorable al gobierno que los de nivel socioeconómico alto.</a:t>
            </a:r>
          </a:p>
          <a:p>
            <a:pPr marL="342900" lvl="0" indent="-342900" algn="just">
              <a:lnSpc>
                <a:spcPct val="107000"/>
              </a:lnSpc>
              <a:spcAft>
                <a:spcPts val="0"/>
              </a:spcAft>
              <a:buFont typeface="+mj-lt"/>
              <a:buAutoNum type="alphaLcPeriod"/>
            </a:pPr>
            <a:r>
              <a:rPr lang="es-AR" sz="1600" dirty="0">
                <a:latin typeface="Cambria" panose="02040503050406030204" pitchFamily="18" charset="0"/>
                <a:ea typeface="Cambria" panose="02040503050406030204" pitchFamily="18" charset="0"/>
                <a:cs typeface="Calibri" panose="020F0502020204030204" pitchFamily="34" charset="0"/>
              </a:rPr>
              <a:t>Entre los que tienen una postura más favorable hay una mayor proporción de adultos de sectores medios.</a:t>
            </a:r>
          </a:p>
          <a:p>
            <a:pPr marL="342900" lvl="0" indent="-342900" algn="just">
              <a:lnSpc>
                <a:spcPct val="107000"/>
              </a:lnSpc>
              <a:spcAft>
                <a:spcPts val="0"/>
              </a:spcAft>
              <a:buFont typeface="+mj-lt"/>
              <a:buAutoNum type="alphaLcPeriod"/>
            </a:pPr>
            <a:r>
              <a:rPr lang="es-AR" sz="1600" dirty="0">
                <a:latin typeface="Cambria" panose="02040503050406030204" pitchFamily="18" charset="0"/>
                <a:ea typeface="Cambria" panose="02040503050406030204" pitchFamily="18" charset="0"/>
                <a:cs typeface="Calibri" panose="020F0502020204030204" pitchFamily="34" charset="0"/>
              </a:rPr>
              <a:t>Uno de cada cuatro adultos pertenece a sectores bajos y está a favor del gobierno nacional.</a:t>
            </a:r>
          </a:p>
          <a:p>
            <a:pPr marL="342900" lvl="0" indent="-342900" algn="just">
              <a:lnSpc>
                <a:spcPct val="107000"/>
              </a:lnSpc>
              <a:spcAft>
                <a:spcPts val="0"/>
              </a:spcAft>
              <a:buFont typeface="+mj-lt"/>
              <a:buAutoNum type="alphaLcPeriod"/>
            </a:pPr>
            <a:r>
              <a:rPr lang="es-AR" sz="1600" dirty="0">
                <a:latin typeface="Cambria" panose="02040503050406030204" pitchFamily="18" charset="0"/>
                <a:ea typeface="Cambria" panose="02040503050406030204" pitchFamily="18" charset="0"/>
                <a:cs typeface="Calibri" panose="020F0502020204030204" pitchFamily="34" charset="0"/>
              </a:rPr>
              <a:t>Los jóvenes de nivel socioeconómico alto tienen una opinión más favorable que sus pares adultos.</a:t>
            </a:r>
            <a:endParaRPr lang="es-AR" sz="1600"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8" name="Rectángulo 7">
            <a:extLst>
              <a:ext uri="{FF2B5EF4-FFF2-40B4-BE49-F238E27FC236}">
                <a16:creationId xmlns:a16="http://schemas.microsoft.com/office/drawing/2014/main" id="{08FD1207-2134-4A5A-95F9-EFB0AD5D0AD0}"/>
              </a:ext>
            </a:extLst>
          </p:cNvPr>
          <p:cNvSpPr/>
          <p:nvPr/>
        </p:nvSpPr>
        <p:spPr>
          <a:xfrm>
            <a:off x="3577648" y="4445579"/>
            <a:ext cx="864096" cy="355803"/>
          </a:xfrm>
          <a:prstGeom prst="rect">
            <a:avLst/>
          </a:prstGeom>
        </p:spPr>
        <p:txBody>
          <a:bodyPr wrap="square">
            <a:spAutoFit/>
          </a:bodyPr>
          <a:lstStyle/>
          <a:p>
            <a:pPr algn="just">
              <a:lnSpc>
                <a:spcPct val="107000"/>
              </a:lnSpc>
              <a:spcAft>
                <a:spcPts val="800"/>
              </a:spcAft>
            </a:pPr>
            <a:r>
              <a:rPr lang="es-AR" sz="1600" b="1" dirty="0">
                <a:latin typeface="Cambria" panose="02040503050406030204" pitchFamily="18" charset="0"/>
                <a:ea typeface="Cambria" panose="02040503050406030204" pitchFamily="18" charset="0"/>
                <a:cs typeface="Calibri" panose="020F0502020204030204" pitchFamily="34" charset="0"/>
              </a:rPr>
              <a:t>C1 y C3</a:t>
            </a:r>
            <a:endParaRPr lang="es-AR" sz="1600" b="1"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9" name="Rectángulo 8">
            <a:extLst>
              <a:ext uri="{FF2B5EF4-FFF2-40B4-BE49-F238E27FC236}">
                <a16:creationId xmlns:a16="http://schemas.microsoft.com/office/drawing/2014/main" id="{204B3AB0-85F6-49C6-B5DD-7918A2CDA9E2}"/>
              </a:ext>
            </a:extLst>
          </p:cNvPr>
          <p:cNvSpPr/>
          <p:nvPr/>
        </p:nvSpPr>
        <p:spPr>
          <a:xfrm>
            <a:off x="2309496" y="4962887"/>
            <a:ext cx="864096" cy="355803"/>
          </a:xfrm>
          <a:prstGeom prst="rect">
            <a:avLst/>
          </a:prstGeom>
        </p:spPr>
        <p:txBody>
          <a:bodyPr wrap="square">
            <a:spAutoFit/>
          </a:bodyPr>
          <a:lstStyle/>
          <a:p>
            <a:pPr algn="just">
              <a:lnSpc>
                <a:spcPct val="107000"/>
              </a:lnSpc>
              <a:spcAft>
                <a:spcPts val="800"/>
              </a:spcAft>
            </a:pPr>
            <a:r>
              <a:rPr lang="es-AR" sz="1600" b="1" dirty="0">
                <a:latin typeface="Cambria" panose="02040503050406030204" pitchFamily="18" charset="0"/>
                <a:ea typeface="Cambria" panose="02040503050406030204" pitchFamily="18" charset="0"/>
                <a:cs typeface="Calibri" panose="020F0502020204030204" pitchFamily="34" charset="0"/>
              </a:rPr>
              <a:t>F1</a:t>
            </a:r>
            <a:endParaRPr lang="es-AR" sz="1600" b="1"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10" name="Rectángulo 9">
            <a:extLst>
              <a:ext uri="{FF2B5EF4-FFF2-40B4-BE49-F238E27FC236}">
                <a16:creationId xmlns:a16="http://schemas.microsoft.com/office/drawing/2014/main" id="{4D42A187-F9A9-4C16-8C1A-C33A2CE80622}"/>
              </a:ext>
            </a:extLst>
          </p:cNvPr>
          <p:cNvSpPr/>
          <p:nvPr/>
        </p:nvSpPr>
        <p:spPr>
          <a:xfrm>
            <a:off x="8352487" y="5240696"/>
            <a:ext cx="349594" cy="355803"/>
          </a:xfrm>
          <a:prstGeom prst="rect">
            <a:avLst/>
          </a:prstGeom>
        </p:spPr>
        <p:txBody>
          <a:bodyPr wrap="square">
            <a:spAutoFit/>
          </a:bodyPr>
          <a:lstStyle/>
          <a:p>
            <a:pPr algn="just">
              <a:lnSpc>
                <a:spcPct val="107000"/>
              </a:lnSpc>
              <a:spcAft>
                <a:spcPts val="800"/>
              </a:spcAft>
            </a:pPr>
            <a:r>
              <a:rPr lang="es-AR" sz="1600" b="1" dirty="0">
                <a:latin typeface="Cambria" panose="02040503050406030204" pitchFamily="18" charset="0"/>
                <a:ea typeface="Cambria" panose="02040503050406030204" pitchFamily="18" charset="0"/>
                <a:cs typeface="Calibri" panose="020F0502020204030204" pitchFamily="34" charset="0"/>
              </a:rPr>
              <a:t>N</a:t>
            </a:r>
            <a:endParaRPr lang="es-AR" sz="1600" b="1"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11" name="Rectángulo 10">
            <a:extLst>
              <a:ext uri="{FF2B5EF4-FFF2-40B4-BE49-F238E27FC236}">
                <a16:creationId xmlns:a16="http://schemas.microsoft.com/office/drawing/2014/main" id="{CC9C4FA5-E0EF-41EA-B7B1-C61658A972AC}"/>
              </a:ext>
            </a:extLst>
          </p:cNvPr>
          <p:cNvSpPr/>
          <p:nvPr/>
        </p:nvSpPr>
        <p:spPr>
          <a:xfrm>
            <a:off x="1526908" y="5762190"/>
            <a:ext cx="1388908" cy="355803"/>
          </a:xfrm>
          <a:prstGeom prst="rect">
            <a:avLst/>
          </a:prstGeom>
        </p:spPr>
        <p:txBody>
          <a:bodyPr wrap="square">
            <a:spAutoFit/>
          </a:bodyPr>
          <a:lstStyle/>
          <a:p>
            <a:pPr algn="just">
              <a:lnSpc>
                <a:spcPct val="107000"/>
              </a:lnSpc>
              <a:spcAft>
                <a:spcPts val="800"/>
              </a:spcAft>
            </a:pPr>
            <a:r>
              <a:rPr lang="es-AR" sz="1600" b="1" dirty="0">
                <a:latin typeface="Cambria" panose="02040503050406030204" pitchFamily="18" charset="0"/>
                <a:ea typeface="Cambria" panose="02040503050406030204" pitchFamily="18" charset="0"/>
                <a:cs typeface="Calibri" panose="020F0502020204030204" pitchFamily="34" charset="0"/>
              </a:rPr>
              <a:t>No se puede</a:t>
            </a:r>
            <a:endParaRPr lang="es-AR" sz="1600" b="1" dirty="0">
              <a:effectLst/>
              <a:latin typeface="Cambria" panose="02040503050406030204" pitchFamily="18" charset="0"/>
              <a:ea typeface="Cambria" panose="02040503050406030204" pitchFamily="18" charset="0"/>
              <a:cs typeface="Calibri" panose="020F0502020204030204" pitchFamily="34"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4"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15"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10 CuadroTexto"/>
          <p:cNvSpPr txBox="1"/>
          <p:nvPr/>
        </p:nvSpPr>
        <p:spPr>
          <a:xfrm>
            <a:off x="152779" y="298748"/>
            <a:ext cx="8740395" cy="461665"/>
          </a:xfrm>
          <a:prstGeom prst="rect">
            <a:avLst/>
          </a:prstGeom>
          <a:noFill/>
        </p:spPr>
        <p:txBody>
          <a:bodyPr wrap="square" rtlCol="0">
            <a:spAutoFit/>
          </a:bodyPr>
          <a:lstStyle/>
          <a:p>
            <a:r>
              <a:rPr lang="es-AR" sz="2400" dirty="0" smtClean="0">
                <a:latin typeface="Cambria" panose="02040503050406030204" pitchFamily="18" charset="0"/>
              </a:rPr>
              <a:t>Un ejemplo sin laboratorio</a:t>
            </a:r>
            <a:endParaRPr lang="es-AR" sz="2400" dirty="0">
              <a:latin typeface="Cambria" panose="02040503050406030204" pitchFamily="18" charset="0"/>
            </a:endParaRPr>
          </a:p>
        </p:txBody>
      </p:sp>
    </p:spTree>
    <p:extLst>
      <p:ext uri="{BB962C8B-B14F-4D97-AF65-F5344CB8AC3E}">
        <p14:creationId xmlns:p14="http://schemas.microsoft.com/office/powerpoint/2010/main" val="29948507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7 CuadroTexto">
            <a:extLst>
              <a:ext uri="{FF2B5EF4-FFF2-40B4-BE49-F238E27FC236}">
                <a16:creationId xmlns:a16="http://schemas.microsoft.com/office/drawing/2014/main" id="{6403B800-B194-4F22-90E6-55B8EDE7582B}"/>
              </a:ext>
            </a:extLst>
          </p:cNvPr>
          <p:cNvSpPr txBox="1">
            <a:spLocks noChangeArrowheads="1"/>
          </p:cNvSpPr>
          <p:nvPr/>
        </p:nvSpPr>
        <p:spPr bwMode="auto">
          <a:xfrm>
            <a:off x="457200" y="1032424"/>
            <a:ext cx="831103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b="1" dirty="0">
                <a:solidFill>
                  <a:schemeClr val="accent1"/>
                </a:solidFill>
                <a:latin typeface="Calibri" panose="020F0502020204030204" pitchFamily="34" charset="0"/>
                <a:cs typeface="Calibri" panose="020F0502020204030204" pitchFamily="34" charset="0"/>
              </a:rPr>
              <a:t>Se busca estudiar la relación que existe entre el nivel educativo de las personas y la valoración del voto como factor de transformación o cambio. Con este propósito:</a:t>
            </a:r>
          </a:p>
          <a:p>
            <a:pPr marL="449263" algn="just"/>
            <a:endParaRPr lang="es-AR" altLang="es-AR" b="1" dirty="0">
              <a:solidFill>
                <a:schemeClr val="accent1"/>
              </a:solidFill>
              <a:latin typeface="Calibri" panose="020F0502020204030204" pitchFamily="34" charset="0"/>
              <a:cs typeface="Calibri" panose="020F0502020204030204" pitchFamily="34" charset="0"/>
            </a:endParaRPr>
          </a:p>
          <a:p>
            <a:pPr marL="449263" algn="just"/>
            <a:r>
              <a:rPr lang="es-AR" altLang="es-AR" b="1" dirty="0">
                <a:solidFill>
                  <a:schemeClr val="accent1"/>
                </a:solidFill>
                <a:latin typeface="Calibri" panose="020F0502020204030204" pitchFamily="34" charset="0"/>
                <a:cs typeface="Calibri" panose="020F0502020204030204" pitchFamily="34" charset="0"/>
              </a:rPr>
              <a:t>1. Formule una hipótesis que relacione las variables nivel educativo (NIVELEDUC2_ODSA) y valoración del voto como factor de cambio (vot02_bic).</a:t>
            </a:r>
          </a:p>
          <a:p>
            <a:pPr marL="449263" algn="just"/>
            <a:endParaRPr lang="es-AR" altLang="es-AR" b="1" dirty="0">
              <a:solidFill>
                <a:schemeClr val="accent1"/>
              </a:solidFill>
              <a:latin typeface="Calibri" panose="020F0502020204030204" pitchFamily="34" charset="0"/>
              <a:cs typeface="Calibri" panose="020F0502020204030204" pitchFamily="34" charset="0"/>
            </a:endParaRPr>
          </a:p>
          <a:p>
            <a:pPr marL="449263" algn="just"/>
            <a:r>
              <a:rPr lang="es-AR" altLang="es-AR" b="1" dirty="0">
                <a:solidFill>
                  <a:schemeClr val="accent1"/>
                </a:solidFill>
                <a:latin typeface="Calibri" panose="020F0502020204030204" pitchFamily="34" charset="0"/>
                <a:cs typeface="Calibri" panose="020F0502020204030204" pitchFamily="34" charset="0"/>
              </a:rPr>
              <a:t>2. Procese los datos para si se comprueba/refuta la hipótesis propuesta. Formule una proposición que sintetice los principales resultados obtenidos en su análisis.</a:t>
            </a:r>
            <a:endParaRPr lang="es-ES" altLang="es-AR" dirty="0">
              <a:solidFill>
                <a:schemeClr val="accent1"/>
              </a:solidFill>
              <a:latin typeface="Calibri" panose="020F0502020204030204" pitchFamily="34" charset="0"/>
              <a:cs typeface="Calibri" panose="020F0502020204030204" pitchFamily="34" charset="0"/>
            </a:endParaRPr>
          </a:p>
        </p:txBody>
      </p:sp>
      <p:sp>
        <p:nvSpPr>
          <p:cNvPr id="9" name="Rectangle 2">
            <a:extLst>
              <a:ext uri="{FF2B5EF4-FFF2-40B4-BE49-F238E27FC236}">
                <a16:creationId xmlns:a16="http://schemas.microsoft.com/office/drawing/2014/main" id="{32EEEA53-608F-4FE3-86A3-8F1E5E4E769C}"/>
              </a:ext>
            </a:extLst>
          </p:cNvPr>
          <p:cNvSpPr txBox="1">
            <a:spLocks noChangeArrowheads="1"/>
          </p:cNvSpPr>
          <p:nvPr/>
        </p:nvSpPr>
        <p:spPr bwMode="auto">
          <a:xfrm>
            <a:off x="365422" y="216198"/>
            <a:ext cx="8311034" cy="648072"/>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eaLnBrk="1" hangingPunct="1"/>
            <a:r>
              <a:rPr lang="es-AR" altLang="es-AR" sz="3600" b="1" kern="0" dirty="0">
                <a:solidFill>
                  <a:schemeClr val="accent1"/>
                </a:solidFill>
                <a:latin typeface="Calibri" panose="020F0502020204030204" pitchFamily="34" charset="0"/>
                <a:cs typeface="Calibri" panose="020F0502020204030204" pitchFamily="34" charset="0"/>
              </a:rPr>
              <a:t>Trabajo Práctico Nº5 – Parte 5</a:t>
            </a:r>
            <a:endParaRPr lang="es-ES" altLang="es-AR" b="1" kern="0" dirty="0">
              <a:solidFill>
                <a:schemeClr val="accent1"/>
              </a:solidFill>
              <a:latin typeface="Calibri" panose="020F0502020204030204" pitchFamily="34" charset="0"/>
              <a:cs typeface="Calibri" panose="020F0502020204030204" pitchFamily="34" charset="0"/>
            </a:endParaRPr>
          </a:p>
        </p:txBody>
      </p:sp>
      <p:sp>
        <p:nvSpPr>
          <p:cNvPr id="5"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6"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8"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7513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32EEEA53-608F-4FE3-86A3-8F1E5E4E769C}"/>
              </a:ext>
            </a:extLst>
          </p:cNvPr>
          <p:cNvSpPr txBox="1">
            <a:spLocks noChangeArrowheads="1"/>
          </p:cNvSpPr>
          <p:nvPr/>
        </p:nvSpPr>
        <p:spPr bwMode="auto">
          <a:xfrm>
            <a:off x="365422" y="216198"/>
            <a:ext cx="8311034" cy="648072"/>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eaLnBrk="1" hangingPunct="1"/>
            <a:r>
              <a:rPr lang="es-AR" altLang="es-AR" sz="3600" b="1" kern="0" dirty="0">
                <a:solidFill>
                  <a:schemeClr val="accent1"/>
                </a:solidFill>
                <a:latin typeface="Calibri" panose="020F0502020204030204" pitchFamily="34" charset="0"/>
                <a:cs typeface="Calibri" panose="020F0502020204030204" pitchFamily="34" charset="0"/>
              </a:rPr>
              <a:t>Trabajo Práctico Nº5 – Parte 5</a:t>
            </a:r>
            <a:endParaRPr lang="es-ES" altLang="es-AR" b="1" kern="0" dirty="0">
              <a:solidFill>
                <a:schemeClr val="accent1"/>
              </a:solidFill>
              <a:latin typeface="Calibri" panose="020F0502020204030204" pitchFamily="34" charset="0"/>
              <a:cs typeface="Calibri" panose="020F0502020204030204" pitchFamily="34" charset="0"/>
            </a:endParaRPr>
          </a:p>
        </p:txBody>
      </p:sp>
      <p:pic>
        <p:nvPicPr>
          <p:cNvPr id="5" name="Imagen 4">
            <a:extLst>
              <a:ext uri="{FF2B5EF4-FFF2-40B4-BE49-F238E27FC236}">
                <a16:creationId xmlns:a16="http://schemas.microsoft.com/office/drawing/2014/main" id="{69CA41BD-D3BE-4A9E-909E-053BE6CBD939}"/>
              </a:ext>
            </a:extLst>
          </p:cNvPr>
          <p:cNvPicPr>
            <a:picLocks noChangeAspect="1"/>
          </p:cNvPicPr>
          <p:nvPr/>
        </p:nvPicPr>
        <p:blipFill>
          <a:blip r:embed="rId3"/>
          <a:stretch>
            <a:fillRect/>
          </a:stretch>
        </p:blipFill>
        <p:spPr>
          <a:xfrm>
            <a:off x="1056711" y="2677906"/>
            <a:ext cx="6887704" cy="2803947"/>
          </a:xfrm>
          <a:prstGeom prst="rect">
            <a:avLst/>
          </a:prstGeom>
        </p:spPr>
      </p:pic>
      <p:sp>
        <p:nvSpPr>
          <p:cNvPr id="7" name="7 CuadroTexto">
            <a:extLst>
              <a:ext uri="{FF2B5EF4-FFF2-40B4-BE49-F238E27FC236}">
                <a16:creationId xmlns:a16="http://schemas.microsoft.com/office/drawing/2014/main" id="{1922F211-2ED1-400D-81C1-C5241B7BFC43}"/>
              </a:ext>
            </a:extLst>
          </p:cNvPr>
          <p:cNvSpPr txBox="1">
            <a:spLocks noChangeArrowheads="1"/>
          </p:cNvSpPr>
          <p:nvPr/>
        </p:nvSpPr>
        <p:spPr bwMode="auto">
          <a:xfrm>
            <a:off x="457200" y="1032424"/>
            <a:ext cx="831103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AR" altLang="es-AR" b="1" u="sng" dirty="0">
                <a:solidFill>
                  <a:schemeClr val="accent1"/>
                </a:solidFill>
                <a:latin typeface="Calibri" panose="020F0502020204030204" pitchFamily="34" charset="0"/>
                <a:cs typeface="Calibri" panose="020F0502020204030204" pitchFamily="34" charset="0"/>
              </a:rPr>
              <a:t>Hipótesis:</a:t>
            </a:r>
            <a:r>
              <a:rPr lang="es-AR" altLang="es-AR" b="1" dirty="0">
                <a:solidFill>
                  <a:schemeClr val="accent1"/>
                </a:solidFill>
                <a:latin typeface="Calibri" panose="020F0502020204030204" pitchFamily="34" charset="0"/>
                <a:cs typeface="Calibri" panose="020F0502020204030204" pitchFamily="34" charset="0"/>
              </a:rPr>
              <a:t> </a:t>
            </a:r>
          </a:p>
          <a:p>
            <a:pPr algn="just"/>
            <a:r>
              <a:rPr lang="es-AR" altLang="es-AR" b="1" dirty="0">
                <a:solidFill>
                  <a:schemeClr val="accent1"/>
                </a:solidFill>
                <a:latin typeface="Calibri" panose="020F0502020204030204" pitchFamily="34" charset="0"/>
                <a:cs typeface="Calibri" panose="020F0502020204030204" pitchFamily="34" charset="0"/>
              </a:rPr>
              <a:t>Las personas de mayor nivel educativo suelen considerar que el voto es un factor de cambio en mayor proporción que las personas de menor nivel educativo.</a:t>
            </a:r>
          </a:p>
          <a:p>
            <a:pPr algn="just"/>
            <a:endParaRPr lang="es-AR" altLang="es-AR" b="1" dirty="0">
              <a:solidFill>
                <a:schemeClr val="accent1"/>
              </a:solidFill>
              <a:latin typeface="Calibri" panose="020F0502020204030204" pitchFamily="34" charset="0"/>
              <a:cs typeface="Calibri" panose="020F0502020204030204" pitchFamily="34" charset="0"/>
            </a:endParaRPr>
          </a:p>
          <a:p>
            <a:pPr algn="just"/>
            <a:r>
              <a:rPr lang="es-AR" altLang="es-AR" b="1" dirty="0">
                <a:solidFill>
                  <a:schemeClr val="accent1"/>
                </a:solidFill>
                <a:latin typeface="Calibri" panose="020F0502020204030204" pitchFamily="34" charset="0"/>
                <a:cs typeface="Calibri" panose="020F0502020204030204" pitchFamily="34" charset="0"/>
              </a:rPr>
              <a:t>A mayor nivel educativo, mayor valoración del voto como factor de cambio.</a:t>
            </a:r>
            <a:endParaRPr lang="es-ES" altLang="es-AR" dirty="0">
              <a:solidFill>
                <a:schemeClr val="accent1"/>
              </a:solidFill>
              <a:latin typeface="Calibri" panose="020F0502020204030204" pitchFamily="34" charset="0"/>
              <a:cs typeface="Calibri" panose="020F0502020204030204" pitchFamily="34" charset="0"/>
            </a:endParaRPr>
          </a:p>
        </p:txBody>
      </p:sp>
      <p:sp>
        <p:nvSpPr>
          <p:cNvPr id="8" name="7 CuadroTexto">
            <a:extLst>
              <a:ext uri="{FF2B5EF4-FFF2-40B4-BE49-F238E27FC236}">
                <a16:creationId xmlns:a16="http://schemas.microsoft.com/office/drawing/2014/main" id="{8FB69272-1944-4A26-99B2-9F252BC56CAB}"/>
              </a:ext>
            </a:extLst>
          </p:cNvPr>
          <p:cNvSpPr txBox="1">
            <a:spLocks noChangeArrowheads="1"/>
          </p:cNvSpPr>
          <p:nvPr/>
        </p:nvSpPr>
        <p:spPr bwMode="auto">
          <a:xfrm>
            <a:off x="457200" y="5640910"/>
            <a:ext cx="83110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r>
              <a:rPr lang="es-ES" altLang="es-AR" b="1" dirty="0">
                <a:solidFill>
                  <a:schemeClr val="accent1"/>
                </a:solidFill>
                <a:latin typeface="Calibri" panose="020F0502020204030204" pitchFamily="34" charset="0"/>
                <a:cs typeface="Calibri" panose="020F0502020204030204" pitchFamily="34" charset="0"/>
              </a:rPr>
              <a:t>¿Se comprueba?</a:t>
            </a:r>
            <a:endParaRPr lang="es-ES" altLang="es-AR" dirty="0">
              <a:solidFill>
                <a:schemeClr val="accent1"/>
              </a:solidFill>
              <a:latin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id="{A35DC6F8-6B81-4D70-ACEC-A36E76E253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95736" y="5623657"/>
            <a:ext cx="798924" cy="419435"/>
          </a:xfrm>
          <a:prstGeom prst="rect">
            <a:avLst/>
          </a:prstGeom>
        </p:spPr>
      </p:pic>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4"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868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6028</TotalTime>
  <Words>4420</Words>
  <Application>Microsoft Office PowerPoint</Application>
  <PresentationFormat>Presentación en pantalla (4:3)</PresentationFormat>
  <Paragraphs>618</Paragraphs>
  <Slides>43</Slides>
  <Notes>43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43</vt:i4>
      </vt:variant>
    </vt:vector>
  </HeadingPairs>
  <TitlesOfParts>
    <vt:vector size="51" baseType="lpstr">
      <vt:lpstr>Arial</vt:lpstr>
      <vt:lpstr>Calibri</vt:lpstr>
      <vt:lpstr>Cambria</vt:lpstr>
      <vt:lpstr>Cambria Math</vt:lpstr>
      <vt:lpstr>MS Mincho</vt:lpstr>
      <vt:lpstr>Times New Roman</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Tablas de contingencia en SPSS</vt:lpstr>
      <vt:lpstr>Presentación de PowerPoint</vt:lpstr>
      <vt:lpstr>Presentación de PowerPoint</vt:lpstr>
      <vt:lpstr>Presentación de PowerPoint</vt:lpstr>
      <vt:lpstr>Presentación de PowerPoint</vt:lpstr>
      <vt:lpstr>Presentación de PowerPoint</vt:lpstr>
      <vt:lpstr>Presentación de PowerPoint</vt:lpstr>
      <vt:lpstr>Prueba de independencia estadística χ^2 </vt:lpstr>
      <vt:lpstr>Prueba de independencia estadística χ^2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Coeficientes de asociación</vt:lpstr>
      <vt:lpstr>Coeficientes de asociación</vt:lpstr>
      <vt:lpstr>Coeficientes de asociación</vt:lpstr>
      <vt:lpstr>Presentación de PowerPoint</vt:lpstr>
      <vt:lpstr>Análisis de residuos tipificados</vt:lpstr>
      <vt:lpstr>Análisis de residuos tipificados</vt:lpstr>
      <vt:lpstr>Análisis de residuos tipificados</vt:lpstr>
      <vt:lpstr>Presentación de PowerPoint</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Santiago Poy</dc:creator>
  <cp:lastModifiedBy>usuario</cp:lastModifiedBy>
  <cp:revision>425</cp:revision>
  <dcterms:created xsi:type="dcterms:W3CDTF">2018-06-06T19:52:13Z</dcterms:created>
  <dcterms:modified xsi:type="dcterms:W3CDTF">2020-08-23T16:03:24Z</dcterms:modified>
</cp:coreProperties>
</file>