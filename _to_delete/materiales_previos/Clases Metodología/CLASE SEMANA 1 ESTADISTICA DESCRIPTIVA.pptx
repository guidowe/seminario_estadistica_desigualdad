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443" r:id="rId2"/>
    <p:sldId id="451" r:id="rId3"/>
    <p:sldId id="446" r:id="rId4"/>
    <p:sldId id="445" r:id="rId5"/>
    <p:sldId id="447" r:id="rId6"/>
    <p:sldId id="448" r:id="rId7"/>
    <p:sldId id="449" r:id="rId8"/>
    <p:sldId id="450" r:id="rId9"/>
    <p:sldId id="452" r:id="rId10"/>
    <p:sldId id="476" r:id="rId11"/>
    <p:sldId id="361" r:id="rId12"/>
    <p:sldId id="362" r:id="rId13"/>
    <p:sldId id="363" r:id="rId14"/>
    <p:sldId id="364" r:id="rId15"/>
    <p:sldId id="366" r:id="rId16"/>
    <p:sldId id="371" r:id="rId17"/>
    <p:sldId id="367" r:id="rId18"/>
    <p:sldId id="368" r:id="rId19"/>
    <p:sldId id="477" r:id="rId20"/>
    <p:sldId id="475" r:id="rId21"/>
    <p:sldId id="478" r:id="rId22"/>
    <p:sldId id="480" r:id="rId23"/>
    <p:sldId id="484" r:id="rId24"/>
    <p:sldId id="485" r:id="rId25"/>
    <p:sldId id="487" r:id="rId26"/>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31" userDrawn="1">
          <p15:clr>
            <a:srgbClr val="A4A3A4"/>
          </p15:clr>
        </p15:guide>
        <p15:guide id="2" pos="2880">
          <p15:clr>
            <a:srgbClr val="A4A3A4"/>
          </p15:clr>
        </p15:guide>
        <p15:guide id="3" pos="521">
          <p15:clr>
            <a:srgbClr val="A4A3A4"/>
          </p15:clr>
        </p15:guide>
        <p15:guide id="4" orient="horz" pos="2115">
          <p15:clr>
            <a:srgbClr val="A4A3A4"/>
          </p15:clr>
        </p15:guide>
        <p15:guide id="5" orient="horz" pos="436" userDrawn="1">
          <p15:clr>
            <a:srgbClr val="A4A3A4"/>
          </p15:clr>
        </p15:guide>
        <p15:guide id="6" orient="horz" pos="210">
          <p15:clr>
            <a:srgbClr val="A4A3A4"/>
          </p15:clr>
        </p15:guide>
        <p15:guide id="7" pos="158">
          <p15:clr>
            <a:srgbClr val="A4A3A4"/>
          </p15:clr>
        </p15:guide>
        <p15:guide id="8" pos="5602">
          <p15:clr>
            <a:srgbClr val="A4A3A4"/>
          </p15:clr>
        </p15:guide>
        <p15:guide id="9" pos="24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uario" initials="us" lastIdx="1" clrIdx="0">
    <p:extLst>
      <p:ext uri="{19B8F6BF-5375-455C-9EA6-DF929625EA0E}">
        <p15:presenceInfo xmlns:p15="http://schemas.microsoft.com/office/powerpoint/2012/main" userId="usuari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9F9A"/>
    <a:srgbClr val="2A8A85"/>
    <a:srgbClr val="EFF7F7"/>
    <a:srgbClr val="CAE8E7"/>
    <a:srgbClr val="DDEFEF"/>
    <a:srgbClr val="3DC3BD"/>
    <a:srgbClr val="737373"/>
    <a:srgbClr val="22706C"/>
    <a:srgbClr val="565656"/>
    <a:srgbClr val="F4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704" autoAdjust="0"/>
  </p:normalViewPr>
  <p:slideViewPr>
    <p:cSldViewPr>
      <p:cViewPr varScale="1">
        <p:scale>
          <a:sx n="102" d="100"/>
          <a:sy n="102" d="100"/>
        </p:scale>
        <p:origin x="1842" y="114"/>
      </p:cViewPr>
      <p:guideLst>
        <p:guide orient="horz" pos="2931"/>
        <p:guide pos="2880"/>
        <p:guide pos="521"/>
        <p:guide orient="horz" pos="2115"/>
        <p:guide orient="horz" pos="436"/>
        <p:guide orient="horz" pos="210"/>
        <p:guide pos="158"/>
        <p:guide pos="5602"/>
        <p:guide pos="249"/>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8E48D3-B14F-4968-9233-5D5B23C82BC7}"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es-ES"/>
        </a:p>
      </dgm:t>
    </dgm:pt>
    <dgm:pt modelId="{F66CADF4-80B6-4C9B-A744-BF53F5FE74CB}">
      <dgm:prSet phldrT="[Texto]"/>
      <dgm:spPr>
        <a:solidFill>
          <a:srgbClr val="00B0F0">
            <a:alpha val="50000"/>
          </a:srgbClr>
        </a:solidFill>
      </dgm:spPr>
      <dgm:t>
        <a:bodyPr/>
        <a:lstStyle/>
        <a:p>
          <a:r>
            <a:rPr lang="es-ES" dirty="0"/>
            <a:t>Criterios de clasificación</a:t>
          </a:r>
        </a:p>
      </dgm:t>
    </dgm:pt>
    <dgm:pt modelId="{BE26D377-E8EF-4826-8459-D7042347B289}" type="parTrans" cxnId="{3F1E33D5-FA11-4CBB-959C-A81F240BB7E1}">
      <dgm:prSet/>
      <dgm:spPr/>
      <dgm:t>
        <a:bodyPr/>
        <a:lstStyle/>
        <a:p>
          <a:endParaRPr lang="es-ES"/>
        </a:p>
      </dgm:t>
    </dgm:pt>
    <dgm:pt modelId="{B9BA8561-9376-492F-9BA7-00154D8173DF}" type="sibTrans" cxnId="{3F1E33D5-FA11-4CBB-959C-A81F240BB7E1}">
      <dgm:prSet/>
      <dgm:spPr/>
      <dgm:t>
        <a:bodyPr/>
        <a:lstStyle/>
        <a:p>
          <a:endParaRPr lang="es-ES"/>
        </a:p>
      </dgm:t>
    </dgm:pt>
    <dgm:pt modelId="{7EF722D1-4434-4B30-9791-E25F717330F2}">
      <dgm:prSet phldrT="[Texto]"/>
      <dgm:spPr>
        <a:solidFill>
          <a:srgbClr val="00B0F0">
            <a:alpha val="50000"/>
          </a:srgbClr>
        </a:solidFill>
      </dgm:spPr>
      <dgm:t>
        <a:bodyPr/>
        <a:lstStyle/>
        <a:p>
          <a:r>
            <a:rPr lang="es-ES" dirty="0"/>
            <a:t>Función en la investigación </a:t>
          </a:r>
        </a:p>
      </dgm:t>
    </dgm:pt>
    <dgm:pt modelId="{C9D9F2FD-757B-4427-A88B-CF3351B233CB}" type="parTrans" cxnId="{89C3BB33-2CCF-4A23-8C0E-8C3CDC69F4F7}">
      <dgm:prSet/>
      <dgm:spPr/>
      <dgm:t>
        <a:bodyPr/>
        <a:lstStyle/>
        <a:p>
          <a:endParaRPr lang="es-ES"/>
        </a:p>
      </dgm:t>
    </dgm:pt>
    <dgm:pt modelId="{7840652C-FDFE-4625-92E1-B5D398FD4AFB}" type="sibTrans" cxnId="{89C3BB33-2CCF-4A23-8C0E-8C3CDC69F4F7}">
      <dgm:prSet/>
      <dgm:spPr/>
      <dgm:t>
        <a:bodyPr/>
        <a:lstStyle/>
        <a:p>
          <a:endParaRPr lang="es-ES"/>
        </a:p>
      </dgm:t>
    </dgm:pt>
    <dgm:pt modelId="{73AA0A82-DE4E-427E-9EBA-1BF2CBEE799C}">
      <dgm:prSet phldrT="[Texto]"/>
      <dgm:spPr>
        <a:solidFill>
          <a:srgbClr val="00B0F0">
            <a:alpha val="50000"/>
          </a:srgbClr>
        </a:solidFill>
      </dgm:spPr>
      <dgm:t>
        <a:bodyPr/>
        <a:lstStyle/>
        <a:p>
          <a:r>
            <a:rPr lang="es-ES" dirty="0"/>
            <a:t>Nivel de medición</a:t>
          </a:r>
        </a:p>
      </dgm:t>
    </dgm:pt>
    <dgm:pt modelId="{4D00D191-5B2B-4866-A228-91C19129D684}" type="parTrans" cxnId="{F683C3D8-99CA-4965-A8FC-5A8D74D954D5}">
      <dgm:prSet/>
      <dgm:spPr/>
      <dgm:t>
        <a:bodyPr/>
        <a:lstStyle/>
        <a:p>
          <a:endParaRPr lang="es-ES"/>
        </a:p>
      </dgm:t>
    </dgm:pt>
    <dgm:pt modelId="{0B07B444-0DDB-417F-9E90-A37D75B892A4}" type="sibTrans" cxnId="{F683C3D8-99CA-4965-A8FC-5A8D74D954D5}">
      <dgm:prSet/>
      <dgm:spPr/>
      <dgm:t>
        <a:bodyPr/>
        <a:lstStyle/>
        <a:p>
          <a:endParaRPr lang="es-ES"/>
        </a:p>
      </dgm:t>
    </dgm:pt>
    <dgm:pt modelId="{DD291BD1-E1F4-4E80-AF08-418C3ACBEDE8}">
      <dgm:prSet phldrT="[Texto]"/>
      <dgm:spPr>
        <a:solidFill>
          <a:srgbClr val="00B0F0">
            <a:alpha val="50000"/>
          </a:srgbClr>
        </a:solidFill>
      </dgm:spPr>
      <dgm:t>
        <a:bodyPr/>
        <a:lstStyle/>
        <a:p>
          <a:r>
            <a:rPr lang="es-ES" dirty="0"/>
            <a:t>Nivel de abstracción</a:t>
          </a:r>
        </a:p>
      </dgm:t>
    </dgm:pt>
    <dgm:pt modelId="{890C56C8-824A-460B-8F70-709364B7ED1B}" type="sibTrans" cxnId="{2331A499-486E-47A0-AD49-B709FECA3449}">
      <dgm:prSet/>
      <dgm:spPr/>
      <dgm:t>
        <a:bodyPr/>
        <a:lstStyle/>
        <a:p>
          <a:endParaRPr lang="es-ES"/>
        </a:p>
      </dgm:t>
    </dgm:pt>
    <dgm:pt modelId="{E4921F71-B24B-462F-8187-B2D6174E72D0}" type="parTrans" cxnId="{2331A499-486E-47A0-AD49-B709FECA3449}">
      <dgm:prSet/>
      <dgm:spPr/>
      <dgm:t>
        <a:bodyPr/>
        <a:lstStyle/>
        <a:p>
          <a:endParaRPr lang="es-ES"/>
        </a:p>
      </dgm:t>
    </dgm:pt>
    <dgm:pt modelId="{BBD75118-2F89-4C96-B9B1-AF28ADB52C99}">
      <dgm:prSet phldrT="[Texto]"/>
      <dgm:spPr>
        <a:solidFill>
          <a:srgbClr val="00B0F0">
            <a:alpha val="50000"/>
          </a:srgbClr>
        </a:solidFill>
      </dgm:spPr>
      <dgm:t>
        <a:bodyPr/>
        <a:lstStyle/>
        <a:p>
          <a:r>
            <a:rPr lang="es-ES" dirty="0"/>
            <a:t>Escala </a:t>
          </a:r>
          <a:r>
            <a:rPr lang="es-ES"/>
            <a:t>de medición</a:t>
          </a:r>
        </a:p>
      </dgm:t>
    </dgm:pt>
    <dgm:pt modelId="{C6A1CE0B-F655-4CC0-8A52-E8DC2E45353F}" type="sibTrans" cxnId="{33ECB41C-308D-4A89-A2DC-E7785018B430}">
      <dgm:prSet/>
      <dgm:spPr/>
      <dgm:t>
        <a:bodyPr/>
        <a:lstStyle/>
        <a:p>
          <a:endParaRPr lang="es-ES"/>
        </a:p>
      </dgm:t>
    </dgm:pt>
    <dgm:pt modelId="{FDEF991B-DD90-47FD-9116-4ACA5206B3C1}" type="parTrans" cxnId="{33ECB41C-308D-4A89-A2DC-E7785018B430}">
      <dgm:prSet/>
      <dgm:spPr/>
      <dgm:t>
        <a:bodyPr/>
        <a:lstStyle/>
        <a:p>
          <a:endParaRPr lang="es-ES"/>
        </a:p>
      </dgm:t>
    </dgm:pt>
    <dgm:pt modelId="{9265C8B8-847F-48D2-95C9-750711A756C4}" type="pres">
      <dgm:prSet presAssocID="{D88E48D3-B14F-4968-9233-5D5B23C82BC7}" presName="composite" presStyleCnt="0">
        <dgm:presLayoutVars>
          <dgm:chMax val="1"/>
          <dgm:dir/>
          <dgm:resizeHandles val="exact"/>
        </dgm:presLayoutVars>
      </dgm:prSet>
      <dgm:spPr/>
    </dgm:pt>
    <dgm:pt modelId="{05C350E8-E1B2-42D3-8155-636A0BCD7CCD}" type="pres">
      <dgm:prSet presAssocID="{D88E48D3-B14F-4968-9233-5D5B23C82BC7}" presName="radial" presStyleCnt="0">
        <dgm:presLayoutVars>
          <dgm:animLvl val="ctr"/>
        </dgm:presLayoutVars>
      </dgm:prSet>
      <dgm:spPr/>
    </dgm:pt>
    <dgm:pt modelId="{1AC5AFE6-5F14-49C8-84C4-BBE36A83ACE7}" type="pres">
      <dgm:prSet presAssocID="{F66CADF4-80B6-4C9B-A744-BF53F5FE74CB}" presName="centerShape" presStyleLbl="vennNode1" presStyleIdx="0" presStyleCnt="5"/>
      <dgm:spPr/>
    </dgm:pt>
    <dgm:pt modelId="{89CA58F5-EF24-4F5F-A011-DF377D348D2C}" type="pres">
      <dgm:prSet presAssocID="{DD291BD1-E1F4-4E80-AF08-418C3ACBEDE8}" presName="node" presStyleLbl="vennNode1" presStyleIdx="1" presStyleCnt="5">
        <dgm:presLayoutVars>
          <dgm:bulletEnabled val="1"/>
        </dgm:presLayoutVars>
      </dgm:prSet>
      <dgm:spPr/>
    </dgm:pt>
    <dgm:pt modelId="{EA1952AC-07A5-4DCF-A00E-2AFB24DA2055}" type="pres">
      <dgm:prSet presAssocID="{7EF722D1-4434-4B30-9791-E25F717330F2}" presName="node" presStyleLbl="vennNode1" presStyleIdx="2" presStyleCnt="5">
        <dgm:presLayoutVars>
          <dgm:bulletEnabled val="1"/>
        </dgm:presLayoutVars>
      </dgm:prSet>
      <dgm:spPr/>
    </dgm:pt>
    <dgm:pt modelId="{47FF56C7-B2CE-4F73-8747-AD12218C85C4}" type="pres">
      <dgm:prSet presAssocID="{BBD75118-2F89-4C96-B9B1-AF28ADB52C99}" presName="node" presStyleLbl="vennNode1" presStyleIdx="3" presStyleCnt="5">
        <dgm:presLayoutVars>
          <dgm:bulletEnabled val="1"/>
        </dgm:presLayoutVars>
      </dgm:prSet>
      <dgm:spPr/>
    </dgm:pt>
    <dgm:pt modelId="{F9C8A019-1D02-47F8-8F7B-0AE121EA6AD6}" type="pres">
      <dgm:prSet presAssocID="{73AA0A82-DE4E-427E-9EBA-1BF2CBEE799C}" presName="node" presStyleLbl="vennNode1" presStyleIdx="4" presStyleCnt="5">
        <dgm:presLayoutVars>
          <dgm:bulletEnabled val="1"/>
        </dgm:presLayoutVars>
      </dgm:prSet>
      <dgm:spPr/>
    </dgm:pt>
  </dgm:ptLst>
  <dgm:cxnLst>
    <dgm:cxn modelId="{33ECB41C-308D-4A89-A2DC-E7785018B430}" srcId="{F66CADF4-80B6-4C9B-A744-BF53F5FE74CB}" destId="{BBD75118-2F89-4C96-B9B1-AF28ADB52C99}" srcOrd="2" destOrd="0" parTransId="{FDEF991B-DD90-47FD-9116-4ACA5206B3C1}" sibTransId="{C6A1CE0B-F655-4CC0-8A52-E8DC2E45353F}"/>
    <dgm:cxn modelId="{ABBE2D33-8148-41AC-9E03-75562B3B7F98}" type="presOf" srcId="{BBD75118-2F89-4C96-B9B1-AF28ADB52C99}" destId="{47FF56C7-B2CE-4F73-8747-AD12218C85C4}" srcOrd="0" destOrd="0" presId="urn:microsoft.com/office/officeart/2005/8/layout/radial3"/>
    <dgm:cxn modelId="{89C3BB33-2CCF-4A23-8C0E-8C3CDC69F4F7}" srcId="{F66CADF4-80B6-4C9B-A744-BF53F5FE74CB}" destId="{7EF722D1-4434-4B30-9791-E25F717330F2}" srcOrd="1" destOrd="0" parTransId="{C9D9F2FD-757B-4427-A88B-CF3351B233CB}" sibTransId="{7840652C-FDFE-4625-92E1-B5D398FD4AFB}"/>
    <dgm:cxn modelId="{3443ED3E-B52A-4D8C-9D17-9A70403E87B0}" type="presOf" srcId="{DD291BD1-E1F4-4E80-AF08-418C3ACBEDE8}" destId="{89CA58F5-EF24-4F5F-A011-DF377D348D2C}" srcOrd="0" destOrd="0" presId="urn:microsoft.com/office/officeart/2005/8/layout/radial3"/>
    <dgm:cxn modelId="{9A7B4E5C-7D05-4F67-98DA-66206E7636EA}" type="presOf" srcId="{73AA0A82-DE4E-427E-9EBA-1BF2CBEE799C}" destId="{F9C8A019-1D02-47F8-8F7B-0AE121EA6AD6}" srcOrd="0" destOrd="0" presId="urn:microsoft.com/office/officeart/2005/8/layout/radial3"/>
    <dgm:cxn modelId="{2331A499-486E-47A0-AD49-B709FECA3449}" srcId="{F66CADF4-80B6-4C9B-A744-BF53F5FE74CB}" destId="{DD291BD1-E1F4-4E80-AF08-418C3ACBEDE8}" srcOrd="0" destOrd="0" parTransId="{E4921F71-B24B-462F-8187-B2D6174E72D0}" sibTransId="{890C56C8-824A-460B-8F70-709364B7ED1B}"/>
    <dgm:cxn modelId="{8E6403A3-F84A-44EE-8E76-2C1449E076DB}" type="presOf" srcId="{D88E48D3-B14F-4968-9233-5D5B23C82BC7}" destId="{9265C8B8-847F-48D2-95C9-750711A756C4}" srcOrd="0" destOrd="0" presId="urn:microsoft.com/office/officeart/2005/8/layout/radial3"/>
    <dgm:cxn modelId="{0593DCC9-E814-4B4F-89B1-1ABAC166403F}" type="presOf" srcId="{F66CADF4-80B6-4C9B-A744-BF53F5FE74CB}" destId="{1AC5AFE6-5F14-49C8-84C4-BBE36A83ACE7}" srcOrd="0" destOrd="0" presId="urn:microsoft.com/office/officeart/2005/8/layout/radial3"/>
    <dgm:cxn modelId="{3F1E33D5-FA11-4CBB-959C-A81F240BB7E1}" srcId="{D88E48D3-B14F-4968-9233-5D5B23C82BC7}" destId="{F66CADF4-80B6-4C9B-A744-BF53F5FE74CB}" srcOrd="0" destOrd="0" parTransId="{BE26D377-E8EF-4826-8459-D7042347B289}" sibTransId="{B9BA8561-9376-492F-9BA7-00154D8173DF}"/>
    <dgm:cxn modelId="{F683C3D8-99CA-4965-A8FC-5A8D74D954D5}" srcId="{F66CADF4-80B6-4C9B-A744-BF53F5FE74CB}" destId="{73AA0A82-DE4E-427E-9EBA-1BF2CBEE799C}" srcOrd="3" destOrd="0" parTransId="{4D00D191-5B2B-4866-A228-91C19129D684}" sibTransId="{0B07B444-0DDB-417F-9E90-A37D75B892A4}"/>
    <dgm:cxn modelId="{681C88E4-63AE-4982-B803-28BC03DD4080}" type="presOf" srcId="{7EF722D1-4434-4B30-9791-E25F717330F2}" destId="{EA1952AC-07A5-4DCF-A00E-2AFB24DA2055}" srcOrd="0" destOrd="0" presId="urn:microsoft.com/office/officeart/2005/8/layout/radial3"/>
    <dgm:cxn modelId="{B5BFC14D-E85E-4825-A9BA-E2CC5E5BAD9B}" type="presParOf" srcId="{9265C8B8-847F-48D2-95C9-750711A756C4}" destId="{05C350E8-E1B2-42D3-8155-636A0BCD7CCD}" srcOrd="0" destOrd="0" presId="urn:microsoft.com/office/officeart/2005/8/layout/radial3"/>
    <dgm:cxn modelId="{1209CF5F-8771-49D8-8015-71499E174432}" type="presParOf" srcId="{05C350E8-E1B2-42D3-8155-636A0BCD7CCD}" destId="{1AC5AFE6-5F14-49C8-84C4-BBE36A83ACE7}" srcOrd="0" destOrd="0" presId="urn:microsoft.com/office/officeart/2005/8/layout/radial3"/>
    <dgm:cxn modelId="{21858311-E8FC-4DCD-8F52-693A1C9ACC97}" type="presParOf" srcId="{05C350E8-E1B2-42D3-8155-636A0BCD7CCD}" destId="{89CA58F5-EF24-4F5F-A011-DF377D348D2C}" srcOrd="1" destOrd="0" presId="urn:microsoft.com/office/officeart/2005/8/layout/radial3"/>
    <dgm:cxn modelId="{49AF296E-2DE0-4A9F-A0C4-FE5B64468337}" type="presParOf" srcId="{05C350E8-E1B2-42D3-8155-636A0BCD7CCD}" destId="{EA1952AC-07A5-4DCF-A00E-2AFB24DA2055}" srcOrd="2" destOrd="0" presId="urn:microsoft.com/office/officeart/2005/8/layout/radial3"/>
    <dgm:cxn modelId="{C33F3B53-D43E-4152-8AED-21C637DB8E8A}" type="presParOf" srcId="{05C350E8-E1B2-42D3-8155-636A0BCD7CCD}" destId="{47FF56C7-B2CE-4F73-8747-AD12218C85C4}" srcOrd="3" destOrd="0" presId="urn:microsoft.com/office/officeart/2005/8/layout/radial3"/>
    <dgm:cxn modelId="{3C257DBA-ABAE-4B93-83C6-0270B080CC6C}" type="presParOf" srcId="{05C350E8-E1B2-42D3-8155-636A0BCD7CCD}" destId="{F9C8A019-1D02-47F8-8F7B-0AE121EA6AD6}" srcOrd="4"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C5AFE6-5F14-49C8-84C4-BBE36A83ACE7}">
      <dsp:nvSpPr>
        <dsp:cNvPr id="0" name=""/>
        <dsp:cNvSpPr/>
      </dsp:nvSpPr>
      <dsp:spPr>
        <a:xfrm>
          <a:off x="2616206" y="1026114"/>
          <a:ext cx="2556283" cy="2556283"/>
        </a:xfrm>
        <a:prstGeom prst="ellipse">
          <a:avLst/>
        </a:prstGeom>
        <a:solidFill>
          <a:srgbClr val="00B0F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s-ES" sz="2700" kern="1200" dirty="0"/>
            <a:t>Criterios de clasificación</a:t>
          </a:r>
        </a:p>
      </dsp:txBody>
      <dsp:txXfrm>
        <a:off x="2990565" y="1400473"/>
        <a:ext cx="1807565" cy="1807565"/>
      </dsp:txXfrm>
    </dsp:sp>
    <dsp:sp modelId="{89CA58F5-EF24-4F5F-A011-DF377D348D2C}">
      <dsp:nvSpPr>
        <dsp:cNvPr id="0" name=""/>
        <dsp:cNvSpPr/>
      </dsp:nvSpPr>
      <dsp:spPr>
        <a:xfrm>
          <a:off x="3255276" y="456"/>
          <a:ext cx="1278141" cy="1278141"/>
        </a:xfrm>
        <a:prstGeom prst="ellipse">
          <a:avLst/>
        </a:prstGeom>
        <a:solidFill>
          <a:srgbClr val="00B0F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s-ES" sz="1300" kern="1200" dirty="0"/>
            <a:t>Nivel de abstracción</a:t>
          </a:r>
        </a:p>
      </dsp:txBody>
      <dsp:txXfrm>
        <a:off x="3442455" y="187635"/>
        <a:ext cx="903783" cy="903783"/>
      </dsp:txXfrm>
    </dsp:sp>
    <dsp:sp modelId="{EA1952AC-07A5-4DCF-A00E-2AFB24DA2055}">
      <dsp:nvSpPr>
        <dsp:cNvPr id="0" name=""/>
        <dsp:cNvSpPr/>
      </dsp:nvSpPr>
      <dsp:spPr>
        <a:xfrm>
          <a:off x="4920005" y="1665185"/>
          <a:ext cx="1278141" cy="1278141"/>
        </a:xfrm>
        <a:prstGeom prst="ellipse">
          <a:avLst/>
        </a:prstGeom>
        <a:solidFill>
          <a:srgbClr val="00B0F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s-ES" sz="1300" kern="1200" dirty="0"/>
            <a:t>Función en la investigación </a:t>
          </a:r>
        </a:p>
      </dsp:txBody>
      <dsp:txXfrm>
        <a:off x="5107184" y="1852364"/>
        <a:ext cx="903783" cy="903783"/>
      </dsp:txXfrm>
    </dsp:sp>
    <dsp:sp modelId="{47FF56C7-B2CE-4F73-8747-AD12218C85C4}">
      <dsp:nvSpPr>
        <dsp:cNvPr id="0" name=""/>
        <dsp:cNvSpPr/>
      </dsp:nvSpPr>
      <dsp:spPr>
        <a:xfrm>
          <a:off x="3255277" y="3329913"/>
          <a:ext cx="1278141" cy="1278141"/>
        </a:xfrm>
        <a:prstGeom prst="ellipse">
          <a:avLst/>
        </a:prstGeom>
        <a:solidFill>
          <a:srgbClr val="00B0F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s-ES" sz="1300" kern="1200" dirty="0"/>
            <a:t>Escala </a:t>
          </a:r>
          <a:r>
            <a:rPr lang="es-ES" sz="1300" kern="1200"/>
            <a:t>de medición</a:t>
          </a:r>
        </a:p>
      </dsp:txBody>
      <dsp:txXfrm>
        <a:off x="3442456" y="3517092"/>
        <a:ext cx="903783" cy="903783"/>
      </dsp:txXfrm>
    </dsp:sp>
    <dsp:sp modelId="{F9C8A019-1D02-47F8-8F7B-0AE121EA6AD6}">
      <dsp:nvSpPr>
        <dsp:cNvPr id="0" name=""/>
        <dsp:cNvSpPr/>
      </dsp:nvSpPr>
      <dsp:spPr>
        <a:xfrm>
          <a:off x="1590548" y="1665185"/>
          <a:ext cx="1278141" cy="1278141"/>
        </a:xfrm>
        <a:prstGeom prst="ellipse">
          <a:avLst/>
        </a:prstGeom>
        <a:solidFill>
          <a:srgbClr val="00B0F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s-ES" sz="1300" kern="1200" dirty="0"/>
            <a:t>Nivel de medición</a:t>
          </a:r>
        </a:p>
      </dsp:txBody>
      <dsp:txXfrm>
        <a:off x="1777727" y="1852364"/>
        <a:ext cx="903783" cy="903783"/>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D26535-4EDE-46AE-846D-10CF575EF3AC}" type="datetimeFigureOut">
              <a:rPr lang="es-AR" smtClean="0"/>
              <a:t>22/10/2024</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6145D8-ED58-44A9-BC65-988CF3BEDD8C}" type="slidenum">
              <a:rPr lang="es-AR" smtClean="0"/>
              <a:t>‹Nº›</a:t>
            </a:fld>
            <a:endParaRPr lang="es-AR"/>
          </a:p>
        </p:txBody>
      </p:sp>
    </p:spTree>
    <p:extLst>
      <p:ext uri="{BB962C8B-B14F-4D97-AF65-F5344CB8AC3E}">
        <p14:creationId xmlns:p14="http://schemas.microsoft.com/office/powerpoint/2010/main" val="3949729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a:t>
            </a:fld>
            <a:endParaRPr lang="es-AR" dirty="0"/>
          </a:p>
        </p:txBody>
      </p:sp>
    </p:spTree>
    <p:extLst>
      <p:ext uri="{BB962C8B-B14F-4D97-AF65-F5344CB8AC3E}">
        <p14:creationId xmlns:p14="http://schemas.microsoft.com/office/powerpoint/2010/main" val="3794575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11</a:t>
            </a:fld>
            <a:endParaRPr lang="es-AR" dirty="0"/>
          </a:p>
        </p:txBody>
      </p:sp>
    </p:spTree>
    <p:extLst>
      <p:ext uri="{BB962C8B-B14F-4D97-AF65-F5344CB8AC3E}">
        <p14:creationId xmlns:p14="http://schemas.microsoft.com/office/powerpoint/2010/main" val="2945997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AR"/>
          </a:p>
        </p:txBody>
      </p:sp>
      <p:sp>
        <p:nvSpPr>
          <p:cNvPr id="4" name="3 Marcador de fecha"/>
          <p:cNvSpPr>
            <a:spLocks noGrp="1"/>
          </p:cNvSpPr>
          <p:nvPr>
            <p:ph type="dt" sz="half" idx="10"/>
          </p:nvPr>
        </p:nvSpPr>
        <p:spPr/>
        <p:txBody>
          <a:bodyPr/>
          <a:lstStyle/>
          <a:p>
            <a:fld id="{30A94F0A-27A0-4BC8-96DF-D3D95F3434E5}" type="datetime1">
              <a:rPr lang="es-AR" smtClean="0"/>
              <a:t>22/10/2024</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3660716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B72D5A0D-784F-49F2-83AC-868962BD57AA}" type="datetime1">
              <a:rPr lang="es-AR" smtClean="0"/>
              <a:t>22/10/2024</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1785571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30685D93-CCB6-4AA2-9A06-B691E4A94039}" type="datetime1">
              <a:rPr lang="es-AR" smtClean="0"/>
              <a:t>22/10/2024</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898152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fecha"/>
          <p:cNvSpPr>
            <a:spLocks noGrp="1"/>
          </p:cNvSpPr>
          <p:nvPr>
            <p:ph type="dt" sz="half" idx="10"/>
          </p:nvPr>
        </p:nvSpPr>
        <p:spPr/>
        <p:txBody>
          <a:bodyPr/>
          <a:lstStyle/>
          <a:p>
            <a:fld id="{34A891F9-CB0F-4879-B678-E3140E49A5AB}" type="datetime1">
              <a:rPr lang="es-AR" smtClean="0"/>
              <a:t>22/10/2024</a:t>
            </a:fld>
            <a:endParaRPr lang="es-AR"/>
          </a:p>
        </p:txBody>
      </p:sp>
      <p:sp>
        <p:nvSpPr>
          <p:cNvPr id="6" name="5 Marcador de pie de página"/>
          <p:cNvSpPr>
            <a:spLocks noGrp="1"/>
          </p:cNvSpPr>
          <p:nvPr>
            <p:ph type="ftr" sz="quarter" idx="11"/>
          </p:nvPr>
        </p:nvSpPr>
        <p:spPr/>
        <p:txBody>
          <a:bodyPr/>
          <a:lstStyle/>
          <a:p>
            <a:r>
              <a:rPr lang="es-AR"/>
              <a:t>Curso SPSS / ODSA-UCA</a:t>
            </a:r>
          </a:p>
        </p:txBody>
      </p:sp>
      <p:sp>
        <p:nvSpPr>
          <p:cNvPr id="7" name="6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1109333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6 Marcador de fecha"/>
          <p:cNvSpPr>
            <a:spLocks noGrp="1"/>
          </p:cNvSpPr>
          <p:nvPr>
            <p:ph type="dt" sz="half" idx="10"/>
          </p:nvPr>
        </p:nvSpPr>
        <p:spPr/>
        <p:txBody>
          <a:bodyPr/>
          <a:lstStyle/>
          <a:p>
            <a:fld id="{C6697B4B-8FC8-4ED2-A7B7-30B7B546CB7C}" type="datetime1">
              <a:rPr lang="es-AR" smtClean="0"/>
              <a:t>22/10/2024</a:t>
            </a:fld>
            <a:endParaRPr lang="es-AR"/>
          </a:p>
        </p:txBody>
      </p:sp>
      <p:sp>
        <p:nvSpPr>
          <p:cNvPr id="8" name="7 Marcador de pie de página"/>
          <p:cNvSpPr>
            <a:spLocks noGrp="1"/>
          </p:cNvSpPr>
          <p:nvPr>
            <p:ph type="ftr" sz="quarter" idx="11"/>
          </p:nvPr>
        </p:nvSpPr>
        <p:spPr/>
        <p:txBody>
          <a:bodyPr/>
          <a:lstStyle/>
          <a:p>
            <a:r>
              <a:rPr lang="es-AR"/>
              <a:t>Curso SPSS / ODSA-UCA</a:t>
            </a:r>
          </a:p>
        </p:txBody>
      </p:sp>
      <p:sp>
        <p:nvSpPr>
          <p:cNvPr id="9" name="8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88077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fecha"/>
          <p:cNvSpPr>
            <a:spLocks noGrp="1"/>
          </p:cNvSpPr>
          <p:nvPr>
            <p:ph type="dt" sz="half" idx="10"/>
          </p:nvPr>
        </p:nvSpPr>
        <p:spPr/>
        <p:txBody>
          <a:bodyPr/>
          <a:lstStyle/>
          <a:p>
            <a:fld id="{4E9A48A6-89ED-45E3-8DC8-69DD7242770A}" type="datetime1">
              <a:rPr lang="es-AR" smtClean="0"/>
              <a:t>22/10/2024</a:t>
            </a:fld>
            <a:endParaRPr lang="es-AR"/>
          </a:p>
        </p:txBody>
      </p:sp>
      <p:sp>
        <p:nvSpPr>
          <p:cNvPr id="4" name="3 Marcador de pie de página"/>
          <p:cNvSpPr>
            <a:spLocks noGrp="1"/>
          </p:cNvSpPr>
          <p:nvPr>
            <p:ph type="ftr" sz="quarter" idx="11"/>
          </p:nvPr>
        </p:nvSpPr>
        <p:spPr/>
        <p:txBody>
          <a:bodyPr/>
          <a:lstStyle/>
          <a:p>
            <a:r>
              <a:rPr lang="es-AR"/>
              <a:t>Curso SPSS / ODSA-UCA</a:t>
            </a:r>
          </a:p>
        </p:txBody>
      </p:sp>
      <p:sp>
        <p:nvSpPr>
          <p:cNvPr id="5" name="4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3320559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CFAC46B7-96E1-4D69-97A5-BA2B575DCD5B}" type="datetime1">
              <a:rPr lang="es-AR" smtClean="0"/>
              <a:t>22/10/2024</a:t>
            </a:fld>
            <a:endParaRPr lang="es-AR"/>
          </a:p>
        </p:txBody>
      </p:sp>
      <p:sp>
        <p:nvSpPr>
          <p:cNvPr id="3" name="2 Marcador de pie de página"/>
          <p:cNvSpPr>
            <a:spLocks noGrp="1"/>
          </p:cNvSpPr>
          <p:nvPr>
            <p:ph type="ftr" sz="quarter" idx="11"/>
          </p:nvPr>
        </p:nvSpPr>
        <p:spPr/>
        <p:txBody>
          <a:bodyPr/>
          <a:lstStyle/>
          <a:p>
            <a:r>
              <a:rPr lang="es-AR"/>
              <a:t>Curso SPSS / ODSA-UCA</a:t>
            </a:r>
          </a:p>
        </p:txBody>
      </p:sp>
      <p:sp>
        <p:nvSpPr>
          <p:cNvPr id="4" name="3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2020053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C37C0133-B3AE-415F-AD7D-09671FB6B581}" type="datetime1">
              <a:rPr lang="es-AR" smtClean="0"/>
              <a:t>22/10/2024</a:t>
            </a:fld>
            <a:endParaRPr lang="es-AR"/>
          </a:p>
        </p:txBody>
      </p:sp>
      <p:sp>
        <p:nvSpPr>
          <p:cNvPr id="6" name="5 Marcador de pie de página"/>
          <p:cNvSpPr>
            <a:spLocks noGrp="1"/>
          </p:cNvSpPr>
          <p:nvPr>
            <p:ph type="ftr" sz="quarter" idx="11"/>
          </p:nvPr>
        </p:nvSpPr>
        <p:spPr/>
        <p:txBody>
          <a:bodyPr/>
          <a:lstStyle/>
          <a:p>
            <a:r>
              <a:rPr lang="es-AR"/>
              <a:t>Curso SPSS / ODSA-UCA</a:t>
            </a:r>
          </a:p>
        </p:txBody>
      </p:sp>
      <p:sp>
        <p:nvSpPr>
          <p:cNvPr id="7" name="6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1489277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FB310E0-D14B-4604-84DC-1535BBF9C4BF}" type="datetime1">
              <a:rPr lang="es-AR" smtClean="0"/>
              <a:t>22/10/2024</a:t>
            </a:fld>
            <a:endParaRPr lang="es-AR"/>
          </a:p>
        </p:txBody>
      </p:sp>
      <p:sp>
        <p:nvSpPr>
          <p:cNvPr id="6" name="5 Marcador de pie de página"/>
          <p:cNvSpPr>
            <a:spLocks noGrp="1"/>
          </p:cNvSpPr>
          <p:nvPr>
            <p:ph type="ftr" sz="quarter" idx="11"/>
          </p:nvPr>
        </p:nvSpPr>
        <p:spPr/>
        <p:txBody>
          <a:bodyPr/>
          <a:lstStyle/>
          <a:p>
            <a:r>
              <a:rPr lang="es-AR"/>
              <a:t>Curso SPSS / ODSA-UCA</a:t>
            </a:r>
          </a:p>
        </p:txBody>
      </p:sp>
      <p:sp>
        <p:nvSpPr>
          <p:cNvPr id="7" name="6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209560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0909CC5D-9AA7-445A-80D8-6FCD964E68D7}" type="datetime1">
              <a:rPr lang="es-AR" smtClean="0"/>
              <a:t>22/10/2024</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618306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13CEEFF5-E6F6-49FF-AEE7-0991FC29FF6F}" type="datetime1">
              <a:rPr lang="es-AR" smtClean="0"/>
              <a:t>22/10/2024</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103563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1CBB71-18DF-4B96-AB10-74B37F964650}" type="datetime1">
              <a:rPr lang="es-AR" smtClean="0"/>
              <a:t>22/10/2024</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AR"/>
              <a:t>Curso SPSS / ODSA-UCA</a:t>
            </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092C5D-0833-432E-A649-4B28246F9627}" type="slidenum">
              <a:rPr lang="es-AR" smtClean="0"/>
              <a:t>‹Nº›</a:t>
            </a:fld>
            <a:endParaRPr lang="es-AR"/>
          </a:p>
        </p:txBody>
      </p:sp>
    </p:spTree>
    <p:extLst>
      <p:ext uri="{BB962C8B-B14F-4D97-AF65-F5344CB8AC3E}">
        <p14:creationId xmlns:p14="http://schemas.microsoft.com/office/powerpoint/2010/main" val="32085772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pic>
        <p:nvPicPr>
          <p:cNvPr id="18" name="Imagen 17"/>
          <p:cNvPicPr>
            <a:picLocks noChangeAspect="1"/>
          </p:cNvPicPr>
          <p:nvPr/>
        </p:nvPicPr>
        <p:blipFill rotWithShape="1">
          <a:blip r:embed="rId3">
            <a:extLst>
              <a:ext uri="{28A0092B-C50C-407E-A947-70E740481C1C}">
                <a14:useLocalDpi xmlns:a14="http://schemas.microsoft.com/office/drawing/2010/main" val="0"/>
              </a:ext>
            </a:extLst>
          </a:blip>
          <a:srcRect t="19961" b="25235"/>
          <a:stretch/>
        </p:blipFill>
        <p:spPr>
          <a:xfrm>
            <a:off x="0" y="0"/>
            <a:ext cx="9144000" cy="1584177"/>
          </a:xfrm>
          <a:prstGeom prst="rect">
            <a:avLst/>
          </a:prstGeom>
        </p:spPr>
      </p:pic>
      <p:sp>
        <p:nvSpPr>
          <p:cNvPr id="21" name="Rectangle 3">
            <a:extLst>
              <a:ext uri="{FF2B5EF4-FFF2-40B4-BE49-F238E27FC236}">
                <a16:creationId xmlns:a16="http://schemas.microsoft.com/office/drawing/2014/main" id="{F4F04492-2A97-45A3-94D0-EA8C4F3975E3}"/>
              </a:ext>
            </a:extLst>
          </p:cNvPr>
          <p:cNvSpPr txBox="1">
            <a:spLocks noChangeArrowheads="1"/>
          </p:cNvSpPr>
          <p:nvPr/>
        </p:nvSpPr>
        <p:spPr bwMode="auto">
          <a:xfrm>
            <a:off x="287337" y="3285364"/>
            <a:ext cx="7272338"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cs typeface="+mn-cs"/>
              </a:defRPr>
            </a:lvl5pPr>
            <a:lvl6pPr marL="21383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a:lstStyle>
          <a:p>
            <a:pPr marL="571500" indent="-571500" eaLnBrk="1" hangingPunct="1">
              <a:buFont typeface="Wingdings" panose="05000000000000000000" pitchFamily="2" charset="2"/>
              <a:buNone/>
            </a:pPr>
            <a:r>
              <a:rPr lang="es-AR" altLang="es-AR" sz="3600" b="1" kern="0" dirty="0">
                <a:solidFill>
                  <a:schemeClr val="bg1">
                    <a:lumMod val="50000"/>
                  </a:schemeClr>
                </a:solidFill>
                <a:latin typeface="Arial" panose="020B0604020202020204" pitchFamily="34" charset="0"/>
                <a:cs typeface="Arial" panose="020B0604020202020204" pitchFamily="34" charset="0"/>
              </a:rPr>
              <a:t>SEMANA 1</a:t>
            </a:r>
          </a:p>
          <a:p>
            <a:pPr marL="0" indent="0" eaLnBrk="1" hangingPunct="1">
              <a:buFont typeface="Wingdings" panose="05000000000000000000" pitchFamily="2" charset="2"/>
              <a:buNone/>
            </a:pPr>
            <a:r>
              <a:rPr lang="es-AR" altLang="es-AR" sz="3600" b="1" kern="0" dirty="0">
                <a:solidFill>
                  <a:schemeClr val="bg1">
                    <a:lumMod val="50000"/>
                  </a:schemeClr>
                </a:solidFill>
                <a:latin typeface="Arial" panose="020B0604020202020204" pitchFamily="34" charset="0"/>
                <a:cs typeface="Arial" panose="020B0604020202020204" pitchFamily="34" charset="0"/>
              </a:rPr>
              <a:t>Estadística descriptiva </a:t>
            </a:r>
            <a:r>
              <a:rPr lang="es-AR" altLang="es-AR" sz="3600" b="1" kern="0" dirty="0" err="1">
                <a:solidFill>
                  <a:schemeClr val="bg1">
                    <a:lumMod val="50000"/>
                  </a:schemeClr>
                </a:solidFill>
                <a:latin typeface="Arial" panose="020B0604020202020204" pitchFamily="34" charset="0"/>
                <a:cs typeface="Arial" panose="020B0604020202020204" pitchFamily="34" charset="0"/>
              </a:rPr>
              <a:t>univariada</a:t>
            </a:r>
            <a:r>
              <a:rPr lang="es-AR" altLang="es-AR" sz="3600" b="1" kern="0" dirty="0">
                <a:solidFill>
                  <a:schemeClr val="bg1">
                    <a:lumMod val="50000"/>
                  </a:schemeClr>
                </a:solidFill>
                <a:latin typeface="Arial" panose="020B0604020202020204" pitchFamily="34" charset="0"/>
                <a:cs typeface="Arial" panose="020B0604020202020204" pitchFamily="34" charset="0"/>
              </a:rPr>
              <a:t> (1)</a:t>
            </a:r>
          </a:p>
        </p:txBody>
      </p:sp>
      <p:sp>
        <p:nvSpPr>
          <p:cNvPr id="22" name="Rectangle 3">
            <a:extLst>
              <a:ext uri="{FF2B5EF4-FFF2-40B4-BE49-F238E27FC236}">
                <a16:creationId xmlns:a16="http://schemas.microsoft.com/office/drawing/2014/main" id="{8B4B2D46-BB4A-4A9C-92C6-45582D474989}"/>
              </a:ext>
            </a:extLst>
          </p:cNvPr>
          <p:cNvSpPr txBox="1">
            <a:spLocks noChangeArrowheads="1"/>
          </p:cNvSpPr>
          <p:nvPr/>
        </p:nvSpPr>
        <p:spPr bwMode="auto">
          <a:xfrm>
            <a:off x="287336" y="5877272"/>
            <a:ext cx="8569325" cy="35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cs typeface="+mn-cs"/>
              </a:defRPr>
            </a:lvl5pPr>
            <a:lvl6pPr marL="21383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a:lstStyle>
          <a:p>
            <a:pPr marL="0" indent="0" eaLnBrk="1" hangingPunct="1">
              <a:buFont typeface="Wingdings" panose="05000000000000000000" pitchFamily="2" charset="2"/>
              <a:buNone/>
            </a:pPr>
            <a:endParaRPr lang="es-AR" altLang="es-AR" sz="2200" b="1" kern="0" dirty="0">
              <a:solidFill>
                <a:schemeClr val="bg1">
                  <a:lumMod val="50000"/>
                </a:schemeClr>
              </a:solidFill>
              <a:latin typeface="Arial" panose="020B0604020202020204" pitchFamily="34" charset="0"/>
              <a:cs typeface="Arial" panose="020B0604020202020204" pitchFamily="34" charset="0"/>
            </a:endParaRPr>
          </a:p>
          <a:p>
            <a:pPr marL="0" indent="0" eaLnBrk="1" hangingPunct="1">
              <a:buFont typeface="Wingdings" panose="05000000000000000000" pitchFamily="2" charset="2"/>
              <a:buNone/>
            </a:pPr>
            <a:endParaRPr lang="es-AR" altLang="es-AR" sz="2000" kern="0" dirty="0">
              <a:solidFill>
                <a:schemeClr val="bg1">
                  <a:lumMod val="50000"/>
                </a:schemeClr>
              </a:solidFill>
              <a:latin typeface="Arial" panose="020B0604020202020204" pitchFamily="34" charset="0"/>
              <a:cs typeface="Arial" panose="020B0604020202020204" pitchFamily="34" charset="0"/>
            </a:endParaRPr>
          </a:p>
          <a:p>
            <a:pPr marL="0" indent="0" eaLnBrk="1" hangingPunct="1">
              <a:buFont typeface="Wingdings" panose="05000000000000000000" pitchFamily="2" charset="2"/>
              <a:buNone/>
            </a:pPr>
            <a:r>
              <a:rPr lang="es-AR" altLang="es-AR" sz="1800" kern="0" dirty="0">
                <a:solidFill>
                  <a:schemeClr val="bg1">
                    <a:lumMod val="50000"/>
                  </a:schemeClr>
                </a:solidFill>
                <a:latin typeface="Arial" panose="020B0604020202020204" pitchFamily="34" charset="0"/>
                <a:cs typeface="Arial" panose="020B0604020202020204" pitchFamily="34" charset="0"/>
              </a:rPr>
              <a:t>Profesores: Pablo Dalle, Jésica Lorena Pla, Santiago Poy y Fernando Tavares Jr.</a:t>
            </a:r>
          </a:p>
          <a:p>
            <a:pPr marL="0" indent="0" eaLnBrk="1" hangingPunct="1">
              <a:buFont typeface="Wingdings" panose="05000000000000000000" pitchFamily="2" charset="2"/>
              <a:buNone/>
            </a:pPr>
            <a:endParaRPr lang="es-AR" altLang="es-AR" sz="2200" kern="0" dirty="0">
              <a:solidFill>
                <a:schemeClr val="bg1">
                  <a:lumMod val="50000"/>
                </a:schemeClr>
              </a:solidFill>
              <a:latin typeface="Arial" panose="020B0604020202020204" pitchFamily="34" charset="0"/>
              <a:cs typeface="Arial" panose="020B0604020202020204" pitchFamily="34" charset="0"/>
            </a:endParaRPr>
          </a:p>
          <a:p>
            <a:pPr marL="0" indent="0" eaLnBrk="1" hangingPunct="1">
              <a:buFont typeface="Wingdings" panose="05000000000000000000" pitchFamily="2" charset="2"/>
              <a:buNone/>
            </a:pPr>
            <a:endParaRPr lang="es-AR" altLang="es-AR" sz="2400" b="1" kern="0" dirty="0">
              <a:solidFill>
                <a:schemeClr val="bg1">
                  <a:lumMod val="50000"/>
                </a:schemeClr>
              </a:solidFill>
              <a:latin typeface="Arial" panose="020B0604020202020204" pitchFamily="34" charset="0"/>
              <a:cs typeface="Arial" panose="020B0604020202020204" pitchFamily="34" charset="0"/>
            </a:endParaRPr>
          </a:p>
          <a:p>
            <a:pPr marL="0" indent="0" eaLnBrk="1" hangingPunct="1">
              <a:buFont typeface="Wingdings" panose="05000000000000000000" pitchFamily="2" charset="2"/>
              <a:buNone/>
            </a:pPr>
            <a:endParaRPr lang="es-AR" altLang="es-AR" sz="2400" kern="0" dirty="0">
              <a:solidFill>
                <a:schemeClr val="bg1">
                  <a:lumMod val="50000"/>
                </a:schemeClr>
              </a:solidFill>
              <a:latin typeface="Arial" panose="020B0604020202020204" pitchFamily="34" charset="0"/>
              <a:cs typeface="Arial" panose="020B0604020202020204" pitchFamily="34" charset="0"/>
            </a:endParaRPr>
          </a:p>
          <a:p>
            <a:pPr marL="0" indent="0" eaLnBrk="1" hangingPunct="1">
              <a:buFont typeface="Wingdings" panose="05000000000000000000" pitchFamily="2" charset="2"/>
              <a:buNone/>
            </a:pPr>
            <a:endParaRPr lang="es-ES" altLang="es-AR" sz="2400" kern="0" dirty="0">
              <a:solidFill>
                <a:schemeClr val="bg1">
                  <a:lumMod val="50000"/>
                </a:schemeClr>
              </a:solidFill>
              <a:latin typeface="Arial" panose="020B0604020202020204" pitchFamily="34" charset="0"/>
              <a:cs typeface="Arial" panose="020B0604020202020204" pitchFamily="34" charset="0"/>
            </a:endParaRPr>
          </a:p>
        </p:txBody>
      </p:sp>
      <p:sp>
        <p:nvSpPr>
          <p:cNvPr id="23" name="Rectangle 3">
            <a:extLst>
              <a:ext uri="{FF2B5EF4-FFF2-40B4-BE49-F238E27FC236}">
                <a16:creationId xmlns:a16="http://schemas.microsoft.com/office/drawing/2014/main" id="{8B4B2D46-BB4A-4A9C-92C6-45582D474989}"/>
              </a:ext>
            </a:extLst>
          </p:cNvPr>
          <p:cNvSpPr txBox="1">
            <a:spLocks noChangeArrowheads="1"/>
          </p:cNvSpPr>
          <p:nvPr/>
        </p:nvSpPr>
        <p:spPr bwMode="auto">
          <a:xfrm>
            <a:off x="287337" y="2441379"/>
            <a:ext cx="8569325" cy="35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cs typeface="+mn-cs"/>
              </a:defRPr>
            </a:lvl5pPr>
            <a:lvl6pPr marL="21383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a:lstStyle>
          <a:p>
            <a:pPr marL="0" indent="0" eaLnBrk="1" hangingPunct="1">
              <a:buFont typeface="Wingdings" panose="05000000000000000000" pitchFamily="2" charset="2"/>
              <a:buNone/>
            </a:pPr>
            <a:endParaRPr lang="es-AR" altLang="es-AR" sz="2200" b="1" kern="0" dirty="0">
              <a:solidFill>
                <a:schemeClr val="bg1">
                  <a:lumMod val="50000"/>
                </a:schemeClr>
              </a:solidFill>
              <a:latin typeface="Arial" panose="020B0604020202020204" pitchFamily="34" charset="0"/>
              <a:cs typeface="Arial" panose="020B0604020202020204" pitchFamily="34" charset="0"/>
            </a:endParaRPr>
          </a:p>
          <a:p>
            <a:pPr marL="0" indent="0" eaLnBrk="1" hangingPunct="1">
              <a:buFont typeface="Wingdings" panose="05000000000000000000" pitchFamily="2" charset="2"/>
              <a:buNone/>
            </a:pPr>
            <a:endParaRPr lang="es-AR" altLang="es-AR" sz="2000" kern="0" dirty="0">
              <a:solidFill>
                <a:schemeClr val="bg1">
                  <a:lumMod val="50000"/>
                </a:schemeClr>
              </a:solidFill>
              <a:latin typeface="Arial" panose="020B0604020202020204" pitchFamily="34" charset="0"/>
              <a:cs typeface="Arial" panose="020B0604020202020204" pitchFamily="34" charset="0"/>
            </a:endParaRPr>
          </a:p>
          <a:p>
            <a:pPr marL="0" indent="0" eaLnBrk="1" hangingPunct="1">
              <a:buFont typeface="Wingdings" panose="05000000000000000000" pitchFamily="2" charset="2"/>
              <a:buNone/>
            </a:pPr>
            <a:r>
              <a:rPr lang="es-AR" altLang="es-AR" sz="1800" kern="0" dirty="0">
                <a:solidFill>
                  <a:schemeClr val="bg1">
                    <a:lumMod val="50000"/>
                  </a:schemeClr>
                </a:solidFill>
                <a:latin typeface="Arial" panose="020B0604020202020204" pitchFamily="34" charset="0"/>
                <a:cs typeface="Arial" panose="020B0604020202020204" pitchFamily="34" charset="0"/>
              </a:rPr>
              <a:t>SEMINARIO TÉCNICAS DE ANÁLISIS ESTADÍSTICO</a:t>
            </a:r>
          </a:p>
          <a:p>
            <a:pPr marL="0" indent="0" eaLnBrk="1" hangingPunct="1">
              <a:buFont typeface="Wingdings" panose="05000000000000000000" pitchFamily="2" charset="2"/>
              <a:buNone/>
            </a:pPr>
            <a:endParaRPr lang="es-AR" altLang="es-AR" sz="2200" kern="0" dirty="0">
              <a:solidFill>
                <a:schemeClr val="bg1">
                  <a:lumMod val="50000"/>
                </a:schemeClr>
              </a:solidFill>
              <a:latin typeface="Arial" panose="020B0604020202020204" pitchFamily="34" charset="0"/>
              <a:cs typeface="Arial" panose="020B0604020202020204" pitchFamily="34" charset="0"/>
            </a:endParaRPr>
          </a:p>
          <a:p>
            <a:pPr marL="0" indent="0" eaLnBrk="1" hangingPunct="1">
              <a:buFont typeface="Wingdings" panose="05000000000000000000" pitchFamily="2" charset="2"/>
              <a:buNone/>
            </a:pPr>
            <a:endParaRPr lang="es-AR" altLang="es-AR" sz="2400" b="1" kern="0" dirty="0">
              <a:solidFill>
                <a:schemeClr val="bg1">
                  <a:lumMod val="50000"/>
                </a:schemeClr>
              </a:solidFill>
              <a:latin typeface="Arial" panose="020B0604020202020204" pitchFamily="34" charset="0"/>
              <a:cs typeface="Arial" panose="020B0604020202020204" pitchFamily="34" charset="0"/>
            </a:endParaRPr>
          </a:p>
          <a:p>
            <a:pPr marL="0" indent="0" eaLnBrk="1" hangingPunct="1">
              <a:buFont typeface="Wingdings" panose="05000000000000000000" pitchFamily="2" charset="2"/>
              <a:buNone/>
            </a:pPr>
            <a:endParaRPr lang="es-AR" altLang="es-AR" sz="2400" kern="0" dirty="0">
              <a:solidFill>
                <a:schemeClr val="bg1">
                  <a:lumMod val="50000"/>
                </a:schemeClr>
              </a:solidFill>
              <a:latin typeface="Arial" panose="020B0604020202020204" pitchFamily="34" charset="0"/>
              <a:cs typeface="Arial" panose="020B0604020202020204" pitchFamily="34" charset="0"/>
            </a:endParaRPr>
          </a:p>
          <a:p>
            <a:pPr marL="0" indent="0" eaLnBrk="1" hangingPunct="1">
              <a:buFont typeface="Wingdings" panose="05000000000000000000" pitchFamily="2" charset="2"/>
              <a:buNone/>
            </a:pPr>
            <a:endParaRPr lang="es-ES" altLang="es-AR" sz="2400" kern="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2973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angle 3">
            <a:extLst>
              <a:ext uri="{FF2B5EF4-FFF2-40B4-BE49-F238E27FC236}">
                <a16:creationId xmlns:a16="http://schemas.microsoft.com/office/drawing/2014/main" id="{F4F04492-2A97-45A3-94D0-EA8C4F3975E3}"/>
              </a:ext>
            </a:extLst>
          </p:cNvPr>
          <p:cNvSpPr txBox="1">
            <a:spLocks noChangeArrowheads="1"/>
          </p:cNvSpPr>
          <p:nvPr/>
        </p:nvSpPr>
        <p:spPr bwMode="auto">
          <a:xfrm>
            <a:off x="287337" y="3285364"/>
            <a:ext cx="7272338"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cs typeface="+mn-cs"/>
              </a:defRPr>
            </a:lvl5pPr>
            <a:lvl6pPr marL="21383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a:lstStyle>
          <a:p>
            <a:pPr marL="571500" indent="-571500" eaLnBrk="1" hangingPunct="1">
              <a:buFont typeface="Wingdings" panose="05000000000000000000" pitchFamily="2" charset="2"/>
              <a:buNone/>
            </a:pPr>
            <a:r>
              <a:rPr lang="es-AR" altLang="es-AR" sz="3600" b="1" kern="0" dirty="0">
                <a:solidFill>
                  <a:schemeClr val="bg1">
                    <a:lumMod val="50000"/>
                  </a:schemeClr>
                </a:solidFill>
                <a:latin typeface="Arial" panose="020B0604020202020204" pitchFamily="34" charset="0"/>
                <a:cs typeface="Arial" panose="020B0604020202020204" pitchFamily="34" charset="0"/>
              </a:rPr>
              <a:t>PARTE 1</a:t>
            </a:r>
          </a:p>
          <a:p>
            <a:pPr marL="0" indent="0" eaLnBrk="1" hangingPunct="1">
              <a:buFont typeface="Wingdings" panose="05000000000000000000" pitchFamily="2" charset="2"/>
              <a:buNone/>
            </a:pPr>
            <a:r>
              <a:rPr lang="es-AR" altLang="es-AR" sz="3600" b="1" kern="0" dirty="0">
                <a:solidFill>
                  <a:schemeClr val="bg1">
                    <a:lumMod val="50000"/>
                  </a:schemeClr>
                </a:solidFill>
                <a:latin typeface="Arial" panose="020B0604020202020204" pitchFamily="34" charset="0"/>
                <a:cs typeface="Arial" panose="020B0604020202020204" pitchFamily="34" charset="0"/>
              </a:rPr>
              <a:t>La medición en ciencias sociales y las variables</a:t>
            </a:r>
          </a:p>
        </p:txBody>
      </p:sp>
    </p:spTree>
    <p:extLst>
      <p:ext uri="{BB962C8B-B14F-4D97-AF65-F5344CB8AC3E}">
        <p14:creationId xmlns:p14="http://schemas.microsoft.com/office/powerpoint/2010/main" val="1810808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5"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Medir en ciencias sociales: “el lenguaje de las variables”</a:t>
            </a:r>
          </a:p>
        </p:txBody>
      </p:sp>
      <p:sp>
        <p:nvSpPr>
          <p:cNvPr id="16"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7"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5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250824" y="1336221"/>
            <a:ext cx="8642349"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cs typeface="Calibri" panose="020F0502020204030204" pitchFamily="34" charset="0"/>
              </a:rPr>
              <a:t>Una parte central del proceso de investigación cuantitativa se refiere al proceso de </a:t>
            </a:r>
            <a:r>
              <a:rPr lang="es-ES" altLang="es-AR" b="1" dirty="0">
                <a:latin typeface="Cambria" panose="02040503050406030204" pitchFamily="18" charset="0"/>
                <a:ea typeface="Cambria" panose="02040503050406030204" pitchFamily="18" charset="0"/>
                <a:cs typeface="Calibri" panose="020F0502020204030204" pitchFamily="34" charset="0"/>
              </a:rPr>
              <a:t>medición</a:t>
            </a:r>
            <a:r>
              <a:rPr lang="es-ES" altLang="es-AR" dirty="0">
                <a:latin typeface="Cambria" panose="02040503050406030204" pitchFamily="18" charset="0"/>
                <a:ea typeface="Cambria" panose="02040503050406030204" pitchFamily="18" charset="0"/>
                <a:cs typeface="Calibri" panose="020F0502020204030204" pitchFamily="34" charset="0"/>
              </a:rPr>
              <a:t>. </a:t>
            </a:r>
          </a:p>
          <a:p>
            <a:pPr marL="177800" lvl="1" indent="0" algn="just"/>
            <a:r>
              <a:rPr lang="es-ES" altLang="es-AR" b="1" dirty="0">
                <a:latin typeface="Cambria" panose="02040503050406030204" pitchFamily="18" charset="0"/>
                <a:ea typeface="Cambria" panose="02040503050406030204" pitchFamily="18" charset="0"/>
                <a:cs typeface="Calibri" panose="020F0502020204030204" pitchFamily="34" charset="0"/>
              </a:rPr>
              <a:t> </a:t>
            </a:r>
            <a:endParaRPr lang="es-ES" altLang="es-AR" dirty="0">
              <a:latin typeface="Cambria" panose="02040503050406030204" pitchFamily="18" charset="0"/>
              <a:ea typeface="Cambria" panose="02040503050406030204" pitchFamily="18" charset="0"/>
              <a:cs typeface="Calibri" panose="020F0502020204030204" pitchFamily="34" charset="0"/>
            </a:endParaRPr>
          </a:p>
          <a:p>
            <a:pPr marL="463550" lvl="1"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cs typeface="Calibri" panose="020F0502020204030204" pitchFamily="34" charset="0"/>
              </a:rPr>
              <a:t>La medición es el proceso de “vincular conceptos abstractos a indicadores empíricos” (</a:t>
            </a:r>
            <a:r>
              <a:rPr lang="es-ES" altLang="es-AR" dirty="0" err="1">
                <a:latin typeface="Cambria" panose="02040503050406030204" pitchFamily="18" charset="0"/>
                <a:ea typeface="Cambria" panose="02040503050406030204" pitchFamily="18" charset="0"/>
                <a:cs typeface="Calibri" panose="020F0502020204030204" pitchFamily="34" charset="0"/>
              </a:rPr>
              <a:t>Zeller</a:t>
            </a:r>
            <a:r>
              <a:rPr lang="es-ES" altLang="es-AR" dirty="0">
                <a:latin typeface="Cambria" panose="02040503050406030204" pitchFamily="18" charset="0"/>
                <a:ea typeface="Cambria" panose="02040503050406030204" pitchFamily="18" charset="0"/>
                <a:cs typeface="Calibri" panose="020F0502020204030204" pitchFamily="34" charset="0"/>
              </a:rPr>
              <a:t> &amp; Carmines). Una visión más acotada del proceso de medición plantea que medir es asignar números a ciertas características de los objetos (unidades de análisis).</a:t>
            </a:r>
          </a:p>
          <a:p>
            <a:pPr marL="463550" lvl="1" algn="just">
              <a:buFont typeface="Arial" panose="020B0604020202020204" pitchFamily="34" charset="0"/>
              <a:buChar char="•"/>
            </a:pPr>
            <a:endParaRPr lang="es-ES" altLang="es-AR" dirty="0">
              <a:latin typeface="Cambria" panose="02040503050406030204" pitchFamily="18" charset="0"/>
              <a:ea typeface="Cambria" panose="02040503050406030204" pitchFamily="18" charset="0"/>
              <a:cs typeface="Calibri" panose="020F0502020204030204" pitchFamily="34" charset="0"/>
            </a:endParaRPr>
          </a:p>
          <a:p>
            <a:pPr marL="463550" lvl="1"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cs typeface="Calibri" panose="020F0502020204030204" pitchFamily="34" charset="0"/>
              </a:rPr>
              <a:t>“De la teoría se extraen unos conceptos y proposiciones. Los conceptos se traducen a términos operacionales. De éstos se deducen unas variables empíricas o indicadores que posibiliten la contrastación empírica del concepto que se analice” (Cea </a:t>
            </a:r>
            <a:r>
              <a:rPr lang="es-ES" altLang="es-AR" dirty="0" err="1">
                <a:latin typeface="Cambria" panose="02040503050406030204" pitchFamily="18" charset="0"/>
                <a:ea typeface="Cambria" panose="02040503050406030204" pitchFamily="18" charset="0"/>
                <a:cs typeface="Calibri" panose="020F0502020204030204" pitchFamily="34" charset="0"/>
              </a:rPr>
              <a:t>D’Ancona</a:t>
            </a:r>
            <a:r>
              <a:rPr lang="es-ES" altLang="es-AR" dirty="0">
                <a:latin typeface="Cambria" panose="02040503050406030204" pitchFamily="18" charset="0"/>
                <a:ea typeface="Cambria" panose="02040503050406030204" pitchFamily="18" charset="0"/>
                <a:cs typeface="Calibri" panose="020F0502020204030204" pitchFamily="34" charset="0"/>
              </a:rPr>
              <a:t>, 1996: 123).</a:t>
            </a:r>
          </a:p>
          <a:p>
            <a:pPr marL="463550" lvl="1" algn="just">
              <a:buFont typeface="Arial" panose="020B0604020202020204" pitchFamily="34" charset="0"/>
              <a:buChar char="•"/>
            </a:pPr>
            <a:endParaRPr lang="es-ES" altLang="es-AR" dirty="0">
              <a:latin typeface="Cambria" panose="02040503050406030204" pitchFamily="18" charset="0"/>
              <a:ea typeface="Cambria" panose="02040503050406030204" pitchFamily="18" charset="0"/>
              <a:cs typeface="Calibri" panose="020F0502020204030204" pitchFamily="34" charset="0"/>
            </a:endParaRPr>
          </a:p>
          <a:p>
            <a:pPr marL="463550" lvl="1"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cs typeface="Calibri" panose="020F0502020204030204" pitchFamily="34" charset="0"/>
              </a:rPr>
              <a:t>Toda medición es indirecta (incluso en la física) pero en ciencias sociales es más difícil conocer cuáles son las perturbaciones que afectan la medición (</a:t>
            </a:r>
            <a:r>
              <a:rPr lang="es-ES" altLang="es-AR" dirty="0" err="1">
                <a:latin typeface="Cambria" panose="02040503050406030204" pitchFamily="18" charset="0"/>
                <a:ea typeface="Cambria" panose="02040503050406030204" pitchFamily="18" charset="0"/>
                <a:cs typeface="Calibri" panose="020F0502020204030204" pitchFamily="34" charset="0"/>
              </a:rPr>
              <a:t>Blalock</a:t>
            </a:r>
            <a:r>
              <a:rPr lang="es-ES" altLang="es-AR" dirty="0">
                <a:latin typeface="Cambria" panose="02040503050406030204" pitchFamily="18" charset="0"/>
                <a:ea typeface="Cambria" panose="02040503050406030204" pitchFamily="18" charset="0"/>
                <a:cs typeface="Calibri" panose="020F0502020204030204" pitchFamily="34" charset="0"/>
              </a:rPr>
              <a:t>).</a:t>
            </a:r>
          </a:p>
          <a:p>
            <a:pPr marL="463550" lvl="1" algn="just">
              <a:buFont typeface="Arial" panose="020B0604020202020204" pitchFamily="34" charset="0"/>
              <a:buChar char="•"/>
            </a:pPr>
            <a:endParaRPr lang="es-ES" altLang="es-AR" dirty="0">
              <a:latin typeface="Cambria" panose="02040503050406030204" pitchFamily="18" charset="0"/>
              <a:ea typeface="Cambria" panose="02040503050406030204" pitchFamily="18" charset="0"/>
              <a:cs typeface="Calibri" panose="020F0502020204030204" pitchFamily="34" charset="0"/>
            </a:endParaRPr>
          </a:p>
          <a:p>
            <a:pPr marL="463550" lvl="1"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cs typeface="Calibri" panose="020F0502020204030204" pitchFamily="34" charset="0"/>
              </a:rPr>
              <a:t>“El lenguaje de las variables” (</a:t>
            </a:r>
            <a:r>
              <a:rPr lang="es-ES" altLang="es-AR" dirty="0" err="1">
                <a:latin typeface="Cambria" panose="02040503050406030204" pitchFamily="18" charset="0"/>
                <a:ea typeface="Cambria" panose="02040503050406030204" pitchFamily="18" charset="0"/>
                <a:cs typeface="Calibri" panose="020F0502020204030204" pitchFamily="34" charset="0"/>
              </a:rPr>
              <a:t>Lazarsfeld</a:t>
            </a:r>
            <a:r>
              <a:rPr lang="es-ES" altLang="es-AR" dirty="0">
                <a:latin typeface="Cambria" panose="02040503050406030204" pitchFamily="18" charset="0"/>
                <a:ea typeface="Cambria" panose="02040503050406030204" pitchFamily="18" charset="0"/>
                <a:cs typeface="Calibri" panose="020F0502020204030204" pitchFamily="34" charset="0"/>
              </a:rPr>
              <a:t>): tratar fenómenos sociales como variables</a:t>
            </a:r>
          </a:p>
          <a:p>
            <a:pPr marL="863600" lvl="2" algn="just">
              <a:buFont typeface="Arial" panose="020B0604020202020204" pitchFamily="34" charset="0"/>
              <a:buChar char="•"/>
            </a:pPr>
            <a:endParaRPr lang="es-ES" altLang="es-AR" dirty="0">
              <a:latin typeface="Cambria" panose="02040503050406030204" pitchFamily="18" charset="0"/>
              <a:ea typeface="Cambria" panose="02040503050406030204" pitchFamily="18" charset="0"/>
              <a:cs typeface="Calibri" panose="020F0502020204030204" pitchFamily="34" charset="0"/>
            </a:endParaRPr>
          </a:p>
          <a:p>
            <a:pPr marL="863600" lvl="2" algn="just">
              <a:buFont typeface="Arial" panose="020B0604020202020204" pitchFamily="34" charset="0"/>
              <a:buChar char="•"/>
            </a:pPr>
            <a:endParaRPr lang="es-AR" altLang="es-AR"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812852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5"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Medir en ciencias sociales: “el lenguaje de las variables”</a:t>
            </a:r>
          </a:p>
        </p:txBody>
      </p:sp>
      <p:sp>
        <p:nvSpPr>
          <p:cNvPr id="16"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7"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5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250824" y="1336221"/>
            <a:ext cx="8642349"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77800" lvl="1" indent="0" algn="just"/>
            <a:r>
              <a:rPr lang="es-AR" altLang="es-AR" b="1" dirty="0">
                <a:latin typeface="Cambria" panose="02040503050406030204" pitchFamily="18" charset="0"/>
                <a:ea typeface="Cambria" panose="02040503050406030204" pitchFamily="18" charset="0"/>
                <a:cs typeface="Calibri" panose="020F0502020204030204" pitchFamily="34" charset="0"/>
              </a:rPr>
              <a:t>“El lenguaje de las variables” (</a:t>
            </a:r>
            <a:r>
              <a:rPr lang="es-AR" altLang="es-AR" b="1" dirty="0" err="1">
                <a:latin typeface="Cambria" panose="02040503050406030204" pitchFamily="18" charset="0"/>
                <a:ea typeface="Cambria" panose="02040503050406030204" pitchFamily="18" charset="0"/>
                <a:cs typeface="Calibri" panose="020F0502020204030204" pitchFamily="34" charset="0"/>
              </a:rPr>
              <a:t>Lazarsfeld</a:t>
            </a:r>
            <a:r>
              <a:rPr lang="es-AR" altLang="es-AR" b="1" dirty="0">
                <a:latin typeface="Cambria" panose="02040503050406030204" pitchFamily="18" charset="0"/>
                <a:ea typeface="Cambria" panose="02040503050406030204" pitchFamily="18" charset="0"/>
                <a:cs typeface="Calibri" panose="020F0502020204030204" pitchFamily="34" charset="0"/>
              </a:rPr>
              <a:t>): tratar fenómenos sociales </a:t>
            </a:r>
            <a:r>
              <a:rPr lang="es-AR" altLang="es-AR" b="1" i="1" u="sng" dirty="0">
                <a:latin typeface="Cambria" panose="02040503050406030204" pitchFamily="18" charset="0"/>
                <a:ea typeface="Cambria" panose="02040503050406030204" pitchFamily="18" charset="0"/>
                <a:cs typeface="Calibri" panose="020F0502020204030204" pitchFamily="34" charset="0"/>
              </a:rPr>
              <a:t>como</a:t>
            </a:r>
            <a:r>
              <a:rPr lang="es-AR" altLang="es-AR" b="1" dirty="0">
                <a:latin typeface="Cambria" panose="02040503050406030204" pitchFamily="18" charset="0"/>
                <a:ea typeface="Cambria" panose="02040503050406030204" pitchFamily="18" charset="0"/>
                <a:cs typeface="Calibri" panose="020F0502020204030204" pitchFamily="34" charset="0"/>
              </a:rPr>
              <a:t> variables</a:t>
            </a:r>
          </a:p>
          <a:p>
            <a:pPr marL="863600" lvl="2" algn="just">
              <a:buFont typeface="Arial" panose="020B0604020202020204" pitchFamily="34" charset="0"/>
              <a:buChar char="•"/>
            </a:pPr>
            <a:endParaRPr lang="es-AR" altLang="es-AR" dirty="0">
              <a:latin typeface="Cambria" panose="02040503050406030204" pitchFamily="18" charset="0"/>
              <a:ea typeface="Cambria" panose="02040503050406030204" pitchFamily="18" charset="0"/>
              <a:cs typeface="Calibri" panose="020F0502020204030204" pitchFamily="34" charset="0"/>
            </a:endParaRPr>
          </a:p>
          <a:p>
            <a:pPr marL="863600" lvl="2"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cs typeface="Calibri" panose="020F0502020204030204" pitchFamily="34" charset="0"/>
              </a:rPr>
              <a:t>Una </a:t>
            </a:r>
            <a:r>
              <a:rPr lang="es-AR" altLang="es-AR" b="1" dirty="0">
                <a:latin typeface="Cambria" panose="02040503050406030204" pitchFamily="18" charset="0"/>
                <a:ea typeface="Cambria" panose="02040503050406030204" pitchFamily="18" charset="0"/>
                <a:cs typeface="Calibri" panose="020F0502020204030204" pitchFamily="34" charset="0"/>
              </a:rPr>
              <a:t>variable</a:t>
            </a:r>
            <a:r>
              <a:rPr lang="es-AR" altLang="es-AR" dirty="0">
                <a:latin typeface="Cambria" panose="02040503050406030204" pitchFamily="18" charset="0"/>
                <a:ea typeface="Cambria" panose="02040503050406030204" pitchFamily="18" charset="0"/>
                <a:cs typeface="Calibri" panose="020F0502020204030204" pitchFamily="34" charset="0"/>
              </a:rPr>
              <a:t> es cualquier cualidad o característica de un objeto (o evento) que contiene, al menos, dos atributos, en los cuales pueda clasificarse al objeto o evento determinado.</a:t>
            </a:r>
          </a:p>
          <a:p>
            <a:pPr marL="863600" lvl="2" algn="just">
              <a:buFont typeface="Arial" panose="020B0604020202020204" pitchFamily="34" charset="0"/>
              <a:buChar char="•"/>
            </a:pPr>
            <a:endParaRPr lang="es-AR" altLang="es-AR" dirty="0">
              <a:latin typeface="Cambria" panose="02040503050406030204" pitchFamily="18" charset="0"/>
              <a:ea typeface="Cambria" panose="02040503050406030204" pitchFamily="18" charset="0"/>
              <a:cs typeface="Calibri" panose="020F0502020204030204" pitchFamily="34" charset="0"/>
            </a:endParaRPr>
          </a:p>
          <a:p>
            <a:pPr marL="863600" lvl="2"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cs typeface="Calibri" panose="020F0502020204030204" pitchFamily="34" charset="0"/>
              </a:rPr>
              <a:t>Los atributos son las distintas </a:t>
            </a:r>
            <a:r>
              <a:rPr lang="es-AR" altLang="es-AR" b="1" dirty="0">
                <a:latin typeface="Cambria" panose="02040503050406030204" pitchFamily="18" charset="0"/>
                <a:ea typeface="Cambria" panose="02040503050406030204" pitchFamily="18" charset="0"/>
                <a:cs typeface="Calibri" panose="020F0502020204030204" pitchFamily="34" charset="0"/>
              </a:rPr>
              <a:t>categorías o valores</a:t>
            </a:r>
            <a:r>
              <a:rPr lang="es-AR" altLang="es-AR" dirty="0">
                <a:latin typeface="Cambria" panose="02040503050406030204" pitchFamily="18" charset="0"/>
                <a:ea typeface="Cambria" panose="02040503050406030204" pitchFamily="18" charset="0"/>
                <a:cs typeface="Calibri" panose="020F0502020204030204" pitchFamily="34" charset="0"/>
              </a:rPr>
              <a:t> que componen a la variable. </a:t>
            </a:r>
          </a:p>
          <a:p>
            <a:pPr marL="863600" lvl="2" algn="just">
              <a:buFont typeface="Arial" panose="020B0604020202020204" pitchFamily="34" charset="0"/>
              <a:buChar char="•"/>
            </a:pPr>
            <a:endParaRPr lang="es-AR" altLang="es-AR" dirty="0">
              <a:latin typeface="Cambria" panose="02040503050406030204" pitchFamily="18" charset="0"/>
              <a:ea typeface="Cambria" panose="02040503050406030204" pitchFamily="18" charset="0"/>
              <a:cs typeface="Calibri" panose="020F0502020204030204" pitchFamily="34" charset="0"/>
            </a:endParaRPr>
          </a:p>
          <a:p>
            <a:pPr marL="863600" lvl="2"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cs typeface="Calibri" panose="020F0502020204030204" pitchFamily="34" charset="0"/>
              </a:rPr>
              <a:t>El proceso de investigación cuantitativo consiste en asignar valores o categorías a los objetos que son de interés en el estudio.</a:t>
            </a:r>
          </a:p>
          <a:p>
            <a:pPr marL="863600" lvl="2" algn="just">
              <a:buFont typeface="Arial" panose="020B0604020202020204" pitchFamily="34" charset="0"/>
              <a:buChar char="•"/>
            </a:pPr>
            <a:endParaRPr lang="es-AR" altLang="es-AR" dirty="0">
              <a:latin typeface="Cambria" panose="02040503050406030204" pitchFamily="18" charset="0"/>
              <a:ea typeface="Cambria" panose="02040503050406030204" pitchFamily="18" charset="0"/>
              <a:cs typeface="Calibri" panose="020F0502020204030204" pitchFamily="34" charset="0"/>
            </a:endParaRPr>
          </a:p>
          <a:p>
            <a:pPr marL="863600" lvl="2"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cs typeface="Calibri" panose="020F0502020204030204" pitchFamily="34" charset="0"/>
              </a:rPr>
              <a:t>Ejemplos de variables directamente observables: </a:t>
            </a:r>
            <a:r>
              <a:rPr lang="es-AR" altLang="es-AR" i="1" dirty="0">
                <a:latin typeface="Cambria" panose="02040503050406030204" pitchFamily="18" charset="0"/>
                <a:ea typeface="Cambria" panose="02040503050406030204" pitchFamily="18" charset="0"/>
                <a:cs typeface="Calibri" panose="020F0502020204030204" pitchFamily="34" charset="0"/>
              </a:rPr>
              <a:t>edad, sexo, preferencia política, religión a la que pertenece</a:t>
            </a:r>
            <a:r>
              <a:rPr lang="es-AR" altLang="es-AR" dirty="0">
                <a:latin typeface="Cambria" panose="02040503050406030204" pitchFamily="18" charset="0"/>
                <a:ea typeface="Cambria" panose="02040503050406030204" pitchFamily="18" charset="0"/>
                <a:cs typeface="Calibri" panose="020F0502020204030204" pitchFamily="34" charset="0"/>
              </a:rPr>
              <a:t>, etc.</a:t>
            </a:r>
          </a:p>
          <a:p>
            <a:pPr marL="863600" lvl="2" algn="just">
              <a:buFont typeface="Arial" panose="020B0604020202020204" pitchFamily="34" charset="0"/>
              <a:buChar char="•"/>
            </a:pPr>
            <a:endParaRPr lang="es-AR" altLang="es-AR"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55056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up)">
                                      <p:cBhvr>
                                        <p:cTn id="7" dur="500"/>
                                        <p:tgtEl>
                                          <p:spTgt spid="18">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wipe(up)">
                                      <p:cBhvr>
                                        <p:cTn id="10" dur="500"/>
                                        <p:tgtEl>
                                          <p:spTgt spid="18">
                                            <p:txEl>
                                              <p:pRg st="2" end="2"/>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8">
                                            <p:txEl>
                                              <p:pRg st="4" end="4"/>
                                            </p:txEl>
                                          </p:spTgt>
                                        </p:tgtEl>
                                        <p:attrNameLst>
                                          <p:attrName>style.visibility</p:attrName>
                                        </p:attrNameLst>
                                      </p:cBhvr>
                                      <p:to>
                                        <p:strVal val="visible"/>
                                      </p:to>
                                    </p:set>
                                    <p:animEffect transition="in" filter="wipe(up)">
                                      <p:cBhvr>
                                        <p:cTn id="13" dur="500"/>
                                        <p:tgtEl>
                                          <p:spTgt spid="18">
                                            <p:txEl>
                                              <p:pRg st="4" end="4"/>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8">
                                            <p:txEl>
                                              <p:pRg st="6" end="6"/>
                                            </p:txEl>
                                          </p:spTgt>
                                        </p:tgtEl>
                                        <p:attrNameLst>
                                          <p:attrName>style.visibility</p:attrName>
                                        </p:attrNameLst>
                                      </p:cBhvr>
                                      <p:to>
                                        <p:strVal val="visible"/>
                                      </p:to>
                                    </p:set>
                                    <p:animEffect transition="in" filter="wipe(up)">
                                      <p:cBhvr>
                                        <p:cTn id="16" dur="500"/>
                                        <p:tgtEl>
                                          <p:spTgt spid="18">
                                            <p:txEl>
                                              <p:pRg st="6" end="6"/>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8">
                                            <p:txEl>
                                              <p:pRg st="8" end="8"/>
                                            </p:txEl>
                                          </p:spTgt>
                                        </p:tgtEl>
                                        <p:attrNameLst>
                                          <p:attrName>style.visibility</p:attrName>
                                        </p:attrNameLst>
                                      </p:cBhvr>
                                      <p:to>
                                        <p:strVal val="visible"/>
                                      </p:to>
                                    </p:set>
                                    <p:animEffect transition="in" filter="wipe(up)">
                                      <p:cBhvr>
                                        <p:cTn id="19" dur="500"/>
                                        <p:tgtEl>
                                          <p:spTgt spid="1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5" name="10 CuadroTexto"/>
          <p:cNvSpPr txBox="1"/>
          <p:nvPr/>
        </p:nvSpPr>
        <p:spPr>
          <a:xfrm>
            <a:off x="152779" y="253777"/>
            <a:ext cx="8740395" cy="461665"/>
          </a:xfrm>
          <a:prstGeom prst="rect">
            <a:avLst/>
          </a:prstGeom>
          <a:noFill/>
        </p:spPr>
        <p:txBody>
          <a:bodyPr wrap="square" rtlCol="0">
            <a:spAutoFit/>
          </a:bodyPr>
          <a:lstStyle/>
          <a:p>
            <a:r>
              <a:rPr lang="es-ES" sz="2400" dirty="0">
                <a:latin typeface="Cambria" panose="02040503050406030204" pitchFamily="18" charset="0"/>
              </a:rPr>
              <a:t>El sistema de categorías de las variables</a:t>
            </a:r>
            <a:endParaRPr lang="es-AR" sz="2400" dirty="0">
              <a:latin typeface="Cambria" panose="02040503050406030204" pitchFamily="18" charset="0"/>
            </a:endParaRPr>
          </a:p>
        </p:txBody>
      </p:sp>
      <p:sp>
        <p:nvSpPr>
          <p:cNvPr id="16"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7"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5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250824" y="1336221"/>
            <a:ext cx="8642349"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77800" lvl="1" indent="0" algn="just"/>
            <a:r>
              <a:rPr lang="es-ES" altLang="es-AR" b="1" dirty="0">
                <a:latin typeface="Cambria" panose="02040503050406030204" pitchFamily="18" charset="0"/>
                <a:ea typeface="Cambria" panose="02040503050406030204" pitchFamily="18" charset="0"/>
                <a:cs typeface="Calibri" panose="020F0502020204030204" pitchFamily="34" charset="0"/>
              </a:rPr>
              <a:t>Requisitos que debe cumplir el sistema de categorías o valores</a:t>
            </a:r>
          </a:p>
          <a:p>
            <a:pPr marL="177800" lvl="1" indent="0" algn="just"/>
            <a:endParaRPr lang="es-ES" altLang="es-AR" b="1" dirty="0">
              <a:latin typeface="Cambria" panose="02040503050406030204" pitchFamily="18" charset="0"/>
              <a:ea typeface="Cambria" panose="02040503050406030204" pitchFamily="18" charset="0"/>
              <a:cs typeface="Calibri" panose="020F0502020204030204" pitchFamily="34" charset="0"/>
            </a:endParaRPr>
          </a:p>
          <a:p>
            <a:pPr marL="177800" lvl="1" indent="0" algn="just"/>
            <a:r>
              <a:rPr lang="es-ES" altLang="es-AR" dirty="0">
                <a:latin typeface="Cambria" panose="02040503050406030204" pitchFamily="18" charset="0"/>
                <a:ea typeface="Cambria" panose="02040503050406030204" pitchFamily="18" charset="0"/>
                <a:cs typeface="Calibri" panose="020F0502020204030204" pitchFamily="34" charset="0"/>
              </a:rPr>
              <a:t>Para que una variable pueda medirse, su sistema de categorías debe cumplir las siguientes características:</a:t>
            </a:r>
          </a:p>
          <a:p>
            <a:pPr marL="177800" lvl="1" indent="0" algn="just"/>
            <a:endParaRPr lang="es-ES" altLang="es-AR" b="1" dirty="0">
              <a:latin typeface="Cambria" panose="02040503050406030204" pitchFamily="18" charset="0"/>
              <a:ea typeface="Cambria" panose="02040503050406030204" pitchFamily="18" charset="0"/>
              <a:cs typeface="Calibri" panose="020F0502020204030204" pitchFamily="34" charset="0"/>
            </a:endParaRPr>
          </a:p>
          <a:p>
            <a:pPr marL="463550" lvl="1" algn="just">
              <a:buFont typeface="Arial" panose="020B0604020202020204" pitchFamily="34" charset="0"/>
              <a:buChar char="•"/>
            </a:pPr>
            <a:r>
              <a:rPr lang="es-ES" altLang="es-AR" b="1" i="1" dirty="0">
                <a:solidFill>
                  <a:srgbClr val="319F9A"/>
                </a:solidFill>
                <a:latin typeface="Cambria" panose="02040503050406030204" pitchFamily="18" charset="0"/>
                <a:ea typeface="Cambria" panose="02040503050406030204" pitchFamily="18" charset="0"/>
                <a:cs typeface="Calibri" panose="020F0502020204030204" pitchFamily="34" charset="0"/>
              </a:rPr>
              <a:t>Exhaustividad</a:t>
            </a:r>
            <a:r>
              <a:rPr lang="es-ES" altLang="es-AR" b="1" dirty="0">
                <a:solidFill>
                  <a:srgbClr val="319F9A"/>
                </a:solidFill>
                <a:latin typeface="Cambria" panose="02040503050406030204" pitchFamily="18" charset="0"/>
                <a:ea typeface="Cambria" panose="02040503050406030204" pitchFamily="18" charset="0"/>
                <a:cs typeface="Calibri" panose="020F0502020204030204" pitchFamily="34" charset="0"/>
              </a:rPr>
              <a:t>: </a:t>
            </a:r>
            <a:r>
              <a:rPr lang="es-ES" altLang="es-AR" dirty="0">
                <a:latin typeface="Cambria" panose="02040503050406030204" pitchFamily="18" charset="0"/>
                <a:ea typeface="Cambria" panose="02040503050406030204" pitchFamily="18" charset="0"/>
                <a:cs typeface="Calibri" panose="020F0502020204030204" pitchFamily="34" charset="0"/>
              </a:rPr>
              <a:t>el sistema de categorías o valores de una variable debe permitir que ninguna observación quede sin poder clasificarse.</a:t>
            </a:r>
          </a:p>
          <a:p>
            <a:pPr marL="463550" lvl="1" algn="just">
              <a:buFont typeface="Arial" panose="020B0604020202020204" pitchFamily="34" charset="0"/>
              <a:buChar char="•"/>
            </a:pPr>
            <a:endParaRPr lang="es-ES" altLang="es-AR" dirty="0">
              <a:latin typeface="Cambria" panose="02040503050406030204" pitchFamily="18" charset="0"/>
              <a:ea typeface="Cambria" panose="02040503050406030204" pitchFamily="18" charset="0"/>
              <a:cs typeface="Calibri" panose="020F0502020204030204" pitchFamily="34" charset="0"/>
            </a:endParaRPr>
          </a:p>
          <a:p>
            <a:pPr marL="463550" lvl="1" algn="just">
              <a:buFont typeface="Arial" panose="020B0604020202020204" pitchFamily="34" charset="0"/>
              <a:buChar char="•"/>
            </a:pPr>
            <a:r>
              <a:rPr lang="es-ES" altLang="es-AR" b="1" i="1" dirty="0">
                <a:solidFill>
                  <a:srgbClr val="319F9A"/>
                </a:solidFill>
                <a:latin typeface="Cambria" panose="02040503050406030204" pitchFamily="18" charset="0"/>
                <a:ea typeface="Cambria" panose="02040503050406030204" pitchFamily="18" charset="0"/>
                <a:cs typeface="Calibri" panose="020F0502020204030204" pitchFamily="34" charset="0"/>
              </a:rPr>
              <a:t>Exclusividad:</a:t>
            </a:r>
            <a:r>
              <a:rPr lang="es-ES" altLang="es-AR" b="1" dirty="0">
                <a:solidFill>
                  <a:srgbClr val="319F9A"/>
                </a:solidFill>
                <a:latin typeface="Cambria" panose="02040503050406030204" pitchFamily="18" charset="0"/>
                <a:ea typeface="Cambria" panose="02040503050406030204" pitchFamily="18" charset="0"/>
                <a:cs typeface="Calibri" panose="020F0502020204030204" pitchFamily="34" charset="0"/>
              </a:rPr>
              <a:t> </a:t>
            </a:r>
            <a:r>
              <a:rPr lang="es-ES" altLang="es-AR" dirty="0">
                <a:latin typeface="Cambria" panose="02040503050406030204" pitchFamily="18" charset="0"/>
                <a:ea typeface="Cambria" panose="02040503050406030204" pitchFamily="18" charset="0"/>
                <a:cs typeface="Calibri" panose="020F0502020204030204" pitchFamily="34" charset="0"/>
              </a:rPr>
              <a:t>los distintos atributos que componen la variable deben ser mutuamente excluyentes. Por consiguiente, cada unidad de análisis sólo puede clasificarse en términos de un único atributo.</a:t>
            </a:r>
          </a:p>
          <a:p>
            <a:pPr marL="463550" lvl="1" algn="just">
              <a:buFont typeface="Arial" panose="020B0604020202020204" pitchFamily="34" charset="0"/>
              <a:buChar char="•"/>
            </a:pPr>
            <a:endParaRPr lang="es-ES" altLang="es-AR" dirty="0">
              <a:latin typeface="Cambria" panose="02040503050406030204" pitchFamily="18" charset="0"/>
              <a:ea typeface="Cambria" panose="02040503050406030204" pitchFamily="18" charset="0"/>
              <a:cs typeface="Calibri" panose="020F0502020204030204" pitchFamily="34" charset="0"/>
            </a:endParaRPr>
          </a:p>
          <a:p>
            <a:pPr marL="463550" lvl="1" algn="just">
              <a:buFont typeface="Arial" panose="020B0604020202020204" pitchFamily="34" charset="0"/>
              <a:buChar char="•"/>
            </a:pPr>
            <a:r>
              <a:rPr lang="es-ES" altLang="es-AR" b="1" i="1" dirty="0">
                <a:solidFill>
                  <a:srgbClr val="319F9A"/>
                </a:solidFill>
                <a:latin typeface="Cambria" panose="02040503050406030204" pitchFamily="18" charset="0"/>
                <a:ea typeface="Cambria" panose="02040503050406030204" pitchFamily="18" charset="0"/>
                <a:cs typeface="Calibri" panose="020F0502020204030204" pitchFamily="34" charset="0"/>
              </a:rPr>
              <a:t>Precisión</a:t>
            </a:r>
            <a:r>
              <a:rPr lang="es-ES" altLang="es-AR" i="1" dirty="0">
                <a:solidFill>
                  <a:srgbClr val="319F9A"/>
                </a:solidFill>
                <a:latin typeface="Cambria" panose="02040503050406030204" pitchFamily="18" charset="0"/>
                <a:ea typeface="Cambria" panose="02040503050406030204" pitchFamily="18" charset="0"/>
                <a:cs typeface="Calibri" panose="020F0502020204030204" pitchFamily="34" charset="0"/>
              </a:rPr>
              <a:t>:</a:t>
            </a:r>
            <a:r>
              <a:rPr lang="es-ES" altLang="es-AR" dirty="0">
                <a:latin typeface="Cambria" panose="02040503050406030204" pitchFamily="18" charset="0"/>
                <a:ea typeface="Cambria" panose="02040503050406030204" pitchFamily="18" charset="0"/>
                <a:cs typeface="Calibri" panose="020F0502020204030204" pitchFamily="34" charset="0"/>
              </a:rPr>
              <a:t> se debe poder realizar el mayor número de distinciones posibles. </a:t>
            </a:r>
          </a:p>
          <a:p>
            <a:pPr marL="863600" lvl="2" algn="just">
              <a:buFont typeface="Arial" panose="020B0604020202020204" pitchFamily="34" charset="0"/>
              <a:buChar char="•"/>
            </a:pPr>
            <a:endParaRPr lang="es-AR" altLang="es-AR"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2894589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up)">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wipe(up)">
                                      <p:cBhvr>
                                        <p:cTn id="12" dur="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8">
                                            <p:txEl>
                                              <p:pRg st="4" end="4"/>
                                            </p:txEl>
                                          </p:spTgt>
                                        </p:tgtEl>
                                        <p:attrNameLst>
                                          <p:attrName>style.visibility</p:attrName>
                                        </p:attrNameLst>
                                      </p:cBhvr>
                                      <p:to>
                                        <p:strVal val="visible"/>
                                      </p:to>
                                    </p:set>
                                    <p:animEffect transition="in" filter="wipe(up)">
                                      <p:cBhvr>
                                        <p:cTn id="17" dur="500"/>
                                        <p:tgtEl>
                                          <p:spTgt spid="1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8">
                                            <p:txEl>
                                              <p:pRg st="6" end="6"/>
                                            </p:txEl>
                                          </p:spTgt>
                                        </p:tgtEl>
                                        <p:attrNameLst>
                                          <p:attrName>style.visibility</p:attrName>
                                        </p:attrNameLst>
                                      </p:cBhvr>
                                      <p:to>
                                        <p:strVal val="visible"/>
                                      </p:to>
                                    </p:set>
                                    <p:animEffect transition="in" filter="wipe(up)">
                                      <p:cBhvr>
                                        <p:cTn id="22" dur="500"/>
                                        <p:tgtEl>
                                          <p:spTgt spid="1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8">
                                            <p:txEl>
                                              <p:pRg st="8" end="8"/>
                                            </p:txEl>
                                          </p:spTgt>
                                        </p:tgtEl>
                                        <p:attrNameLst>
                                          <p:attrName>style.visibility</p:attrName>
                                        </p:attrNameLst>
                                      </p:cBhvr>
                                      <p:to>
                                        <p:strVal val="visible"/>
                                      </p:to>
                                    </p:set>
                                    <p:animEffect transition="in" filter="wipe(up)">
                                      <p:cBhvr>
                                        <p:cTn id="27" dur="500"/>
                                        <p:tgtEl>
                                          <p:spTgt spid="1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5" name="10 CuadroTexto"/>
          <p:cNvSpPr txBox="1"/>
          <p:nvPr/>
        </p:nvSpPr>
        <p:spPr>
          <a:xfrm>
            <a:off x="152779" y="253777"/>
            <a:ext cx="8740395" cy="461665"/>
          </a:xfrm>
          <a:prstGeom prst="rect">
            <a:avLst/>
          </a:prstGeom>
          <a:noFill/>
        </p:spPr>
        <p:txBody>
          <a:bodyPr wrap="square" rtlCol="0">
            <a:spAutoFit/>
          </a:bodyPr>
          <a:lstStyle/>
          <a:p>
            <a:r>
              <a:rPr lang="es-ES" sz="2400" dirty="0">
                <a:latin typeface="Cambria" panose="02040503050406030204" pitchFamily="18" charset="0"/>
              </a:rPr>
              <a:t>El sistema de categorías de las variables</a:t>
            </a:r>
            <a:endParaRPr lang="es-AR" sz="2400" dirty="0">
              <a:latin typeface="Cambria" panose="02040503050406030204" pitchFamily="18" charset="0"/>
            </a:endParaRPr>
          </a:p>
        </p:txBody>
      </p:sp>
      <p:sp>
        <p:nvSpPr>
          <p:cNvPr id="16"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7"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5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250824" y="1336221"/>
            <a:ext cx="864234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77800" lvl="1" indent="0" algn="just"/>
            <a:r>
              <a:rPr lang="es-ES" altLang="es-AR" b="1" dirty="0">
                <a:latin typeface="Cambria" panose="02040503050406030204" pitchFamily="18" charset="0"/>
                <a:ea typeface="Cambria" panose="02040503050406030204" pitchFamily="18" charset="0"/>
                <a:cs typeface="Calibri" panose="020F0502020204030204" pitchFamily="34" charset="0"/>
              </a:rPr>
              <a:t>Ejemplo: </a:t>
            </a:r>
            <a:r>
              <a:rPr lang="es-ES" altLang="es-AR" dirty="0">
                <a:latin typeface="Cambria" panose="02040503050406030204" pitchFamily="18" charset="0"/>
                <a:ea typeface="Cambria" panose="02040503050406030204" pitchFamily="18" charset="0"/>
                <a:cs typeface="Calibri" panose="020F0502020204030204" pitchFamily="34" charset="0"/>
              </a:rPr>
              <a:t>el sistema de categorías de la variable “edad”</a:t>
            </a:r>
            <a:endParaRPr lang="es-ES" altLang="es-AR" b="1" dirty="0">
              <a:latin typeface="Cambria" panose="02040503050406030204" pitchFamily="18" charset="0"/>
              <a:ea typeface="Cambria" panose="02040503050406030204" pitchFamily="18" charset="0"/>
              <a:cs typeface="Calibri" panose="020F0502020204030204" pitchFamily="34" charset="0"/>
            </a:endParaRPr>
          </a:p>
          <a:p>
            <a:pPr marL="177800" lvl="1" indent="0" algn="just"/>
            <a:endParaRPr lang="es-ES" altLang="es-AR" b="1" dirty="0">
              <a:latin typeface="Cambria" panose="02040503050406030204" pitchFamily="18" charset="0"/>
              <a:ea typeface="Cambria" panose="02040503050406030204" pitchFamily="18" charset="0"/>
              <a:cs typeface="Calibri" panose="020F0502020204030204" pitchFamily="34" charset="0"/>
            </a:endParaRPr>
          </a:p>
        </p:txBody>
      </p:sp>
      <p:sp>
        <p:nvSpPr>
          <p:cNvPr id="10" name="CuadroTexto 9">
            <a:extLst>
              <a:ext uri="{FF2B5EF4-FFF2-40B4-BE49-F238E27FC236}">
                <a16:creationId xmlns:a16="http://schemas.microsoft.com/office/drawing/2014/main" id="{9DC17B0A-B87B-43BE-9D2D-82358FBE59C6}"/>
              </a:ext>
            </a:extLst>
          </p:cNvPr>
          <p:cNvSpPr txBox="1"/>
          <p:nvPr/>
        </p:nvSpPr>
        <p:spPr>
          <a:xfrm>
            <a:off x="975070" y="1862407"/>
            <a:ext cx="1295623" cy="307777"/>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No excluyente</a:t>
            </a:r>
          </a:p>
        </p:txBody>
      </p:sp>
      <p:cxnSp>
        <p:nvCxnSpPr>
          <p:cNvPr id="11" name="Conector recto de flecha 10">
            <a:extLst>
              <a:ext uri="{FF2B5EF4-FFF2-40B4-BE49-F238E27FC236}">
                <a16:creationId xmlns:a16="http://schemas.microsoft.com/office/drawing/2014/main" id="{898FA0E0-9786-4DD6-835C-E23213C5BB78}"/>
              </a:ext>
            </a:extLst>
          </p:cNvPr>
          <p:cNvCxnSpPr>
            <a:cxnSpLocks/>
            <a:stCxn id="10" idx="2"/>
            <a:endCxn id="22" idx="0"/>
          </p:cNvCxnSpPr>
          <p:nvPr/>
        </p:nvCxnSpPr>
        <p:spPr bwMode="auto">
          <a:xfrm>
            <a:off x="1622882" y="2170184"/>
            <a:ext cx="0" cy="221670"/>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3D90AFEF-EE34-4CB4-AA2D-BAA2587C7460}"/>
              </a:ext>
            </a:extLst>
          </p:cNvPr>
          <p:cNvSpPr txBox="1"/>
          <p:nvPr/>
        </p:nvSpPr>
        <p:spPr>
          <a:xfrm>
            <a:off x="3069945" y="1848426"/>
            <a:ext cx="1152128" cy="307777"/>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Excluyente</a:t>
            </a:r>
          </a:p>
        </p:txBody>
      </p:sp>
      <p:cxnSp>
        <p:nvCxnSpPr>
          <p:cNvPr id="19" name="Conector recto de flecha 18">
            <a:extLst>
              <a:ext uri="{FF2B5EF4-FFF2-40B4-BE49-F238E27FC236}">
                <a16:creationId xmlns:a16="http://schemas.microsoft.com/office/drawing/2014/main" id="{9D8F7983-2C07-4EAB-9727-CC0ABBEDF151}"/>
              </a:ext>
            </a:extLst>
          </p:cNvPr>
          <p:cNvCxnSpPr>
            <a:cxnSpLocks/>
            <a:stCxn id="13" idx="2"/>
            <a:endCxn id="23" idx="0"/>
          </p:cNvCxnSpPr>
          <p:nvPr/>
        </p:nvCxnSpPr>
        <p:spPr bwMode="auto">
          <a:xfrm>
            <a:off x="3646009" y="2156203"/>
            <a:ext cx="0" cy="235651"/>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CuadroTexto 19">
            <a:extLst>
              <a:ext uri="{FF2B5EF4-FFF2-40B4-BE49-F238E27FC236}">
                <a16:creationId xmlns:a16="http://schemas.microsoft.com/office/drawing/2014/main" id="{E4EE2F70-D542-4ED4-8BE7-AE7C70893AF7}"/>
              </a:ext>
            </a:extLst>
          </p:cNvPr>
          <p:cNvSpPr txBox="1"/>
          <p:nvPr/>
        </p:nvSpPr>
        <p:spPr>
          <a:xfrm>
            <a:off x="6875042" y="5906469"/>
            <a:ext cx="1611605" cy="307777"/>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Preciso</a:t>
            </a:r>
          </a:p>
        </p:txBody>
      </p:sp>
      <p:cxnSp>
        <p:nvCxnSpPr>
          <p:cNvPr id="21" name="Conector recto de flecha 20">
            <a:extLst>
              <a:ext uri="{FF2B5EF4-FFF2-40B4-BE49-F238E27FC236}">
                <a16:creationId xmlns:a16="http://schemas.microsoft.com/office/drawing/2014/main" id="{D15E5EF4-F407-418A-B934-809339C37D30}"/>
              </a:ext>
            </a:extLst>
          </p:cNvPr>
          <p:cNvCxnSpPr>
            <a:cxnSpLocks/>
          </p:cNvCxnSpPr>
          <p:nvPr/>
        </p:nvCxnSpPr>
        <p:spPr bwMode="auto">
          <a:xfrm flipV="1">
            <a:off x="7671418" y="5578866"/>
            <a:ext cx="0" cy="344291"/>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graphicFrame>
        <p:nvGraphicFramePr>
          <p:cNvPr id="22" name="Tabla 9">
            <a:extLst>
              <a:ext uri="{FF2B5EF4-FFF2-40B4-BE49-F238E27FC236}">
                <a16:creationId xmlns:a16="http://schemas.microsoft.com/office/drawing/2014/main" id="{F25A6A9A-63A5-4B04-ADC7-204EADED64F2}"/>
              </a:ext>
            </a:extLst>
          </p:cNvPr>
          <p:cNvGraphicFramePr>
            <a:graphicFrameLocks noGrp="1"/>
          </p:cNvGraphicFramePr>
          <p:nvPr>
            <p:extLst>
              <p:ext uri="{D42A27DB-BD31-4B8C-83A1-F6EECF244321}">
                <p14:modId xmlns:p14="http://schemas.microsoft.com/office/powerpoint/2010/main" val="2277303602"/>
              </p:ext>
            </p:extLst>
          </p:nvPr>
        </p:nvGraphicFramePr>
        <p:xfrm>
          <a:off x="694108" y="2391854"/>
          <a:ext cx="1857548" cy="1524000"/>
        </p:xfrm>
        <a:graphic>
          <a:graphicData uri="http://schemas.openxmlformats.org/drawingml/2006/table">
            <a:tbl>
              <a:tblPr firstRow="1" bandRow="1">
                <a:tableStyleId>{073A0DAA-6AF3-43AB-8588-CEC1D06C72B9}</a:tableStyleId>
              </a:tblPr>
              <a:tblGrid>
                <a:gridCol w="1857548">
                  <a:extLst>
                    <a:ext uri="{9D8B030D-6E8A-4147-A177-3AD203B41FA5}">
                      <a16:colId xmlns:a16="http://schemas.microsoft.com/office/drawing/2014/main" val="2803339655"/>
                    </a:ext>
                  </a:extLst>
                </a:gridCol>
              </a:tblGrid>
              <a:tr h="296974">
                <a:tc>
                  <a:txBody>
                    <a:bodyPr/>
                    <a:lstStyle/>
                    <a:p>
                      <a:r>
                        <a:rPr lang="es-AR" sz="1400" dirty="0"/>
                        <a:t>Edad</a:t>
                      </a:r>
                    </a:p>
                  </a:txBody>
                  <a:tcPr/>
                </a:tc>
                <a:extLst>
                  <a:ext uri="{0D108BD9-81ED-4DB2-BD59-A6C34878D82A}">
                    <a16:rowId xmlns:a16="http://schemas.microsoft.com/office/drawing/2014/main" val="1863529168"/>
                  </a:ext>
                </a:extLst>
              </a:tr>
              <a:tr h="296974">
                <a:tc>
                  <a:txBody>
                    <a:bodyPr/>
                    <a:lstStyle/>
                    <a:p>
                      <a:r>
                        <a:rPr lang="es-AR" sz="1400" dirty="0"/>
                        <a:t>18 años y menos</a:t>
                      </a:r>
                    </a:p>
                  </a:txBody>
                  <a:tcPr/>
                </a:tc>
                <a:extLst>
                  <a:ext uri="{0D108BD9-81ED-4DB2-BD59-A6C34878D82A}">
                    <a16:rowId xmlns:a16="http://schemas.microsoft.com/office/drawing/2014/main" val="2440890905"/>
                  </a:ext>
                </a:extLst>
              </a:tr>
              <a:tr h="296974">
                <a:tc>
                  <a:txBody>
                    <a:bodyPr/>
                    <a:lstStyle/>
                    <a:p>
                      <a:r>
                        <a:rPr lang="es-AR" sz="1400" dirty="0"/>
                        <a:t>18 -25 años</a:t>
                      </a:r>
                    </a:p>
                  </a:txBody>
                  <a:tcPr/>
                </a:tc>
                <a:extLst>
                  <a:ext uri="{0D108BD9-81ED-4DB2-BD59-A6C34878D82A}">
                    <a16:rowId xmlns:a16="http://schemas.microsoft.com/office/drawing/2014/main" val="3504084569"/>
                  </a:ext>
                </a:extLst>
              </a:tr>
              <a:tr h="296974">
                <a:tc>
                  <a:txBody>
                    <a:bodyPr/>
                    <a:lstStyle/>
                    <a:p>
                      <a:r>
                        <a:rPr lang="es-AR" sz="1400" dirty="0"/>
                        <a:t>25-49 años</a:t>
                      </a:r>
                    </a:p>
                  </a:txBody>
                  <a:tcPr/>
                </a:tc>
                <a:extLst>
                  <a:ext uri="{0D108BD9-81ED-4DB2-BD59-A6C34878D82A}">
                    <a16:rowId xmlns:a16="http://schemas.microsoft.com/office/drawing/2014/main" val="4038726347"/>
                  </a:ext>
                </a:extLst>
              </a:tr>
              <a:tr h="296974">
                <a:tc>
                  <a:txBody>
                    <a:bodyPr/>
                    <a:lstStyle/>
                    <a:p>
                      <a:r>
                        <a:rPr lang="es-AR" sz="1400" dirty="0"/>
                        <a:t>50 años y más</a:t>
                      </a:r>
                    </a:p>
                  </a:txBody>
                  <a:tcPr/>
                </a:tc>
                <a:extLst>
                  <a:ext uri="{0D108BD9-81ED-4DB2-BD59-A6C34878D82A}">
                    <a16:rowId xmlns:a16="http://schemas.microsoft.com/office/drawing/2014/main" val="2317731594"/>
                  </a:ext>
                </a:extLst>
              </a:tr>
            </a:tbl>
          </a:graphicData>
        </a:graphic>
      </p:graphicFrame>
      <p:graphicFrame>
        <p:nvGraphicFramePr>
          <p:cNvPr id="23" name="Tabla 9">
            <a:extLst>
              <a:ext uri="{FF2B5EF4-FFF2-40B4-BE49-F238E27FC236}">
                <a16:creationId xmlns:a16="http://schemas.microsoft.com/office/drawing/2014/main" id="{799C4AFD-D73C-4656-A576-F741271B598F}"/>
              </a:ext>
            </a:extLst>
          </p:cNvPr>
          <p:cNvGraphicFramePr>
            <a:graphicFrameLocks noGrp="1"/>
          </p:cNvGraphicFramePr>
          <p:nvPr>
            <p:extLst>
              <p:ext uri="{D42A27DB-BD31-4B8C-83A1-F6EECF244321}">
                <p14:modId xmlns:p14="http://schemas.microsoft.com/office/powerpoint/2010/main" val="2001129693"/>
              </p:ext>
            </p:extLst>
          </p:nvPr>
        </p:nvGraphicFramePr>
        <p:xfrm>
          <a:off x="2717236" y="2391854"/>
          <a:ext cx="1857547" cy="1524000"/>
        </p:xfrm>
        <a:graphic>
          <a:graphicData uri="http://schemas.openxmlformats.org/drawingml/2006/table">
            <a:tbl>
              <a:tblPr firstRow="1" bandRow="1">
                <a:tableStyleId>{073A0DAA-6AF3-43AB-8588-CEC1D06C72B9}</a:tableStyleId>
              </a:tblPr>
              <a:tblGrid>
                <a:gridCol w="1857547">
                  <a:extLst>
                    <a:ext uri="{9D8B030D-6E8A-4147-A177-3AD203B41FA5}">
                      <a16:colId xmlns:a16="http://schemas.microsoft.com/office/drawing/2014/main" val="2803339655"/>
                    </a:ext>
                  </a:extLst>
                </a:gridCol>
              </a:tblGrid>
              <a:tr h="304800">
                <a:tc>
                  <a:txBody>
                    <a:bodyPr/>
                    <a:lstStyle/>
                    <a:p>
                      <a:r>
                        <a:rPr lang="es-AR" sz="1400" dirty="0"/>
                        <a:t>Edad</a:t>
                      </a:r>
                    </a:p>
                  </a:txBody>
                  <a:tcPr/>
                </a:tc>
                <a:extLst>
                  <a:ext uri="{0D108BD9-81ED-4DB2-BD59-A6C34878D82A}">
                    <a16:rowId xmlns:a16="http://schemas.microsoft.com/office/drawing/2014/main" val="1863529168"/>
                  </a:ext>
                </a:extLst>
              </a:tr>
              <a:tr h="304800">
                <a:tc>
                  <a:txBody>
                    <a:bodyPr/>
                    <a:lstStyle/>
                    <a:p>
                      <a:r>
                        <a:rPr lang="es-AR" sz="1400" dirty="0"/>
                        <a:t>18 años y menos</a:t>
                      </a:r>
                    </a:p>
                  </a:txBody>
                  <a:tcPr/>
                </a:tc>
                <a:extLst>
                  <a:ext uri="{0D108BD9-81ED-4DB2-BD59-A6C34878D82A}">
                    <a16:rowId xmlns:a16="http://schemas.microsoft.com/office/drawing/2014/main" val="2440890905"/>
                  </a:ext>
                </a:extLst>
              </a:tr>
              <a:tr h="304800">
                <a:tc>
                  <a:txBody>
                    <a:bodyPr/>
                    <a:lstStyle/>
                    <a:p>
                      <a:r>
                        <a:rPr lang="es-AR" sz="1400" b="1" dirty="0"/>
                        <a:t>19</a:t>
                      </a:r>
                      <a:r>
                        <a:rPr lang="es-AR" sz="1400" dirty="0"/>
                        <a:t> -25 años</a:t>
                      </a:r>
                    </a:p>
                  </a:txBody>
                  <a:tcPr/>
                </a:tc>
                <a:extLst>
                  <a:ext uri="{0D108BD9-81ED-4DB2-BD59-A6C34878D82A}">
                    <a16:rowId xmlns:a16="http://schemas.microsoft.com/office/drawing/2014/main" val="3504084569"/>
                  </a:ext>
                </a:extLst>
              </a:tr>
              <a:tr h="304800">
                <a:tc>
                  <a:txBody>
                    <a:bodyPr/>
                    <a:lstStyle/>
                    <a:p>
                      <a:r>
                        <a:rPr lang="es-AR" sz="1400" b="1" dirty="0"/>
                        <a:t>26</a:t>
                      </a:r>
                      <a:r>
                        <a:rPr lang="es-AR" sz="1400" dirty="0"/>
                        <a:t>-49 años</a:t>
                      </a:r>
                    </a:p>
                  </a:txBody>
                  <a:tcPr/>
                </a:tc>
                <a:extLst>
                  <a:ext uri="{0D108BD9-81ED-4DB2-BD59-A6C34878D82A}">
                    <a16:rowId xmlns:a16="http://schemas.microsoft.com/office/drawing/2014/main" val="4038726347"/>
                  </a:ext>
                </a:extLst>
              </a:tr>
              <a:tr h="304800">
                <a:tc>
                  <a:txBody>
                    <a:bodyPr/>
                    <a:lstStyle/>
                    <a:p>
                      <a:r>
                        <a:rPr lang="es-AR" sz="1400" dirty="0"/>
                        <a:t>50 años y más</a:t>
                      </a:r>
                    </a:p>
                  </a:txBody>
                  <a:tcPr/>
                </a:tc>
                <a:extLst>
                  <a:ext uri="{0D108BD9-81ED-4DB2-BD59-A6C34878D82A}">
                    <a16:rowId xmlns:a16="http://schemas.microsoft.com/office/drawing/2014/main" val="2317731594"/>
                  </a:ext>
                </a:extLst>
              </a:tr>
            </a:tbl>
          </a:graphicData>
        </a:graphic>
      </p:graphicFrame>
      <p:graphicFrame>
        <p:nvGraphicFramePr>
          <p:cNvPr id="24" name="Tabla 9">
            <a:extLst>
              <a:ext uri="{FF2B5EF4-FFF2-40B4-BE49-F238E27FC236}">
                <a16:creationId xmlns:a16="http://schemas.microsoft.com/office/drawing/2014/main" id="{F16CB603-4404-42B8-B70F-08D43F84DB01}"/>
              </a:ext>
            </a:extLst>
          </p:cNvPr>
          <p:cNvGraphicFramePr>
            <a:graphicFrameLocks noGrp="1"/>
          </p:cNvGraphicFramePr>
          <p:nvPr>
            <p:extLst>
              <p:ext uri="{D42A27DB-BD31-4B8C-83A1-F6EECF244321}">
                <p14:modId xmlns:p14="http://schemas.microsoft.com/office/powerpoint/2010/main" val="1882040739"/>
              </p:ext>
            </p:extLst>
          </p:nvPr>
        </p:nvGraphicFramePr>
        <p:xfrm>
          <a:off x="694108" y="4164837"/>
          <a:ext cx="1857548" cy="1524000"/>
        </p:xfrm>
        <a:graphic>
          <a:graphicData uri="http://schemas.openxmlformats.org/drawingml/2006/table">
            <a:tbl>
              <a:tblPr firstRow="1" bandRow="1">
                <a:tableStyleId>{073A0DAA-6AF3-43AB-8588-CEC1D06C72B9}</a:tableStyleId>
              </a:tblPr>
              <a:tblGrid>
                <a:gridCol w="1857548">
                  <a:extLst>
                    <a:ext uri="{9D8B030D-6E8A-4147-A177-3AD203B41FA5}">
                      <a16:colId xmlns:a16="http://schemas.microsoft.com/office/drawing/2014/main" val="2803339655"/>
                    </a:ext>
                  </a:extLst>
                </a:gridCol>
              </a:tblGrid>
              <a:tr h="296974">
                <a:tc>
                  <a:txBody>
                    <a:bodyPr/>
                    <a:lstStyle/>
                    <a:p>
                      <a:r>
                        <a:rPr lang="es-AR" sz="1400" dirty="0"/>
                        <a:t>Edad</a:t>
                      </a:r>
                    </a:p>
                  </a:txBody>
                  <a:tcPr/>
                </a:tc>
                <a:extLst>
                  <a:ext uri="{0D108BD9-81ED-4DB2-BD59-A6C34878D82A}">
                    <a16:rowId xmlns:a16="http://schemas.microsoft.com/office/drawing/2014/main" val="1863529168"/>
                  </a:ext>
                </a:extLst>
              </a:tr>
              <a:tr h="296974">
                <a:tc>
                  <a:txBody>
                    <a:bodyPr/>
                    <a:lstStyle/>
                    <a:p>
                      <a:r>
                        <a:rPr lang="es-AR" sz="1400" dirty="0"/>
                        <a:t>18 años y menos</a:t>
                      </a:r>
                    </a:p>
                  </a:txBody>
                  <a:tcPr/>
                </a:tc>
                <a:extLst>
                  <a:ext uri="{0D108BD9-81ED-4DB2-BD59-A6C34878D82A}">
                    <a16:rowId xmlns:a16="http://schemas.microsoft.com/office/drawing/2014/main" val="2440890905"/>
                  </a:ext>
                </a:extLst>
              </a:tr>
              <a:tr h="296974">
                <a:tc>
                  <a:txBody>
                    <a:bodyPr/>
                    <a:lstStyle/>
                    <a:p>
                      <a:r>
                        <a:rPr lang="es-AR" sz="1400" dirty="0"/>
                        <a:t>19 -25 años</a:t>
                      </a:r>
                    </a:p>
                  </a:txBody>
                  <a:tcPr/>
                </a:tc>
                <a:extLst>
                  <a:ext uri="{0D108BD9-81ED-4DB2-BD59-A6C34878D82A}">
                    <a16:rowId xmlns:a16="http://schemas.microsoft.com/office/drawing/2014/main" val="3504084569"/>
                  </a:ext>
                </a:extLst>
              </a:tr>
              <a:tr h="296974">
                <a:tc>
                  <a:txBody>
                    <a:bodyPr/>
                    <a:lstStyle/>
                    <a:p>
                      <a:r>
                        <a:rPr lang="es-AR" sz="1400" dirty="0"/>
                        <a:t>26-49 años</a:t>
                      </a:r>
                    </a:p>
                  </a:txBody>
                  <a:tcPr/>
                </a:tc>
                <a:extLst>
                  <a:ext uri="{0D108BD9-81ED-4DB2-BD59-A6C34878D82A}">
                    <a16:rowId xmlns:a16="http://schemas.microsoft.com/office/drawing/2014/main" val="4038726347"/>
                  </a:ext>
                </a:extLst>
              </a:tr>
              <a:tr h="296974">
                <a:tc>
                  <a:txBody>
                    <a:bodyPr/>
                    <a:lstStyle/>
                    <a:p>
                      <a:r>
                        <a:rPr lang="es-AR" sz="1400" dirty="0"/>
                        <a:t>50-65</a:t>
                      </a:r>
                    </a:p>
                  </a:txBody>
                  <a:tcPr/>
                </a:tc>
                <a:extLst>
                  <a:ext uri="{0D108BD9-81ED-4DB2-BD59-A6C34878D82A}">
                    <a16:rowId xmlns:a16="http://schemas.microsoft.com/office/drawing/2014/main" val="2317731594"/>
                  </a:ext>
                </a:extLst>
              </a:tr>
            </a:tbl>
          </a:graphicData>
        </a:graphic>
      </p:graphicFrame>
      <p:graphicFrame>
        <p:nvGraphicFramePr>
          <p:cNvPr id="25" name="Tabla 9">
            <a:extLst>
              <a:ext uri="{FF2B5EF4-FFF2-40B4-BE49-F238E27FC236}">
                <a16:creationId xmlns:a16="http://schemas.microsoft.com/office/drawing/2014/main" id="{73A25F63-F146-49C5-93E4-54AED817A647}"/>
              </a:ext>
            </a:extLst>
          </p:cNvPr>
          <p:cNvGraphicFramePr>
            <a:graphicFrameLocks noGrp="1"/>
          </p:cNvGraphicFramePr>
          <p:nvPr>
            <p:extLst>
              <p:ext uri="{D42A27DB-BD31-4B8C-83A1-F6EECF244321}">
                <p14:modId xmlns:p14="http://schemas.microsoft.com/office/powerpoint/2010/main" val="1224978862"/>
              </p:ext>
            </p:extLst>
          </p:nvPr>
        </p:nvGraphicFramePr>
        <p:xfrm>
          <a:off x="2717236" y="4164837"/>
          <a:ext cx="1857547" cy="1828800"/>
        </p:xfrm>
        <a:graphic>
          <a:graphicData uri="http://schemas.openxmlformats.org/drawingml/2006/table">
            <a:tbl>
              <a:tblPr firstRow="1" bandRow="1">
                <a:tableStyleId>{073A0DAA-6AF3-43AB-8588-CEC1D06C72B9}</a:tableStyleId>
              </a:tblPr>
              <a:tblGrid>
                <a:gridCol w="1857547">
                  <a:extLst>
                    <a:ext uri="{9D8B030D-6E8A-4147-A177-3AD203B41FA5}">
                      <a16:colId xmlns:a16="http://schemas.microsoft.com/office/drawing/2014/main" val="2803339655"/>
                    </a:ext>
                  </a:extLst>
                </a:gridCol>
              </a:tblGrid>
              <a:tr h="304800">
                <a:tc>
                  <a:txBody>
                    <a:bodyPr/>
                    <a:lstStyle/>
                    <a:p>
                      <a:r>
                        <a:rPr lang="es-AR" sz="1400" dirty="0"/>
                        <a:t>Edad</a:t>
                      </a:r>
                    </a:p>
                  </a:txBody>
                  <a:tcPr/>
                </a:tc>
                <a:extLst>
                  <a:ext uri="{0D108BD9-81ED-4DB2-BD59-A6C34878D82A}">
                    <a16:rowId xmlns:a16="http://schemas.microsoft.com/office/drawing/2014/main" val="1863529168"/>
                  </a:ext>
                </a:extLst>
              </a:tr>
              <a:tr h="304800">
                <a:tc>
                  <a:txBody>
                    <a:bodyPr/>
                    <a:lstStyle/>
                    <a:p>
                      <a:r>
                        <a:rPr lang="es-AR" sz="1400" dirty="0"/>
                        <a:t>18 años y menos</a:t>
                      </a:r>
                    </a:p>
                  </a:txBody>
                  <a:tcPr/>
                </a:tc>
                <a:extLst>
                  <a:ext uri="{0D108BD9-81ED-4DB2-BD59-A6C34878D82A}">
                    <a16:rowId xmlns:a16="http://schemas.microsoft.com/office/drawing/2014/main" val="2440890905"/>
                  </a:ext>
                </a:extLst>
              </a:tr>
              <a:tr h="304800">
                <a:tc>
                  <a:txBody>
                    <a:bodyPr/>
                    <a:lstStyle/>
                    <a:p>
                      <a:r>
                        <a:rPr lang="es-AR" sz="1400" b="0" dirty="0"/>
                        <a:t>19 -25 años</a:t>
                      </a:r>
                    </a:p>
                  </a:txBody>
                  <a:tcPr/>
                </a:tc>
                <a:extLst>
                  <a:ext uri="{0D108BD9-81ED-4DB2-BD59-A6C34878D82A}">
                    <a16:rowId xmlns:a16="http://schemas.microsoft.com/office/drawing/2014/main" val="3504084569"/>
                  </a:ext>
                </a:extLst>
              </a:tr>
              <a:tr h="304800">
                <a:tc>
                  <a:txBody>
                    <a:bodyPr/>
                    <a:lstStyle/>
                    <a:p>
                      <a:r>
                        <a:rPr lang="es-AR" sz="1400" b="0" dirty="0"/>
                        <a:t>26-49 años</a:t>
                      </a:r>
                    </a:p>
                  </a:txBody>
                  <a:tcPr/>
                </a:tc>
                <a:extLst>
                  <a:ext uri="{0D108BD9-81ED-4DB2-BD59-A6C34878D82A}">
                    <a16:rowId xmlns:a16="http://schemas.microsoft.com/office/drawing/2014/main" val="4038726347"/>
                  </a:ext>
                </a:extLst>
              </a:tr>
              <a:tr h="304800">
                <a:tc>
                  <a:txBody>
                    <a:bodyPr/>
                    <a:lstStyle/>
                    <a:p>
                      <a:r>
                        <a:rPr lang="es-AR" sz="1400" dirty="0"/>
                        <a:t>50-65</a:t>
                      </a:r>
                    </a:p>
                  </a:txBody>
                  <a:tcPr/>
                </a:tc>
                <a:extLst>
                  <a:ext uri="{0D108BD9-81ED-4DB2-BD59-A6C34878D82A}">
                    <a16:rowId xmlns:a16="http://schemas.microsoft.com/office/drawing/2014/main" val="2317731594"/>
                  </a:ext>
                </a:extLst>
              </a:tr>
              <a:tr h="304800">
                <a:tc>
                  <a:txBody>
                    <a:bodyPr/>
                    <a:lstStyle/>
                    <a:p>
                      <a:r>
                        <a:rPr lang="es-AR" sz="1400" b="1" dirty="0"/>
                        <a:t>66 y más</a:t>
                      </a:r>
                    </a:p>
                  </a:txBody>
                  <a:tcPr/>
                </a:tc>
                <a:extLst>
                  <a:ext uri="{0D108BD9-81ED-4DB2-BD59-A6C34878D82A}">
                    <a16:rowId xmlns:a16="http://schemas.microsoft.com/office/drawing/2014/main" val="3341764916"/>
                  </a:ext>
                </a:extLst>
              </a:tr>
            </a:tbl>
          </a:graphicData>
        </a:graphic>
      </p:graphicFrame>
      <p:sp>
        <p:nvSpPr>
          <p:cNvPr id="26" name="CuadroTexto 25">
            <a:extLst>
              <a:ext uri="{FF2B5EF4-FFF2-40B4-BE49-F238E27FC236}">
                <a16:creationId xmlns:a16="http://schemas.microsoft.com/office/drawing/2014/main" id="{8945DA34-1516-44A1-85E3-77098E59D99F}"/>
              </a:ext>
            </a:extLst>
          </p:cNvPr>
          <p:cNvSpPr txBox="1"/>
          <p:nvPr/>
        </p:nvSpPr>
        <p:spPr>
          <a:xfrm>
            <a:off x="1046818" y="5995094"/>
            <a:ext cx="1152128" cy="523220"/>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No exhaustivo</a:t>
            </a:r>
          </a:p>
        </p:txBody>
      </p:sp>
      <p:cxnSp>
        <p:nvCxnSpPr>
          <p:cNvPr id="27" name="Conector recto de flecha 26">
            <a:extLst>
              <a:ext uri="{FF2B5EF4-FFF2-40B4-BE49-F238E27FC236}">
                <a16:creationId xmlns:a16="http://schemas.microsoft.com/office/drawing/2014/main" id="{56D87478-C2D1-4966-8779-C8C057413615}"/>
              </a:ext>
            </a:extLst>
          </p:cNvPr>
          <p:cNvCxnSpPr>
            <a:cxnSpLocks/>
            <a:stCxn id="26" idx="0"/>
            <a:endCxn id="24" idx="2"/>
          </p:cNvCxnSpPr>
          <p:nvPr/>
        </p:nvCxnSpPr>
        <p:spPr bwMode="auto">
          <a:xfrm flipV="1">
            <a:off x="1622882" y="5688837"/>
            <a:ext cx="0" cy="306257"/>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id="{30F0F1BE-345B-4EB9-B2ED-E8F9A8CDCC9A}"/>
              </a:ext>
            </a:extLst>
          </p:cNvPr>
          <p:cNvSpPr txBox="1"/>
          <p:nvPr/>
        </p:nvSpPr>
        <p:spPr>
          <a:xfrm>
            <a:off x="3049260" y="6288072"/>
            <a:ext cx="1152128" cy="307777"/>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Exhaustivo</a:t>
            </a:r>
          </a:p>
        </p:txBody>
      </p:sp>
      <p:cxnSp>
        <p:nvCxnSpPr>
          <p:cNvPr id="29" name="Conector recto de flecha 28">
            <a:extLst>
              <a:ext uri="{FF2B5EF4-FFF2-40B4-BE49-F238E27FC236}">
                <a16:creationId xmlns:a16="http://schemas.microsoft.com/office/drawing/2014/main" id="{42E4D296-4DF5-46F0-A0F8-D77F8956FD7C}"/>
              </a:ext>
            </a:extLst>
          </p:cNvPr>
          <p:cNvCxnSpPr>
            <a:cxnSpLocks/>
            <a:stCxn id="28" idx="0"/>
          </p:cNvCxnSpPr>
          <p:nvPr/>
        </p:nvCxnSpPr>
        <p:spPr bwMode="auto">
          <a:xfrm flipV="1">
            <a:off x="3625324" y="5981816"/>
            <a:ext cx="0" cy="306256"/>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a 9">
            <a:extLst>
              <a:ext uri="{FF2B5EF4-FFF2-40B4-BE49-F238E27FC236}">
                <a16:creationId xmlns:a16="http://schemas.microsoft.com/office/drawing/2014/main" id="{24134A8F-E4A8-4ADB-8246-5E4750444D7B}"/>
              </a:ext>
            </a:extLst>
          </p:cNvPr>
          <p:cNvGraphicFramePr>
            <a:graphicFrameLocks noGrp="1"/>
          </p:cNvGraphicFramePr>
          <p:nvPr>
            <p:extLst>
              <p:ext uri="{D42A27DB-BD31-4B8C-83A1-F6EECF244321}">
                <p14:modId xmlns:p14="http://schemas.microsoft.com/office/powerpoint/2010/main" val="583037870"/>
              </p:ext>
            </p:extLst>
          </p:nvPr>
        </p:nvGraphicFramePr>
        <p:xfrm>
          <a:off x="4885055" y="3153854"/>
          <a:ext cx="1857548" cy="914400"/>
        </p:xfrm>
        <a:graphic>
          <a:graphicData uri="http://schemas.openxmlformats.org/drawingml/2006/table">
            <a:tbl>
              <a:tblPr firstRow="1" bandRow="1">
                <a:tableStyleId>{073A0DAA-6AF3-43AB-8588-CEC1D06C72B9}</a:tableStyleId>
              </a:tblPr>
              <a:tblGrid>
                <a:gridCol w="1857548">
                  <a:extLst>
                    <a:ext uri="{9D8B030D-6E8A-4147-A177-3AD203B41FA5}">
                      <a16:colId xmlns:a16="http://schemas.microsoft.com/office/drawing/2014/main" val="2803339655"/>
                    </a:ext>
                  </a:extLst>
                </a:gridCol>
              </a:tblGrid>
              <a:tr h="296974">
                <a:tc>
                  <a:txBody>
                    <a:bodyPr/>
                    <a:lstStyle/>
                    <a:p>
                      <a:r>
                        <a:rPr lang="es-AR" sz="1400" dirty="0"/>
                        <a:t>Edad</a:t>
                      </a:r>
                    </a:p>
                  </a:txBody>
                  <a:tcPr/>
                </a:tc>
                <a:extLst>
                  <a:ext uri="{0D108BD9-81ED-4DB2-BD59-A6C34878D82A}">
                    <a16:rowId xmlns:a16="http://schemas.microsoft.com/office/drawing/2014/main" val="1863529168"/>
                  </a:ext>
                </a:extLst>
              </a:tr>
              <a:tr h="296974">
                <a:tc>
                  <a:txBody>
                    <a:bodyPr/>
                    <a:lstStyle/>
                    <a:p>
                      <a:r>
                        <a:rPr lang="es-AR" sz="1400" dirty="0"/>
                        <a:t>18 años y menos</a:t>
                      </a:r>
                    </a:p>
                  </a:txBody>
                  <a:tcPr/>
                </a:tc>
                <a:extLst>
                  <a:ext uri="{0D108BD9-81ED-4DB2-BD59-A6C34878D82A}">
                    <a16:rowId xmlns:a16="http://schemas.microsoft.com/office/drawing/2014/main" val="2440890905"/>
                  </a:ext>
                </a:extLst>
              </a:tr>
              <a:tr h="296974">
                <a:tc>
                  <a:txBody>
                    <a:bodyPr/>
                    <a:lstStyle/>
                    <a:p>
                      <a:r>
                        <a:rPr lang="es-AR" sz="1400" dirty="0"/>
                        <a:t>19 años y más</a:t>
                      </a:r>
                    </a:p>
                  </a:txBody>
                  <a:tcPr/>
                </a:tc>
                <a:extLst>
                  <a:ext uri="{0D108BD9-81ED-4DB2-BD59-A6C34878D82A}">
                    <a16:rowId xmlns:a16="http://schemas.microsoft.com/office/drawing/2014/main" val="3504084569"/>
                  </a:ext>
                </a:extLst>
              </a:tr>
            </a:tbl>
          </a:graphicData>
        </a:graphic>
      </p:graphicFrame>
      <p:graphicFrame>
        <p:nvGraphicFramePr>
          <p:cNvPr id="31" name="Tabla 9">
            <a:extLst>
              <a:ext uri="{FF2B5EF4-FFF2-40B4-BE49-F238E27FC236}">
                <a16:creationId xmlns:a16="http://schemas.microsoft.com/office/drawing/2014/main" id="{4CB99DB6-B89F-40AA-9CC3-A257C9E97149}"/>
              </a:ext>
            </a:extLst>
          </p:cNvPr>
          <p:cNvGraphicFramePr>
            <a:graphicFrameLocks noGrp="1"/>
          </p:cNvGraphicFramePr>
          <p:nvPr>
            <p:extLst>
              <p:ext uri="{D42A27DB-BD31-4B8C-83A1-F6EECF244321}">
                <p14:modId xmlns:p14="http://schemas.microsoft.com/office/powerpoint/2010/main" val="1336944689"/>
              </p:ext>
            </p:extLst>
          </p:nvPr>
        </p:nvGraphicFramePr>
        <p:xfrm>
          <a:off x="6820697" y="3153854"/>
          <a:ext cx="1857547" cy="2438400"/>
        </p:xfrm>
        <a:graphic>
          <a:graphicData uri="http://schemas.openxmlformats.org/drawingml/2006/table">
            <a:tbl>
              <a:tblPr firstRow="1" bandRow="1">
                <a:tableStyleId>{073A0DAA-6AF3-43AB-8588-CEC1D06C72B9}</a:tableStyleId>
              </a:tblPr>
              <a:tblGrid>
                <a:gridCol w="1857547">
                  <a:extLst>
                    <a:ext uri="{9D8B030D-6E8A-4147-A177-3AD203B41FA5}">
                      <a16:colId xmlns:a16="http://schemas.microsoft.com/office/drawing/2014/main" val="2803339655"/>
                    </a:ext>
                  </a:extLst>
                </a:gridCol>
              </a:tblGrid>
              <a:tr h="304800">
                <a:tc>
                  <a:txBody>
                    <a:bodyPr/>
                    <a:lstStyle/>
                    <a:p>
                      <a:r>
                        <a:rPr lang="es-AR" sz="1400" dirty="0"/>
                        <a:t>Edad</a:t>
                      </a:r>
                    </a:p>
                  </a:txBody>
                  <a:tcPr/>
                </a:tc>
                <a:extLst>
                  <a:ext uri="{0D108BD9-81ED-4DB2-BD59-A6C34878D82A}">
                    <a16:rowId xmlns:a16="http://schemas.microsoft.com/office/drawing/2014/main" val="1863529168"/>
                  </a:ext>
                </a:extLst>
              </a:tr>
              <a:tr h="304800">
                <a:tc>
                  <a:txBody>
                    <a:bodyPr/>
                    <a:lstStyle/>
                    <a:p>
                      <a:r>
                        <a:rPr lang="es-AR" sz="1400" b="0" dirty="0"/>
                        <a:t>0-9 años</a:t>
                      </a:r>
                    </a:p>
                  </a:txBody>
                  <a:tcPr/>
                </a:tc>
                <a:extLst>
                  <a:ext uri="{0D108BD9-81ED-4DB2-BD59-A6C34878D82A}">
                    <a16:rowId xmlns:a16="http://schemas.microsoft.com/office/drawing/2014/main" val="2440890905"/>
                  </a:ext>
                </a:extLst>
              </a:tr>
              <a:tr h="304800">
                <a:tc>
                  <a:txBody>
                    <a:bodyPr/>
                    <a:lstStyle/>
                    <a:p>
                      <a:r>
                        <a:rPr lang="es-AR" sz="1400" b="0" dirty="0"/>
                        <a:t>10-17 años</a:t>
                      </a:r>
                    </a:p>
                  </a:txBody>
                  <a:tcPr/>
                </a:tc>
                <a:extLst>
                  <a:ext uri="{0D108BD9-81ED-4DB2-BD59-A6C34878D82A}">
                    <a16:rowId xmlns:a16="http://schemas.microsoft.com/office/drawing/2014/main" val="3504084569"/>
                  </a:ext>
                </a:extLst>
              </a:tr>
              <a:tr h="304800">
                <a:tc>
                  <a:txBody>
                    <a:bodyPr/>
                    <a:lstStyle/>
                    <a:p>
                      <a:r>
                        <a:rPr lang="es-AR" sz="1400" b="0" dirty="0"/>
                        <a:t>18-29 años</a:t>
                      </a:r>
                    </a:p>
                  </a:txBody>
                  <a:tcPr/>
                </a:tc>
                <a:extLst>
                  <a:ext uri="{0D108BD9-81ED-4DB2-BD59-A6C34878D82A}">
                    <a16:rowId xmlns:a16="http://schemas.microsoft.com/office/drawing/2014/main" val="4038726347"/>
                  </a:ext>
                </a:extLst>
              </a:tr>
              <a:tr h="304800">
                <a:tc>
                  <a:txBody>
                    <a:bodyPr/>
                    <a:lstStyle/>
                    <a:p>
                      <a:r>
                        <a:rPr lang="es-AR" sz="1400" b="0" dirty="0"/>
                        <a:t>30-45</a:t>
                      </a:r>
                    </a:p>
                  </a:txBody>
                  <a:tcPr/>
                </a:tc>
                <a:extLst>
                  <a:ext uri="{0D108BD9-81ED-4DB2-BD59-A6C34878D82A}">
                    <a16:rowId xmlns:a16="http://schemas.microsoft.com/office/drawing/2014/main" val="2317731594"/>
                  </a:ext>
                </a:extLst>
              </a:tr>
              <a:tr h="304800">
                <a:tc>
                  <a:txBody>
                    <a:bodyPr/>
                    <a:lstStyle/>
                    <a:p>
                      <a:r>
                        <a:rPr lang="es-AR" sz="1400" b="0" dirty="0"/>
                        <a:t>46-59 años</a:t>
                      </a:r>
                    </a:p>
                  </a:txBody>
                  <a:tcPr/>
                </a:tc>
                <a:extLst>
                  <a:ext uri="{0D108BD9-81ED-4DB2-BD59-A6C34878D82A}">
                    <a16:rowId xmlns:a16="http://schemas.microsoft.com/office/drawing/2014/main" val="3341764916"/>
                  </a:ext>
                </a:extLst>
              </a:tr>
              <a:tr h="304800">
                <a:tc>
                  <a:txBody>
                    <a:bodyPr/>
                    <a:lstStyle/>
                    <a:p>
                      <a:r>
                        <a:rPr lang="es-AR" sz="1400" b="0" dirty="0"/>
                        <a:t>60-74 años</a:t>
                      </a:r>
                    </a:p>
                  </a:txBody>
                  <a:tcPr/>
                </a:tc>
                <a:extLst>
                  <a:ext uri="{0D108BD9-81ED-4DB2-BD59-A6C34878D82A}">
                    <a16:rowId xmlns:a16="http://schemas.microsoft.com/office/drawing/2014/main" val="1117868083"/>
                  </a:ext>
                </a:extLst>
              </a:tr>
              <a:tr h="304800">
                <a:tc>
                  <a:txBody>
                    <a:bodyPr/>
                    <a:lstStyle/>
                    <a:p>
                      <a:r>
                        <a:rPr lang="es-AR" sz="1400" b="0" dirty="0"/>
                        <a:t>75 años y más</a:t>
                      </a:r>
                    </a:p>
                  </a:txBody>
                  <a:tcPr/>
                </a:tc>
                <a:extLst>
                  <a:ext uri="{0D108BD9-81ED-4DB2-BD59-A6C34878D82A}">
                    <a16:rowId xmlns:a16="http://schemas.microsoft.com/office/drawing/2014/main" val="547454264"/>
                  </a:ext>
                </a:extLst>
              </a:tr>
            </a:tbl>
          </a:graphicData>
        </a:graphic>
      </p:graphicFrame>
      <p:sp>
        <p:nvSpPr>
          <p:cNvPr id="32" name="CuadroTexto 31">
            <a:extLst>
              <a:ext uri="{FF2B5EF4-FFF2-40B4-BE49-F238E27FC236}">
                <a16:creationId xmlns:a16="http://schemas.microsoft.com/office/drawing/2014/main" id="{37EE8D64-7212-4406-9D15-EDFE04D7E4E1}"/>
              </a:ext>
            </a:extLst>
          </p:cNvPr>
          <p:cNvSpPr txBox="1"/>
          <p:nvPr/>
        </p:nvSpPr>
        <p:spPr>
          <a:xfrm>
            <a:off x="5006604" y="4415682"/>
            <a:ext cx="1611605" cy="307777"/>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Impreciso</a:t>
            </a:r>
          </a:p>
        </p:txBody>
      </p:sp>
      <p:cxnSp>
        <p:nvCxnSpPr>
          <p:cNvPr id="33" name="Conector recto de flecha 32">
            <a:extLst>
              <a:ext uri="{FF2B5EF4-FFF2-40B4-BE49-F238E27FC236}">
                <a16:creationId xmlns:a16="http://schemas.microsoft.com/office/drawing/2014/main" id="{EDD9DC5E-DAB8-4B90-B422-3BC417F2EA2F}"/>
              </a:ext>
            </a:extLst>
          </p:cNvPr>
          <p:cNvCxnSpPr>
            <a:cxnSpLocks/>
          </p:cNvCxnSpPr>
          <p:nvPr/>
        </p:nvCxnSpPr>
        <p:spPr bwMode="auto">
          <a:xfrm flipV="1">
            <a:off x="5802980" y="4088079"/>
            <a:ext cx="0" cy="344291"/>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189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up)">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2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00"/>
                                        <p:tgtEl>
                                          <p:spTgt spid="31"/>
                                        </p:tgtEl>
                                      </p:cBhvr>
                                    </p:animEffect>
                                  </p:childTnLst>
                                </p:cTn>
                              </p:par>
                              <p:par>
                                <p:cTn id="64" presetID="1" presetClass="entr" presetSubtype="0" fill="hold" nodeType="withEffect">
                                  <p:stCondLst>
                                    <p:cond delay="0"/>
                                  </p:stCondLst>
                                  <p:childTnLst>
                                    <p:set>
                                      <p:cBhvr>
                                        <p:cTn id="65" dur="1" fill="hold">
                                          <p:stCondLst>
                                            <p:cond delay="0"/>
                                          </p:stCondLst>
                                        </p:cTn>
                                        <p:tgtEl>
                                          <p:spTgt spid="21"/>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P spid="10" grpId="0" animBg="1"/>
      <p:bldP spid="13" grpId="0" animBg="1"/>
      <p:bldP spid="20" grpId="0" animBg="1"/>
      <p:bldP spid="26" grpId="0" animBg="1"/>
      <p:bldP spid="28" grpId="0" animBg="1"/>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5" name="10 CuadroTexto"/>
          <p:cNvSpPr txBox="1"/>
          <p:nvPr/>
        </p:nvSpPr>
        <p:spPr>
          <a:xfrm>
            <a:off x="152779" y="253777"/>
            <a:ext cx="8740395" cy="461665"/>
          </a:xfrm>
          <a:prstGeom prst="rect">
            <a:avLst/>
          </a:prstGeom>
          <a:noFill/>
        </p:spPr>
        <p:txBody>
          <a:bodyPr wrap="square" rtlCol="0">
            <a:spAutoFit/>
          </a:bodyPr>
          <a:lstStyle/>
          <a:p>
            <a:r>
              <a:rPr lang="es-ES" sz="2400" dirty="0">
                <a:latin typeface="Cambria" panose="02040503050406030204" pitchFamily="18" charset="0"/>
              </a:rPr>
              <a:t>Formas de clasificar a las variables</a:t>
            </a:r>
            <a:endParaRPr lang="es-AR" sz="2400" dirty="0">
              <a:latin typeface="Cambria" panose="02040503050406030204" pitchFamily="18" charset="0"/>
            </a:endParaRPr>
          </a:p>
        </p:txBody>
      </p:sp>
      <p:sp>
        <p:nvSpPr>
          <p:cNvPr id="16"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7"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34" name="Diagrama 33"/>
          <p:cNvGraphicFramePr/>
          <p:nvPr>
            <p:extLst>
              <p:ext uri="{D42A27DB-BD31-4B8C-83A1-F6EECF244321}">
                <p14:modId xmlns:p14="http://schemas.microsoft.com/office/powerpoint/2010/main" val="4203026471"/>
              </p:ext>
            </p:extLst>
          </p:nvPr>
        </p:nvGraphicFramePr>
        <p:xfrm>
          <a:off x="628628" y="1359786"/>
          <a:ext cx="7788696" cy="4608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8050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5" name="10 CuadroTexto"/>
          <p:cNvSpPr txBox="1"/>
          <p:nvPr/>
        </p:nvSpPr>
        <p:spPr>
          <a:xfrm>
            <a:off x="152779" y="253777"/>
            <a:ext cx="8740395" cy="461665"/>
          </a:xfrm>
          <a:prstGeom prst="rect">
            <a:avLst/>
          </a:prstGeom>
          <a:noFill/>
        </p:spPr>
        <p:txBody>
          <a:bodyPr wrap="square" rtlCol="0">
            <a:spAutoFit/>
          </a:bodyPr>
          <a:lstStyle/>
          <a:p>
            <a:r>
              <a:rPr lang="es-ES" sz="2400" dirty="0">
                <a:latin typeface="Cambria" panose="02040503050406030204" pitchFamily="18" charset="0"/>
              </a:rPr>
              <a:t>Formas de clasificar a las variables</a:t>
            </a:r>
            <a:endParaRPr lang="es-AR" sz="2400" dirty="0">
              <a:latin typeface="Cambria" panose="02040503050406030204" pitchFamily="18" charset="0"/>
            </a:endParaRPr>
          </a:p>
        </p:txBody>
      </p:sp>
      <p:sp>
        <p:nvSpPr>
          <p:cNvPr id="16"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7"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8" name="Tabla 7">
            <a:extLst>
              <a:ext uri="{FF2B5EF4-FFF2-40B4-BE49-F238E27FC236}">
                <a16:creationId xmlns:a16="http://schemas.microsoft.com/office/drawing/2014/main" id="{8BB57BA0-34AD-45A4-98A3-DDE8BEE89158}"/>
              </a:ext>
            </a:extLst>
          </p:cNvPr>
          <p:cNvGraphicFramePr>
            <a:graphicFrameLocks noGrp="1"/>
          </p:cNvGraphicFramePr>
          <p:nvPr>
            <p:extLst>
              <p:ext uri="{D42A27DB-BD31-4B8C-83A1-F6EECF244321}">
                <p14:modId xmlns:p14="http://schemas.microsoft.com/office/powerpoint/2010/main" val="2134241983"/>
              </p:ext>
            </p:extLst>
          </p:nvPr>
        </p:nvGraphicFramePr>
        <p:xfrm>
          <a:off x="276482" y="1127399"/>
          <a:ext cx="8195420" cy="5444230"/>
        </p:xfrm>
        <a:graphic>
          <a:graphicData uri="http://schemas.openxmlformats.org/drawingml/2006/table">
            <a:tbl>
              <a:tblPr firstRow="1" firstCol="1" bandRow="1">
                <a:tableStyleId>{5C22544A-7EE6-4342-B048-85BDC9FD1C3A}</a:tableStyleId>
              </a:tblPr>
              <a:tblGrid>
                <a:gridCol w="1402582">
                  <a:extLst>
                    <a:ext uri="{9D8B030D-6E8A-4147-A177-3AD203B41FA5}">
                      <a16:colId xmlns:a16="http://schemas.microsoft.com/office/drawing/2014/main" val="3917490874"/>
                    </a:ext>
                  </a:extLst>
                </a:gridCol>
                <a:gridCol w="6792838">
                  <a:extLst>
                    <a:ext uri="{9D8B030D-6E8A-4147-A177-3AD203B41FA5}">
                      <a16:colId xmlns:a16="http://schemas.microsoft.com/office/drawing/2014/main" val="848226259"/>
                    </a:ext>
                  </a:extLst>
                </a:gridCol>
              </a:tblGrid>
              <a:tr h="504056">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s-AR" sz="1400" i="1" dirty="0">
                          <a:solidFill>
                            <a:schemeClr val="tx1"/>
                          </a:solidFill>
                          <a:effectLst/>
                          <a:latin typeface="Cambria" panose="02040503050406030204" pitchFamily="18" charset="0"/>
                          <a:ea typeface="Cambria" panose="02040503050406030204" pitchFamily="18" charset="0"/>
                          <a:cs typeface="Calibri" panose="020F0502020204030204" pitchFamily="34" charset="0"/>
                        </a:rPr>
                        <a:t>Nivel de abstracción</a:t>
                      </a:r>
                    </a:p>
                  </a:txBody>
                  <a:tcPr marL="38580" marR="3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lvl="0" indent="0" algn="just">
                        <a:spcAft>
                          <a:spcPts val="0"/>
                        </a:spcAft>
                        <a:buFont typeface="+mj-lt"/>
                        <a:buNone/>
                      </a:pPr>
                      <a:r>
                        <a:rPr lang="es-AR" sz="1400" b="1" dirty="0">
                          <a:solidFill>
                            <a:schemeClr val="tx1"/>
                          </a:solidFill>
                          <a:effectLst/>
                          <a:latin typeface="Cambria" panose="02040503050406030204" pitchFamily="18" charset="0"/>
                          <a:ea typeface="Cambria" panose="02040503050406030204" pitchFamily="18" charset="0"/>
                          <a:cs typeface="Calibri" panose="020F0502020204030204" pitchFamily="34" charset="0"/>
                        </a:rPr>
                        <a:t>Abstractas </a:t>
                      </a:r>
                      <a:r>
                        <a:rPr lang="es-AR" sz="1400" b="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(no observables).</a:t>
                      </a:r>
                      <a:r>
                        <a:rPr lang="es-AR" sz="1400" b="0" baseline="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Ej.: vulnerabilidad social, pobreza, etc.</a:t>
                      </a:r>
                      <a:endParaRPr lang="es-AR" sz="1400" b="0" dirty="0">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p>
                      <a:pPr marL="0" lvl="0" indent="0" algn="just">
                        <a:spcAft>
                          <a:spcPts val="0"/>
                        </a:spcAft>
                        <a:buFont typeface="+mj-lt"/>
                        <a:buNone/>
                      </a:pPr>
                      <a:r>
                        <a:rPr lang="es-AR" sz="1400" b="1" dirty="0">
                          <a:solidFill>
                            <a:schemeClr val="tx1"/>
                          </a:solidFill>
                          <a:effectLst/>
                          <a:latin typeface="Cambria" panose="02040503050406030204" pitchFamily="18" charset="0"/>
                          <a:ea typeface="Cambria" panose="02040503050406030204" pitchFamily="18" charset="0"/>
                          <a:cs typeface="Calibri" panose="020F0502020204030204" pitchFamily="34" charset="0"/>
                        </a:rPr>
                        <a:t>Empíricas</a:t>
                      </a:r>
                      <a:r>
                        <a:rPr lang="es-AR" sz="1400" b="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(indicadores). Ej.: cantidad de hijos nacidos vivos, edad en años cumplidos.</a:t>
                      </a:r>
                    </a:p>
                  </a:txBody>
                  <a:tcPr marL="38580" marR="3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9883047"/>
                  </a:ext>
                </a:extLst>
              </a:tr>
              <a:tr h="3168352">
                <a:tc>
                  <a:txBody>
                    <a:bodyPr/>
                    <a:lstStyle/>
                    <a:p>
                      <a:pPr algn="l">
                        <a:lnSpc>
                          <a:spcPct val="115000"/>
                        </a:lnSpc>
                        <a:spcAft>
                          <a:spcPts val="0"/>
                        </a:spcAft>
                      </a:pPr>
                      <a:r>
                        <a:rPr lang="es-AR" sz="1400" i="1" dirty="0">
                          <a:solidFill>
                            <a:schemeClr val="tx1"/>
                          </a:solidFill>
                          <a:effectLst/>
                          <a:latin typeface="Cambria" panose="02040503050406030204" pitchFamily="18" charset="0"/>
                          <a:ea typeface="Cambria" panose="02040503050406030204" pitchFamily="18" charset="0"/>
                          <a:cs typeface="Calibri" panose="020F0502020204030204" pitchFamily="34" charset="0"/>
                        </a:rPr>
                        <a:t>Nivel de medición</a:t>
                      </a:r>
                    </a:p>
                  </a:txBody>
                  <a:tcPr marL="38580" marR="3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just">
                        <a:lnSpc>
                          <a:spcPct val="115000"/>
                        </a:lnSpc>
                        <a:spcAft>
                          <a:spcPts val="0"/>
                        </a:spcAft>
                      </a:pPr>
                      <a:r>
                        <a:rPr lang="es-AR" sz="1400" b="1" dirty="0">
                          <a:solidFill>
                            <a:schemeClr val="tx1"/>
                          </a:solidFill>
                          <a:effectLst/>
                          <a:latin typeface="Cambria" panose="02040503050406030204" pitchFamily="18" charset="0"/>
                          <a:ea typeface="Cambria" panose="02040503050406030204" pitchFamily="18" charset="0"/>
                          <a:cs typeface="Calibri" panose="020F0502020204030204" pitchFamily="34" charset="0"/>
                        </a:rPr>
                        <a:t>Cualitativas</a:t>
                      </a:r>
                    </a:p>
                    <a:p>
                      <a:pPr marL="342900" lvl="0" indent="-342900" algn="just">
                        <a:spcAft>
                          <a:spcPts val="0"/>
                        </a:spcAft>
                        <a:buFont typeface="+mj-lt"/>
                        <a:buAutoNum type="arabicParenR"/>
                      </a:pPr>
                      <a:r>
                        <a:rPr lang="es-ES" sz="1400" b="1" i="1" u="none" dirty="0">
                          <a:solidFill>
                            <a:schemeClr val="tx1"/>
                          </a:solidFill>
                          <a:effectLst/>
                          <a:latin typeface="Cambria" panose="02040503050406030204" pitchFamily="18" charset="0"/>
                          <a:ea typeface="Cambria" panose="02040503050406030204" pitchFamily="18" charset="0"/>
                          <a:cs typeface="Calibri" panose="020F0502020204030204" pitchFamily="34" charset="0"/>
                        </a:rPr>
                        <a:t>Nominales: </a:t>
                      </a:r>
                      <a:r>
                        <a:rPr lang="es-ES" sz="1400" b="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son aquellas variables cuyos atributos no pueden ordenarse. Dan lugar a operaciones lógico-matemáticas del tipo “igual” o “diferente”. </a:t>
                      </a:r>
                      <a:r>
                        <a:rPr lang="es-ES" sz="1400" b="0" u="sng" dirty="0">
                          <a:solidFill>
                            <a:schemeClr val="tx1"/>
                          </a:solidFill>
                          <a:effectLst/>
                          <a:latin typeface="Cambria" panose="02040503050406030204" pitchFamily="18" charset="0"/>
                          <a:ea typeface="Cambria" panose="02040503050406030204" pitchFamily="18" charset="0"/>
                          <a:cs typeface="Calibri" panose="020F0502020204030204" pitchFamily="34" charset="0"/>
                        </a:rPr>
                        <a:t>Ejemplos</a:t>
                      </a:r>
                      <a:r>
                        <a:rPr lang="es-ES" sz="1400" b="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Sexo (mujer</a:t>
                      </a:r>
                      <a:r>
                        <a:rPr lang="es-ES" sz="1400" b="0" baseline="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 varón)</a:t>
                      </a:r>
                      <a:r>
                        <a:rPr lang="es-ES" sz="1400" b="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partido político preferido (izquierda</a:t>
                      </a:r>
                      <a:r>
                        <a:rPr lang="es-ES" sz="1400" b="0" baseline="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 derecha)</a:t>
                      </a:r>
                      <a:r>
                        <a:rPr lang="es-ES" sz="1400" b="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a:t>
                      </a:r>
                      <a:endParaRPr lang="es-AR" sz="1400" b="0" dirty="0">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arenR"/>
                        <a:tabLst/>
                        <a:defRPr/>
                      </a:pPr>
                      <a:r>
                        <a:rPr lang="es-ES" sz="1400" b="1" i="1" u="none" dirty="0">
                          <a:solidFill>
                            <a:schemeClr val="tx1"/>
                          </a:solidFill>
                          <a:effectLst/>
                          <a:latin typeface="Cambria" panose="02040503050406030204" pitchFamily="18" charset="0"/>
                          <a:ea typeface="Cambria" panose="02040503050406030204" pitchFamily="18" charset="0"/>
                          <a:cs typeface="Calibri" panose="020F0502020204030204" pitchFamily="34" charset="0"/>
                        </a:rPr>
                        <a:t>Ordinales</a:t>
                      </a:r>
                      <a:r>
                        <a:rPr lang="es-ES" sz="1400" b="0" u="none" dirty="0">
                          <a:solidFill>
                            <a:schemeClr val="tx1"/>
                          </a:solidFill>
                          <a:effectLst/>
                          <a:latin typeface="Cambria" panose="02040503050406030204" pitchFamily="18" charset="0"/>
                          <a:ea typeface="Cambria" panose="02040503050406030204" pitchFamily="18" charset="0"/>
                          <a:cs typeface="Calibri" panose="020F0502020204030204" pitchFamily="34" charset="0"/>
                        </a:rPr>
                        <a:t>:</a:t>
                      </a:r>
                      <a:r>
                        <a:rPr lang="es-ES" sz="1400" b="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son aquellas cuyos atributos pueden ordenarse, pero no puede establecerse la “distancia” entre ellas. Operaciones lógico-matemáticas del tipo “igual” o “diferente”; pero también “mayor, menor o igual”. </a:t>
                      </a:r>
                      <a:r>
                        <a:rPr lang="es-ES" sz="1400" b="0" u="sng" dirty="0">
                          <a:solidFill>
                            <a:schemeClr val="tx1"/>
                          </a:solidFill>
                          <a:effectLst/>
                          <a:latin typeface="Cambria" panose="02040503050406030204" pitchFamily="18" charset="0"/>
                          <a:cs typeface="Calibri" panose="020F0502020204030204" pitchFamily="34" charset="0"/>
                        </a:rPr>
                        <a:t>Ejemplo</a:t>
                      </a:r>
                      <a:r>
                        <a:rPr lang="es-ES" sz="1400" b="0" dirty="0">
                          <a:solidFill>
                            <a:schemeClr val="tx1"/>
                          </a:solidFill>
                          <a:effectLst/>
                          <a:latin typeface="Cambria" panose="02040503050406030204" pitchFamily="18" charset="0"/>
                          <a:cs typeface="Calibri" panose="020F0502020204030204" pitchFamily="34" charset="0"/>
                        </a:rPr>
                        <a:t>: máximo nivel educativo alcanzado (primaria completa </a:t>
                      </a:r>
                      <a:r>
                        <a:rPr lang="es-ES" sz="1400" b="0" baseline="0" dirty="0">
                          <a:solidFill>
                            <a:schemeClr val="tx1"/>
                          </a:solidFill>
                          <a:effectLst/>
                          <a:latin typeface="Cambria" panose="02040503050406030204" pitchFamily="18" charset="0"/>
                          <a:cs typeface="Calibri" panose="020F0502020204030204" pitchFamily="34" charset="0"/>
                        </a:rPr>
                        <a:t> ≠ secundaria completa y, además, primaria completa &lt; secundaria completa).</a:t>
                      </a:r>
                      <a:r>
                        <a:rPr lang="es-ES" sz="1400" b="0" dirty="0">
                          <a:solidFill>
                            <a:schemeClr val="tx1"/>
                          </a:solidFill>
                          <a:effectLst/>
                          <a:latin typeface="Cambria" panose="02040503050406030204" pitchFamily="18" charset="0"/>
                          <a:cs typeface="Calibri" panose="020F0502020204030204" pitchFamily="34" charset="0"/>
                        </a:rPr>
                        <a:t> </a:t>
                      </a:r>
                      <a:r>
                        <a:rPr lang="es-AR" sz="1400" b="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a:t>
                      </a:r>
                    </a:p>
                    <a:p>
                      <a:pPr algn="just">
                        <a:lnSpc>
                          <a:spcPct val="115000"/>
                        </a:lnSpc>
                        <a:spcAft>
                          <a:spcPts val="0"/>
                        </a:spcAft>
                      </a:pPr>
                      <a:r>
                        <a:rPr lang="es-AR" sz="1400" b="1" dirty="0">
                          <a:solidFill>
                            <a:schemeClr val="tx1"/>
                          </a:solidFill>
                          <a:effectLst/>
                          <a:latin typeface="Cambria" panose="02040503050406030204" pitchFamily="18" charset="0"/>
                          <a:ea typeface="Cambria" panose="02040503050406030204" pitchFamily="18" charset="0"/>
                          <a:cs typeface="Calibri" panose="020F0502020204030204" pitchFamily="34" charset="0"/>
                        </a:rPr>
                        <a:t>Cuantitativas</a:t>
                      </a:r>
                    </a:p>
                    <a:p>
                      <a:pPr marL="342900" lvl="0" indent="-342900" algn="just">
                        <a:spcAft>
                          <a:spcPts val="0"/>
                        </a:spcAft>
                        <a:buFont typeface="+mj-lt"/>
                        <a:buAutoNum type="arabicParenR"/>
                      </a:pPr>
                      <a:r>
                        <a:rPr lang="es-ES" sz="1400" b="1" i="1" u="none" dirty="0">
                          <a:solidFill>
                            <a:schemeClr val="tx1"/>
                          </a:solidFill>
                          <a:effectLst/>
                          <a:latin typeface="Cambria" panose="02040503050406030204" pitchFamily="18" charset="0"/>
                          <a:ea typeface="Cambria" panose="02040503050406030204" pitchFamily="18" charset="0"/>
                          <a:cs typeface="Calibri" panose="020F0502020204030204" pitchFamily="34" charset="0"/>
                        </a:rPr>
                        <a:t>De intervalo</a:t>
                      </a:r>
                      <a:r>
                        <a:rPr lang="es-ES" sz="1400" b="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son aquellas en las que puede “cuantificarse” la distancia entre los valores que la integran. </a:t>
                      </a:r>
                    </a:p>
                    <a:p>
                      <a:pPr marL="342900" marR="0" lvl="0" indent="-342900" algn="just" defTabSz="914400" rtl="0" eaLnBrk="1" fontAlgn="auto" latinLnBrk="0" hangingPunct="1">
                        <a:lnSpc>
                          <a:spcPct val="100000"/>
                        </a:lnSpc>
                        <a:spcBef>
                          <a:spcPts val="0"/>
                        </a:spcBef>
                        <a:spcAft>
                          <a:spcPts val="0"/>
                        </a:spcAft>
                        <a:buClrTx/>
                        <a:buSzTx/>
                        <a:buFont typeface="+mj-lt"/>
                        <a:buAutoNum type="arabicParenR"/>
                        <a:tabLst/>
                        <a:defRPr/>
                      </a:pPr>
                      <a:r>
                        <a:rPr lang="es-ES" sz="1400" b="1" i="1" u="none" dirty="0">
                          <a:solidFill>
                            <a:schemeClr val="tx1"/>
                          </a:solidFill>
                          <a:effectLst/>
                          <a:latin typeface="Cambria" panose="02040503050406030204" pitchFamily="18" charset="0"/>
                          <a:ea typeface="Cambria" panose="02040503050406030204" pitchFamily="18" charset="0"/>
                          <a:cs typeface="Calibri" panose="020F0502020204030204" pitchFamily="34" charset="0"/>
                        </a:rPr>
                        <a:t>De razón o proporción</a:t>
                      </a:r>
                      <a:r>
                        <a:rPr lang="es-ES" sz="1400" b="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son las variables de intervalo que tienen un cero absoluto.. </a:t>
                      </a:r>
                      <a:r>
                        <a:rPr lang="es-ES" sz="1400" b="0" u="sng" dirty="0">
                          <a:solidFill>
                            <a:schemeClr val="tx1"/>
                          </a:solidFill>
                          <a:effectLst/>
                          <a:latin typeface="Cambria" panose="02040503050406030204" pitchFamily="18" charset="0"/>
                          <a:cs typeface="Calibri" panose="020F0502020204030204" pitchFamily="34" charset="0"/>
                        </a:rPr>
                        <a:t>Ejemplo:</a:t>
                      </a:r>
                      <a:r>
                        <a:rPr lang="es-ES" sz="1400" b="0" u="none" baseline="0" dirty="0">
                          <a:solidFill>
                            <a:schemeClr val="tx1"/>
                          </a:solidFill>
                          <a:effectLst/>
                          <a:latin typeface="Cambria" panose="02040503050406030204" pitchFamily="18" charset="0"/>
                          <a:cs typeface="Calibri" panose="020F0502020204030204" pitchFamily="34" charset="0"/>
                        </a:rPr>
                        <a:t> </a:t>
                      </a:r>
                      <a:r>
                        <a:rPr lang="es-ES" sz="1400" b="0" u="none" dirty="0">
                          <a:solidFill>
                            <a:schemeClr val="tx1"/>
                          </a:solidFill>
                          <a:effectLst/>
                          <a:latin typeface="Cambria" panose="02040503050406030204" pitchFamily="18" charset="0"/>
                          <a:cs typeface="Calibri" panose="020F0502020204030204" pitchFamily="34" charset="0"/>
                        </a:rPr>
                        <a:t>los</a:t>
                      </a:r>
                      <a:r>
                        <a:rPr lang="es-ES" sz="1400" b="0" dirty="0">
                          <a:solidFill>
                            <a:schemeClr val="tx1"/>
                          </a:solidFill>
                          <a:effectLst/>
                          <a:latin typeface="Cambria" panose="02040503050406030204" pitchFamily="18" charset="0"/>
                          <a:cs typeface="Calibri" panose="020F0502020204030204" pitchFamily="34" charset="0"/>
                        </a:rPr>
                        <a:t> ingresos mensuales</a:t>
                      </a:r>
                      <a:r>
                        <a:rPr lang="es-ES" sz="1400" b="0" baseline="0" dirty="0">
                          <a:solidFill>
                            <a:schemeClr val="tx1"/>
                          </a:solidFill>
                          <a:effectLst/>
                          <a:latin typeface="Cambria" panose="02040503050406030204" pitchFamily="18" charset="0"/>
                          <a:cs typeface="Calibri" panose="020F0502020204030204" pitchFamily="34" charset="0"/>
                        </a:rPr>
                        <a:t> ($10.000 ≠ $12.000, $10.000 &lt; $12.000,  $12.000-$10.000=$2.000). </a:t>
                      </a:r>
                      <a:endParaRPr lang="es-AR" sz="1400" b="0" dirty="0">
                        <a:solidFill>
                          <a:schemeClr val="tx1"/>
                        </a:solidFill>
                        <a:effectLst/>
                        <a:latin typeface="Cambria" panose="02040503050406030204" pitchFamily="18" charset="0"/>
                        <a:cs typeface="Calibri" panose="020F0502020204030204" pitchFamily="34" charset="0"/>
                      </a:endParaRPr>
                    </a:p>
                  </a:txBody>
                  <a:tcPr marL="38580" marR="3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407573"/>
                  </a:ext>
                </a:extLst>
              </a:tr>
              <a:tr h="698407">
                <a:tc>
                  <a:txBody>
                    <a:bodyPr/>
                    <a:lstStyle/>
                    <a:p>
                      <a:pPr algn="l">
                        <a:lnSpc>
                          <a:spcPct val="115000"/>
                        </a:lnSpc>
                        <a:spcAft>
                          <a:spcPts val="0"/>
                        </a:spcAft>
                      </a:pPr>
                      <a:r>
                        <a:rPr lang="es-AR" sz="1400" i="1" dirty="0">
                          <a:solidFill>
                            <a:schemeClr val="tx1"/>
                          </a:solidFill>
                          <a:effectLst/>
                          <a:latin typeface="Cambria" panose="02040503050406030204" pitchFamily="18" charset="0"/>
                          <a:ea typeface="Cambria" panose="02040503050406030204" pitchFamily="18" charset="0"/>
                          <a:cs typeface="Calibri" panose="020F0502020204030204" pitchFamily="34" charset="0"/>
                        </a:rPr>
                        <a:t>Escala de medición</a:t>
                      </a:r>
                    </a:p>
                  </a:txBody>
                  <a:tcPr marL="38580" marR="3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just">
                        <a:lnSpc>
                          <a:spcPct val="115000"/>
                        </a:lnSpc>
                        <a:spcAft>
                          <a:spcPts val="0"/>
                        </a:spcAft>
                      </a:pPr>
                      <a:r>
                        <a:rPr lang="es-AR" sz="1400" b="1" u="none" dirty="0">
                          <a:solidFill>
                            <a:schemeClr val="tx1"/>
                          </a:solidFill>
                          <a:effectLst/>
                          <a:latin typeface="Cambria" panose="02040503050406030204" pitchFamily="18" charset="0"/>
                          <a:ea typeface="Cambria" panose="02040503050406030204" pitchFamily="18" charset="0"/>
                          <a:cs typeface="Calibri" panose="020F0502020204030204" pitchFamily="34" charset="0"/>
                        </a:rPr>
                        <a:t>Continuas</a:t>
                      </a:r>
                      <a:r>
                        <a:rPr lang="es-AR" sz="140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son aquellas en las que se puede encontrar valores intermedios en el sistema de categorías.</a:t>
                      </a:r>
                    </a:p>
                    <a:p>
                      <a:pPr algn="just">
                        <a:lnSpc>
                          <a:spcPct val="115000"/>
                        </a:lnSpc>
                        <a:spcAft>
                          <a:spcPts val="0"/>
                        </a:spcAft>
                      </a:pPr>
                      <a:r>
                        <a:rPr lang="es-AR" sz="1400" b="1" u="none" dirty="0">
                          <a:solidFill>
                            <a:schemeClr val="tx1"/>
                          </a:solidFill>
                          <a:effectLst/>
                          <a:latin typeface="Cambria" panose="02040503050406030204" pitchFamily="18" charset="0"/>
                          <a:ea typeface="Cambria" panose="02040503050406030204" pitchFamily="18" charset="0"/>
                          <a:cs typeface="Calibri" panose="020F0502020204030204" pitchFamily="34" charset="0"/>
                        </a:rPr>
                        <a:t>Discretas</a:t>
                      </a:r>
                      <a:r>
                        <a:rPr lang="es-AR" sz="1400" b="1" u="none" baseline="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 </a:t>
                      </a:r>
                      <a:r>
                        <a:rPr lang="es-AR" sz="1400" dirty="0">
                          <a:solidFill>
                            <a:schemeClr val="tx1"/>
                          </a:solidFill>
                          <a:effectLst/>
                          <a:latin typeface="Cambria" panose="02040503050406030204" pitchFamily="18" charset="0"/>
                          <a:ea typeface="Cambria" panose="02040503050406030204" pitchFamily="18" charset="0"/>
                          <a:cs typeface="Calibri" panose="020F0502020204030204" pitchFamily="34" charset="0"/>
                        </a:rPr>
                        <a:t>son aquellas en las que no existen valores intermedios. Ejemplo: número de hijos. </a:t>
                      </a:r>
                    </a:p>
                  </a:txBody>
                  <a:tcPr marL="38580" marR="3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9148949"/>
                  </a:ext>
                </a:extLst>
              </a:tr>
              <a:tr h="698407">
                <a:tc>
                  <a:txBody>
                    <a:bodyPr/>
                    <a:lstStyle/>
                    <a:p>
                      <a:pPr algn="l">
                        <a:lnSpc>
                          <a:spcPct val="115000"/>
                        </a:lnSpc>
                        <a:spcAft>
                          <a:spcPts val="0"/>
                        </a:spcAft>
                      </a:pPr>
                      <a:r>
                        <a:rPr lang="es-AR" sz="1400" i="1" dirty="0">
                          <a:solidFill>
                            <a:schemeClr val="tx1"/>
                          </a:solidFill>
                          <a:effectLst/>
                          <a:latin typeface="Cambria" panose="02040503050406030204" pitchFamily="18" charset="0"/>
                          <a:ea typeface="Cambria" panose="02040503050406030204" pitchFamily="18" charset="0"/>
                          <a:cs typeface="Calibri" panose="020F0502020204030204" pitchFamily="34" charset="0"/>
                        </a:rPr>
                        <a:t>Función en la investigación</a:t>
                      </a:r>
                    </a:p>
                  </a:txBody>
                  <a:tcPr marL="38580" marR="3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just">
                        <a:lnSpc>
                          <a:spcPct val="115000"/>
                        </a:lnSpc>
                        <a:spcAft>
                          <a:spcPts val="0"/>
                        </a:spcAft>
                      </a:pPr>
                      <a:r>
                        <a:rPr lang="es-AR" sz="1400" b="1" dirty="0">
                          <a:solidFill>
                            <a:schemeClr val="tx1"/>
                          </a:solidFill>
                          <a:effectLst/>
                          <a:latin typeface="Cambria" panose="02040503050406030204" pitchFamily="18" charset="0"/>
                          <a:ea typeface="Cambria" panose="02040503050406030204" pitchFamily="18" charset="0"/>
                          <a:cs typeface="Calibri" panose="020F0502020204030204" pitchFamily="34" charset="0"/>
                        </a:rPr>
                        <a:t>Independientes</a:t>
                      </a:r>
                    </a:p>
                    <a:p>
                      <a:pPr algn="just">
                        <a:lnSpc>
                          <a:spcPct val="115000"/>
                        </a:lnSpc>
                        <a:spcAft>
                          <a:spcPts val="0"/>
                        </a:spcAft>
                      </a:pPr>
                      <a:r>
                        <a:rPr lang="es-AR" sz="1400" b="1" dirty="0">
                          <a:solidFill>
                            <a:schemeClr val="tx1"/>
                          </a:solidFill>
                          <a:effectLst/>
                          <a:latin typeface="Cambria" panose="02040503050406030204" pitchFamily="18" charset="0"/>
                          <a:ea typeface="Cambria" panose="02040503050406030204" pitchFamily="18" charset="0"/>
                          <a:cs typeface="Calibri" panose="020F0502020204030204" pitchFamily="34" charset="0"/>
                        </a:rPr>
                        <a:t>Dependientes</a:t>
                      </a:r>
                    </a:p>
                    <a:p>
                      <a:pPr algn="just">
                        <a:lnSpc>
                          <a:spcPct val="115000"/>
                        </a:lnSpc>
                        <a:spcAft>
                          <a:spcPts val="0"/>
                        </a:spcAft>
                      </a:pPr>
                      <a:r>
                        <a:rPr lang="es-AR" sz="1400" b="1" dirty="0">
                          <a:solidFill>
                            <a:schemeClr val="tx1"/>
                          </a:solidFill>
                          <a:effectLst/>
                          <a:latin typeface="Cambria" panose="02040503050406030204" pitchFamily="18" charset="0"/>
                          <a:ea typeface="Cambria" panose="02040503050406030204" pitchFamily="18" charset="0"/>
                          <a:cs typeface="Calibri" panose="020F0502020204030204" pitchFamily="34" charset="0"/>
                        </a:rPr>
                        <a:t>Intervinientes o de control</a:t>
                      </a:r>
                    </a:p>
                  </a:txBody>
                  <a:tcPr marL="38580" marR="3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567060"/>
                  </a:ext>
                </a:extLst>
              </a:tr>
            </a:tbl>
          </a:graphicData>
        </a:graphic>
      </p:graphicFrame>
    </p:spTree>
    <p:extLst>
      <p:ext uri="{BB962C8B-B14F-4D97-AF65-F5344CB8AC3E}">
        <p14:creationId xmlns:p14="http://schemas.microsoft.com/office/powerpoint/2010/main" val="2081416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angle 3">
            <a:extLst>
              <a:ext uri="{FF2B5EF4-FFF2-40B4-BE49-F238E27FC236}">
                <a16:creationId xmlns:a16="http://schemas.microsoft.com/office/drawing/2014/main" id="{F4F04492-2A97-45A3-94D0-EA8C4F3975E3}"/>
              </a:ext>
            </a:extLst>
          </p:cNvPr>
          <p:cNvSpPr txBox="1">
            <a:spLocks noChangeArrowheads="1"/>
          </p:cNvSpPr>
          <p:nvPr/>
        </p:nvSpPr>
        <p:spPr bwMode="auto">
          <a:xfrm>
            <a:off x="287337" y="3285364"/>
            <a:ext cx="7272338"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cs typeface="+mn-cs"/>
              </a:defRPr>
            </a:lvl5pPr>
            <a:lvl6pPr marL="21383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a:lstStyle>
          <a:p>
            <a:pPr marL="571500" indent="-571500" eaLnBrk="1" hangingPunct="1">
              <a:buFont typeface="Wingdings" panose="05000000000000000000" pitchFamily="2" charset="2"/>
              <a:buNone/>
            </a:pPr>
            <a:r>
              <a:rPr lang="es-AR" altLang="es-AR" sz="3600" b="1" kern="0" dirty="0">
                <a:solidFill>
                  <a:schemeClr val="bg1">
                    <a:lumMod val="50000"/>
                  </a:schemeClr>
                </a:solidFill>
                <a:latin typeface="Arial" panose="020B0604020202020204" pitchFamily="34" charset="0"/>
                <a:cs typeface="Arial" panose="020B0604020202020204" pitchFamily="34" charset="0"/>
              </a:rPr>
              <a:t>PARTE 2</a:t>
            </a:r>
          </a:p>
          <a:p>
            <a:pPr marL="0" indent="0" eaLnBrk="1" hangingPunct="1">
              <a:buFont typeface="Wingdings" panose="05000000000000000000" pitchFamily="2" charset="2"/>
              <a:buNone/>
            </a:pPr>
            <a:r>
              <a:rPr lang="es-AR" altLang="es-AR" sz="3600" b="1" kern="0" dirty="0">
                <a:solidFill>
                  <a:schemeClr val="bg1">
                    <a:lumMod val="50000"/>
                  </a:schemeClr>
                </a:solidFill>
                <a:latin typeface="Arial" panose="020B0604020202020204" pitchFamily="34" charset="0"/>
                <a:cs typeface="Arial" panose="020B0604020202020204" pitchFamily="34" charset="0"/>
              </a:rPr>
              <a:t>La organización de la información cuantitativa</a:t>
            </a:r>
          </a:p>
        </p:txBody>
      </p:sp>
    </p:spTree>
    <p:extLst>
      <p:ext uri="{BB962C8B-B14F-4D97-AF65-F5344CB8AC3E}">
        <p14:creationId xmlns:p14="http://schemas.microsoft.com/office/powerpoint/2010/main" val="1620855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5" name="10 CuadroTexto"/>
          <p:cNvSpPr txBox="1"/>
          <p:nvPr/>
        </p:nvSpPr>
        <p:spPr>
          <a:xfrm>
            <a:off x="152779" y="253778"/>
            <a:ext cx="8740395" cy="461665"/>
          </a:xfrm>
          <a:prstGeom prst="rect">
            <a:avLst/>
          </a:prstGeom>
          <a:noFill/>
        </p:spPr>
        <p:txBody>
          <a:bodyPr wrap="square" rtlCol="0">
            <a:spAutoFit/>
          </a:bodyPr>
          <a:lstStyle/>
          <a:p>
            <a:r>
              <a:rPr lang="es-AR" sz="2400" dirty="0">
                <a:latin typeface="Cambria" panose="02040503050406030204" pitchFamily="18" charset="0"/>
              </a:rPr>
              <a:t>Del proceso de recolección a la matriz de datos</a:t>
            </a:r>
          </a:p>
        </p:txBody>
      </p:sp>
      <p:sp>
        <p:nvSpPr>
          <p:cNvPr id="16"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7"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5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250824" y="1336221"/>
            <a:ext cx="8642349"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cs typeface="Calibri" panose="020F0502020204030204" pitchFamily="34" charset="0"/>
              </a:rPr>
              <a:t>Por lo general, aunque no exclusivamente, el proceso de análisis estadístico se inicia a continuación de un proceso de recolección de datos. Por ejemplo, luego de haber aplicado una encuesta. </a:t>
            </a:r>
          </a:p>
          <a:p>
            <a:pPr marL="463550" lvl="1" algn="just">
              <a:buFont typeface="Arial" panose="020B0604020202020204" pitchFamily="34" charset="0"/>
              <a:buChar char="•"/>
            </a:pPr>
            <a:endParaRPr lang="es-ES" altLang="es-AR" dirty="0">
              <a:latin typeface="Cambria" panose="02040503050406030204" pitchFamily="18" charset="0"/>
              <a:ea typeface="Cambria" panose="02040503050406030204" pitchFamily="18" charset="0"/>
              <a:cs typeface="Calibri" panose="020F0502020204030204" pitchFamily="34" charset="0"/>
            </a:endParaRPr>
          </a:p>
          <a:p>
            <a:pPr marL="463550" lvl="1"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cs typeface="Calibri" panose="020F0502020204030204" pitchFamily="34" charset="0"/>
              </a:rPr>
              <a:t>La </a:t>
            </a:r>
            <a:r>
              <a:rPr lang="es-ES" altLang="es-AR" b="1" dirty="0">
                <a:latin typeface="Cambria" panose="02040503050406030204" pitchFamily="18" charset="0"/>
                <a:ea typeface="Cambria" panose="02040503050406030204" pitchFamily="18" charset="0"/>
                <a:cs typeface="Calibri" panose="020F0502020204030204" pitchFamily="34" charset="0"/>
              </a:rPr>
              <a:t>matriz de datos</a:t>
            </a:r>
            <a:r>
              <a:rPr lang="es-ES" altLang="es-AR" dirty="0">
                <a:latin typeface="Cambria" panose="02040503050406030204" pitchFamily="18" charset="0"/>
                <a:ea typeface="Cambria" panose="02040503050406030204" pitchFamily="18" charset="0"/>
                <a:cs typeface="Calibri" panose="020F0502020204030204" pitchFamily="34" charset="0"/>
              </a:rPr>
              <a:t> (o, más generalmente, la base de datos) es así el </a:t>
            </a:r>
            <a:r>
              <a:rPr lang="es-ES" altLang="es-AR" i="1" dirty="0">
                <a:latin typeface="Cambria" panose="02040503050406030204" pitchFamily="18" charset="0"/>
                <a:ea typeface="Cambria" panose="02040503050406030204" pitchFamily="18" charset="0"/>
                <a:cs typeface="Calibri" panose="020F0502020204030204" pitchFamily="34" charset="0"/>
              </a:rPr>
              <a:t>punto de llegada</a:t>
            </a:r>
            <a:r>
              <a:rPr lang="es-ES" altLang="es-AR" dirty="0">
                <a:latin typeface="Cambria" panose="02040503050406030204" pitchFamily="18" charset="0"/>
                <a:ea typeface="Cambria" panose="02040503050406030204" pitchFamily="18" charset="0"/>
                <a:cs typeface="Calibri" panose="020F0502020204030204" pitchFamily="34" charset="0"/>
              </a:rPr>
              <a:t> de muchas decisiones metodológicas y el </a:t>
            </a:r>
            <a:r>
              <a:rPr lang="es-ES" altLang="es-AR" i="1" dirty="0">
                <a:latin typeface="Cambria" panose="02040503050406030204" pitchFamily="18" charset="0"/>
                <a:ea typeface="Cambria" panose="02040503050406030204" pitchFamily="18" charset="0"/>
                <a:cs typeface="Calibri" panose="020F0502020204030204" pitchFamily="34" charset="0"/>
              </a:rPr>
              <a:t>punto de partida</a:t>
            </a:r>
            <a:r>
              <a:rPr lang="es-ES" altLang="es-AR" dirty="0">
                <a:latin typeface="Cambria" panose="02040503050406030204" pitchFamily="18" charset="0"/>
                <a:ea typeface="Cambria" panose="02040503050406030204" pitchFamily="18" charset="0"/>
                <a:cs typeface="Calibri" panose="020F0502020204030204" pitchFamily="34" charset="0"/>
              </a:rPr>
              <a:t> del análisis estadístico, con auxilio de nuestra perspectiva teórico-metodológica.</a:t>
            </a:r>
          </a:p>
          <a:p>
            <a:pPr marL="463550" lvl="1" algn="just">
              <a:buFont typeface="Arial" panose="020B0604020202020204" pitchFamily="34" charset="0"/>
              <a:buChar char="•"/>
            </a:pPr>
            <a:endParaRPr lang="es-ES" altLang="es-AR" dirty="0">
              <a:latin typeface="Cambria" panose="02040503050406030204" pitchFamily="18" charset="0"/>
              <a:ea typeface="Cambria" panose="02040503050406030204" pitchFamily="18" charset="0"/>
              <a:cs typeface="Calibri" panose="020F0502020204030204" pitchFamily="34" charset="0"/>
            </a:endParaRPr>
          </a:p>
          <a:p>
            <a:pPr marL="463550" lvl="1"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cs typeface="Calibri" panose="020F0502020204030204" pitchFamily="34" charset="0"/>
              </a:rPr>
              <a:t>La matriz de datos es el primer paso para la organización de la información cuantitativa. Es una estructura rectangular en la cual cada </a:t>
            </a:r>
            <a:r>
              <a:rPr lang="es-ES" altLang="es-AR" b="1" dirty="0">
                <a:latin typeface="Cambria" panose="02040503050406030204" pitchFamily="18" charset="0"/>
                <a:ea typeface="Cambria" panose="02040503050406030204" pitchFamily="18" charset="0"/>
                <a:cs typeface="Calibri" panose="020F0502020204030204" pitchFamily="34" charset="0"/>
              </a:rPr>
              <a:t>fila</a:t>
            </a:r>
            <a:r>
              <a:rPr lang="es-ES" altLang="es-AR" dirty="0">
                <a:latin typeface="Cambria" panose="02040503050406030204" pitchFamily="18" charset="0"/>
                <a:ea typeface="Cambria" panose="02040503050406030204" pitchFamily="18" charset="0"/>
                <a:cs typeface="Calibri" panose="020F0502020204030204" pitchFamily="34" charset="0"/>
              </a:rPr>
              <a:t> representa un caso/unidad de análisis, cada </a:t>
            </a:r>
            <a:r>
              <a:rPr lang="es-ES" altLang="es-AR" b="1" dirty="0">
                <a:latin typeface="Cambria" panose="02040503050406030204" pitchFamily="18" charset="0"/>
                <a:ea typeface="Cambria" panose="02040503050406030204" pitchFamily="18" charset="0"/>
                <a:cs typeface="Calibri" panose="020F0502020204030204" pitchFamily="34" charset="0"/>
              </a:rPr>
              <a:t>columna</a:t>
            </a:r>
            <a:r>
              <a:rPr lang="es-ES" altLang="es-AR" dirty="0">
                <a:latin typeface="Cambria" panose="02040503050406030204" pitchFamily="18" charset="0"/>
                <a:ea typeface="Cambria" panose="02040503050406030204" pitchFamily="18" charset="0"/>
                <a:cs typeface="Calibri" panose="020F0502020204030204" pitchFamily="34" charset="0"/>
              </a:rPr>
              <a:t> representa una variable y cada </a:t>
            </a:r>
            <a:r>
              <a:rPr lang="es-ES" altLang="es-AR" b="1" dirty="0">
                <a:latin typeface="Cambria" panose="02040503050406030204" pitchFamily="18" charset="0"/>
                <a:ea typeface="Cambria" panose="02040503050406030204" pitchFamily="18" charset="0"/>
                <a:cs typeface="Calibri" panose="020F0502020204030204" pitchFamily="34" charset="0"/>
              </a:rPr>
              <a:t>celda</a:t>
            </a:r>
            <a:r>
              <a:rPr lang="es-ES" altLang="es-AR" dirty="0">
                <a:latin typeface="Cambria" panose="02040503050406030204" pitchFamily="18" charset="0"/>
                <a:ea typeface="Cambria" panose="02040503050406030204" pitchFamily="18" charset="0"/>
                <a:cs typeface="Calibri" panose="020F0502020204030204" pitchFamily="34" charset="0"/>
              </a:rPr>
              <a:t> representa un valor de la variable para la unidad de análisis.</a:t>
            </a:r>
          </a:p>
          <a:p>
            <a:pPr marL="863600" lvl="2" algn="just">
              <a:buFont typeface="Arial" panose="020B0604020202020204" pitchFamily="34" charset="0"/>
              <a:buChar char="•"/>
            </a:pPr>
            <a:endParaRPr lang="es-ES" altLang="es-AR" dirty="0">
              <a:latin typeface="Cambria" panose="02040503050406030204" pitchFamily="18" charset="0"/>
              <a:ea typeface="Cambria" panose="02040503050406030204" pitchFamily="18" charset="0"/>
              <a:cs typeface="Calibri" panose="020F0502020204030204" pitchFamily="34" charset="0"/>
            </a:endParaRPr>
          </a:p>
          <a:p>
            <a:pPr marL="863600" lvl="2" algn="just">
              <a:buFont typeface="Arial" panose="020B0604020202020204" pitchFamily="34" charset="0"/>
              <a:buChar char="•"/>
            </a:pPr>
            <a:endParaRPr lang="es-AR" altLang="es-AR"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277956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Del proceso de recolección a la matriz de datos</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25" name="24 CuadroTexto"/>
          <p:cNvSpPr txBox="1"/>
          <p:nvPr/>
        </p:nvSpPr>
        <p:spPr>
          <a:xfrm>
            <a:off x="250823" y="1196752"/>
            <a:ext cx="8642351" cy="338554"/>
          </a:xfrm>
          <a:prstGeom prst="rect">
            <a:avLst/>
          </a:prstGeom>
          <a:noFill/>
        </p:spPr>
        <p:txBody>
          <a:bodyPr wrap="square" rtlCol="0">
            <a:spAutoFit/>
          </a:bodyPr>
          <a:lstStyle/>
          <a:p>
            <a:pPr marL="285750" lvl="1" indent="-285750" algn="just">
              <a:buFont typeface="Arial" panose="020B0604020202020204" pitchFamily="34" charset="0"/>
              <a:buChar char="•"/>
            </a:pPr>
            <a:r>
              <a:rPr lang="es-AR" sz="1600" dirty="0">
                <a:latin typeface="Cambria" panose="02040503050406030204" pitchFamily="18" charset="0"/>
                <a:ea typeface="Cambria" panose="02040503050406030204" pitchFamily="18" charset="0"/>
              </a:rPr>
              <a:t>Su estructura revela así el </a:t>
            </a:r>
            <a:r>
              <a:rPr lang="es-AR" sz="1600" b="1" i="1" dirty="0">
                <a:solidFill>
                  <a:srgbClr val="2A8A85"/>
                </a:solidFill>
                <a:latin typeface="Cambria" panose="02040503050406030204" pitchFamily="18" charset="0"/>
                <a:ea typeface="Cambria" panose="02040503050406030204" pitchFamily="18" charset="0"/>
              </a:rPr>
              <a:t>carácter tripartito</a:t>
            </a:r>
            <a:r>
              <a:rPr lang="es-AR" sz="1600" dirty="0">
                <a:latin typeface="Cambria" panose="02040503050406030204" pitchFamily="18" charset="0"/>
                <a:ea typeface="Cambria" panose="02040503050406030204" pitchFamily="18" charset="0"/>
              </a:rPr>
              <a:t> del dato.  </a:t>
            </a:r>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graphicFrame>
        <p:nvGraphicFramePr>
          <p:cNvPr id="12" name="Tabla 11">
            <a:extLst>
              <a:ext uri="{FF2B5EF4-FFF2-40B4-BE49-F238E27FC236}">
                <a16:creationId xmlns:a16="http://schemas.microsoft.com/office/drawing/2014/main" id="{CB981B29-876F-4C5E-8DF2-BEBE8401B813}"/>
              </a:ext>
            </a:extLst>
          </p:cNvPr>
          <p:cNvGraphicFramePr>
            <a:graphicFrameLocks noGrp="1"/>
          </p:cNvGraphicFramePr>
          <p:nvPr>
            <p:extLst>
              <p:ext uri="{D42A27DB-BD31-4B8C-83A1-F6EECF244321}">
                <p14:modId xmlns:p14="http://schemas.microsoft.com/office/powerpoint/2010/main" val="3709877081"/>
              </p:ext>
            </p:extLst>
          </p:nvPr>
        </p:nvGraphicFramePr>
        <p:xfrm>
          <a:off x="1074986" y="2706395"/>
          <a:ext cx="5339192" cy="3015901"/>
        </p:xfrm>
        <a:graphic>
          <a:graphicData uri="http://schemas.openxmlformats.org/drawingml/2006/table">
            <a:tbl>
              <a:tblPr firstRow="1" bandRow="1">
                <a:tableStyleId>{5C22544A-7EE6-4342-B048-85BDC9FD1C3A}</a:tableStyleId>
              </a:tblPr>
              <a:tblGrid>
                <a:gridCol w="1306745">
                  <a:extLst>
                    <a:ext uri="{9D8B030D-6E8A-4147-A177-3AD203B41FA5}">
                      <a16:colId xmlns:a16="http://schemas.microsoft.com/office/drawing/2014/main" val="4284902213"/>
                    </a:ext>
                  </a:extLst>
                </a:gridCol>
                <a:gridCol w="792088">
                  <a:extLst>
                    <a:ext uri="{9D8B030D-6E8A-4147-A177-3AD203B41FA5}">
                      <a16:colId xmlns:a16="http://schemas.microsoft.com/office/drawing/2014/main" val="942763912"/>
                    </a:ext>
                  </a:extLst>
                </a:gridCol>
                <a:gridCol w="936104">
                  <a:extLst>
                    <a:ext uri="{9D8B030D-6E8A-4147-A177-3AD203B41FA5}">
                      <a16:colId xmlns:a16="http://schemas.microsoft.com/office/drawing/2014/main" val="2934495455"/>
                    </a:ext>
                  </a:extLst>
                </a:gridCol>
                <a:gridCol w="2304255">
                  <a:extLst>
                    <a:ext uri="{9D8B030D-6E8A-4147-A177-3AD203B41FA5}">
                      <a16:colId xmlns:a16="http://schemas.microsoft.com/office/drawing/2014/main" val="415737322"/>
                    </a:ext>
                  </a:extLst>
                </a:gridCol>
              </a:tblGrid>
              <a:tr h="347965">
                <a:tc>
                  <a:txBody>
                    <a:bodyPr/>
                    <a:lstStyle/>
                    <a:p>
                      <a:r>
                        <a:rPr lang="es-AR" sz="1600" dirty="0"/>
                        <a:t>Caso</a:t>
                      </a:r>
                    </a:p>
                  </a:txBody>
                  <a:tcPr/>
                </a:tc>
                <a:tc>
                  <a:txBody>
                    <a:bodyPr/>
                    <a:lstStyle/>
                    <a:p>
                      <a:r>
                        <a:rPr lang="es-AR" sz="1600" dirty="0"/>
                        <a:t>Edad</a:t>
                      </a:r>
                    </a:p>
                  </a:txBody>
                  <a:tcPr/>
                </a:tc>
                <a:tc>
                  <a:txBody>
                    <a:bodyPr/>
                    <a:lstStyle/>
                    <a:p>
                      <a:r>
                        <a:rPr lang="es-AR" sz="1600" dirty="0"/>
                        <a:t>Sexo</a:t>
                      </a:r>
                    </a:p>
                  </a:txBody>
                  <a:tcPr/>
                </a:tc>
                <a:tc>
                  <a:txBody>
                    <a:bodyPr/>
                    <a:lstStyle/>
                    <a:p>
                      <a:r>
                        <a:rPr lang="es-AR" sz="1600" dirty="0"/>
                        <a:t>Puntaje en Literatura</a:t>
                      </a:r>
                    </a:p>
                  </a:txBody>
                  <a:tcPr/>
                </a:tc>
                <a:extLst>
                  <a:ext uri="{0D108BD9-81ED-4DB2-BD59-A6C34878D82A}">
                    <a16:rowId xmlns:a16="http://schemas.microsoft.com/office/drawing/2014/main" val="1507324884"/>
                  </a:ext>
                </a:extLst>
              </a:tr>
              <a:tr h="388776">
                <a:tc>
                  <a:txBody>
                    <a:bodyPr/>
                    <a:lstStyle/>
                    <a:p>
                      <a:r>
                        <a:rPr lang="es-AR" sz="1600" dirty="0"/>
                        <a:t>Juan</a:t>
                      </a:r>
                    </a:p>
                  </a:txBody>
                  <a:tcPr/>
                </a:tc>
                <a:tc>
                  <a:txBody>
                    <a:bodyPr/>
                    <a:lstStyle/>
                    <a:p>
                      <a:r>
                        <a:rPr lang="es-AR" sz="1600" dirty="0"/>
                        <a:t>22</a:t>
                      </a:r>
                    </a:p>
                  </a:txBody>
                  <a:tcPr/>
                </a:tc>
                <a:tc>
                  <a:txBody>
                    <a:bodyPr/>
                    <a:lstStyle/>
                    <a:p>
                      <a:r>
                        <a:rPr lang="es-AR" sz="1600" dirty="0"/>
                        <a:t>Varón</a:t>
                      </a:r>
                    </a:p>
                  </a:txBody>
                  <a:tcPr/>
                </a:tc>
                <a:tc>
                  <a:txBody>
                    <a:bodyPr/>
                    <a:lstStyle/>
                    <a:p>
                      <a:r>
                        <a:rPr lang="es-AR" sz="1600" dirty="0"/>
                        <a:t>8</a:t>
                      </a:r>
                    </a:p>
                  </a:txBody>
                  <a:tcPr/>
                </a:tc>
                <a:extLst>
                  <a:ext uri="{0D108BD9-81ED-4DB2-BD59-A6C34878D82A}">
                    <a16:rowId xmlns:a16="http://schemas.microsoft.com/office/drawing/2014/main" val="1552225516"/>
                  </a:ext>
                </a:extLst>
              </a:tr>
              <a:tr h="388776">
                <a:tc>
                  <a:txBody>
                    <a:bodyPr/>
                    <a:lstStyle/>
                    <a:p>
                      <a:r>
                        <a:rPr lang="es-AR" sz="1600" dirty="0"/>
                        <a:t>María</a:t>
                      </a:r>
                    </a:p>
                  </a:txBody>
                  <a:tcPr/>
                </a:tc>
                <a:tc>
                  <a:txBody>
                    <a:bodyPr/>
                    <a:lstStyle/>
                    <a:p>
                      <a:r>
                        <a:rPr lang="es-AR" sz="1600" dirty="0"/>
                        <a:t>21</a:t>
                      </a:r>
                    </a:p>
                  </a:txBody>
                  <a:tcPr/>
                </a:tc>
                <a:tc>
                  <a:txBody>
                    <a:bodyPr/>
                    <a:lstStyle/>
                    <a:p>
                      <a:r>
                        <a:rPr lang="es-AR" sz="1600" dirty="0"/>
                        <a:t>Mujer</a:t>
                      </a:r>
                    </a:p>
                  </a:txBody>
                  <a:tcPr/>
                </a:tc>
                <a:tc>
                  <a:txBody>
                    <a:bodyPr/>
                    <a:lstStyle/>
                    <a:p>
                      <a:r>
                        <a:rPr lang="es-AR" sz="1600" dirty="0"/>
                        <a:t>5</a:t>
                      </a:r>
                    </a:p>
                  </a:txBody>
                  <a:tcPr/>
                </a:tc>
                <a:extLst>
                  <a:ext uri="{0D108BD9-81ED-4DB2-BD59-A6C34878D82A}">
                    <a16:rowId xmlns:a16="http://schemas.microsoft.com/office/drawing/2014/main" val="990789375"/>
                  </a:ext>
                </a:extLst>
              </a:tr>
              <a:tr h="330288">
                <a:tc>
                  <a:txBody>
                    <a:bodyPr/>
                    <a:lstStyle/>
                    <a:p>
                      <a:r>
                        <a:rPr lang="es-AR" sz="1600" dirty="0"/>
                        <a:t>Ana</a:t>
                      </a:r>
                    </a:p>
                  </a:txBody>
                  <a:tcPr/>
                </a:tc>
                <a:tc>
                  <a:txBody>
                    <a:bodyPr/>
                    <a:lstStyle/>
                    <a:p>
                      <a:r>
                        <a:rPr lang="es-AR" sz="1600" dirty="0"/>
                        <a:t>24</a:t>
                      </a:r>
                    </a:p>
                  </a:txBody>
                  <a:tcPr/>
                </a:tc>
                <a:tc>
                  <a:txBody>
                    <a:bodyPr/>
                    <a:lstStyle/>
                    <a:p>
                      <a:r>
                        <a:rPr lang="es-AR" sz="1600" dirty="0"/>
                        <a:t>Mujer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600" dirty="0"/>
                        <a:t>10</a:t>
                      </a:r>
                    </a:p>
                  </a:txBody>
                  <a:tcPr/>
                </a:tc>
                <a:extLst>
                  <a:ext uri="{0D108BD9-81ED-4DB2-BD59-A6C34878D82A}">
                    <a16:rowId xmlns:a16="http://schemas.microsoft.com/office/drawing/2014/main" val="944310299"/>
                  </a:ext>
                </a:extLst>
              </a:tr>
              <a:tr h="388776">
                <a:tc>
                  <a:txBody>
                    <a:bodyPr/>
                    <a:lstStyle/>
                    <a:p>
                      <a:r>
                        <a:rPr lang="es-AR" sz="1600" dirty="0"/>
                        <a:t>Matías</a:t>
                      </a:r>
                    </a:p>
                  </a:txBody>
                  <a:tcPr/>
                </a:tc>
                <a:tc>
                  <a:txBody>
                    <a:bodyPr/>
                    <a:lstStyle/>
                    <a:p>
                      <a:r>
                        <a:rPr lang="es-AR" sz="1600" dirty="0"/>
                        <a:t>23</a:t>
                      </a:r>
                    </a:p>
                  </a:txBody>
                  <a:tcPr/>
                </a:tc>
                <a:tc>
                  <a:txBody>
                    <a:bodyPr/>
                    <a:lstStyle/>
                    <a:p>
                      <a:r>
                        <a:rPr lang="es-AR" sz="1600" dirty="0"/>
                        <a:t>Varón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600" dirty="0"/>
                        <a:t>6</a:t>
                      </a:r>
                    </a:p>
                  </a:txBody>
                  <a:tcPr/>
                </a:tc>
                <a:extLst>
                  <a:ext uri="{0D108BD9-81ED-4DB2-BD59-A6C34878D82A}">
                    <a16:rowId xmlns:a16="http://schemas.microsoft.com/office/drawing/2014/main" val="834462892"/>
                  </a:ext>
                </a:extLst>
              </a:tr>
              <a:tr h="388776">
                <a:tc>
                  <a:txBody>
                    <a:bodyPr/>
                    <a:lstStyle/>
                    <a:p>
                      <a:r>
                        <a:rPr lang="es-AR" sz="1600" dirty="0"/>
                        <a:t>Adrián</a:t>
                      </a:r>
                    </a:p>
                  </a:txBody>
                  <a:tcPr/>
                </a:tc>
                <a:tc>
                  <a:txBody>
                    <a:bodyPr/>
                    <a:lstStyle/>
                    <a:p>
                      <a:r>
                        <a:rPr lang="es-AR" sz="1600" dirty="0"/>
                        <a:t>32</a:t>
                      </a:r>
                    </a:p>
                  </a:txBody>
                  <a:tcPr/>
                </a:tc>
                <a:tc>
                  <a:txBody>
                    <a:bodyPr/>
                    <a:lstStyle/>
                    <a:p>
                      <a:r>
                        <a:rPr lang="es-AR" sz="1600" dirty="0"/>
                        <a:t>Varón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600" dirty="0"/>
                        <a:t>4</a:t>
                      </a:r>
                    </a:p>
                  </a:txBody>
                  <a:tcPr/>
                </a:tc>
                <a:extLst>
                  <a:ext uri="{0D108BD9-81ED-4DB2-BD59-A6C34878D82A}">
                    <a16:rowId xmlns:a16="http://schemas.microsoft.com/office/drawing/2014/main" val="2445403075"/>
                  </a:ext>
                </a:extLst>
              </a:tr>
              <a:tr h="388776">
                <a:tc>
                  <a:txBody>
                    <a:bodyPr/>
                    <a:lstStyle/>
                    <a:p>
                      <a:r>
                        <a:rPr lang="es-AR" sz="1600" dirty="0"/>
                        <a:t>Laura</a:t>
                      </a:r>
                    </a:p>
                  </a:txBody>
                  <a:tcPr/>
                </a:tc>
                <a:tc>
                  <a:txBody>
                    <a:bodyPr/>
                    <a:lstStyle/>
                    <a:p>
                      <a:r>
                        <a:rPr lang="es-AR" sz="1600" dirty="0"/>
                        <a:t>20</a:t>
                      </a:r>
                    </a:p>
                  </a:txBody>
                  <a:tcPr/>
                </a:tc>
                <a:tc>
                  <a:txBody>
                    <a:bodyPr/>
                    <a:lstStyle/>
                    <a:p>
                      <a:r>
                        <a:rPr lang="es-AR" sz="1600" dirty="0"/>
                        <a:t>Mujer</a:t>
                      </a:r>
                    </a:p>
                  </a:txBody>
                  <a:tcPr/>
                </a:tc>
                <a:tc>
                  <a:txBody>
                    <a:bodyPr/>
                    <a:lstStyle/>
                    <a:p>
                      <a:r>
                        <a:rPr lang="es-AR" sz="1600" dirty="0"/>
                        <a:t>8</a:t>
                      </a:r>
                    </a:p>
                  </a:txBody>
                  <a:tcPr/>
                </a:tc>
                <a:extLst>
                  <a:ext uri="{0D108BD9-81ED-4DB2-BD59-A6C34878D82A}">
                    <a16:rowId xmlns:a16="http://schemas.microsoft.com/office/drawing/2014/main" val="266872306"/>
                  </a:ext>
                </a:extLst>
              </a:tr>
              <a:tr h="388776">
                <a:tc>
                  <a:txBody>
                    <a:bodyPr/>
                    <a:lstStyle/>
                    <a:p>
                      <a:r>
                        <a:rPr lang="es-AR" sz="1600" dirty="0"/>
                        <a:t>Felipe</a:t>
                      </a:r>
                    </a:p>
                  </a:txBody>
                  <a:tcPr/>
                </a:tc>
                <a:tc>
                  <a:txBody>
                    <a:bodyPr/>
                    <a:lstStyle/>
                    <a:p>
                      <a:r>
                        <a:rPr lang="es-AR" sz="1600" dirty="0"/>
                        <a:t>24</a:t>
                      </a:r>
                    </a:p>
                  </a:txBody>
                  <a:tcPr/>
                </a:tc>
                <a:tc>
                  <a:txBody>
                    <a:bodyPr/>
                    <a:lstStyle/>
                    <a:p>
                      <a:r>
                        <a:rPr lang="es-AR" sz="1600" dirty="0"/>
                        <a:t>Varón</a:t>
                      </a:r>
                    </a:p>
                  </a:txBody>
                  <a:tcPr/>
                </a:tc>
                <a:tc>
                  <a:txBody>
                    <a:bodyPr/>
                    <a:lstStyle/>
                    <a:p>
                      <a:r>
                        <a:rPr lang="es-AR" sz="1600" dirty="0"/>
                        <a:t>6</a:t>
                      </a:r>
                    </a:p>
                  </a:txBody>
                  <a:tcPr/>
                </a:tc>
                <a:extLst>
                  <a:ext uri="{0D108BD9-81ED-4DB2-BD59-A6C34878D82A}">
                    <a16:rowId xmlns:a16="http://schemas.microsoft.com/office/drawing/2014/main" val="2745413594"/>
                  </a:ext>
                </a:extLst>
              </a:tr>
            </a:tbl>
          </a:graphicData>
        </a:graphic>
      </p:graphicFrame>
      <p:cxnSp>
        <p:nvCxnSpPr>
          <p:cNvPr id="13" name="Conector recto de flecha 12">
            <a:extLst>
              <a:ext uri="{FF2B5EF4-FFF2-40B4-BE49-F238E27FC236}">
                <a16:creationId xmlns:a16="http://schemas.microsoft.com/office/drawing/2014/main" id="{CB6D2DCD-B3F9-405E-925D-F627039F87F0}"/>
              </a:ext>
            </a:extLst>
          </p:cNvPr>
          <p:cNvCxnSpPr/>
          <p:nvPr/>
        </p:nvCxnSpPr>
        <p:spPr bwMode="auto">
          <a:xfrm flipV="1">
            <a:off x="1605100" y="2226143"/>
            <a:ext cx="421447" cy="61442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18" name="CuadroTexto 17">
            <a:extLst>
              <a:ext uri="{FF2B5EF4-FFF2-40B4-BE49-F238E27FC236}">
                <a16:creationId xmlns:a16="http://schemas.microsoft.com/office/drawing/2014/main" id="{69D2547D-7564-48C8-857A-D8A016EF671B}"/>
              </a:ext>
            </a:extLst>
          </p:cNvPr>
          <p:cNvSpPr txBox="1"/>
          <p:nvPr/>
        </p:nvSpPr>
        <p:spPr>
          <a:xfrm>
            <a:off x="1546787" y="1690984"/>
            <a:ext cx="2808312" cy="519351"/>
          </a:xfrm>
          <a:prstGeom prst="ellipse">
            <a:avLst/>
          </a:prstGeom>
          <a:solidFill>
            <a:srgbClr val="CAE8E7"/>
          </a:solidFill>
        </p:spPr>
        <p:txBody>
          <a:bodyPr wrap="square" rtlCol="0">
            <a:spAutoFit/>
          </a:bodyPr>
          <a:lstStyle/>
          <a:p>
            <a:pPr algn="ctr"/>
            <a:r>
              <a:rPr lang="es-AR" i="1" dirty="0">
                <a:solidFill>
                  <a:srgbClr val="C00000"/>
                </a:solidFill>
                <a:latin typeface="Calibri" panose="020F0502020204030204" pitchFamily="34" charset="0"/>
                <a:cs typeface="Calibri" panose="020F0502020204030204" pitchFamily="34" charset="0"/>
              </a:rPr>
              <a:t>Variables</a:t>
            </a:r>
          </a:p>
        </p:txBody>
      </p:sp>
      <p:cxnSp>
        <p:nvCxnSpPr>
          <p:cNvPr id="21" name="Conector recto de flecha 20">
            <a:extLst>
              <a:ext uri="{FF2B5EF4-FFF2-40B4-BE49-F238E27FC236}">
                <a16:creationId xmlns:a16="http://schemas.microsoft.com/office/drawing/2014/main" id="{E33E5083-10D8-4F9F-AAFB-3DFC46347D40}"/>
              </a:ext>
            </a:extLst>
          </p:cNvPr>
          <p:cNvCxnSpPr>
            <a:cxnSpLocks/>
          </p:cNvCxnSpPr>
          <p:nvPr/>
        </p:nvCxnSpPr>
        <p:spPr bwMode="auto">
          <a:xfrm>
            <a:off x="1546787" y="5676479"/>
            <a:ext cx="539020" cy="54187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22" name="CuadroTexto 21">
            <a:extLst>
              <a:ext uri="{FF2B5EF4-FFF2-40B4-BE49-F238E27FC236}">
                <a16:creationId xmlns:a16="http://schemas.microsoft.com/office/drawing/2014/main" id="{69D2547D-7564-48C8-857A-D8A016EF671B}"/>
              </a:ext>
            </a:extLst>
          </p:cNvPr>
          <p:cNvSpPr txBox="1"/>
          <p:nvPr/>
        </p:nvSpPr>
        <p:spPr>
          <a:xfrm>
            <a:off x="2181164" y="5947417"/>
            <a:ext cx="2808312" cy="519351"/>
          </a:xfrm>
          <a:prstGeom prst="ellipse">
            <a:avLst/>
          </a:prstGeom>
          <a:solidFill>
            <a:srgbClr val="DDEFEF"/>
          </a:solidFill>
        </p:spPr>
        <p:txBody>
          <a:bodyPr wrap="square" rtlCol="0">
            <a:spAutoFit/>
          </a:bodyPr>
          <a:lstStyle/>
          <a:p>
            <a:pPr algn="ctr"/>
            <a:r>
              <a:rPr lang="es-AR" i="1" dirty="0">
                <a:solidFill>
                  <a:srgbClr val="C00000"/>
                </a:solidFill>
                <a:latin typeface="Calibri" panose="020F0502020204030204" pitchFamily="34" charset="0"/>
                <a:cs typeface="Calibri" panose="020F0502020204030204" pitchFamily="34" charset="0"/>
              </a:rPr>
              <a:t>Unidad de análisis</a:t>
            </a:r>
          </a:p>
        </p:txBody>
      </p:sp>
      <p:sp>
        <p:nvSpPr>
          <p:cNvPr id="23" name="CuadroTexto 22">
            <a:extLst>
              <a:ext uri="{FF2B5EF4-FFF2-40B4-BE49-F238E27FC236}">
                <a16:creationId xmlns:a16="http://schemas.microsoft.com/office/drawing/2014/main" id="{69D2547D-7564-48C8-857A-D8A016EF671B}"/>
              </a:ext>
            </a:extLst>
          </p:cNvPr>
          <p:cNvSpPr txBox="1"/>
          <p:nvPr/>
        </p:nvSpPr>
        <p:spPr>
          <a:xfrm>
            <a:off x="5133492" y="1931502"/>
            <a:ext cx="3744416" cy="519351"/>
          </a:xfrm>
          <a:prstGeom prst="ellipse">
            <a:avLst/>
          </a:prstGeom>
          <a:solidFill>
            <a:srgbClr val="3DC3BD"/>
          </a:solidFill>
        </p:spPr>
        <p:txBody>
          <a:bodyPr wrap="square" rtlCol="0">
            <a:spAutoFit/>
          </a:bodyPr>
          <a:lstStyle/>
          <a:p>
            <a:pPr algn="ctr"/>
            <a:r>
              <a:rPr lang="es-AR" i="1" dirty="0">
                <a:solidFill>
                  <a:srgbClr val="C00000"/>
                </a:solidFill>
                <a:latin typeface="Calibri" panose="020F0502020204030204" pitchFamily="34" charset="0"/>
                <a:cs typeface="Calibri" panose="020F0502020204030204" pitchFamily="34" charset="0"/>
              </a:rPr>
              <a:t>Valores de las variables</a:t>
            </a:r>
          </a:p>
        </p:txBody>
      </p:sp>
      <p:cxnSp>
        <p:nvCxnSpPr>
          <p:cNvPr id="24" name="Conector recto de flecha 23">
            <a:extLst>
              <a:ext uri="{FF2B5EF4-FFF2-40B4-BE49-F238E27FC236}">
                <a16:creationId xmlns:a16="http://schemas.microsoft.com/office/drawing/2014/main" id="{E33E5083-10D8-4F9F-AAFB-3DFC46347D40}"/>
              </a:ext>
            </a:extLst>
          </p:cNvPr>
          <p:cNvCxnSpPr>
            <a:cxnSpLocks/>
            <a:endCxn id="23" idx="3"/>
          </p:cNvCxnSpPr>
          <p:nvPr/>
        </p:nvCxnSpPr>
        <p:spPr bwMode="auto">
          <a:xfrm flipV="1">
            <a:off x="4394842" y="2374796"/>
            <a:ext cx="1287007" cy="895574"/>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191624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250826" y="1103757"/>
            <a:ext cx="86423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cs typeface="Calibri" panose="020F0502020204030204" pitchFamily="34" charset="0"/>
              </a:rPr>
              <a:t>El interés inicial cuando tenemos datos estadísticos suele ser </a:t>
            </a:r>
            <a:r>
              <a:rPr lang="es-AR" altLang="es-AR" b="1" dirty="0">
                <a:latin typeface="Cambria" panose="02040503050406030204" pitchFamily="18" charset="0"/>
                <a:ea typeface="Cambria" panose="02040503050406030204" pitchFamily="18" charset="0"/>
                <a:cs typeface="Calibri" panose="020F0502020204030204" pitchFamily="34" charset="0"/>
              </a:rPr>
              <a:t>describir</a:t>
            </a:r>
            <a:r>
              <a:rPr lang="es-AR" altLang="es-AR" dirty="0">
                <a:latin typeface="Cambria" panose="02040503050406030204" pitchFamily="18" charset="0"/>
                <a:ea typeface="Cambria" panose="02040503050406030204" pitchFamily="18" charset="0"/>
                <a:cs typeface="Calibri" panose="020F0502020204030204" pitchFamily="34" charset="0"/>
              </a:rPr>
              <a:t> la información. </a:t>
            </a:r>
          </a:p>
          <a:p>
            <a:pPr marL="285750" indent="-285750" algn="just">
              <a:buFont typeface="Arial" panose="020B0604020202020204" pitchFamily="34" charset="0"/>
              <a:buChar char="•"/>
            </a:pPr>
            <a:endParaRPr lang="es-AR" altLang="es-AR"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cs typeface="Calibri" panose="020F0502020204030204" pitchFamily="34" charset="0"/>
              </a:rPr>
              <a:t>La forma más inmediata de describir la información es elaborar </a:t>
            </a:r>
            <a:r>
              <a:rPr lang="es-AR" altLang="es-AR" b="1" i="1" dirty="0">
                <a:solidFill>
                  <a:srgbClr val="2A8A85"/>
                </a:solidFill>
                <a:latin typeface="Cambria" panose="02040503050406030204" pitchFamily="18" charset="0"/>
                <a:ea typeface="Cambria" panose="02040503050406030204" pitchFamily="18" charset="0"/>
                <a:cs typeface="Calibri" panose="020F0502020204030204" pitchFamily="34" charset="0"/>
              </a:rPr>
              <a:t>distribuciones</a:t>
            </a:r>
            <a:r>
              <a:rPr lang="es-AR" altLang="es-AR" dirty="0">
                <a:solidFill>
                  <a:srgbClr val="2A8A85"/>
                </a:solidFill>
                <a:latin typeface="Cambria" panose="02040503050406030204" pitchFamily="18" charset="0"/>
                <a:ea typeface="Cambria" panose="02040503050406030204" pitchFamily="18" charset="0"/>
                <a:cs typeface="Calibri" panose="020F0502020204030204" pitchFamily="34" charset="0"/>
              </a:rPr>
              <a:t> </a:t>
            </a:r>
            <a:r>
              <a:rPr lang="es-AR" altLang="es-AR" b="1" i="1" dirty="0" err="1">
                <a:solidFill>
                  <a:srgbClr val="2A8A85"/>
                </a:solidFill>
                <a:latin typeface="Cambria" panose="02040503050406030204" pitchFamily="18" charset="0"/>
                <a:ea typeface="Cambria" panose="02040503050406030204" pitchFamily="18" charset="0"/>
                <a:cs typeface="Calibri" panose="020F0502020204030204" pitchFamily="34" charset="0"/>
              </a:rPr>
              <a:t>univariadas</a:t>
            </a:r>
            <a:r>
              <a:rPr lang="es-AR" altLang="es-AR" dirty="0">
                <a:latin typeface="Cambria" panose="02040503050406030204" pitchFamily="18" charset="0"/>
                <a:ea typeface="Cambria" panose="02040503050406030204" pitchFamily="18" charset="0"/>
                <a:cs typeface="Calibri" panose="020F0502020204030204" pitchFamily="34" charset="0"/>
              </a:rPr>
              <a:t> que son un “conteo” de los valores que aparecen en una variable. </a:t>
            </a:r>
            <a:endParaRPr lang="es-AR" altLang="es-AR" sz="1600" b="1" dirty="0">
              <a:latin typeface="Cambria" panose="02040503050406030204" pitchFamily="18" charset="0"/>
              <a:ea typeface="Cambria" panose="02040503050406030204" pitchFamily="18" charset="0"/>
              <a:cs typeface="Calibri" panose="020F0502020204030204" pitchFamily="34" charset="0"/>
            </a:endParaRPr>
          </a:p>
        </p:txBody>
      </p:sp>
      <p:sp>
        <p:nvSpPr>
          <p:cNvPr id="9" name="CuadroTexto 8">
            <a:extLst>
              <a:ext uri="{FF2B5EF4-FFF2-40B4-BE49-F238E27FC236}">
                <a16:creationId xmlns:a16="http://schemas.microsoft.com/office/drawing/2014/main" id="{8D881FCD-F1FA-4926-A663-8110D654E879}"/>
              </a:ext>
            </a:extLst>
          </p:cNvPr>
          <p:cNvSpPr txBox="1"/>
          <p:nvPr/>
        </p:nvSpPr>
        <p:spPr>
          <a:xfrm>
            <a:off x="1906273" y="3031925"/>
            <a:ext cx="5331454" cy="369332"/>
          </a:xfrm>
          <a:prstGeom prst="rect">
            <a:avLst/>
          </a:prstGeom>
          <a:solidFill>
            <a:schemeClr val="accent6">
              <a:lumMod val="20000"/>
              <a:lumOff val="80000"/>
            </a:schemeClr>
          </a:solidFill>
        </p:spPr>
        <p:txBody>
          <a:bodyPr wrap="square" rtlCol="0">
            <a:spAutoFit/>
          </a:bodyPr>
          <a:lstStyle/>
          <a:p>
            <a:pPr algn="ctr"/>
            <a:r>
              <a:rPr lang="es-AR" b="1" i="1" dirty="0">
                <a:latin typeface="Cambria" panose="02040503050406030204" pitchFamily="18" charset="0"/>
                <a:ea typeface="Cambria" panose="02040503050406030204" pitchFamily="18" charset="0"/>
                <a:cs typeface="Calibri" panose="020F0502020204030204" pitchFamily="34" charset="0"/>
              </a:rPr>
              <a:t>Distribución de frecuencias absolutas</a:t>
            </a:r>
          </a:p>
        </p:txBody>
      </p:sp>
      <p:sp>
        <p:nvSpPr>
          <p:cNvPr id="10" name="CuadroTexto 9">
            <a:extLst>
              <a:ext uri="{FF2B5EF4-FFF2-40B4-BE49-F238E27FC236}">
                <a16:creationId xmlns:a16="http://schemas.microsoft.com/office/drawing/2014/main" id="{58AD286A-2B62-43F8-9C97-5AFF3A9E671D}"/>
              </a:ext>
            </a:extLst>
          </p:cNvPr>
          <p:cNvSpPr txBox="1"/>
          <p:nvPr/>
        </p:nvSpPr>
        <p:spPr>
          <a:xfrm>
            <a:off x="1906273" y="3627814"/>
            <a:ext cx="5331454" cy="646331"/>
          </a:xfrm>
          <a:prstGeom prst="rect">
            <a:avLst/>
          </a:prstGeom>
          <a:solidFill>
            <a:schemeClr val="accent6">
              <a:lumMod val="20000"/>
              <a:lumOff val="80000"/>
            </a:schemeClr>
          </a:solidFill>
        </p:spPr>
        <p:txBody>
          <a:bodyPr wrap="square" rtlCol="0">
            <a:spAutoFit/>
          </a:bodyPr>
          <a:lstStyle/>
          <a:p>
            <a:pPr algn="ctr"/>
            <a:r>
              <a:rPr lang="es-AR" b="1" i="1" dirty="0">
                <a:latin typeface="Cambria" panose="02040503050406030204" pitchFamily="18" charset="0"/>
                <a:ea typeface="Cambria" panose="02040503050406030204" pitchFamily="18" charset="0"/>
                <a:cs typeface="Calibri" panose="020F0502020204030204" pitchFamily="34" charset="0"/>
              </a:rPr>
              <a:t>Distribución de frecuencias relativas (porcentajes)</a:t>
            </a:r>
          </a:p>
        </p:txBody>
      </p:sp>
      <p:sp>
        <p:nvSpPr>
          <p:cNvPr id="11" name="CuadroTexto 10">
            <a:extLst>
              <a:ext uri="{FF2B5EF4-FFF2-40B4-BE49-F238E27FC236}">
                <a16:creationId xmlns:a16="http://schemas.microsoft.com/office/drawing/2014/main" id="{DE5DD692-4654-4CA9-99E8-65D5825B0550}"/>
              </a:ext>
            </a:extLst>
          </p:cNvPr>
          <p:cNvSpPr txBox="1"/>
          <p:nvPr/>
        </p:nvSpPr>
        <p:spPr>
          <a:xfrm>
            <a:off x="1906273" y="4490297"/>
            <a:ext cx="5328592" cy="369332"/>
          </a:xfrm>
          <a:prstGeom prst="rect">
            <a:avLst/>
          </a:prstGeom>
          <a:solidFill>
            <a:schemeClr val="accent6">
              <a:lumMod val="20000"/>
              <a:lumOff val="80000"/>
            </a:schemeClr>
          </a:solidFill>
        </p:spPr>
        <p:txBody>
          <a:bodyPr wrap="square" rtlCol="0">
            <a:spAutoFit/>
          </a:bodyPr>
          <a:lstStyle/>
          <a:p>
            <a:pPr algn="ctr"/>
            <a:r>
              <a:rPr lang="es-AR" b="1" i="1" dirty="0">
                <a:latin typeface="Cambria" panose="02040503050406030204" pitchFamily="18" charset="0"/>
                <a:ea typeface="Cambria" panose="02040503050406030204" pitchFamily="18" charset="0"/>
                <a:cs typeface="Calibri" panose="020F0502020204030204" pitchFamily="34" charset="0"/>
              </a:rPr>
              <a:t>Distribución de frecuencias acumuladas</a:t>
            </a:r>
          </a:p>
        </p:txBody>
      </p:sp>
      <p:sp>
        <p:nvSpPr>
          <p:cNvPr id="13" name="CuadroTexto 12">
            <a:extLst>
              <a:ext uri="{FF2B5EF4-FFF2-40B4-BE49-F238E27FC236}">
                <a16:creationId xmlns:a16="http://schemas.microsoft.com/office/drawing/2014/main" id="{A19BBE42-25AB-4F05-9F9F-B0C4CCD62C34}"/>
              </a:ext>
            </a:extLst>
          </p:cNvPr>
          <p:cNvSpPr txBox="1"/>
          <p:nvPr/>
        </p:nvSpPr>
        <p:spPr>
          <a:xfrm>
            <a:off x="1909135" y="5110523"/>
            <a:ext cx="5328592" cy="646331"/>
          </a:xfrm>
          <a:prstGeom prst="rect">
            <a:avLst/>
          </a:prstGeom>
          <a:solidFill>
            <a:schemeClr val="accent6">
              <a:lumMod val="20000"/>
              <a:lumOff val="80000"/>
            </a:schemeClr>
          </a:solidFill>
        </p:spPr>
        <p:txBody>
          <a:bodyPr wrap="square" rtlCol="0">
            <a:spAutoFit/>
          </a:bodyPr>
          <a:lstStyle/>
          <a:p>
            <a:pPr algn="ctr"/>
            <a:r>
              <a:rPr lang="es-AR" b="1" i="1" dirty="0">
                <a:latin typeface="Cambria" panose="02040503050406030204" pitchFamily="18" charset="0"/>
                <a:ea typeface="Cambria" panose="02040503050406030204" pitchFamily="18" charset="0"/>
                <a:cs typeface="Calibri" panose="020F0502020204030204" pitchFamily="34" charset="0"/>
              </a:rPr>
              <a:t>Otros recursos de estandarización (razones y tasas)</a:t>
            </a: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5"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La organización de los datos: frecuencias</a:t>
            </a:r>
          </a:p>
        </p:txBody>
      </p:sp>
      <p:sp>
        <p:nvSpPr>
          <p:cNvPr id="16"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7"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2555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483448" y="1103757"/>
            <a:ext cx="84097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dirty="0">
                <a:latin typeface="Cambria" panose="02040503050406030204" pitchFamily="18" charset="0"/>
                <a:ea typeface="Cambria" panose="02040503050406030204" pitchFamily="18" charset="0"/>
                <a:cs typeface="Calibri" panose="020F0502020204030204" pitchFamily="34" charset="0"/>
              </a:rPr>
              <a:t>Nuestro punto de partida es una matriz de datos que tiene la siguiente estructura:</a:t>
            </a:r>
            <a:endParaRPr lang="es-AR" altLang="es-AR" sz="1600" b="1" dirty="0">
              <a:latin typeface="Cambria" panose="02040503050406030204" pitchFamily="18" charset="0"/>
              <a:ea typeface="Cambria" panose="02040503050406030204" pitchFamily="18" charset="0"/>
              <a:cs typeface="Calibri" panose="020F0502020204030204" pitchFamily="34" charset="0"/>
            </a:endParaRPr>
          </a:p>
        </p:txBody>
      </p:sp>
      <p:graphicFrame>
        <p:nvGraphicFramePr>
          <p:cNvPr id="12" name="Group 31">
            <a:extLst>
              <a:ext uri="{FF2B5EF4-FFF2-40B4-BE49-F238E27FC236}">
                <a16:creationId xmlns:a16="http://schemas.microsoft.com/office/drawing/2014/main" id="{0E0EA802-5071-487B-AE72-0ACBCB61676B}"/>
              </a:ext>
            </a:extLst>
          </p:cNvPr>
          <p:cNvGraphicFramePr>
            <a:graphicFrameLocks/>
          </p:cNvGraphicFramePr>
          <p:nvPr>
            <p:extLst>
              <p:ext uri="{D42A27DB-BD31-4B8C-83A1-F6EECF244321}">
                <p14:modId xmlns:p14="http://schemas.microsoft.com/office/powerpoint/2010/main" val="3555318188"/>
              </p:ext>
            </p:extLst>
          </p:nvPr>
        </p:nvGraphicFramePr>
        <p:xfrm>
          <a:off x="611560" y="1844824"/>
          <a:ext cx="4751389" cy="3517899"/>
        </p:xfrm>
        <a:graphic>
          <a:graphicData uri="http://schemas.openxmlformats.org/drawingml/2006/table">
            <a:tbl>
              <a:tblPr/>
              <a:tblGrid>
                <a:gridCol w="1640765">
                  <a:extLst>
                    <a:ext uri="{9D8B030D-6E8A-4147-A177-3AD203B41FA5}">
                      <a16:colId xmlns:a16="http://schemas.microsoft.com/office/drawing/2014/main" val="20000"/>
                    </a:ext>
                  </a:extLst>
                </a:gridCol>
                <a:gridCol w="777656">
                  <a:extLst>
                    <a:ext uri="{9D8B030D-6E8A-4147-A177-3AD203B41FA5}">
                      <a16:colId xmlns:a16="http://schemas.microsoft.com/office/drawing/2014/main" val="20001"/>
                    </a:ext>
                  </a:extLst>
                </a:gridCol>
                <a:gridCol w="777656">
                  <a:extLst>
                    <a:ext uri="{9D8B030D-6E8A-4147-A177-3AD203B41FA5}">
                      <a16:colId xmlns:a16="http://schemas.microsoft.com/office/drawing/2014/main" val="20002"/>
                    </a:ext>
                  </a:extLst>
                </a:gridCol>
                <a:gridCol w="777656">
                  <a:extLst>
                    <a:ext uri="{9D8B030D-6E8A-4147-A177-3AD203B41FA5}">
                      <a16:colId xmlns:a16="http://schemas.microsoft.com/office/drawing/2014/main" val="20003"/>
                    </a:ext>
                  </a:extLst>
                </a:gridCol>
                <a:gridCol w="777656">
                  <a:extLst>
                    <a:ext uri="{9D8B030D-6E8A-4147-A177-3AD203B41FA5}">
                      <a16:colId xmlns:a16="http://schemas.microsoft.com/office/drawing/2014/main" val="20004"/>
                    </a:ext>
                  </a:extLst>
                </a:gridCol>
              </a:tblGrid>
              <a:tr h="65875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AR"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Caso</a:t>
                      </a:r>
                    </a:p>
                  </a:txBody>
                  <a:tcPr marL="91433" marR="91433" marT="45719" marB="4571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25000"/>
                        <a:lumOff val="75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Sexo</a:t>
                      </a:r>
                    </a:p>
                  </a:txBody>
                  <a:tcPr marL="91433" marR="91433" marT="45719" marB="4571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25000"/>
                        <a:lumOff val="75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Edad</a:t>
                      </a:r>
                    </a:p>
                  </a:txBody>
                  <a:tcPr marL="91433" marR="91433" marT="45719" marB="4571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25000"/>
                        <a:lumOff val="75000"/>
                      </a:schemeClr>
                    </a:solidFill>
                  </a:tcPr>
                </a:tc>
                <a:tc>
                  <a:txBody>
                    <a:bodyPr/>
                    <a:lstStyle/>
                    <a:p>
                      <a:pPr marL="87313" marR="0" lvl="0" indent="0" algn="ctr" defTabSz="914400" rtl="0" eaLnBrk="1" fontAlgn="b" latinLnBrk="0" hangingPunct="1">
                        <a:lnSpc>
                          <a:spcPct val="100000"/>
                        </a:lnSpc>
                        <a:spcBef>
                          <a:spcPct val="0"/>
                        </a:spcBef>
                        <a:spcAft>
                          <a:spcPct val="0"/>
                        </a:spcAft>
                        <a:buClrTx/>
                        <a:buSzTx/>
                        <a:buFontTx/>
                        <a:buNone/>
                        <a:tabLst/>
                      </a:pPr>
                      <a:r>
                        <a:rPr kumimoji="0" lang="es-E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Nivel Ed.</a:t>
                      </a:r>
                    </a:p>
                  </a:txBody>
                  <a:tcPr marL="91433" marR="91433" marT="45719" marB="4571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25000"/>
                        <a:lumOff val="75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a:t>
                      </a:r>
                    </a:p>
                  </a:txBody>
                  <a:tcPr marL="91433" marR="91433" marT="45719" marB="4571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25000"/>
                        <a:lumOff val="75000"/>
                      </a:schemeClr>
                    </a:solidFill>
                  </a:tcPr>
                </a:tc>
                <a:extLst>
                  <a:ext uri="{0D108BD9-81ED-4DB2-BD59-A6C34878D82A}">
                    <a16:rowId xmlns:a16="http://schemas.microsoft.com/office/drawing/2014/main" val="10000"/>
                  </a:ext>
                </a:extLst>
              </a:tr>
              <a:tr h="357393">
                <a:tc>
                  <a:txBody>
                    <a:bodyPr/>
                    <a:lstStyle/>
                    <a:p>
                      <a:pPr marL="342900" marR="0" lvl="0" indent="-342900" algn="l"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17</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7393">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19</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7393">
                <a:tc>
                  <a:txBody>
                    <a:bodyPr/>
                    <a:lstStyle/>
                    <a:p>
                      <a:pPr marL="342900" marR="0" lvl="0" indent="-342900" algn="l"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3</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18</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7393">
                <a:tc>
                  <a:txBody>
                    <a:bodyPr/>
                    <a:lstStyle/>
                    <a:p>
                      <a:pPr marL="342900" marR="0" lvl="0" indent="-342900" algn="l"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4</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15</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7393">
                <a:tc>
                  <a:txBody>
                    <a:bodyPr/>
                    <a:lstStyle/>
                    <a:p>
                      <a:pPr marL="342900" marR="0" lvl="0" indent="-342900" algn="l"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5</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21</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7393">
                <a:tc>
                  <a:txBody>
                    <a:bodyPr/>
                    <a:lstStyle/>
                    <a:p>
                      <a:pPr marL="342900" marR="0" lvl="0" indent="-342900" algn="l"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6</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23</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3</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7393">
                <a:tc>
                  <a:txBody>
                    <a:bodyPr/>
                    <a:lstStyle/>
                    <a:p>
                      <a:pPr marL="342900" marR="0" lvl="0" indent="-342900" algn="l"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7</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25</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7393">
                <a:tc>
                  <a:txBody>
                    <a:bodyPr/>
                    <a:lstStyle/>
                    <a:p>
                      <a:pPr marL="342900" marR="0" lvl="0" indent="-342900" algn="l"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8</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26</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3</a:t>
                      </a: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txBody>
                  <a:tcPr marL="91433" marR="91433" marT="45719" marB="4571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4" name="9 CuadroTexto">
            <a:extLst>
              <a:ext uri="{FF2B5EF4-FFF2-40B4-BE49-F238E27FC236}">
                <a16:creationId xmlns:a16="http://schemas.microsoft.com/office/drawing/2014/main" id="{41F2498A-660A-42C2-8AC4-6A21399F1CFE}"/>
              </a:ext>
            </a:extLst>
          </p:cNvPr>
          <p:cNvSpPr txBox="1">
            <a:spLocks noChangeArrowheads="1"/>
          </p:cNvSpPr>
          <p:nvPr/>
        </p:nvSpPr>
        <p:spPr bwMode="auto">
          <a:xfrm>
            <a:off x="5580112" y="2235848"/>
            <a:ext cx="3240087"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sz="1600" b="1" u="sng" dirty="0">
                <a:latin typeface="Cambria" panose="02040503050406030204" pitchFamily="18" charset="0"/>
                <a:ea typeface="Cambria" panose="02040503050406030204" pitchFamily="18" charset="0"/>
                <a:cs typeface="Calibri" panose="020F0502020204030204" pitchFamily="34" charset="0"/>
              </a:rPr>
              <a:t>Notar: </a:t>
            </a:r>
          </a:p>
          <a:p>
            <a:pPr algn="just"/>
            <a:endParaRPr lang="es-AR" altLang="es-AR" sz="1600" dirty="0">
              <a:latin typeface="Cambria" panose="02040503050406030204" pitchFamily="18" charset="0"/>
              <a:ea typeface="Cambria" panose="02040503050406030204" pitchFamily="18" charset="0"/>
              <a:cs typeface="Calibri" panose="020F0502020204030204" pitchFamily="34" charset="0"/>
            </a:endParaRPr>
          </a:p>
          <a:p>
            <a:pPr algn="just"/>
            <a:r>
              <a:rPr lang="es-AR" altLang="es-AR" sz="1600" dirty="0">
                <a:latin typeface="Cambria" panose="02040503050406030204" pitchFamily="18" charset="0"/>
                <a:ea typeface="Cambria" panose="02040503050406030204" pitchFamily="18" charset="0"/>
                <a:cs typeface="Calibri" panose="020F0502020204030204" pitchFamily="34" charset="0"/>
              </a:rPr>
              <a:t>En el caso de las variables “Sexo” y “Nivel Ed.”, los números son códigos que representan categorías de las variables (por ejemplo: “1” puede ser “Varón”), y en el caso de la variable “Edad”, los números representan la edad en años cumplidos. </a:t>
            </a: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Distribuciones de frecuencias absolutas</a:t>
            </a:r>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0324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75" name="Group 31">
            <a:extLst>
              <a:ext uri="{FF2B5EF4-FFF2-40B4-BE49-F238E27FC236}">
                <a16:creationId xmlns:a16="http://schemas.microsoft.com/office/drawing/2014/main" id="{A944CC15-C479-4DCC-B145-623F8B7C391B}"/>
              </a:ext>
            </a:extLst>
          </p:cNvPr>
          <p:cNvGraphicFramePr>
            <a:graphicFrameLocks noGrp="1"/>
          </p:cNvGraphicFramePr>
          <p:nvPr>
            <p:ph sz="half" idx="4294967295"/>
            <p:extLst>
              <p:ext uri="{D42A27DB-BD31-4B8C-83A1-F6EECF244321}">
                <p14:modId xmlns:p14="http://schemas.microsoft.com/office/powerpoint/2010/main" val="834059773"/>
              </p:ext>
            </p:extLst>
          </p:nvPr>
        </p:nvGraphicFramePr>
        <p:xfrm>
          <a:off x="3492500" y="2146995"/>
          <a:ext cx="2376488" cy="1551265"/>
        </p:xfrm>
        <a:graphic>
          <a:graphicData uri="http://schemas.openxmlformats.org/drawingml/2006/table">
            <a:tbl>
              <a:tblPr/>
              <a:tblGrid>
                <a:gridCol w="1018495">
                  <a:extLst>
                    <a:ext uri="{9D8B030D-6E8A-4147-A177-3AD203B41FA5}">
                      <a16:colId xmlns:a16="http://schemas.microsoft.com/office/drawing/2014/main" val="20000"/>
                    </a:ext>
                  </a:extLst>
                </a:gridCol>
                <a:gridCol w="1357993">
                  <a:extLst>
                    <a:ext uri="{9D8B030D-6E8A-4147-A177-3AD203B41FA5}">
                      <a16:colId xmlns:a16="http://schemas.microsoft.com/office/drawing/2014/main" val="20001"/>
                    </a:ext>
                  </a:extLst>
                </a:gridCol>
              </a:tblGrid>
              <a:tr h="45412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AR"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Sexo</a:t>
                      </a:r>
                    </a:p>
                  </a:txBody>
                  <a:tcPr marL="91449" marR="91449"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Frecuencia</a:t>
                      </a:r>
                    </a:p>
                  </a:txBody>
                  <a:tcPr marL="91449" marR="91449"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216">
                <a:tc>
                  <a:txBody>
                    <a:bodyPr/>
                    <a:lstStyle/>
                    <a:p>
                      <a:pPr marL="342900" marR="0" lvl="0" indent="-342900" algn="l" defTabSz="914400" rtl="0" eaLnBrk="1" fontAlgn="b" latinLnBrk="0" hangingPunct="1">
                        <a:lnSpc>
                          <a:spcPct val="100000"/>
                        </a:lnSpc>
                        <a:spcBef>
                          <a:spcPct val="20000"/>
                        </a:spcBef>
                        <a:spcAft>
                          <a:spcPct val="0"/>
                        </a:spcAft>
                        <a:buClrTx/>
                        <a:buSzTx/>
                        <a:buFontTx/>
                        <a:buNone/>
                        <a:tabLst/>
                      </a:pPr>
                      <a:r>
                        <a:rPr kumimoji="0" lang="es-AR"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Varón</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216">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s-E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Mujer</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r>
                        <a:rPr kumimoji="0" lang="es-E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216">
                <a:tc>
                  <a:txBody>
                    <a:bodyPr/>
                    <a:lstStyle/>
                    <a:p>
                      <a:pPr marL="342900" marR="0" lvl="0" indent="-342900" algn="l" defTabSz="914400" rtl="0" eaLnBrk="1" fontAlgn="b" latinLnBrk="0" hangingPunct="1">
                        <a:lnSpc>
                          <a:spcPct val="100000"/>
                        </a:lnSpc>
                        <a:spcBef>
                          <a:spcPct val="20000"/>
                        </a:spcBef>
                        <a:spcAft>
                          <a:spcPct val="0"/>
                        </a:spcAft>
                        <a:buClrTx/>
                        <a:buSzTx/>
                        <a:buFontTx/>
                        <a:buNone/>
                        <a:tabLst/>
                      </a:pPr>
                      <a:endParaRPr kumimoji="0" lang="es-AR"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216">
                <a:tc>
                  <a:txBody>
                    <a:bodyPr/>
                    <a:lstStyle/>
                    <a:p>
                      <a:pPr marL="342900" marR="0" lvl="0" indent="-342900" algn="r" defTabSz="914400" rtl="0" eaLnBrk="1" fontAlgn="b" latinLnBrk="0" hangingPunct="1">
                        <a:lnSpc>
                          <a:spcPct val="100000"/>
                        </a:lnSpc>
                        <a:spcBef>
                          <a:spcPct val="20000"/>
                        </a:spcBef>
                        <a:spcAft>
                          <a:spcPct val="0"/>
                        </a:spcAft>
                        <a:buClrTx/>
                        <a:buSzTx/>
                        <a:buFontTx/>
                        <a:buNone/>
                        <a:tabLst/>
                      </a:pPr>
                      <a:r>
                        <a:rPr kumimoji="0" lang="es-AR"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N</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168" name="5 CuadroTexto">
            <a:extLst>
              <a:ext uri="{FF2B5EF4-FFF2-40B4-BE49-F238E27FC236}">
                <a16:creationId xmlns:a16="http://schemas.microsoft.com/office/drawing/2014/main" id="{78B0BE04-A523-4B3B-BDB6-9C354CEE9E2B}"/>
              </a:ext>
            </a:extLst>
          </p:cNvPr>
          <p:cNvSpPr txBox="1">
            <a:spLocks noChangeArrowheads="1"/>
          </p:cNvSpPr>
          <p:nvPr/>
        </p:nvSpPr>
        <p:spPr bwMode="auto">
          <a:xfrm>
            <a:off x="535781" y="3905649"/>
            <a:ext cx="80724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dirty="0">
                <a:latin typeface="Cambria" panose="02040503050406030204" pitchFamily="18" charset="0"/>
                <a:ea typeface="Cambria" panose="02040503050406030204" pitchFamily="18" charset="0"/>
                <a:cs typeface="Calibri" panose="020F0502020204030204" pitchFamily="34" charset="0"/>
              </a:rPr>
              <a:t>Si tenemos una variable de intervalo, debemos agrupar nuestros datos en </a:t>
            </a:r>
            <a:r>
              <a:rPr lang="es-AR" altLang="es-AR" b="1" i="1" dirty="0">
                <a:solidFill>
                  <a:srgbClr val="2A8A85"/>
                </a:solidFill>
                <a:latin typeface="Cambria" panose="02040503050406030204" pitchFamily="18" charset="0"/>
                <a:ea typeface="Cambria" panose="02040503050406030204" pitchFamily="18" charset="0"/>
                <a:cs typeface="Calibri" panose="020F0502020204030204" pitchFamily="34" charset="0"/>
              </a:rPr>
              <a:t>intervalos de clase o categoría</a:t>
            </a:r>
            <a:r>
              <a:rPr lang="es-AR" altLang="es-AR" b="1" dirty="0">
                <a:latin typeface="Cambria" panose="02040503050406030204" pitchFamily="18" charset="0"/>
                <a:ea typeface="Cambria" panose="02040503050406030204" pitchFamily="18" charset="0"/>
                <a:cs typeface="Calibri" panose="020F0502020204030204" pitchFamily="34" charset="0"/>
              </a:rPr>
              <a:t> </a:t>
            </a:r>
            <a:r>
              <a:rPr lang="es-AR" altLang="es-AR" dirty="0">
                <a:latin typeface="Cambria" panose="02040503050406030204" pitchFamily="18" charset="0"/>
                <a:ea typeface="Cambria" panose="02040503050406030204" pitchFamily="18" charset="0"/>
                <a:cs typeface="Calibri" panose="020F0502020204030204" pitchFamily="34" charset="0"/>
              </a:rPr>
              <a:t>para tener una aproximación más apropiada:</a:t>
            </a:r>
          </a:p>
        </p:txBody>
      </p:sp>
      <p:graphicFrame>
        <p:nvGraphicFramePr>
          <p:cNvPr id="7" name="Group 31">
            <a:extLst>
              <a:ext uri="{FF2B5EF4-FFF2-40B4-BE49-F238E27FC236}">
                <a16:creationId xmlns:a16="http://schemas.microsoft.com/office/drawing/2014/main" id="{F78AFD27-5386-403D-80C3-240133724728}"/>
              </a:ext>
            </a:extLst>
          </p:cNvPr>
          <p:cNvGraphicFramePr>
            <a:graphicFrameLocks/>
          </p:cNvGraphicFramePr>
          <p:nvPr>
            <p:extLst>
              <p:ext uri="{D42A27DB-BD31-4B8C-83A1-F6EECF244321}">
                <p14:modId xmlns:p14="http://schemas.microsoft.com/office/powerpoint/2010/main" val="2235695002"/>
              </p:ext>
            </p:extLst>
          </p:nvPr>
        </p:nvGraphicFramePr>
        <p:xfrm>
          <a:off x="3419475" y="4581525"/>
          <a:ext cx="2376488" cy="1551266"/>
        </p:xfrm>
        <a:graphic>
          <a:graphicData uri="http://schemas.openxmlformats.org/drawingml/2006/table">
            <a:tbl>
              <a:tblPr/>
              <a:tblGrid>
                <a:gridCol w="1018495">
                  <a:extLst>
                    <a:ext uri="{9D8B030D-6E8A-4147-A177-3AD203B41FA5}">
                      <a16:colId xmlns:a16="http://schemas.microsoft.com/office/drawing/2014/main" val="20000"/>
                    </a:ext>
                  </a:extLst>
                </a:gridCol>
                <a:gridCol w="1357993">
                  <a:extLst>
                    <a:ext uri="{9D8B030D-6E8A-4147-A177-3AD203B41FA5}">
                      <a16:colId xmlns:a16="http://schemas.microsoft.com/office/drawing/2014/main" val="20001"/>
                    </a:ext>
                  </a:extLst>
                </a:gridCol>
              </a:tblGrid>
              <a:tr h="454122">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AR" sz="1200" b="1" i="0" u="none" strike="noStrike" cap="none" normalizeH="0" baseline="0" dirty="0">
                          <a:ln>
                            <a:noFill/>
                          </a:ln>
                          <a:solidFill>
                            <a:schemeClr val="tx1"/>
                          </a:solidFill>
                          <a:effectLst/>
                          <a:latin typeface="Trebuchet MS" pitchFamily="34" charset="0"/>
                          <a:cs typeface="Arial" charset="0"/>
                        </a:rPr>
                        <a:t>Edad</a:t>
                      </a:r>
                    </a:p>
                  </a:txBody>
                  <a:tcPr marL="91449" marR="91449"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200" b="1" i="0" u="none" strike="noStrike" cap="none" normalizeH="0" baseline="0" dirty="0">
                          <a:ln>
                            <a:noFill/>
                          </a:ln>
                          <a:solidFill>
                            <a:schemeClr val="tx1"/>
                          </a:solidFill>
                          <a:effectLst/>
                          <a:latin typeface="Trebuchet MS" pitchFamily="34" charset="0"/>
                          <a:cs typeface="Arial" charset="0"/>
                        </a:rPr>
                        <a:t>Frecuencia</a:t>
                      </a:r>
                    </a:p>
                  </a:txBody>
                  <a:tcPr marL="91449" marR="91449"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217">
                <a:tc>
                  <a:txBody>
                    <a:bodyPr/>
                    <a:lstStyle/>
                    <a:p>
                      <a:pPr marL="342900" marR="0" lvl="0" indent="-342900" algn="l" defTabSz="914400" rtl="0" eaLnBrk="1" fontAlgn="b" latinLnBrk="0" hangingPunct="1">
                        <a:lnSpc>
                          <a:spcPct val="100000"/>
                        </a:lnSpc>
                        <a:spcBef>
                          <a:spcPct val="20000"/>
                        </a:spcBef>
                        <a:spcAft>
                          <a:spcPct val="0"/>
                        </a:spcAft>
                        <a:buClrTx/>
                        <a:buSzTx/>
                        <a:buFontTx/>
                        <a:buNone/>
                        <a:tabLst/>
                      </a:pPr>
                      <a:r>
                        <a:rPr kumimoji="0" lang="es-AR" sz="1200" b="0" i="0" u="none" strike="noStrike" cap="none" normalizeH="0" baseline="0" dirty="0">
                          <a:ln>
                            <a:noFill/>
                          </a:ln>
                          <a:solidFill>
                            <a:schemeClr val="tx1"/>
                          </a:solidFill>
                          <a:effectLst/>
                          <a:latin typeface="Trebuchet MS" pitchFamily="34" charset="0"/>
                          <a:cs typeface="Arial" charset="0"/>
                        </a:rPr>
                        <a:t>15-19</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200" b="0" i="0" u="none" strike="noStrike" cap="none" normalizeH="0" baseline="0" dirty="0">
                          <a:ln>
                            <a:noFill/>
                          </a:ln>
                          <a:solidFill>
                            <a:schemeClr val="tx1"/>
                          </a:solidFill>
                          <a:effectLst/>
                          <a:latin typeface="Trebuchet MS" pitchFamily="34" charset="0"/>
                          <a:cs typeface="Arial" charset="0"/>
                        </a:rPr>
                        <a:t>4</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217">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s-ES" sz="1200" b="0" i="0" u="none" strike="noStrike" cap="none" normalizeH="0" baseline="0" dirty="0">
                          <a:ln>
                            <a:noFill/>
                          </a:ln>
                          <a:solidFill>
                            <a:schemeClr val="tx1"/>
                          </a:solidFill>
                          <a:effectLst/>
                          <a:latin typeface="Trebuchet MS" pitchFamily="34" charset="0"/>
                          <a:cs typeface="Arial" charset="0"/>
                        </a:rPr>
                        <a:t>20-24</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r>
                        <a:rPr kumimoji="0" lang="es-ES" sz="1200" b="0" i="0" u="none" strike="noStrike" cap="none" normalizeH="0" baseline="0" dirty="0">
                          <a:ln>
                            <a:noFill/>
                          </a:ln>
                          <a:solidFill>
                            <a:schemeClr val="tx1"/>
                          </a:solidFill>
                          <a:effectLst/>
                          <a:latin typeface="Trebuchet MS" pitchFamily="34" charset="0"/>
                          <a:cs typeface="Arial" charset="0"/>
                        </a:rPr>
                        <a:t>2</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217">
                <a:tc>
                  <a:txBody>
                    <a:bodyPr/>
                    <a:lstStyle/>
                    <a:p>
                      <a:pPr marL="342900" marR="0" lvl="0" indent="-342900" algn="l" defTabSz="914400" rtl="0" eaLnBrk="1" fontAlgn="b" latinLnBrk="0" hangingPunct="1">
                        <a:lnSpc>
                          <a:spcPct val="100000"/>
                        </a:lnSpc>
                        <a:spcBef>
                          <a:spcPct val="20000"/>
                        </a:spcBef>
                        <a:spcAft>
                          <a:spcPct val="0"/>
                        </a:spcAft>
                        <a:buClrTx/>
                        <a:buSzTx/>
                        <a:buFontTx/>
                        <a:buNone/>
                        <a:tabLst/>
                      </a:pPr>
                      <a:r>
                        <a:rPr kumimoji="0" lang="es-AR" sz="1200" b="0" i="0" u="none" strike="noStrike" cap="none" normalizeH="0" baseline="0" dirty="0">
                          <a:ln>
                            <a:noFill/>
                          </a:ln>
                          <a:solidFill>
                            <a:schemeClr val="tx1"/>
                          </a:solidFill>
                          <a:effectLst/>
                          <a:latin typeface="Trebuchet MS" pitchFamily="34" charset="0"/>
                          <a:cs typeface="Arial" charset="0"/>
                        </a:rPr>
                        <a:t>25-29</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200" b="0" i="0" u="none" strike="noStrike" cap="none" normalizeH="0" baseline="0" dirty="0">
                          <a:ln>
                            <a:noFill/>
                          </a:ln>
                          <a:solidFill>
                            <a:schemeClr val="tx1"/>
                          </a:solidFill>
                          <a:effectLst/>
                          <a:latin typeface="Trebuchet MS" pitchFamily="34" charset="0"/>
                          <a:cs typeface="Arial" charset="0"/>
                        </a:rPr>
                        <a:t>2</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217">
                <a:tc>
                  <a:txBody>
                    <a:bodyPr/>
                    <a:lstStyle/>
                    <a:p>
                      <a:pPr marL="342900" marR="0" lvl="0" indent="-342900" algn="r" defTabSz="914400" rtl="0" eaLnBrk="1" fontAlgn="b" latinLnBrk="0" hangingPunct="1">
                        <a:lnSpc>
                          <a:spcPct val="100000"/>
                        </a:lnSpc>
                        <a:spcBef>
                          <a:spcPct val="20000"/>
                        </a:spcBef>
                        <a:spcAft>
                          <a:spcPct val="0"/>
                        </a:spcAft>
                        <a:buClrTx/>
                        <a:buSzTx/>
                        <a:buFontTx/>
                        <a:buNone/>
                        <a:tabLst/>
                      </a:pPr>
                      <a:r>
                        <a:rPr kumimoji="0" lang="es-AR" sz="1200" b="0" i="0" u="none" strike="noStrike" cap="none" normalizeH="0" baseline="0" dirty="0">
                          <a:ln>
                            <a:noFill/>
                          </a:ln>
                          <a:solidFill>
                            <a:schemeClr val="tx1"/>
                          </a:solidFill>
                          <a:effectLst/>
                          <a:latin typeface="Trebuchet MS" pitchFamily="34" charset="0"/>
                          <a:cs typeface="Arial" charset="0"/>
                        </a:rPr>
                        <a:t>N</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200" b="0" i="0" u="none" strike="noStrike" cap="none" normalizeH="0" baseline="0" dirty="0">
                          <a:ln>
                            <a:noFill/>
                          </a:ln>
                          <a:solidFill>
                            <a:schemeClr val="tx1"/>
                          </a:solidFill>
                          <a:effectLst/>
                          <a:latin typeface="Trebuchet MS" pitchFamily="34" charset="0"/>
                          <a:cs typeface="Arial" charset="0"/>
                        </a:rPr>
                        <a:t>8</a:t>
                      </a:r>
                    </a:p>
                  </a:txBody>
                  <a:tcPr marL="91449" marR="91449" marT="45703" marB="45703"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 name="Rectangle 82">
            <a:extLst>
              <a:ext uri="{FF2B5EF4-FFF2-40B4-BE49-F238E27FC236}">
                <a16:creationId xmlns:a16="http://schemas.microsoft.com/office/drawing/2014/main" id="{954743A6-E4BF-478A-A505-DC4C25BBCEFE}"/>
              </a:ext>
            </a:extLst>
          </p:cNvPr>
          <p:cNvSpPr>
            <a:spLocks noChangeArrowheads="1"/>
          </p:cNvSpPr>
          <p:nvPr/>
        </p:nvSpPr>
        <p:spPr bwMode="auto">
          <a:xfrm>
            <a:off x="971550" y="2529582"/>
            <a:ext cx="1979613" cy="323850"/>
          </a:xfrm>
          <a:prstGeom prst="rect">
            <a:avLst/>
          </a:prstGeom>
          <a:solidFill>
            <a:schemeClr val="accent1">
              <a:lumMod val="40000"/>
              <a:lumOff val="60000"/>
            </a:schemeClr>
          </a:solidFill>
          <a:ln w="9525">
            <a:solidFill>
              <a:srgbClr val="000000"/>
            </a:solidFill>
            <a:miter lim="800000"/>
            <a:headEnd/>
            <a:tailEnd/>
          </a:ln>
        </p:spPr>
        <p:txBody>
          <a:bodyPr anchor="ctr">
            <a:spAutoFit/>
          </a:bodyPr>
          <a:lstStyle/>
          <a:p>
            <a:pPr algn="ctr" eaLnBrk="1" hangingPunct="1">
              <a:spcBef>
                <a:spcPct val="20000"/>
              </a:spcBef>
              <a:buClr>
                <a:schemeClr val="accent1"/>
              </a:buClr>
              <a:buSzPct val="65000"/>
              <a:defRPr/>
            </a:pPr>
            <a:r>
              <a:rPr lang="es-ES" sz="1500" dirty="0">
                <a:latin typeface="Cambria" panose="02040503050406030204" pitchFamily="18" charset="0"/>
                <a:ea typeface="Cambria" panose="02040503050406030204" pitchFamily="18" charset="0"/>
                <a:cs typeface="Calibri" panose="020F0502020204030204" pitchFamily="34" charset="0"/>
              </a:rPr>
              <a:t>Categoría</a:t>
            </a:r>
          </a:p>
        </p:txBody>
      </p:sp>
      <p:cxnSp>
        <p:nvCxnSpPr>
          <p:cNvPr id="6190" name="9 Conector recto de flecha">
            <a:extLst>
              <a:ext uri="{FF2B5EF4-FFF2-40B4-BE49-F238E27FC236}">
                <a16:creationId xmlns:a16="http://schemas.microsoft.com/office/drawing/2014/main" id="{3B0405D1-5148-4E47-869A-5F053ED9DBB1}"/>
              </a:ext>
            </a:extLst>
          </p:cNvPr>
          <p:cNvCxnSpPr>
            <a:cxnSpLocks noChangeShapeType="1"/>
          </p:cNvCxnSpPr>
          <p:nvPr/>
        </p:nvCxnSpPr>
        <p:spPr bwMode="auto">
          <a:xfrm rot="10800000">
            <a:off x="2987675" y="2723257"/>
            <a:ext cx="504825" cy="1588"/>
          </a:xfrm>
          <a:prstGeom prst="straightConnector1">
            <a:avLst/>
          </a:prstGeom>
          <a:noFill/>
          <a:ln w="28575" algn="ctr">
            <a:solidFill>
              <a:srgbClr val="319F9A"/>
            </a:solidFill>
            <a:round/>
            <a:headEnd/>
            <a:tailEnd type="arrow" w="med" len="med"/>
          </a:ln>
          <a:extLst>
            <a:ext uri="{909E8E84-426E-40DD-AFC4-6F175D3DCCD1}">
              <a14:hiddenFill xmlns:a14="http://schemas.microsoft.com/office/drawing/2010/main">
                <a:noFill/>
              </a14:hiddenFill>
            </a:ext>
          </a:extLst>
        </p:spPr>
      </p:cxnSp>
      <p:sp>
        <p:nvSpPr>
          <p:cNvPr id="12" name="Rectangle 82">
            <a:extLst>
              <a:ext uri="{FF2B5EF4-FFF2-40B4-BE49-F238E27FC236}">
                <a16:creationId xmlns:a16="http://schemas.microsoft.com/office/drawing/2014/main" id="{D5D41D9D-1F55-4F89-8C23-5D4844742F29}"/>
              </a:ext>
            </a:extLst>
          </p:cNvPr>
          <p:cNvSpPr>
            <a:spLocks noChangeArrowheads="1"/>
          </p:cNvSpPr>
          <p:nvPr/>
        </p:nvSpPr>
        <p:spPr bwMode="auto">
          <a:xfrm>
            <a:off x="6443663" y="2529582"/>
            <a:ext cx="1979612" cy="323850"/>
          </a:xfrm>
          <a:prstGeom prst="rect">
            <a:avLst/>
          </a:prstGeom>
          <a:solidFill>
            <a:schemeClr val="accent1">
              <a:lumMod val="40000"/>
              <a:lumOff val="60000"/>
            </a:schemeClr>
          </a:solidFill>
          <a:ln w="9525">
            <a:solidFill>
              <a:srgbClr val="000000"/>
            </a:solidFill>
            <a:miter lim="800000"/>
            <a:headEnd/>
            <a:tailEnd/>
          </a:ln>
        </p:spPr>
        <p:txBody>
          <a:bodyPr anchor="ctr">
            <a:spAutoFit/>
          </a:bodyPr>
          <a:lstStyle/>
          <a:p>
            <a:pPr algn="ctr" eaLnBrk="1" hangingPunct="1">
              <a:spcBef>
                <a:spcPct val="20000"/>
              </a:spcBef>
              <a:buClr>
                <a:schemeClr val="accent1"/>
              </a:buClr>
              <a:buSzPct val="65000"/>
              <a:defRPr/>
            </a:pPr>
            <a:r>
              <a:rPr lang="es-ES" sz="1500" dirty="0">
                <a:latin typeface="Cambria" panose="02040503050406030204" pitchFamily="18" charset="0"/>
                <a:ea typeface="Cambria" panose="02040503050406030204" pitchFamily="18" charset="0"/>
                <a:cs typeface="Calibri" panose="020F0502020204030204" pitchFamily="34" charset="0"/>
              </a:rPr>
              <a:t>Frecuencia</a:t>
            </a:r>
          </a:p>
        </p:txBody>
      </p:sp>
      <p:cxnSp>
        <p:nvCxnSpPr>
          <p:cNvPr id="6192" name="12 Conector recto de flecha">
            <a:extLst>
              <a:ext uri="{FF2B5EF4-FFF2-40B4-BE49-F238E27FC236}">
                <a16:creationId xmlns:a16="http://schemas.microsoft.com/office/drawing/2014/main" id="{2AA479EC-71FA-41A5-81C6-CE5C65B5967D}"/>
              </a:ext>
            </a:extLst>
          </p:cNvPr>
          <p:cNvCxnSpPr>
            <a:cxnSpLocks noChangeShapeType="1"/>
          </p:cNvCxnSpPr>
          <p:nvPr/>
        </p:nvCxnSpPr>
        <p:spPr bwMode="auto">
          <a:xfrm>
            <a:off x="5364163" y="2724845"/>
            <a:ext cx="1079500" cy="1587"/>
          </a:xfrm>
          <a:prstGeom prst="straightConnector1">
            <a:avLst/>
          </a:prstGeom>
          <a:noFill/>
          <a:ln w="28575" algn="ctr">
            <a:solidFill>
              <a:srgbClr val="319F9A"/>
            </a:solidFill>
            <a:round/>
            <a:headEnd/>
            <a:tailEnd type="arrow" w="med" len="med"/>
          </a:ln>
          <a:extLst>
            <a:ext uri="{909E8E84-426E-40DD-AFC4-6F175D3DCCD1}">
              <a14:hiddenFill xmlns:a14="http://schemas.microsoft.com/office/drawing/2010/main">
                <a:noFill/>
              </a14:hiddenFill>
            </a:ext>
          </a:extLst>
        </p:spPr>
      </p:cxnSp>
      <p:sp>
        <p:nvSpPr>
          <p:cNvPr id="15" name="Rectangle 82">
            <a:extLst>
              <a:ext uri="{FF2B5EF4-FFF2-40B4-BE49-F238E27FC236}">
                <a16:creationId xmlns:a16="http://schemas.microsoft.com/office/drawing/2014/main" id="{26D2863F-432C-4A89-9F21-84A1A18A7CC7}"/>
              </a:ext>
            </a:extLst>
          </p:cNvPr>
          <p:cNvSpPr>
            <a:spLocks noChangeArrowheads="1"/>
          </p:cNvSpPr>
          <p:nvPr/>
        </p:nvSpPr>
        <p:spPr bwMode="auto">
          <a:xfrm>
            <a:off x="971550" y="3394770"/>
            <a:ext cx="1979613" cy="322262"/>
          </a:xfrm>
          <a:prstGeom prst="rect">
            <a:avLst/>
          </a:prstGeom>
          <a:solidFill>
            <a:schemeClr val="accent1">
              <a:lumMod val="40000"/>
              <a:lumOff val="60000"/>
            </a:schemeClr>
          </a:solidFill>
          <a:ln w="9525">
            <a:solidFill>
              <a:srgbClr val="000000"/>
            </a:solidFill>
            <a:miter lim="800000"/>
            <a:headEnd/>
            <a:tailEnd/>
          </a:ln>
        </p:spPr>
        <p:txBody>
          <a:bodyPr anchor="ctr">
            <a:spAutoFit/>
          </a:bodyPr>
          <a:lstStyle/>
          <a:p>
            <a:pPr algn="ctr" eaLnBrk="1" hangingPunct="1">
              <a:spcBef>
                <a:spcPct val="20000"/>
              </a:spcBef>
              <a:buClr>
                <a:schemeClr val="accent1"/>
              </a:buClr>
              <a:buSzPct val="65000"/>
              <a:defRPr/>
            </a:pPr>
            <a:r>
              <a:rPr lang="es-ES" sz="1500" dirty="0">
                <a:latin typeface="Cambria" panose="02040503050406030204" pitchFamily="18" charset="0"/>
                <a:ea typeface="Cambria" panose="02040503050406030204" pitchFamily="18" charset="0"/>
                <a:cs typeface="Calibri" panose="020F0502020204030204" pitchFamily="34" charset="0"/>
              </a:rPr>
              <a:t>N = Total de casos</a:t>
            </a:r>
          </a:p>
        </p:txBody>
      </p:sp>
      <p:cxnSp>
        <p:nvCxnSpPr>
          <p:cNvPr id="6194" name="15 Conector recto de flecha">
            <a:extLst>
              <a:ext uri="{FF2B5EF4-FFF2-40B4-BE49-F238E27FC236}">
                <a16:creationId xmlns:a16="http://schemas.microsoft.com/office/drawing/2014/main" id="{D5B520EE-CF38-432B-8874-87B35F98ADE6}"/>
              </a:ext>
            </a:extLst>
          </p:cNvPr>
          <p:cNvCxnSpPr>
            <a:cxnSpLocks noChangeShapeType="1"/>
          </p:cNvCxnSpPr>
          <p:nvPr/>
        </p:nvCxnSpPr>
        <p:spPr bwMode="auto">
          <a:xfrm rot="10800000">
            <a:off x="2987675" y="3586857"/>
            <a:ext cx="1223963" cy="1588"/>
          </a:xfrm>
          <a:prstGeom prst="straightConnector1">
            <a:avLst/>
          </a:prstGeom>
          <a:noFill/>
          <a:ln w="28575" algn="ctr">
            <a:solidFill>
              <a:srgbClr val="319F9A"/>
            </a:solidFill>
            <a:round/>
            <a:headEnd/>
            <a:tailEnd type="arrow" w="med" len="med"/>
          </a:ln>
          <a:extLst>
            <a:ext uri="{909E8E84-426E-40DD-AFC4-6F175D3DCCD1}">
              <a14:hiddenFill xmlns:a14="http://schemas.microsoft.com/office/drawing/2010/main">
                <a:noFill/>
              </a14:hiddenFill>
            </a:ext>
          </a:extLst>
        </p:spPr>
      </p:cxnSp>
      <p:sp>
        <p:nvSpPr>
          <p:cNvPr id="14" name="7 CuadroTexto">
            <a:extLst>
              <a:ext uri="{FF2B5EF4-FFF2-40B4-BE49-F238E27FC236}">
                <a16:creationId xmlns:a16="http://schemas.microsoft.com/office/drawing/2014/main" id="{6403B800-B194-4F22-90E6-55B8EDE7582B}"/>
              </a:ext>
            </a:extLst>
          </p:cNvPr>
          <p:cNvSpPr txBox="1">
            <a:spLocks noChangeArrowheads="1"/>
          </p:cNvSpPr>
          <p:nvPr/>
        </p:nvSpPr>
        <p:spPr bwMode="auto">
          <a:xfrm>
            <a:off x="483448" y="1103757"/>
            <a:ext cx="807243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dirty="0">
                <a:latin typeface="Cambria" panose="02040503050406030204" pitchFamily="18" charset="0"/>
                <a:ea typeface="Cambria" panose="02040503050406030204" pitchFamily="18" charset="0"/>
                <a:cs typeface="Calibri" panose="020F0502020204030204" pitchFamily="34" charset="0"/>
              </a:rPr>
              <a:t>Es difícil interpretar la información. A primera vista, no podemos saber cuántos encuestados varones tenemos. Por ello, resumimos la información en clases o categorías, y es a ello a lo que llamamos </a:t>
            </a:r>
            <a:r>
              <a:rPr lang="es-AR" altLang="es-AR" b="1" i="1" dirty="0">
                <a:solidFill>
                  <a:srgbClr val="2A8A85"/>
                </a:solidFill>
                <a:latin typeface="Cambria" panose="02040503050406030204" pitchFamily="18" charset="0"/>
                <a:ea typeface="Cambria" panose="02040503050406030204" pitchFamily="18" charset="0"/>
                <a:cs typeface="Calibri" panose="020F0502020204030204" pitchFamily="34" charset="0"/>
              </a:rPr>
              <a:t>distribución de frecuencias</a:t>
            </a:r>
            <a:r>
              <a:rPr lang="es-AR" altLang="es-AR" b="1" dirty="0">
                <a:latin typeface="Cambria" panose="02040503050406030204" pitchFamily="18" charset="0"/>
                <a:ea typeface="Cambria" panose="02040503050406030204" pitchFamily="18" charset="0"/>
                <a:cs typeface="Calibri" panose="020F0502020204030204" pitchFamily="34" charset="0"/>
              </a:rPr>
              <a:t>.</a:t>
            </a:r>
            <a:endParaRPr lang="es-AR" altLang="es-AR" sz="1600" b="1" dirty="0">
              <a:latin typeface="Cambria" panose="02040503050406030204" pitchFamily="18" charset="0"/>
              <a:ea typeface="Cambria" panose="02040503050406030204" pitchFamily="18" charset="0"/>
              <a:cs typeface="Calibri" panose="020F0502020204030204" pitchFamily="34" charset="0"/>
            </a:endParaRPr>
          </a:p>
        </p:txBody>
      </p:sp>
      <p:sp>
        <p:nvSpPr>
          <p:cNvPr id="16" name="Rectangle 82">
            <a:extLst>
              <a:ext uri="{FF2B5EF4-FFF2-40B4-BE49-F238E27FC236}">
                <a16:creationId xmlns:a16="http://schemas.microsoft.com/office/drawing/2014/main" id="{127CEDB1-6C55-4140-BBCF-76AADA358E8E}"/>
              </a:ext>
            </a:extLst>
          </p:cNvPr>
          <p:cNvSpPr>
            <a:spLocks noChangeArrowheads="1"/>
          </p:cNvSpPr>
          <p:nvPr/>
        </p:nvSpPr>
        <p:spPr bwMode="auto">
          <a:xfrm>
            <a:off x="971549" y="4849326"/>
            <a:ext cx="1979613" cy="1015663"/>
          </a:xfrm>
          <a:prstGeom prst="rect">
            <a:avLst/>
          </a:prstGeom>
          <a:solidFill>
            <a:schemeClr val="accent6">
              <a:lumMod val="20000"/>
              <a:lumOff val="80000"/>
            </a:schemeClr>
          </a:solidFill>
          <a:ln w="9525">
            <a:solidFill>
              <a:srgbClr val="000000"/>
            </a:solidFill>
            <a:miter lim="800000"/>
            <a:headEnd/>
            <a:tailEnd/>
          </a:ln>
        </p:spPr>
        <p:txBody>
          <a:bodyPr anchor="ctr">
            <a:spAutoFit/>
          </a:bodyPr>
          <a:lstStyle/>
          <a:p>
            <a:pPr algn="ctr" eaLnBrk="1" hangingPunct="1">
              <a:spcBef>
                <a:spcPct val="20000"/>
              </a:spcBef>
              <a:buClr>
                <a:schemeClr val="accent1"/>
              </a:buClr>
              <a:buSzPct val="65000"/>
              <a:defRPr/>
            </a:pPr>
            <a:r>
              <a:rPr lang="es-ES" sz="1500" dirty="0">
                <a:latin typeface="Cambria" panose="02040503050406030204" pitchFamily="18" charset="0"/>
                <a:ea typeface="Cambria" panose="02040503050406030204" pitchFamily="18" charset="0"/>
                <a:cs typeface="Calibri" panose="020F0502020204030204" pitchFamily="34" charset="0"/>
              </a:rPr>
              <a:t>Importante: cuando la variable es ordinal o </a:t>
            </a:r>
            <a:r>
              <a:rPr lang="es-ES" sz="1500" dirty="0" err="1">
                <a:latin typeface="Cambria" panose="02040503050406030204" pitchFamily="18" charset="0"/>
                <a:ea typeface="Cambria" panose="02040503050406030204" pitchFamily="18" charset="0"/>
                <a:cs typeface="Calibri" panose="020F0502020204030204" pitchFamily="34" charset="0"/>
              </a:rPr>
              <a:t>intervalar</a:t>
            </a:r>
            <a:r>
              <a:rPr lang="es-ES" sz="1500" dirty="0">
                <a:latin typeface="Cambria" panose="02040503050406030204" pitchFamily="18" charset="0"/>
                <a:ea typeface="Cambria" panose="02040503050406030204" pitchFamily="18" charset="0"/>
                <a:cs typeface="Calibri" panose="020F0502020204030204" pitchFamily="34" charset="0"/>
              </a:rPr>
              <a:t>, el orden es jerárquico</a:t>
            </a:r>
          </a:p>
        </p:txBody>
      </p:sp>
      <p:sp>
        <p:nvSpPr>
          <p:cNvPr id="17"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8"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9"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Distribuciones de frecuencias absolutas</a:t>
            </a:r>
          </a:p>
        </p:txBody>
      </p:sp>
      <p:sp>
        <p:nvSpPr>
          <p:cNvPr id="2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467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7 CuadroTexto">
            <a:extLst>
              <a:ext uri="{FF2B5EF4-FFF2-40B4-BE49-F238E27FC236}">
                <a16:creationId xmlns:a16="http://schemas.microsoft.com/office/drawing/2014/main" id="{6403B800-B194-4F22-90E6-55B8EDE7582B}"/>
              </a:ext>
            </a:extLst>
          </p:cNvPr>
          <p:cNvSpPr txBox="1">
            <a:spLocks noChangeArrowheads="1"/>
          </p:cNvSpPr>
          <p:nvPr/>
        </p:nvSpPr>
        <p:spPr bwMode="auto">
          <a:xfrm>
            <a:off x="457200" y="1032424"/>
            <a:ext cx="807243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dirty="0">
                <a:latin typeface="Cambria" panose="02040503050406030204" pitchFamily="18" charset="0"/>
                <a:ea typeface="Cambria" panose="02040503050406030204" pitchFamily="18" charset="0"/>
                <a:cs typeface="Calibri" panose="020F0502020204030204" pitchFamily="34" charset="0"/>
              </a:rPr>
              <a:t>Las distribuciones absolutas </a:t>
            </a:r>
            <a:r>
              <a:rPr lang="es-AR" altLang="es-AR" b="1" dirty="0">
                <a:latin typeface="Cambria" panose="02040503050406030204" pitchFamily="18" charset="0"/>
                <a:ea typeface="Cambria" panose="02040503050406030204" pitchFamily="18" charset="0"/>
                <a:cs typeface="Calibri" panose="020F0502020204030204" pitchFamily="34" charset="0"/>
              </a:rPr>
              <a:t>no suelen </a:t>
            </a:r>
            <a:r>
              <a:rPr lang="es-AR" altLang="es-AR" dirty="0">
                <a:latin typeface="Cambria" panose="02040503050406030204" pitchFamily="18" charset="0"/>
                <a:ea typeface="Cambria" panose="02040503050406030204" pitchFamily="18" charset="0"/>
                <a:cs typeface="Calibri" panose="020F0502020204030204" pitchFamily="34" charset="0"/>
              </a:rPr>
              <a:t>emplearse en la práctica. No es habitual hacer referencias a números absolutos. Sin embargo, nos sirven para calcular porcentajes.</a:t>
            </a:r>
            <a:endParaRPr lang="es-AR" altLang="es-AR" sz="1600" b="1" dirty="0">
              <a:latin typeface="Cambria" panose="02040503050406030204" pitchFamily="18" charset="0"/>
              <a:ea typeface="Cambria" panose="02040503050406030204" pitchFamily="18" charset="0"/>
              <a:cs typeface="Calibri" panose="020F0502020204030204" pitchFamily="34" charset="0"/>
            </a:endParaRPr>
          </a:p>
        </p:txBody>
      </p:sp>
      <p:graphicFrame>
        <p:nvGraphicFramePr>
          <p:cNvPr id="16" name="Group 31">
            <a:extLst>
              <a:ext uri="{FF2B5EF4-FFF2-40B4-BE49-F238E27FC236}">
                <a16:creationId xmlns:a16="http://schemas.microsoft.com/office/drawing/2014/main" id="{8ECA7014-E946-4836-8F19-085FF68419F6}"/>
              </a:ext>
            </a:extLst>
          </p:cNvPr>
          <p:cNvGraphicFramePr>
            <a:graphicFrameLocks/>
          </p:cNvGraphicFramePr>
          <p:nvPr>
            <p:extLst>
              <p:ext uri="{D42A27DB-BD31-4B8C-83A1-F6EECF244321}">
                <p14:modId xmlns:p14="http://schemas.microsoft.com/office/powerpoint/2010/main" val="1192107448"/>
              </p:ext>
            </p:extLst>
          </p:nvPr>
        </p:nvGraphicFramePr>
        <p:xfrm>
          <a:off x="755576" y="3212976"/>
          <a:ext cx="3960814" cy="2447925"/>
        </p:xfrm>
        <a:graphic>
          <a:graphicData uri="http://schemas.openxmlformats.org/drawingml/2006/table">
            <a:tbl>
              <a:tblPr/>
              <a:tblGrid>
                <a:gridCol w="1080222">
                  <a:extLst>
                    <a:ext uri="{9D8B030D-6E8A-4147-A177-3AD203B41FA5}">
                      <a16:colId xmlns:a16="http://schemas.microsoft.com/office/drawing/2014/main" val="20000"/>
                    </a:ext>
                  </a:extLst>
                </a:gridCol>
                <a:gridCol w="1656082">
                  <a:extLst>
                    <a:ext uri="{9D8B030D-6E8A-4147-A177-3AD203B41FA5}">
                      <a16:colId xmlns:a16="http://schemas.microsoft.com/office/drawing/2014/main" val="20001"/>
                    </a:ext>
                  </a:extLst>
                </a:gridCol>
                <a:gridCol w="1224510">
                  <a:extLst>
                    <a:ext uri="{9D8B030D-6E8A-4147-A177-3AD203B41FA5}">
                      <a16:colId xmlns:a16="http://schemas.microsoft.com/office/drawing/2014/main" val="20002"/>
                    </a:ext>
                  </a:extLst>
                </a:gridCol>
              </a:tblGrid>
              <a:tr h="74502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AR"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Sexo</a:t>
                      </a:r>
                    </a:p>
                  </a:txBody>
                  <a:tcPr marL="91449" marR="91449"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Frecuencia (</a:t>
                      </a:r>
                      <a:r>
                        <a:rPr kumimoji="0" lang="es-ES" sz="1800" b="1" i="1"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r>
                        <a:rPr kumimoji="0" lang="es-ES"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L="91449" marR="91449"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L="91449" marR="91449"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5726">
                <a:tc>
                  <a:txBody>
                    <a:bodyPr/>
                    <a:lstStyle/>
                    <a:p>
                      <a:pPr marL="342900" marR="0" lvl="0" indent="-342900" algn="ctr" defTabSz="914400" rtl="0" eaLnBrk="1" fontAlgn="b" latinLnBrk="0" hangingPunct="1">
                        <a:lnSpc>
                          <a:spcPct val="100000"/>
                        </a:lnSpc>
                        <a:spcBef>
                          <a:spcPct val="20000"/>
                        </a:spcBef>
                        <a:spcAft>
                          <a:spcPct val="0"/>
                        </a:spcAft>
                        <a:buClrTx/>
                        <a:buSzTx/>
                        <a:buFontTx/>
                        <a:buNone/>
                        <a:tabLst/>
                      </a:pPr>
                      <a:r>
                        <a:rPr kumimoji="0" lang="es-AR"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Varón</a:t>
                      </a: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5726">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Mujer</a:t>
                      </a: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endParaRPr kumimoji="0" lang="es-ES"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5726">
                <a:tc>
                  <a:txBody>
                    <a:bodyPr/>
                    <a:lstStyle/>
                    <a:p>
                      <a:pPr marL="342900" marR="0" lvl="0" indent="-342900" algn="ctr" defTabSz="914400" rtl="0" eaLnBrk="1" fontAlgn="b" latinLnBrk="0" hangingPunct="1">
                        <a:lnSpc>
                          <a:spcPct val="100000"/>
                        </a:lnSpc>
                        <a:spcBef>
                          <a:spcPct val="20000"/>
                        </a:spcBef>
                        <a:spcAft>
                          <a:spcPct val="0"/>
                        </a:spcAft>
                        <a:buClrTx/>
                        <a:buSzTx/>
                        <a:buFontTx/>
                        <a:buNone/>
                        <a:tabLst/>
                      </a:pPr>
                      <a:endParaRPr kumimoji="0" lang="es-AR"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5726">
                <a:tc>
                  <a:txBody>
                    <a:bodyPr/>
                    <a:lstStyle/>
                    <a:p>
                      <a:pPr marL="342900" marR="0" lvl="0" indent="-342900" algn="ctr" defTabSz="914400" rtl="0" eaLnBrk="1" fontAlgn="b" latinLnBrk="0" hangingPunct="1">
                        <a:lnSpc>
                          <a:spcPct val="100000"/>
                        </a:lnSpc>
                        <a:spcBef>
                          <a:spcPct val="20000"/>
                        </a:spcBef>
                        <a:spcAft>
                          <a:spcPct val="0"/>
                        </a:spcAft>
                        <a:buClrTx/>
                        <a:buSzTx/>
                        <a:buFontTx/>
                        <a:buNone/>
                        <a:tabLst/>
                      </a:pPr>
                      <a:r>
                        <a:rPr kumimoji="0" lang="es-AR"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N</a:t>
                      </a: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7" name="Rectangle 82">
            <a:extLst>
              <a:ext uri="{FF2B5EF4-FFF2-40B4-BE49-F238E27FC236}">
                <a16:creationId xmlns:a16="http://schemas.microsoft.com/office/drawing/2014/main" id="{774843BB-4683-4AB3-A9EF-79B238C62AAC}"/>
              </a:ext>
            </a:extLst>
          </p:cNvPr>
          <p:cNvSpPr>
            <a:spLocks noChangeArrowheads="1"/>
          </p:cNvSpPr>
          <p:nvPr/>
        </p:nvSpPr>
        <p:spPr bwMode="auto">
          <a:xfrm>
            <a:off x="5797477" y="3921006"/>
            <a:ext cx="1979612" cy="600164"/>
          </a:xfrm>
          <a:prstGeom prst="rect">
            <a:avLst/>
          </a:prstGeom>
          <a:solidFill>
            <a:schemeClr val="accent1">
              <a:lumMod val="40000"/>
              <a:lumOff val="60000"/>
            </a:schemeClr>
          </a:solidFill>
          <a:ln w="9525">
            <a:solidFill>
              <a:srgbClr val="000000"/>
            </a:solidFill>
            <a:miter lim="800000"/>
            <a:headEnd/>
            <a:tailEnd/>
          </a:ln>
        </p:spPr>
        <p:txBody>
          <a:bodyPr anchor="ctr">
            <a:spAutoFit/>
          </a:bodyPr>
          <a:lstStyle/>
          <a:p>
            <a:pPr algn="ctr" eaLnBrk="1" hangingPunct="1">
              <a:spcBef>
                <a:spcPct val="20000"/>
              </a:spcBef>
              <a:buClr>
                <a:schemeClr val="accent1"/>
              </a:buClr>
              <a:buSzPct val="65000"/>
              <a:defRPr/>
            </a:pPr>
            <a:r>
              <a:rPr lang="es-ES" sz="1500" i="1" dirty="0">
                <a:latin typeface="Calibri" panose="020F0502020204030204" pitchFamily="34" charset="0"/>
                <a:cs typeface="Calibri" panose="020F0502020204030204" pitchFamily="34" charset="0"/>
              </a:rPr>
              <a:t>f / </a:t>
            </a:r>
            <a:r>
              <a:rPr lang="es-ES" sz="1500" dirty="0">
                <a:latin typeface="Calibri" panose="020F0502020204030204" pitchFamily="34" charset="0"/>
                <a:cs typeface="Calibri" panose="020F0502020204030204" pitchFamily="34" charset="0"/>
              </a:rPr>
              <a:t>N</a:t>
            </a:r>
            <a:endParaRPr lang="es-ES" sz="1500" i="1" dirty="0">
              <a:latin typeface="Calibri" panose="020F0502020204030204" pitchFamily="34" charset="0"/>
              <a:cs typeface="Calibri" panose="020F0502020204030204" pitchFamily="34" charset="0"/>
            </a:endParaRPr>
          </a:p>
          <a:p>
            <a:pPr algn="ctr" eaLnBrk="1" hangingPunct="1">
              <a:spcBef>
                <a:spcPct val="20000"/>
              </a:spcBef>
              <a:buClr>
                <a:schemeClr val="accent1"/>
              </a:buClr>
              <a:buSzPct val="65000"/>
              <a:defRPr/>
            </a:pPr>
            <a:r>
              <a:rPr lang="es-ES" sz="1500" dirty="0">
                <a:latin typeface="Calibri" panose="020F0502020204030204" pitchFamily="34" charset="0"/>
                <a:cs typeface="Calibri" panose="020F0502020204030204" pitchFamily="34" charset="0"/>
              </a:rPr>
              <a:t>0,625 x 100 = 62,5 %</a:t>
            </a:r>
          </a:p>
        </p:txBody>
      </p:sp>
      <p:cxnSp>
        <p:nvCxnSpPr>
          <p:cNvPr id="18" name="16 Conector recto de flecha">
            <a:extLst>
              <a:ext uri="{FF2B5EF4-FFF2-40B4-BE49-F238E27FC236}">
                <a16:creationId xmlns:a16="http://schemas.microsoft.com/office/drawing/2014/main" id="{75F3DF25-6D89-49BD-AAC9-245F0C8A0522}"/>
              </a:ext>
            </a:extLst>
          </p:cNvPr>
          <p:cNvCxnSpPr>
            <a:cxnSpLocks noChangeShapeType="1"/>
          </p:cNvCxnSpPr>
          <p:nvPr/>
        </p:nvCxnSpPr>
        <p:spPr bwMode="auto">
          <a:xfrm>
            <a:off x="4716390" y="4221088"/>
            <a:ext cx="1081087" cy="1588"/>
          </a:xfrm>
          <a:prstGeom prst="straightConnector1">
            <a:avLst/>
          </a:prstGeom>
          <a:noFill/>
          <a:ln w="28575" algn="ctr">
            <a:solidFill>
              <a:srgbClr val="319F9A"/>
            </a:solidFill>
            <a:round/>
            <a:headEnd/>
            <a:tailEnd type="arrow" w="med" len="med"/>
          </a:ln>
          <a:extLst>
            <a:ext uri="{909E8E84-426E-40DD-AFC4-6F175D3DCCD1}">
              <a14:hiddenFill xmlns:a14="http://schemas.microsoft.com/office/drawing/2010/main">
                <a:noFill/>
              </a14:hiddenFill>
            </a:ext>
          </a:extLst>
        </p:spPr>
      </p:cxnSp>
      <p:sp>
        <p:nvSpPr>
          <p:cNvPr id="7" name="7 CuadroTexto">
            <a:extLst>
              <a:ext uri="{FF2B5EF4-FFF2-40B4-BE49-F238E27FC236}">
                <a16:creationId xmlns:a16="http://schemas.microsoft.com/office/drawing/2014/main" id="{00192D54-4D4F-4764-A207-E3CCC399A8F0}"/>
              </a:ext>
            </a:extLst>
          </p:cNvPr>
          <p:cNvSpPr txBox="1">
            <a:spLocks noChangeArrowheads="1"/>
          </p:cNvSpPr>
          <p:nvPr/>
        </p:nvSpPr>
        <p:spPr bwMode="auto">
          <a:xfrm>
            <a:off x="457199" y="2023166"/>
            <a:ext cx="807243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dirty="0">
                <a:latin typeface="Cambria" panose="02040503050406030204" pitchFamily="18" charset="0"/>
                <a:ea typeface="Cambria" panose="02040503050406030204" pitchFamily="18" charset="0"/>
                <a:cs typeface="Calibri" panose="020F0502020204030204" pitchFamily="34" charset="0"/>
              </a:rPr>
              <a:t>Una </a:t>
            </a:r>
            <a:r>
              <a:rPr lang="es-AR" altLang="es-AR" b="1" i="1" dirty="0">
                <a:solidFill>
                  <a:srgbClr val="2A8A85"/>
                </a:solidFill>
                <a:latin typeface="Cambria" panose="02040503050406030204" pitchFamily="18" charset="0"/>
                <a:ea typeface="Cambria" panose="02040503050406030204" pitchFamily="18" charset="0"/>
                <a:cs typeface="Calibri" panose="020F0502020204030204" pitchFamily="34" charset="0"/>
              </a:rPr>
              <a:t>proporción</a:t>
            </a:r>
            <a:r>
              <a:rPr lang="es-AR" altLang="es-AR" dirty="0">
                <a:latin typeface="Cambria" panose="02040503050406030204" pitchFamily="18" charset="0"/>
                <a:ea typeface="Cambria" panose="02040503050406030204" pitchFamily="18" charset="0"/>
                <a:cs typeface="Calibri" panose="020F0502020204030204" pitchFamily="34" charset="0"/>
              </a:rPr>
              <a:t> compara el número de casos de una categoría de una variable con el tamaño total de la distribución. Si el cociente obtenido se multiplica por 100, obtenemos un </a:t>
            </a:r>
            <a:r>
              <a:rPr lang="es-AR" altLang="es-AR" b="1" i="1" dirty="0">
                <a:solidFill>
                  <a:srgbClr val="2A8A85"/>
                </a:solidFill>
                <a:latin typeface="Cambria" panose="02040503050406030204" pitchFamily="18" charset="0"/>
                <a:ea typeface="Cambria" panose="02040503050406030204" pitchFamily="18" charset="0"/>
                <a:cs typeface="Calibri" panose="020F0502020204030204" pitchFamily="34" charset="0"/>
              </a:rPr>
              <a:t>porcentaje</a:t>
            </a:r>
            <a:r>
              <a:rPr lang="es-AR" altLang="es-AR" dirty="0">
                <a:latin typeface="Cambria" panose="02040503050406030204" pitchFamily="18" charset="0"/>
                <a:ea typeface="Cambria" panose="02040503050406030204" pitchFamily="18" charset="0"/>
                <a:cs typeface="Calibri" panose="020F0502020204030204" pitchFamily="34" charset="0"/>
              </a:rPr>
              <a:t>. </a:t>
            </a:r>
          </a:p>
        </p:txBody>
      </p:sp>
      <p:sp>
        <p:nvSpPr>
          <p:cNvPr id="8" name="Rectangle 82">
            <a:extLst>
              <a:ext uri="{FF2B5EF4-FFF2-40B4-BE49-F238E27FC236}">
                <a16:creationId xmlns:a16="http://schemas.microsoft.com/office/drawing/2014/main" id="{19C95119-769D-473A-90A0-CDE380298406}"/>
              </a:ext>
            </a:extLst>
          </p:cNvPr>
          <p:cNvSpPr>
            <a:spLocks noChangeArrowheads="1"/>
          </p:cNvSpPr>
          <p:nvPr/>
        </p:nvSpPr>
        <p:spPr bwMode="auto">
          <a:xfrm>
            <a:off x="3608430" y="4010433"/>
            <a:ext cx="793428" cy="338554"/>
          </a:xfrm>
          <a:prstGeom prst="rect">
            <a:avLst/>
          </a:prstGeom>
          <a:solidFill>
            <a:schemeClr val="accent1">
              <a:lumMod val="40000"/>
              <a:lumOff val="60000"/>
            </a:schemeClr>
          </a:solidFill>
          <a:ln w="9525">
            <a:solidFill>
              <a:srgbClr val="000000"/>
            </a:solidFill>
            <a:miter lim="800000"/>
            <a:headEnd/>
            <a:tailEnd/>
          </a:ln>
        </p:spPr>
        <p:txBody>
          <a:bodyPr wrap="square" anchor="ctr">
            <a:spAutoFit/>
          </a:bodyPr>
          <a:lstStyle/>
          <a:p>
            <a:pPr algn="ctr" eaLnBrk="1" hangingPunct="1">
              <a:spcBef>
                <a:spcPct val="20000"/>
              </a:spcBef>
              <a:buClr>
                <a:schemeClr val="accent1"/>
              </a:buClr>
              <a:buSzPct val="65000"/>
              <a:defRPr/>
            </a:pPr>
            <a:r>
              <a:rPr lang="es-ES" sz="1600" dirty="0">
                <a:latin typeface="Calibri" panose="020F0502020204030204" pitchFamily="34" charset="0"/>
                <a:cs typeface="Calibri" panose="020F0502020204030204" pitchFamily="34" charset="0"/>
              </a:rPr>
              <a:t>62,5%</a:t>
            </a:r>
          </a:p>
        </p:txBody>
      </p:sp>
      <p:sp>
        <p:nvSpPr>
          <p:cNvPr id="9" name="Rectangle 82">
            <a:extLst>
              <a:ext uri="{FF2B5EF4-FFF2-40B4-BE49-F238E27FC236}">
                <a16:creationId xmlns:a16="http://schemas.microsoft.com/office/drawing/2014/main" id="{249731D5-AEF8-4410-AC3A-C7B8285A209C}"/>
              </a:ext>
            </a:extLst>
          </p:cNvPr>
          <p:cNvSpPr>
            <a:spLocks noChangeArrowheads="1"/>
          </p:cNvSpPr>
          <p:nvPr/>
        </p:nvSpPr>
        <p:spPr bwMode="auto">
          <a:xfrm>
            <a:off x="3608430" y="4429244"/>
            <a:ext cx="793428" cy="338554"/>
          </a:xfrm>
          <a:prstGeom prst="rect">
            <a:avLst/>
          </a:prstGeom>
          <a:solidFill>
            <a:schemeClr val="accent1">
              <a:lumMod val="40000"/>
              <a:lumOff val="60000"/>
            </a:schemeClr>
          </a:solidFill>
          <a:ln w="9525">
            <a:solidFill>
              <a:srgbClr val="000000"/>
            </a:solidFill>
            <a:miter lim="800000"/>
            <a:headEnd/>
            <a:tailEnd/>
          </a:ln>
        </p:spPr>
        <p:txBody>
          <a:bodyPr wrap="square" anchor="ctr">
            <a:spAutoFit/>
          </a:bodyPr>
          <a:lstStyle/>
          <a:p>
            <a:pPr algn="ctr" eaLnBrk="1" hangingPunct="1">
              <a:spcBef>
                <a:spcPct val="20000"/>
              </a:spcBef>
              <a:buClr>
                <a:schemeClr val="accent1"/>
              </a:buClr>
              <a:buSzPct val="65000"/>
              <a:defRPr/>
            </a:pPr>
            <a:r>
              <a:rPr lang="es-ES" sz="1600" dirty="0">
                <a:latin typeface="Calibri" panose="020F0502020204030204" pitchFamily="34" charset="0"/>
                <a:cs typeface="Calibri" panose="020F0502020204030204" pitchFamily="34" charset="0"/>
              </a:rPr>
              <a:t>37,5%</a:t>
            </a:r>
          </a:p>
        </p:txBody>
      </p:sp>
      <p:sp>
        <p:nvSpPr>
          <p:cNvPr id="10" name="Rectangle 82">
            <a:extLst>
              <a:ext uri="{FF2B5EF4-FFF2-40B4-BE49-F238E27FC236}">
                <a16:creationId xmlns:a16="http://schemas.microsoft.com/office/drawing/2014/main" id="{AA2A653B-14CD-445A-9AE6-0C0F4E06BA46}"/>
              </a:ext>
            </a:extLst>
          </p:cNvPr>
          <p:cNvSpPr>
            <a:spLocks noChangeArrowheads="1"/>
          </p:cNvSpPr>
          <p:nvPr/>
        </p:nvSpPr>
        <p:spPr bwMode="auto">
          <a:xfrm>
            <a:off x="3608430" y="5267388"/>
            <a:ext cx="793428" cy="338554"/>
          </a:xfrm>
          <a:prstGeom prst="rect">
            <a:avLst/>
          </a:prstGeom>
          <a:solidFill>
            <a:schemeClr val="accent1">
              <a:lumMod val="40000"/>
              <a:lumOff val="60000"/>
            </a:schemeClr>
          </a:solidFill>
          <a:ln w="9525">
            <a:solidFill>
              <a:srgbClr val="000000"/>
            </a:solidFill>
            <a:miter lim="800000"/>
            <a:headEnd/>
            <a:tailEnd/>
          </a:ln>
        </p:spPr>
        <p:txBody>
          <a:bodyPr wrap="square" anchor="ctr">
            <a:spAutoFit/>
          </a:bodyPr>
          <a:lstStyle/>
          <a:p>
            <a:pPr algn="ctr" eaLnBrk="1" hangingPunct="1">
              <a:spcBef>
                <a:spcPct val="20000"/>
              </a:spcBef>
              <a:buClr>
                <a:schemeClr val="accent1"/>
              </a:buClr>
              <a:buSzPct val="65000"/>
              <a:defRPr/>
            </a:pPr>
            <a:r>
              <a:rPr lang="es-ES" sz="1600" dirty="0">
                <a:latin typeface="Calibri" panose="020F0502020204030204" pitchFamily="34" charset="0"/>
                <a:cs typeface="Calibri" panose="020F0502020204030204" pitchFamily="34" charset="0"/>
              </a:rPr>
              <a:t>100,0%</a:t>
            </a: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5"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9"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Distribuciones de frecuencias relativas (porcentajes)</a:t>
            </a:r>
          </a:p>
        </p:txBody>
      </p:sp>
      <p:sp>
        <p:nvSpPr>
          <p:cNvPr id="2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Rectangle 82">
            <a:extLst>
              <a:ext uri="{FF2B5EF4-FFF2-40B4-BE49-F238E27FC236}">
                <a16:creationId xmlns:a16="http://schemas.microsoft.com/office/drawing/2014/main" id="{127CEDB1-6C55-4140-BBCF-76AADA358E8E}"/>
              </a:ext>
            </a:extLst>
          </p:cNvPr>
          <p:cNvSpPr>
            <a:spLocks noChangeArrowheads="1"/>
          </p:cNvSpPr>
          <p:nvPr/>
        </p:nvSpPr>
        <p:spPr bwMode="auto">
          <a:xfrm>
            <a:off x="5795219" y="4938187"/>
            <a:ext cx="1979613" cy="1015663"/>
          </a:xfrm>
          <a:prstGeom prst="rect">
            <a:avLst/>
          </a:prstGeom>
          <a:solidFill>
            <a:schemeClr val="accent6">
              <a:lumMod val="20000"/>
              <a:lumOff val="80000"/>
            </a:schemeClr>
          </a:solidFill>
          <a:ln w="9525">
            <a:solidFill>
              <a:srgbClr val="000000"/>
            </a:solidFill>
            <a:miter lim="800000"/>
            <a:headEnd/>
            <a:tailEnd/>
          </a:ln>
        </p:spPr>
        <p:txBody>
          <a:bodyPr anchor="ctr">
            <a:spAutoFit/>
          </a:bodyPr>
          <a:lstStyle/>
          <a:p>
            <a:pPr algn="ctr" eaLnBrk="1" hangingPunct="1">
              <a:spcBef>
                <a:spcPct val="20000"/>
              </a:spcBef>
              <a:buClr>
                <a:schemeClr val="accent1"/>
              </a:buClr>
              <a:buSzPct val="65000"/>
              <a:defRPr/>
            </a:pPr>
            <a:r>
              <a:rPr lang="es-ES" sz="1500" dirty="0">
                <a:latin typeface="Cambria" panose="02040503050406030204" pitchFamily="18" charset="0"/>
                <a:ea typeface="Cambria" panose="02040503050406030204" pitchFamily="18" charset="0"/>
                <a:cs typeface="Calibri" panose="020F0502020204030204" pitchFamily="34" charset="0"/>
              </a:rPr>
              <a:t>Recordar: la resta de dos porcentajes se expresa en </a:t>
            </a:r>
            <a:r>
              <a:rPr lang="es-ES" sz="1500" b="1" dirty="0">
                <a:latin typeface="Cambria" panose="02040503050406030204" pitchFamily="18" charset="0"/>
                <a:ea typeface="Cambria" panose="02040503050406030204" pitchFamily="18" charset="0"/>
                <a:cs typeface="Calibri" panose="020F0502020204030204" pitchFamily="34" charset="0"/>
              </a:rPr>
              <a:t>puntos porcentuales</a:t>
            </a:r>
            <a:endParaRPr lang="es-ES" sz="15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2874098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7 CuadroTexto">
            <a:extLst>
              <a:ext uri="{FF2B5EF4-FFF2-40B4-BE49-F238E27FC236}">
                <a16:creationId xmlns:a16="http://schemas.microsoft.com/office/drawing/2014/main" id="{6403B800-B194-4F22-90E6-55B8EDE7582B}"/>
              </a:ext>
            </a:extLst>
          </p:cNvPr>
          <p:cNvSpPr txBox="1">
            <a:spLocks noChangeArrowheads="1"/>
          </p:cNvSpPr>
          <p:nvPr/>
        </p:nvSpPr>
        <p:spPr bwMode="auto">
          <a:xfrm>
            <a:off x="457200" y="1032424"/>
            <a:ext cx="8072437"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dirty="0">
                <a:latin typeface="Cambria" panose="02040503050406030204" pitchFamily="18" charset="0"/>
                <a:ea typeface="Cambria" panose="02040503050406030204" pitchFamily="18" charset="0"/>
                <a:cs typeface="Calibri" panose="020F0502020204030204" pitchFamily="34" charset="0"/>
              </a:rPr>
              <a:t>Se utilizan para indicar el número o el porcentaje de casos que quedan por debajo de una categoría de la variable que nos interesa. </a:t>
            </a:r>
          </a:p>
          <a:p>
            <a:pPr algn="just"/>
            <a:endParaRPr lang="es-AR" altLang="es-AR" dirty="0">
              <a:latin typeface="Cambria" panose="02040503050406030204" pitchFamily="18" charset="0"/>
              <a:ea typeface="Cambria" panose="02040503050406030204" pitchFamily="18" charset="0"/>
              <a:cs typeface="Calibri" panose="020F0502020204030204" pitchFamily="34" charset="0"/>
            </a:endParaRPr>
          </a:p>
          <a:p>
            <a:pPr algn="just"/>
            <a:r>
              <a:rPr lang="es-AR" altLang="es-AR" dirty="0">
                <a:latin typeface="Cambria" panose="02040503050406030204" pitchFamily="18" charset="0"/>
                <a:ea typeface="Cambria" panose="02040503050406030204" pitchFamily="18" charset="0"/>
                <a:cs typeface="Calibri" panose="020F0502020204030204" pitchFamily="34" charset="0"/>
              </a:rPr>
              <a:t>Sólo tienen sentido para variables </a:t>
            </a:r>
            <a:r>
              <a:rPr lang="es-AR" altLang="es-AR" b="1" dirty="0">
                <a:latin typeface="Cambria" panose="02040503050406030204" pitchFamily="18" charset="0"/>
                <a:ea typeface="Cambria" panose="02040503050406030204" pitchFamily="18" charset="0"/>
                <a:cs typeface="Calibri" panose="020F0502020204030204" pitchFamily="34" charset="0"/>
              </a:rPr>
              <a:t>de nivel ordinal, de intervalo o razón</a:t>
            </a:r>
            <a:r>
              <a:rPr lang="es-AR" altLang="es-AR" dirty="0">
                <a:latin typeface="Cambria" panose="02040503050406030204" pitchFamily="18" charset="0"/>
                <a:ea typeface="Cambria" panose="02040503050406030204" pitchFamily="18" charset="0"/>
                <a:cs typeface="Calibri" panose="020F0502020204030204" pitchFamily="34" charset="0"/>
              </a:rPr>
              <a:t>. </a:t>
            </a:r>
          </a:p>
          <a:p>
            <a:pPr algn="just"/>
            <a:endParaRPr lang="es-AR" altLang="es-AR" dirty="0">
              <a:latin typeface="Cambria" panose="02040503050406030204" pitchFamily="18" charset="0"/>
              <a:ea typeface="Cambria" panose="02040503050406030204" pitchFamily="18" charset="0"/>
              <a:cs typeface="Calibri" panose="020F0502020204030204" pitchFamily="34" charset="0"/>
            </a:endParaRPr>
          </a:p>
          <a:p>
            <a:pPr algn="just"/>
            <a:r>
              <a:rPr lang="es-AR" altLang="es-AR" dirty="0">
                <a:latin typeface="Cambria" panose="02040503050406030204" pitchFamily="18" charset="0"/>
                <a:ea typeface="Cambria" panose="02040503050406030204" pitchFamily="18" charset="0"/>
                <a:cs typeface="Calibri" panose="020F0502020204030204" pitchFamily="34" charset="0"/>
              </a:rPr>
              <a:t>Ello es porque estamos suponiendo un “orden” entre las categorías. No para las variables nominales. </a:t>
            </a:r>
          </a:p>
        </p:txBody>
      </p:sp>
      <p:graphicFrame>
        <p:nvGraphicFramePr>
          <p:cNvPr id="9" name="Group 31">
            <a:extLst>
              <a:ext uri="{FF2B5EF4-FFF2-40B4-BE49-F238E27FC236}">
                <a16:creationId xmlns:a16="http://schemas.microsoft.com/office/drawing/2014/main" id="{8C35847F-8FB7-4068-A474-1CBE2477F7DA}"/>
              </a:ext>
            </a:extLst>
          </p:cNvPr>
          <p:cNvGraphicFramePr>
            <a:graphicFrameLocks/>
          </p:cNvGraphicFramePr>
          <p:nvPr>
            <p:extLst>
              <p:ext uri="{D42A27DB-BD31-4B8C-83A1-F6EECF244321}">
                <p14:modId xmlns:p14="http://schemas.microsoft.com/office/powerpoint/2010/main" val="2900240836"/>
              </p:ext>
            </p:extLst>
          </p:nvPr>
        </p:nvGraphicFramePr>
        <p:xfrm>
          <a:off x="556617" y="3609174"/>
          <a:ext cx="3906837" cy="1979720"/>
        </p:xfrm>
        <a:graphic>
          <a:graphicData uri="http://schemas.openxmlformats.org/drawingml/2006/table">
            <a:tbl>
              <a:tblPr/>
              <a:tblGrid>
                <a:gridCol w="1065501">
                  <a:extLst>
                    <a:ext uri="{9D8B030D-6E8A-4147-A177-3AD203B41FA5}">
                      <a16:colId xmlns:a16="http://schemas.microsoft.com/office/drawing/2014/main" val="20000"/>
                    </a:ext>
                  </a:extLst>
                </a:gridCol>
                <a:gridCol w="1420668">
                  <a:extLst>
                    <a:ext uri="{9D8B030D-6E8A-4147-A177-3AD203B41FA5}">
                      <a16:colId xmlns:a16="http://schemas.microsoft.com/office/drawing/2014/main" val="20001"/>
                    </a:ext>
                  </a:extLst>
                </a:gridCol>
                <a:gridCol w="1420668">
                  <a:extLst>
                    <a:ext uri="{9D8B030D-6E8A-4147-A177-3AD203B41FA5}">
                      <a16:colId xmlns:a16="http://schemas.microsoft.com/office/drawing/2014/main" val="20002"/>
                    </a:ext>
                  </a:extLst>
                </a:gridCol>
              </a:tblGrid>
              <a:tr h="55048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AR"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Edad</a:t>
                      </a:r>
                    </a:p>
                  </a:txBody>
                  <a:tcPr marL="103357" marR="103357" marT="51668" marB="5166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Frecuencia</a:t>
                      </a:r>
                    </a:p>
                  </a:txBody>
                  <a:tcPr marL="103357" marR="103357" marT="51668" marB="5166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s-E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Frecuencia acumulada</a:t>
                      </a:r>
                    </a:p>
                  </a:txBody>
                  <a:tcPr marL="103357" marR="103357" marT="51668" marB="5166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0293">
                <a:tc>
                  <a:txBody>
                    <a:bodyPr/>
                    <a:lstStyle/>
                    <a:p>
                      <a:pPr marL="342900" marR="0" lvl="0" indent="-342900" algn="ctr"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15-19</a:t>
                      </a:r>
                    </a:p>
                  </a:txBody>
                  <a:tcPr marL="103357" marR="103357" marT="51668" marB="5166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4</a:t>
                      </a:r>
                    </a:p>
                  </a:txBody>
                  <a:tcPr marL="103357" marR="103357" marT="51668" marB="5166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4</a:t>
                      </a:r>
                    </a:p>
                  </a:txBody>
                  <a:tcPr marL="103357" marR="103357" marT="51668" marB="5166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0293">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20-24</a:t>
                      </a:r>
                    </a:p>
                  </a:txBody>
                  <a:tcPr marL="103357" marR="103357" marT="51668" marB="5166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a:t>
                      </a:r>
                    </a:p>
                  </a:txBody>
                  <a:tcPr marL="103357" marR="103357" marT="51668" marB="5166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6</a:t>
                      </a:r>
                    </a:p>
                  </a:txBody>
                  <a:tcPr marL="103357" marR="103357" marT="51668" marB="5166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0293">
                <a:tc>
                  <a:txBody>
                    <a:bodyPr/>
                    <a:lstStyle/>
                    <a:p>
                      <a:pPr marL="342900" marR="0" lvl="0" indent="-342900" algn="ctr"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25-29</a:t>
                      </a:r>
                    </a:p>
                  </a:txBody>
                  <a:tcPr marL="103357" marR="103357" marT="51668" marB="5166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a:t>
                      </a:r>
                    </a:p>
                  </a:txBody>
                  <a:tcPr marL="103357" marR="103357" marT="51668" marB="5166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8</a:t>
                      </a:r>
                    </a:p>
                  </a:txBody>
                  <a:tcPr marL="103357" marR="103357" marT="51668" marB="5166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0293">
                <a:tc>
                  <a:txBody>
                    <a:bodyPr/>
                    <a:lstStyle/>
                    <a:p>
                      <a:pPr marL="342900" marR="0" lvl="0" indent="-342900" algn="r"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N</a:t>
                      </a:r>
                    </a:p>
                  </a:txBody>
                  <a:tcPr marL="103357" marR="103357" marT="51668" marB="5166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8</a:t>
                      </a:r>
                    </a:p>
                  </a:txBody>
                  <a:tcPr marL="103357" marR="103357" marT="51668" marB="5166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txBody>
                  <a:tcPr marL="103357" marR="103357" marT="51668" marB="5166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0" name="Group 31">
            <a:extLst>
              <a:ext uri="{FF2B5EF4-FFF2-40B4-BE49-F238E27FC236}">
                <a16:creationId xmlns:a16="http://schemas.microsoft.com/office/drawing/2014/main" id="{FB2D92E4-8B8D-4C3C-B83A-5A00D50D3D2B}"/>
              </a:ext>
            </a:extLst>
          </p:cNvPr>
          <p:cNvGraphicFramePr>
            <a:graphicFrameLocks/>
          </p:cNvGraphicFramePr>
          <p:nvPr>
            <p:extLst>
              <p:ext uri="{D42A27DB-BD31-4B8C-83A1-F6EECF244321}">
                <p14:modId xmlns:p14="http://schemas.microsoft.com/office/powerpoint/2010/main" val="4224527505"/>
              </p:ext>
            </p:extLst>
          </p:nvPr>
        </p:nvGraphicFramePr>
        <p:xfrm>
          <a:off x="4622800" y="3609174"/>
          <a:ext cx="3906837" cy="1979730"/>
        </p:xfrm>
        <a:graphic>
          <a:graphicData uri="http://schemas.openxmlformats.org/drawingml/2006/table">
            <a:tbl>
              <a:tblPr/>
              <a:tblGrid>
                <a:gridCol w="1065501">
                  <a:extLst>
                    <a:ext uri="{9D8B030D-6E8A-4147-A177-3AD203B41FA5}">
                      <a16:colId xmlns:a16="http://schemas.microsoft.com/office/drawing/2014/main" val="20000"/>
                    </a:ext>
                  </a:extLst>
                </a:gridCol>
                <a:gridCol w="1420668">
                  <a:extLst>
                    <a:ext uri="{9D8B030D-6E8A-4147-A177-3AD203B41FA5}">
                      <a16:colId xmlns:a16="http://schemas.microsoft.com/office/drawing/2014/main" val="20001"/>
                    </a:ext>
                  </a:extLst>
                </a:gridCol>
                <a:gridCol w="1420668">
                  <a:extLst>
                    <a:ext uri="{9D8B030D-6E8A-4147-A177-3AD203B41FA5}">
                      <a16:colId xmlns:a16="http://schemas.microsoft.com/office/drawing/2014/main" val="20002"/>
                    </a:ext>
                  </a:extLst>
                </a:gridCol>
              </a:tblGrid>
              <a:tr h="55048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AR"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Edad</a:t>
                      </a:r>
                    </a:p>
                  </a:txBody>
                  <a:tcPr marL="103357" marR="103357" marT="51669" marB="51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Porcentaje</a:t>
                      </a:r>
                    </a:p>
                  </a:txBody>
                  <a:tcPr marL="103357" marR="103357" marT="51669" marB="51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s-E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Porcentaje Acumulado</a:t>
                      </a:r>
                    </a:p>
                  </a:txBody>
                  <a:tcPr marL="103357" marR="103357" marT="51669" marB="51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0293">
                <a:tc>
                  <a:txBody>
                    <a:bodyPr/>
                    <a:lstStyle/>
                    <a:p>
                      <a:pPr marL="342900" marR="0" lvl="0" indent="-342900" algn="ctr"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15-19</a:t>
                      </a:r>
                    </a:p>
                  </a:txBody>
                  <a:tcPr marL="103357" marR="103357" marT="51669" marB="5166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50%</a:t>
                      </a:r>
                    </a:p>
                  </a:txBody>
                  <a:tcPr marL="103357" marR="103357" marT="51669" marB="5166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50%</a:t>
                      </a:r>
                    </a:p>
                  </a:txBody>
                  <a:tcPr marL="103357" marR="103357" marT="51669" marB="5166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0293">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20-24</a:t>
                      </a:r>
                    </a:p>
                  </a:txBody>
                  <a:tcPr marL="103357" marR="103357" marT="51669" marB="5166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25%</a:t>
                      </a:r>
                    </a:p>
                  </a:txBody>
                  <a:tcPr marL="103357" marR="103357" marT="51669" marB="5166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75%</a:t>
                      </a:r>
                    </a:p>
                  </a:txBody>
                  <a:tcPr marL="103357" marR="103357" marT="51669" marB="5166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0293">
                <a:tc>
                  <a:txBody>
                    <a:bodyPr/>
                    <a:lstStyle/>
                    <a:p>
                      <a:pPr marL="342900" marR="0" lvl="0" indent="-342900" algn="ctr"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25-29</a:t>
                      </a:r>
                    </a:p>
                  </a:txBody>
                  <a:tcPr marL="103357" marR="103357" marT="51669" marB="5166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25%</a:t>
                      </a:r>
                    </a:p>
                  </a:txBody>
                  <a:tcPr marL="103357" marR="103357" marT="51669" marB="5166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100%</a:t>
                      </a:r>
                    </a:p>
                  </a:txBody>
                  <a:tcPr marL="103357" marR="103357" marT="51669" marB="5166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0293">
                <a:tc>
                  <a:txBody>
                    <a:bodyPr/>
                    <a:lstStyle/>
                    <a:p>
                      <a:pPr marL="342900" marR="0" lvl="0" indent="-342900" algn="r" defTabSz="914400" rtl="0" eaLnBrk="1" fontAlgn="b" latinLnBrk="0" hangingPunct="1">
                        <a:lnSpc>
                          <a:spcPct val="100000"/>
                        </a:lnSpc>
                        <a:spcBef>
                          <a:spcPct val="20000"/>
                        </a:spcBef>
                        <a:spcAft>
                          <a:spcPct val="0"/>
                        </a:spcAft>
                        <a:buClrTx/>
                        <a:buSzTx/>
                        <a:buFontTx/>
                        <a:buNone/>
                        <a:tabLst/>
                      </a:pPr>
                      <a:r>
                        <a:rPr kumimoji="0" lang="es-AR"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N</a:t>
                      </a:r>
                    </a:p>
                  </a:txBody>
                  <a:tcPr marL="103357" marR="103357" marT="51669" marB="5166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100%</a:t>
                      </a:r>
                    </a:p>
                  </a:txBody>
                  <a:tcPr marL="103357" marR="103357" marT="51669" marB="5166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txBody>
                  <a:tcPr marL="103357" marR="103357" marT="51669" marB="5166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10 CuadroTexto"/>
          <p:cNvSpPr txBox="1"/>
          <p:nvPr/>
        </p:nvSpPr>
        <p:spPr>
          <a:xfrm>
            <a:off x="152779" y="270173"/>
            <a:ext cx="8740395" cy="461665"/>
          </a:xfrm>
          <a:prstGeom prst="rect">
            <a:avLst/>
          </a:prstGeom>
          <a:noFill/>
        </p:spPr>
        <p:txBody>
          <a:bodyPr wrap="square" rtlCol="0">
            <a:spAutoFit/>
          </a:bodyPr>
          <a:lstStyle/>
          <a:p>
            <a:r>
              <a:rPr lang="es-AR" sz="2400" dirty="0">
                <a:latin typeface="Cambria" panose="02040503050406030204" pitchFamily="18" charset="0"/>
              </a:rPr>
              <a:t>Distribuciones de frecuencias acumuladas</a:t>
            </a:r>
          </a:p>
        </p:txBody>
      </p:sp>
      <p:sp>
        <p:nvSpPr>
          <p:cNvPr id="11"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2"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379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7 CuadroTexto">
            <a:extLst>
              <a:ext uri="{FF2B5EF4-FFF2-40B4-BE49-F238E27FC236}">
                <a16:creationId xmlns:a16="http://schemas.microsoft.com/office/drawing/2014/main" id="{6403B800-B194-4F22-90E6-55B8EDE7582B}"/>
              </a:ext>
            </a:extLst>
          </p:cNvPr>
          <p:cNvSpPr txBox="1">
            <a:spLocks noChangeArrowheads="1"/>
          </p:cNvSpPr>
          <p:nvPr/>
        </p:nvSpPr>
        <p:spPr bwMode="auto">
          <a:xfrm>
            <a:off x="457200" y="1032424"/>
            <a:ext cx="807243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dirty="0">
                <a:latin typeface="Calibri" panose="020F0502020204030204" pitchFamily="34" charset="0"/>
                <a:cs typeface="Calibri" panose="020F0502020204030204" pitchFamily="34" charset="0"/>
              </a:rPr>
              <a:t>Al igual que las proporciones/porcentajes, permiten estandarizar el tamaño, pero lo hacen comparando el número de casos que caen en una categoría de la variable con el número de casos que caen en otra categoría de la variable.</a:t>
            </a:r>
            <a:endParaRPr lang="es-AR" altLang="es-AR" sz="1600" b="1" dirty="0">
              <a:latin typeface="Calibri" panose="020F0502020204030204" pitchFamily="34" charset="0"/>
              <a:cs typeface="Calibri" panose="020F0502020204030204" pitchFamily="34" charset="0"/>
            </a:endParaRPr>
          </a:p>
        </p:txBody>
      </p:sp>
      <p:graphicFrame>
        <p:nvGraphicFramePr>
          <p:cNvPr id="16" name="Group 31">
            <a:extLst>
              <a:ext uri="{FF2B5EF4-FFF2-40B4-BE49-F238E27FC236}">
                <a16:creationId xmlns:a16="http://schemas.microsoft.com/office/drawing/2014/main" id="{8ECA7014-E946-4836-8F19-085FF68419F6}"/>
              </a:ext>
            </a:extLst>
          </p:cNvPr>
          <p:cNvGraphicFramePr>
            <a:graphicFrameLocks/>
          </p:cNvGraphicFramePr>
          <p:nvPr>
            <p:extLst>
              <p:ext uri="{D42A27DB-BD31-4B8C-83A1-F6EECF244321}">
                <p14:modId xmlns:p14="http://schemas.microsoft.com/office/powerpoint/2010/main" val="1892574059"/>
              </p:ext>
            </p:extLst>
          </p:nvPr>
        </p:nvGraphicFramePr>
        <p:xfrm>
          <a:off x="1403648" y="2451888"/>
          <a:ext cx="2924862" cy="2447925"/>
        </p:xfrm>
        <a:graphic>
          <a:graphicData uri="http://schemas.openxmlformats.org/drawingml/2006/table">
            <a:tbl>
              <a:tblPr/>
              <a:tblGrid>
                <a:gridCol w="1253512">
                  <a:extLst>
                    <a:ext uri="{9D8B030D-6E8A-4147-A177-3AD203B41FA5}">
                      <a16:colId xmlns:a16="http://schemas.microsoft.com/office/drawing/2014/main" val="20000"/>
                    </a:ext>
                  </a:extLst>
                </a:gridCol>
                <a:gridCol w="1671350">
                  <a:extLst>
                    <a:ext uri="{9D8B030D-6E8A-4147-A177-3AD203B41FA5}">
                      <a16:colId xmlns:a16="http://schemas.microsoft.com/office/drawing/2014/main" val="20001"/>
                    </a:ext>
                  </a:extLst>
                </a:gridCol>
              </a:tblGrid>
              <a:tr h="74502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AR"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Sexo</a:t>
                      </a:r>
                    </a:p>
                  </a:txBody>
                  <a:tcPr marL="91449" marR="91449"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Frecuencia</a:t>
                      </a:r>
                    </a:p>
                  </a:txBody>
                  <a:tcPr marL="91449" marR="91449"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5726">
                <a:tc>
                  <a:txBody>
                    <a:bodyPr/>
                    <a:lstStyle/>
                    <a:p>
                      <a:pPr marL="342900" marR="0" lvl="0" indent="-342900" algn="ctr" defTabSz="914400" rtl="0" eaLnBrk="1" fontAlgn="b" latinLnBrk="0" hangingPunct="1">
                        <a:lnSpc>
                          <a:spcPct val="100000"/>
                        </a:lnSpc>
                        <a:spcBef>
                          <a:spcPct val="20000"/>
                        </a:spcBef>
                        <a:spcAft>
                          <a:spcPct val="0"/>
                        </a:spcAft>
                        <a:buClrTx/>
                        <a:buSzTx/>
                        <a:buFontTx/>
                        <a:buNone/>
                        <a:tabLst/>
                      </a:pPr>
                      <a:r>
                        <a:rPr kumimoji="0" lang="es-AR"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Varón</a:t>
                      </a: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5726">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Mujer</a:t>
                      </a: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609600" marR="0" lvl="0" indent="-609600" algn="ctr" defTabSz="914400" rtl="0" eaLnBrk="1" fontAlgn="b" latinLnBrk="0" hangingPunct="1">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5726">
                <a:tc>
                  <a:txBody>
                    <a:bodyPr/>
                    <a:lstStyle/>
                    <a:p>
                      <a:pPr marL="342900" marR="0" lvl="0" indent="-342900" algn="ctr" defTabSz="914400" rtl="0" eaLnBrk="1" fontAlgn="b" latinLnBrk="0" hangingPunct="1">
                        <a:lnSpc>
                          <a:spcPct val="100000"/>
                        </a:lnSpc>
                        <a:spcBef>
                          <a:spcPct val="20000"/>
                        </a:spcBef>
                        <a:spcAft>
                          <a:spcPct val="0"/>
                        </a:spcAft>
                        <a:buClrTx/>
                        <a:buSzTx/>
                        <a:buFontTx/>
                        <a:buNone/>
                        <a:tabLst/>
                      </a:pPr>
                      <a:endParaRPr kumimoji="0" lang="es-AR"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s-E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5726">
                <a:tc>
                  <a:txBody>
                    <a:bodyPr/>
                    <a:lstStyle/>
                    <a:p>
                      <a:pPr marL="342900" marR="0" lvl="0" indent="-342900" algn="ctr" defTabSz="914400" rtl="0" eaLnBrk="1" fontAlgn="b" latinLnBrk="0" hangingPunct="1">
                        <a:lnSpc>
                          <a:spcPct val="100000"/>
                        </a:lnSpc>
                        <a:spcBef>
                          <a:spcPct val="20000"/>
                        </a:spcBef>
                        <a:spcAft>
                          <a:spcPct val="0"/>
                        </a:spcAft>
                        <a:buClrTx/>
                        <a:buSzTx/>
                        <a:buFontTx/>
                        <a:buNone/>
                        <a:tabLst/>
                      </a:pPr>
                      <a:r>
                        <a:rPr kumimoji="0" lang="es-AR"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N</a:t>
                      </a: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L="91449" marR="91449"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7" name="Rectangle 82">
            <a:extLst>
              <a:ext uri="{FF2B5EF4-FFF2-40B4-BE49-F238E27FC236}">
                <a16:creationId xmlns:a16="http://schemas.microsoft.com/office/drawing/2014/main" id="{774843BB-4683-4AB3-A9EF-79B238C62AAC}"/>
              </a:ext>
            </a:extLst>
          </p:cNvPr>
          <p:cNvSpPr>
            <a:spLocks noChangeArrowheads="1"/>
          </p:cNvSpPr>
          <p:nvPr/>
        </p:nvSpPr>
        <p:spPr bwMode="auto">
          <a:xfrm>
            <a:off x="5423309" y="2758916"/>
            <a:ext cx="1979612" cy="1338828"/>
          </a:xfrm>
          <a:prstGeom prst="rect">
            <a:avLst/>
          </a:prstGeom>
          <a:solidFill>
            <a:schemeClr val="accent1">
              <a:lumMod val="40000"/>
              <a:lumOff val="60000"/>
            </a:schemeClr>
          </a:solidFill>
          <a:ln w="9525">
            <a:solidFill>
              <a:srgbClr val="000000"/>
            </a:solidFill>
            <a:miter lim="800000"/>
            <a:headEnd/>
            <a:tailEnd/>
          </a:ln>
        </p:spPr>
        <p:txBody>
          <a:bodyPr anchor="ctr">
            <a:spAutoFit/>
          </a:bodyPr>
          <a:lstStyle/>
          <a:p>
            <a:pPr algn="ctr" eaLnBrk="1" hangingPunct="1">
              <a:spcBef>
                <a:spcPct val="20000"/>
              </a:spcBef>
              <a:buClr>
                <a:schemeClr val="accent1"/>
              </a:buClr>
              <a:buSzPct val="65000"/>
              <a:defRPr/>
            </a:pPr>
            <a:r>
              <a:rPr lang="es-ES" sz="1500" i="1" dirty="0">
                <a:latin typeface="Calibri" panose="020F0502020204030204" pitchFamily="34" charset="0"/>
                <a:cs typeface="Calibri" panose="020F0502020204030204" pitchFamily="34" charset="0"/>
              </a:rPr>
              <a:t>f1 /f2</a:t>
            </a:r>
          </a:p>
          <a:p>
            <a:pPr algn="ctr" eaLnBrk="1" hangingPunct="1">
              <a:spcBef>
                <a:spcPct val="20000"/>
              </a:spcBef>
              <a:buClr>
                <a:schemeClr val="accent1"/>
              </a:buClr>
              <a:buSzPct val="65000"/>
              <a:defRPr/>
            </a:pPr>
            <a:r>
              <a:rPr lang="es-ES" sz="1500" dirty="0">
                <a:latin typeface="Calibri" panose="020F0502020204030204" pitchFamily="34" charset="0"/>
                <a:cs typeface="Calibri" panose="020F0502020204030204" pitchFamily="34" charset="0"/>
              </a:rPr>
              <a:t>5 / 3 = </a:t>
            </a:r>
            <a:r>
              <a:rPr lang="es-ES" sz="1500" b="1" dirty="0">
                <a:latin typeface="Calibri" panose="020F0502020204030204" pitchFamily="34" charset="0"/>
                <a:cs typeface="Calibri" panose="020F0502020204030204" pitchFamily="34" charset="0"/>
              </a:rPr>
              <a:t>1,67</a:t>
            </a:r>
          </a:p>
          <a:p>
            <a:pPr algn="ctr" eaLnBrk="1" hangingPunct="1">
              <a:spcBef>
                <a:spcPct val="20000"/>
              </a:spcBef>
              <a:buClr>
                <a:schemeClr val="accent1"/>
              </a:buClr>
              <a:buSzPct val="65000"/>
              <a:defRPr/>
            </a:pPr>
            <a:r>
              <a:rPr lang="es-ES" sz="1500" dirty="0">
                <a:latin typeface="Calibri" panose="020F0502020204030204" pitchFamily="34" charset="0"/>
                <a:cs typeface="Calibri" panose="020F0502020204030204" pitchFamily="34" charset="0"/>
              </a:rPr>
              <a:t>Significa que </a:t>
            </a:r>
            <a:r>
              <a:rPr lang="es-ES" sz="1500" b="1" dirty="0">
                <a:latin typeface="Calibri" panose="020F0502020204030204" pitchFamily="34" charset="0"/>
                <a:cs typeface="Calibri" panose="020F0502020204030204" pitchFamily="34" charset="0"/>
              </a:rPr>
              <a:t>hay 1,67 varones por cada mujer</a:t>
            </a:r>
          </a:p>
        </p:txBody>
      </p:sp>
      <p:cxnSp>
        <p:nvCxnSpPr>
          <p:cNvPr id="18" name="16 Conector recto de flecha">
            <a:extLst>
              <a:ext uri="{FF2B5EF4-FFF2-40B4-BE49-F238E27FC236}">
                <a16:creationId xmlns:a16="http://schemas.microsoft.com/office/drawing/2014/main" id="{75F3DF25-6D89-49BD-AAC9-245F0C8A0522}"/>
              </a:ext>
            </a:extLst>
          </p:cNvPr>
          <p:cNvCxnSpPr>
            <a:cxnSpLocks noChangeShapeType="1"/>
          </p:cNvCxnSpPr>
          <p:nvPr/>
        </p:nvCxnSpPr>
        <p:spPr bwMode="auto">
          <a:xfrm>
            <a:off x="4342222" y="3428330"/>
            <a:ext cx="1081087" cy="1588"/>
          </a:xfrm>
          <a:prstGeom prst="straightConnector1">
            <a:avLst/>
          </a:prstGeom>
          <a:noFill/>
          <a:ln w="28575" algn="ctr">
            <a:solidFill>
              <a:schemeClr val="bg1"/>
            </a:solidFill>
            <a:round/>
            <a:headEnd/>
            <a:tailEnd type="arrow" w="med" len="med"/>
          </a:ln>
          <a:extLst>
            <a:ext uri="{909E8E84-426E-40DD-AFC4-6F175D3DCCD1}">
              <a14:hiddenFill xmlns:a14="http://schemas.microsoft.com/office/drawing/2010/main">
                <a:noFill/>
              </a14:hiddenFill>
            </a:ext>
          </a:extLst>
        </p:spPr>
      </p:cxnSp>
      <p:sp>
        <p:nvSpPr>
          <p:cNvPr id="7"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Otros recursos de estandarización: razones</a:t>
            </a:r>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7139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7 CuadroTexto">
            <a:extLst>
              <a:ext uri="{FF2B5EF4-FFF2-40B4-BE49-F238E27FC236}">
                <a16:creationId xmlns:a16="http://schemas.microsoft.com/office/drawing/2014/main" id="{6403B800-B194-4F22-90E6-55B8EDE7582B}"/>
              </a:ext>
            </a:extLst>
          </p:cNvPr>
          <p:cNvSpPr txBox="1">
            <a:spLocks noChangeArrowheads="1"/>
          </p:cNvSpPr>
          <p:nvPr/>
        </p:nvSpPr>
        <p:spPr bwMode="auto">
          <a:xfrm>
            <a:off x="457200" y="1032424"/>
            <a:ext cx="807243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dirty="0">
                <a:latin typeface="Cambria" panose="02040503050406030204" pitchFamily="18" charset="0"/>
                <a:ea typeface="Cambria" panose="02040503050406030204" pitchFamily="18" charset="0"/>
                <a:cs typeface="Calibri" panose="020F0502020204030204" pitchFamily="34" charset="0"/>
              </a:rPr>
              <a:t>Comparan </a:t>
            </a:r>
            <a:r>
              <a:rPr lang="es-AR" altLang="es-AR" b="1" dirty="0">
                <a:latin typeface="Cambria" panose="02040503050406030204" pitchFamily="18" charset="0"/>
                <a:ea typeface="Cambria" panose="02040503050406030204" pitchFamily="18" charset="0"/>
                <a:cs typeface="Calibri" panose="020F0502020204030204" pitchFamily="34" charset="0"/>
              </a:rPr>
              <a:t>casos reales</a:t>
            </a:r>
            <a:r>
              <a:rPr lang="es-AR" altLang="es-AR" dirty="0">
                <a:latin typeface="Cambria" panose="02040503050406030204" pitchFamily="18" charset="0"/>
                <a:ea typeface="Cambria" panose="02040503050406030204" pitchFamily="18" charset="0"/>
                <a:cs typeface="Calibri" panose="020F0502020204030204" pitchFamily="34" charset="0"/>
              </a:rPr>
              <a:t> con </a:t>
            </a:r>
            <a:r>
              <a:rPr lang="es-AR" altLang="es-AR" b="1" dirty="0">
                <a:latin typeface="Cambria" panose="02040503050406030204" pitchFamily="18" charset="0"/>
                <a:ea typeface="Cambria" panose="02040503050406030204" pitchFamily="18" charset="0"/>
                <a:cs typeface="Calibri" panose="020F0502020204030204" pitchFamily="34" charset="0"/>
              </a:rPr>
              <a:t>casos potenciales</a:t>
            </a:r>
            <a:r>
              <a:rPr lang="es-AR" altLang="es-AR" dirty="0">
                <a:latin typeface="Cambria" panose="02040503050406030204" pitchFamily="18" charset="0"/>
                <a:ea typeface="Cambria" panose="02040503050406030204" pitchFamily="18" charset="0"/>
                <a:cs typeface="Calibri" panose="020F0502020204030204" pitchFamily="34" charset="0"/>
              </a:rPr>
              <a:t>. Otra forma de expresarlo es que </a:t>
            </a:r>
            <a:r>
              <a:rPr lang="es-AR" altLang="es-AR" b="1" dirty="0">
                <a:latin typeface="Cambria" panose="02040503050406030204" pitchFamily="18" charset="0"/>
                <a:ea typeface="Cambria" panose="02040503050406030204" pitchFamily="18" charset="0"/>
                <a:cs typeface="Calibri" panose="020F0502020204030204" pitchFamily="34" charset="0"/>
              </a:rPr>
              <a:t>son proporciones con denominadores muy grandes</a:t>
            </a:r>
            <a:r>
              <a:rPr lang="es-AR" altLang="es-AR" dirty="0">
                <a:latin typeface="Cambria" panose="02040503050406030204" pitchFamily="18" charset="0"/>
                <a:ea typeface="Cambria" panose="02040503050406030204" pitchFamily="18" charset="0"/>
                <a:cs typeface="Calibri" panose="020F0502020204030204" pitchFamily="34" charset="0"/>
              </a:rPr>
              <a:t>. </a:t>
            </a:r>
          </a:p>
          <a:p>
            <a:pPr algn="just"/>
            <a:endParaRPr lang="es-AR" altLang="es-AR" dirty="0">
              <a:latin typeface="Cambria" panose="02040503050406030204" pitchFamily="18" charset="0"/>
              <a:ea typeface="Cambria" panose="02040503050406030204" pitchFamily="18" charset="0"/>
              <a:cs typeface="Calibri" panose="020F0502020204030204" pitchFamily="34" charset="0"/>
            </a:endParaRPr>
          </a:p>
          <a:p>
            <a:pPr algn="just"/>
            <a:r>
              <a:rPr lang="es-AR" altLang="es-AR" dirty="0">
                <a:latin typeface="Cambria" panose="02040503050406030204" pitchFamily="18" charset="0"/>
                <a:ea typeface="Cambria" panose="02040503050406030204" pitchFamily="18" charset="0"/>
                <a:cs typeface="Calibri" panose="020F0502020204030204" pitchFamily="34" charset="0"/>
              </a:rPr>
              <a:t>Son muy utilizadas en indicadores sociales porque normalmente los casos potenciales son toda la población, toda la población mayor de cierta edad, etc.</a:t>
            </a:r>
            <a:endParaRPr lang="es-AR" altLang="es-AR" sz="1600" b="1" dirty="0">
              <a:latin typeface="Cambria" panose="02040503050406030204" pitchFamily="18" charset="0"/>
              <a:ea typeface="Cambria" panose="02040503050406030204" pitchFamily="18" charset="0"/>
              <a:cs typeface="Calibri" panose="020F0502020204030204" pitchFamily="34" charset="0"/>
            </a:endParaRPr>
          </a:p>
        </p:txBody>
      </p:sp>
      <p:sp>
        <p:nvSpPr>
          <p:cNvPr id="7" name="7 CuadroTexto">
            <a:extLst>
              <a:ext uri="{FF2B5EF4-FFF2-40B4-BE49-F238E27FC236}">
                <a16:creationId xmlns:a16="http://schemas.microsoft.com/office/drawing/2014/main" id="{C855DCAE-8E42-4AA0-A69A-3419EBD1338D}"/>
              </a:ext>
            </a:extLst>
          </p:cNvPr>
          <p:cNvSpPr txBox="1">
            <a:spLocks noChangeArrowheads="1"/>
          </p:cNvSpPr>
          <p:nvPr/>
        </p:nvSpPr>
        <p:spPr bwMode="auto">
          <a:xfrm>
            <a:off x="445442" y="2577075"/>
            <a:ext cx="80724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dirty="0">
                <a:latin typeface="Cambria" panose="02040503050406030204" pitchFamily="18" charset="0"/>
                <a:ea typeface="Cambria" panose="02040503050406030204" pitchFamily="18" charset="0"/>
                <a:cs typeface="Calibri" panose="020F0502020204030204" pitchFamily="34" charset="0"/>
              </a:rPr>
              <a:t>Ejemplo: fallecidos por el COVID19. Se calcula cada 100.000 o cada 1 millón  de habitantes.</a:t>
            </a: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Otros recursos de estandarización: Tasas</a:t>
            </a:r>
          </a:p>
        </p:txBody>
      </p:sp>
      <p:sp>
        <p:nvSpPr>
          <p:cNvPr id="12"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5"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82">
                <a:extLst>
                  <a:ext uri="{FF2B5EF4-FFF2-40B4-BE49-F238E27FC236}">
                    <a16:creationId xmlns:a16="http://schemas.microsoft.com/office/drawing/2014/main" id="{545D62CD-BF4B-4938-9347-5DD1AB02A352}"/>
                  </a:ext>
                </a:extLst>
              </p:cNvPr>
              <p:cNvSpPr>
                <a:spLocks noChangeArrowheads="1"/>
              </p:cNvSpPr>
              <p:nvPr/>
            </p:nvSpPr>
            <p:spPr bwMode="auto">
              <a:xfrm>
                <a:off x="5558346" y="3961906"/>
                <a:ext cx="3106328" cy="945965"/>
              </a:xfrm>
              <a:prstGeom prst="rect">
                <a:avLst/>
              </a:prstGeom>
              <a:noFill/>
              <a:ln w="9525">
                <a:noFill/>
                <a:miter lim="800000"/>
                <a:headEnd/>
                <a:tailEnd/>
              </a:ln>
            </p:spPr>
            <p:txBody>
              <a:bodyPr wrap="square" anchor="ctr">
                <a:spAutoFit/>
              </a:bodyPr>
              <a:lstStyle/>
              <a:p>
                <a:pPr algn="ctr" eaLnBrk="1" hangingPunct="1">
                  <a:spcBef>
                    <a:spcPct val="20000"/>
                  </a:spcBef>
                  <a:buClr>
                    <a:schemeClr val="accent1"/>
                  </a:buClr>
                  <a:buSzPct val="65000"/>
                  <a:defRPr/>
                </a:pPr>
                <a:endParaRPr lang="es-ES" sz="1300" i="1" dirty="0">
                  <a:solidFill>
                    <a:srgbClr val="000000"/>
                  </a:solidFill>
                  <a:latin typeface="Calibri" panose="020F0502020204030204" pitchFamily="34" charset="0"/>
                  <a:cs typeface="Calibri" panose="020F0502020204030204" pitchFamily="34" charset="0"/>
                </a:endParaRPr>
              </a:p>
              <a:p>
                <a:pPr algn="ctr" eaLnBrk="1" hangingPunct="1">
                  <a:spcBef>
                    <a:spcPct val="20000"/>
                  </a:spcBef>
                  <a:buClr>
                    <a:schemeClr val="accent1"/>
                  </a:buClr>
                  <a:buSzPct val="65000"/>
                  <a:defRPr/>
                </a:pPr>
                <a14:m>
                  <m:oMathPara xmlns:m="http://schemas.openxmlformats.org/officeDocument/2006/math">
                    <m:oMathParaPr>
                      <m:jc m:val="centerGroup"/>
                    </m:oMathParaPr>
                    <m:oMath xmlns:m="http://schemas.openxmlformats.org/officeDocument/2006/math">
                      <m:r>
                        <a:rPr lang="es-AR" sz="1300" b="0" i="1" smtClean="0">
                          <a:solidFill>
                            <a:srgbClr val="000000"/>
                          </a:solidFill>
                          <a:latin typeface="Cambria Math" panose="02040503050406030204" pitchFamily="18" charset="0"/>
                          <a:cs typeface="Calibri" panose="020F0502020204030204" pitchFamily="34" charset="0"/>
                        </a:rPr>
                        <m:t>𝑇</m:t>
                      </m:r>
                      <m:r>
                        <a:rPr lang="es-ES" sz="1300" i="1" smtClean="0">
                          <a:solidFill>
                            <a:srgbClr val="000000"/>
                          </a:solidFill>
                          <a:latin typeface="Cambria Math" panose="02040503050406030204" pitchFamily="18" charset="0"/>
                          <a:cs typeface="Calibri" panose="020F0502020204030204" pitchFamily="34" charset="0"/>
                        </a:rPr>
                        <m:t>=</m:t>
                      </m:r>
                      <m:f>
                        <m:fPr>
                          <m:ctrlPr>
                            <a:rPr lang="es-ES" sz="1300" i="1" smtClean="0">
                              <a:solidFill>
                                <a:srgbClr val="000000"/>
                              </a:solidFill>
                              <a:latin typeface="Cambria Math" panose="02040503050406030204" pitchFamily="18" charset="0"/>
                              <a:cs typeface="Calibri" panose="020F0502020204030204" pitchFamily="34" charset="0"/>
                            </a:rPr>
                          </m:ctrlPr>
                        </m:fPr>
                        <m:num>
                          <m:r>
                            <a:rPr lang="es-AR" sz="1300" b="0" i="1" smtClean="0">
                              <a:solidFill>
                                <a:srgbClr val="000000"/>
                              </a:solidFill>
                              <a:latin typeface="Cambria Math" panose="02040503050406030204" pitchFamily="18" charset="0"/>
                              <a:cs typeface="Calibri" panose="020F0502020204030204" pitchFamily="34" charset="0"/>
                            </a:rPr>
                            <m:t>𝑐𝑎𝑠𝑜𝑠</m:t>
                          </m:r>
                          <m:r>
                            <a:rPr lang="es-AR" sz="1300" b="0" i="1" smtClean="0">
                              <a:solidFill>
                                <a:srgbClr val="000000"/>
                              </a:solidFill>
                              <a:latin typeface="Cambria Math" panose="02040503050406030204" pitchFamily="18" charset="0"/>
                              <a:cs typeface="Calibri" panose="020F0502020204030204" pitchFamily="34" charset="0"/>
                            </a:rPr>
                            <m:t> </m:t>
                          </m:r>
                          <m:r>
                            <a:rPr lang="es-AR" sz="1300" b="0" i="1" smtClean="0">
                              <a:solidFill>
                                <a:srgbClr val="000000"/>
                              </a:solidFill>
                              <a:latin typeface="Cambria Math" panose="02040503050406030204" pitchFamily="18" charset="0"/>
                              <a:cs typeface="Calibri" panose="020F0502020204030204" pitchFamily="34" charset="0"/>
                            </a:rPr>
                            <m:t>𝑟𝑒𝑎𝑙𝑒𝑠</m:t>
                          </m:r>
                          <m:r>
                            <a:rPr lang="es-AR" sz="13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rPr>
                            <m:t>∙1.000.000</m:t>
                          </m:r>
                        </m:num>
                        <m:den>
                          <m:r>
                            <a:rPr lang="es-AR" sz="1300" b="0" i="1" smtClean="0">
                              <a:solidFill>
                                <a:srgbClr val="000000"/>
                              </a:solidFill>
                              <a:latin typeface="Cambria Math" panose="02040503050406030204" pitchFamily="18" charset="0"/>
                              <a:cs typeface="Calibri" panose="020F0502020204030204" pitchFamily="34" charset="0"/>
                            </a:rPr>
                            <m:t>𝑐𝑎𝑠𝑜𝑠</m:t>
                          </m:r>
                          <m:r>
                            <a:rPr lang="es-AR" sz="1300" b="0" i="1" smtClean="0">
                              <a:solidFill>
                                <a:srgbClr val="000000"/>
                              </a:solidFill>
                              <a:latin typeface="Cambria Math" panose="02040503050406030204" pitchFamily="18" charset="0"/>
                              <a:cs typeface="Calibri" panose="020F0502020204030204" pitchFamily="34" charset="0"/>
                            </a:rPr>
                            <m:t> </m:t>
                          </m:r>
                          <m:r>
                            <a:rPr lang="es-AR" sz="1300" b="0" i="1" smtClean="0">
                              <a:solidFill>
                                <a:srgbClr val="000000"/>
                              </a:solidFill>
                              <a:latin typeface="Cambria Math" panose="02040503050406030204" pitchFamily="18" charset="0"/>
                              <a:cs typeface="Calibri" panose="020F0502020204030204" pitchFamily="34" charset="0"/>
                            </a:rPr>
                            <m:t>𝑝𝑜𝑡𝑒𝑛𝑐𝑖𝑎𝑙𝑒𝑠</m:t>
                          </m:r>
                        </m:den>
                      </m:f>
                    </m:oMath>
                  </m:oMathPara>
                </a14:m>
                <a:endParaRPr lang="es-ES" sz="1300" i="1" dirty="0">
                  <a:solidFill>
                    <a:srgbClr val="000000"/>
                  </a:solidFill>
                  <a:latin typeface="Calibri" panose="020F0502020204030204" pitchFamily="34" charset="0"/>
                  <a:cs typeface="Calibri" panose="020F0502020204030204" pitchFamily="34" charset="0"/>
                </a:endParaRPr>
              </a:p>
              <a:p>
                <a:pPr algn="ctr" eaLnBrk="1" hangingPunct="1">
                  <a:spcBef>
                    <a:spcPct val="20000"/>
                  </a:spcBef>
                  <a:buClr>
                    <a:schemeClr val="accent1"/>
                  </a:buClr>
                  <a:buSzPct val="65000"/>
                  <a:defRPr/>
                </a:pPr>
                <a:endParaRPr lang="es-ES" sz="1300" i="1" dirty="0">
                  <a:solidFill>
                    <a:srgbClr val="000000"/>
                  </a:solidFill>
                  <a:latin typeface="Calibri" panose="020F0502020204030204" pitchFamily="34" charset="0"/>
                  <a:cs typeface="Calibri" panose="020F0502020204030204" pitchFamily="34" charset="0"/>
                </a:endParaRPr>
              </a:p>
            </p:txBody>
          </p:sp>
        </mc:Choice>
        <mc:Fallback xmlns="">
          <p:sp>
            <p:nvSpPr>
              <p:cNvPr id="16" name="Rectangle 82">
                <a:extLst>
                  <a:ext uri="{FF2B5EF4-FFF2-40B4-BE49-F238E27FC236}">
                    <a16:creationId xmlns:a16="http://schemas.microsoft.com/office/drawing/2014/main" id="{545D62CD-BF4B-4938-9347-5DD1AB02A352}"/>
                  </a:ext>
                </a:extLst>
              </p:cNvPr>
              <p:cNvSpPr>
                <a:spLocks noRot="1" noChangeAspect="1" noMove="1" noResize="1" noEditPoints="1" noAdjustHandles="1" noChangeArrowheads="1" noChangeShapeType="1" noTextEdit="1"/>
              </p:cNvSpPr>
              <p:nvPr/>
            </p:nvSpPr>
            <p:spPr bwMode="auto">
              <a:xfrm>
                <a:off x="5558346" y="3961906"/>
                <a:ext cx="3106328" cy="945965"/>
              </a:xfrm>
              <a:prstGeom prst="rect">
                <a:avLst/>
              </a:prstGeom>
              <a:blipFill>
                <a:blip r:embed="rId2"/>
                <a:stretch>
                  <a:fillRect/>
                </a:stretch>
              </a:blipFill>
              <a:ln w="9525">
                <a:noFill/>
                <a:miter lim="800000"/>
                <a:headEnd/>
                <a:tailEnd/>
              </a:ln>
            </p:spPr>
            <p:txBody>
              <a:bodyPr/>
              <a:lstStyle/>
              <a:p>
                <a:r>
                  <a:rPr lang="en-US">
                    <a:noFill/>
                  </a:rPr>
                  <a:t> </a:t>
                </a:r>
              </a:p>
            </p:txBody>
          </p:sp>
        </mc:Fallback>
      </mc:AlternateContent>
      <p:graphicFrame>
        <p:nvGraphicFramePr>
          <p:cNvPr id="17" name="Tabla 16"/>
          <p:cNvGraphicFramePr>
            <a:graphicFrameLocks noGrp="1"/>
          </p:cNvGraphicFramePr>
          <p:nvPr>
            <p:extLst>
              <p:ext uri="{D42A27DB-BD31-4B8C-83A1-F6EECF244321}">
                <p14:modId xmlns:p14="http://schemas.microsoft.com/office/powerpoint/2010/main" val="1510176876"/>
              </p:ext>
            </p:extLst>
          </p:nvPr>
        </p:nvGraphicFramePr>
        <p:xfrm>
          <a:off x="443542" y="3583353"/>
          <a:ext cx="5000435" cy="1641177"/>
        </p:xfrm>
        <a:graphic>
          <a:graphicData uri="http://schemas.openxmlformats.org/drawingml/2006/table">
            <a:tbl>
              <a:tblPr>
                <a:tableStyleId>{69CF1AB2-1976-4502-BF36-3FF5EA218861}</a:tableStyleId>
              </a:tblPr>
              <a:tblGrid>
                <a:gridCol w="1356049">
                  <a:extLst>
                    <a:ext uri="{9D8B030D-6E8A-4147-A177-3AD203B41FA5}">
                      <a16:colId xmlns:a16="http://schemas.microsoft.com/office/drawing/2014/main" val="1103147240"/>
                    </a:ext>
                  </a:extLst>
                </a:gridCol>
                <a:gridCol w="1186543">
                  <a:extLst>
                    <a:ext uri="{9D8B030D-6E8A-4147-A177-3AD203B41FA5}">
                      <a16:colId xmlns:a16="http://schemas.microsoft.com/office/drawing/2014/main" val="4056893355"/>
                    </a:ext>
                  </a:extLst>
                </a:gridCol>
                <a:gridCol w="1186543">
                  <a:extLst>
                    <a:ext uri="{9D8B030D-6E8A-4147-A177-3AD203B41FA5}">
                      <a16:colId xmlns:a16="http://schemas.microsoft.com/office/drawing/2014/main" val="1554919967"/>
                    </a:ext>
                  </a:extLst>
                </a:gridCol>
                <a:gridCol w="1271300">
                  <a:extLst>
                    <a:ext uri="{9D8B030D-6E8A-4147-A177-3AD203B41FA5}">
                      <a16:colId xmlns:a16="http://schemas.microsoft.com/office/drawing/2014/main" val="2893006345"/>
                    </a:ext>
                  </a:extLst>
                </a:gridCol>
              </a:tblGrid>
              <a:tr h="679152">
                <a:tc>
                  <a:txBody>
                    <a:bodyPr/>
                    <a:lstStyle/>
                    <a:p>
                      <a:pPr algn="l" fontAlgn="b"/>
                      <a:r>
                        <a:rPr lang="es-AR" sz="1200" b="1" u="none" strike="noStrike" dirty="0">
                          <a:effectLst/>
                          <a:latin typeface="+mn-lt"/>
                        </a:rPr>
                        <a:t>País</a:t>
                      </a:r>
                      <a:endParaRPr lang="es-AR" sz="1200" b="1" i="0" u="none" strike="noStrike" dirty="0">
                        <a:solidFill>
                          <a:srgbClr val="000000"/>
                        </a:solidFill>
                        <a:effectLst/>
                        <a:latin typeface="+mn-lt"/>
                      </a:endParaRPr>
                    </a:p>
                  </a:txBody>
                  <a:tcPr marL="9525" marR="9525" marT="9525" marB="0" anchor="ctr"/>
                </a:tc>
                <a:tc>
                  <a:txBody>
                    <a:bodyPr/>
                    <a:lstStyle/>
                    <a:p>
                      <a:pPr algn="ctr" fontAlgn="b"/>
                      <a:r>
                        <a:rPr lang="es-AR" sz="1200" b="1" u="none" strike="noStrike" dirty="0">
                          <a:effectLst/>
                          <a:latin typeface="+mn-lt"/>
                        </a:rPr>
                        <a:t>Fallecidos por COVID-19</a:t>
                      </a:r>
                      <a:endParaRPr lang="es-AR" sz="1200" b="1" i="0" u="none" strike="noStrike" dirty="0">
                        <a:solidFill>
                          <a:srgbClr val="000000"/>
                        </a:solidFill>
                        <a:effectLst/>
                        <a:latin typeface="+mn-lt"/>
                      </a:endParaRPr>
                    </a:p>
                  </a:txBody>
                  <a:tcPr marL="9525" marR="9525" marT="9525" marB="0" anchor="ctr"/>
                </a:tc>
                <a:tc>
                  <a:txBody>
                    <a:bodyPr/>
                    <a:lstStyle/>
                    <a:p>
                      <a:pPr algn="ctr" fontAlgn="b"/>
                      <a:r>
                        <a:rPr lang="es-AR" sz="1200" b="1" u="none" strike="noStrike" dirty="0">
                          <a:effectLst/>
                          <a:latin typeface="+mn-lt"/>
                        </a:rPr>
                        <a:t>Población</a:t>
                      </a:r>
                      <a:endParaRPr lang="es-AR" sz="1200" b="1" i="0" u="none" strike="noStrike" dirty="0">
                        <a:solidFill>
                          <a:srgbClr val="000000"/>
                        </a:solidFill>
                        <a:effectLst/>
                        <a:latin typeface="+mn-lt"/>
                      </a:endParaRPr>
                    </a:p>
                  </a:txBody>
                  <a:tcPr marL="9525" marR="9525" marT="9525" marB="0" anchor="ctr"/>
                </a:tc>
                <a:tc>
                  <a:txBody>
                    <a:bodyPr/>
                    <a:lstStyle/>
                    <a:p>
                      <a:pPr algn="ctr" fontAlgn="b"/>
                      <a:r>
                        <a:rPr lang="es-AR" sz="1200" b="1" u="none" strike="noStrike" dirty="0">
                          <a:effectLst/>
                          <a:latin typeface="+mn-lt"/>
                        </a:rPr>
                        <a:t>Tasa de mortalidad (por millón de habitantes)</a:t>
                      </a:r>
                      <a:endParaRPr lang="es-AR" sz="1200" b="1"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4126403667"/>
                  </a:ext>
                </a:extLst>
              </a:tr>
              <a:tr h="190239">
                <a:tc>
                  <a:txBody>
                    <a:bodyPr/>
                    <a:lstStyle/>
                    <a:p>
                      <a:pPr algn="l" fontAlgn="b"/>
                      <a:r>
                        <a:rPr lang="es-AR" sz="1200" b="0" i="0" u="none" strike="noStrike" dirty="0">
                          <a:solidFill>
                            <a:srgbClr val="000000"/>
                          </a:solidFill>
                          <a:effectLst/>
                          <a:latin typeface="+mn-lt"/>
                        </a:rPr>
                        <a:t>Estados Unidos</a:t>
                      </a:r>
                    </a:p>
                  </a:txBody>
                  <a:tcPr marL="9525" marR="9525" marT="9525" marB="0" anchor="b"/>
                </a:tc>
                <a:tc>
                  <a:txBody>
                    <a:bodyPr/>
                    <a:lstStyle/>
                    <a:p>
                      <a:pPr algn="ctr" fontAlgn="b"/>
                      <a:r>
                        <a:rPr lang="es-AR" sz="1200" b="0" i="0" u="none" strike="noStrike" dirty="0">
                          <a:solidFill>
                            <a:srgbClr val="000000"/>
                          </a:solidFill>
                          <a:effectLst/>
                          <a:latin typeface="+mn-lt"/>
                        </a:rPr>
                        <a:t>1.004.733</a:t>
                      </a:r>
                    </a:p>
                  </a:txBody>
                  <a:tcPr marL="9525" marR="9525" marT="9525" marB="0" anchor="b"/>
                </a:tc>
                <a:tc>
                  <a:txBody>
                    <a:bodyPr/>
                    <a:lstStyle/>
                    <a:p>
                      <a:pPr algn="ctr" fontAlgn="b"/>
                      <a:r>
                        <a:rPr lang="es-AR" sz="1200" b="0" i="0" u="none" strike="noStrike" dirty="0">
                          <a:solidFill>
                            <a:srgbClr val="000000"/>
                          </a:solidFill>
                          <a:effectLst/>
                          <a:latin typeface="+mn-lt"/>
                        </a:rPr>
                        <a:t>332.182.673</a:t>
                      </a:r>
                    </a:p>
                  </a:txBody>
                  <a:tcPr marL="9525" marR="9525" marT="9525" marB="0" anchor="b"/>
                </a:tc>
                <a:tc>
                  <a:txBody>
                    <a:bodyPr/>
                    <a:lstStyle/>
                    <a:p>
                      <a:pPr algn="ctr" fontAlgn="b"/>
                      <a:endParaRPr lang="es-AR" sz="12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179148170"/>
                  </a:ext>
                </a:extLst>
              </a:tr>
              <a:tr h="190239">
                <a:tc>
                  <a:txBody>
                    <a:bodyPr/>
                    <a:lstStyle/>
                    <a:p>
                      <a:pPr algn="l" fontAlgn="b"/>
                      <a:r>
                        <a:rPr lang="es-AR" sz="1200" b="0" i="0" u="none" strike="noStrike">
                          <a:solidFill>
                            <a:srgbClr val="000000"/>
                          </a:solidFill>
                          <a:effectLst/>
                          <a:latin typeface="+mn-lt"/>
                        </a:rPr>
                        <a:t>Brasil</a:t>
                      </a:r>
                    </a:p>
                  </a:txBody>
                  <a:tcPr marL="9525" marR="9525" marT="9525" marB="0" anchor="b"/>
                </a:tc>
                <a:tc>
                  <a:txBody>
                    <a:bodyPr/>
                    <a:lstStyle/>
                    <a:p>
                      <a:pPr algn="ctr" fontAlgn="b"/>
                      <a:r>
                        <a:rPr lang="es-AR" sz="1200" b="0" i="0" u="none" strike="noStrike" dirty="0">
                          <a:solidFill>
                            <a:srgbClr val="000000"/>
                          </a:solidFill>
                          <a:effectLst/>
                          <a:latin typeface="+mn-lt"/>
                        </a:rPr>
                        <a:t>666.453</a:t>
                      </a:r>
                    </a:p>
                  </a:txBody>
                  <a:tcPr marL="9525" marR="9525" marT="9525" marB="0" anchor="b"/>
                </a:tc>
                <a:tc>
                  <a:txBody>
                    <a:bodyPr/>
                    <a:lstStyle/>
                    <a:p>
                      <a:pPr algn="ctr" fontAlgn="b"/>
                      <a:r>
                        <a:rPr lang="es-AR" sz="1200" b="0" i="0" u="none" strike="noStrike" dirty="0">
                          <a:solidFill>
                            <a:srgbClr val="000000"/>
                          </a:solidFill>
                          <a:effectLst/>
                          <a:latin typeface="+mn-lt"/>
                        </a:rPr>
                        <a:t>212.559.602</a:t>
                      </a:r>
                    </a:p>
                  </a:txBody>
                  <a:tcPr marL="9525" marR="9525" marT="9525" marB="0" anchor="b"/>
                </a:tc>
                <a:tc>
                  <a:txBody>
                    <a:bodyPr/>
                    <a:lstStyle/>
                    <a:p>
                      <a:pPr algn="ctr" fontAlgn="b"/>
                      <a:endParaRPr lang="es-AR" sz="12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3174538346"/>
                  </a:ext>
                </a:extLst>
              </a:tr>
              <a:tr h="190239">
                <a:tc>
                  <a:txBody>
                    <a:bodyPr/>
                    <a:lstStyle/>
                    <a:p>
                      <a:pPr algn="l" fontAlgn="b"/>
                      <a:r>
                        <a:rPr lang="es-AR" sz="1200" b="0" i="0" u="none" strike="noStrike">
                          <a:solidFill>
                            <a:srgbClr val="000000"/>
                          </a:solidFill>
                          <a:effectLst/>
                          <a:latin typeface="+mn-lt"/>
                        </a:rPr>
                        <a:t>India</a:t>
                      </a:r>
                    </a:p>
                  </a:txBody>
                  <a:tcPr marL="9525" marR="9525" marT="9525" marB="0" anchor="b"/>
                </a:tc>
                <a:tc>
                  <a:txBody>
                    <a:bodyPr/>
                    <a:lstStyle/>
                    <a:p>
                      <a:pPr algn="ctr" fontAlgn="b"/>
                      <a:r>
                        <a:rPr lang="es-AR" sz="1200" b="0" i="0" u="none" strike="noStrike" dirty="0">
                          <a:solidFill>
                            <a:srgbClr val="000000"/>
                          </a:solidFill>
                          <a:effectLst/>
                          <a:latin typeface="+mn-lt"/>
                        </a:rPr>
                        <a:t>524.611</a:t>
                      </a:r>
                    </a:p>
                  </a:txBody>
                  <a:tcPr marL="9525" marR="9525" marT="9525" marB="0" anchor="b"/>
                </a:tc>
                <a:tc>
                  <a:txBody>
                    <a:bodyPr/>
                    <a:lstStyle/>
                    <a:p>
                      <a:pPr algn="ctr" fontAlgn="b"/>
                      <a:r>
                        <a:rPr lang="es-AR" sz="1200" b="0" i="0" u="none" strike="noStrike" dirty="0">
                          <a:solidFill>
                            <a:srgbClr val="000000"/>
                          </a:solidFill>
                          <a:effectLst/>
                          <a:latin typeface="+mn-lt"/>
                        </a:rPr>
                        <a:t>1,380.010.522</a:t>
                      </a:r>
                    </a:p>
                  </a:txBody>
                  <a:tcPr marL="9525" marR="9525" marT="9525" marB="0" anchor="b"/>
                </a:tc>
                <a:tc>
                  <a:txBody>
                    <a:bodyPr/>
                    <a:lstStyle/>
                    <a:p>
                      <a:pPr algn="ctr" fontAlgn="b"/>
                      <a:endParaRPr lang="es-AR" sz="12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326621097"/>
                  </a:ext>
                </a:extLst>
              </a:tr>
              <a:tr h="151538">
                <a:tc>
                  <a:txBody>
                    <a:bodyPr/>
                    <a:lstStyle/>
                    <a:p>
                      <a:pPr algn="l" fontAlgn="b"/>
                      <a:r>
                        <a:rPr lang="es-AR" sz="1200" b="0" i="0" u="none" strike="noStrike">
                          <a:solidFill>
                            <a:srgbClr val="000000"/>
                          </a:solidFill>
                          <a:effectLst/>
                          <a:latin typeface="+mn-lt"/>
                        </a:rPr>
                        <a:t>Rusia</a:t>
                      </a:r>
                    </a:p>
                  </a:txBody>
                  <a:tcPr marL="9525" marR="9525" marT="9525" marB="0" anchor="b"/>
                </a:tc>
                <a:tc>
                  <a:txBody>
                    <a:bodyPr/>
                    <a:lstStyle/>
                    <a:p>
                      <a:pPr algn="ctr" fontAlgn="b"/>
                      <a:r>
                        <a:rPr lang="es-AR" sz="1200" b="0" i="0" u="none" strike="noStrike" dirty="0">
                          <a:solidFill>
                            <a:srgbClr val="000000"/>
                          </a:solidFill>
                          <a:effectLst/>
                          <a:latin typeface="+mn-lt"/>
                        </a:rPr>
                        <a:t>371.306</a:t>
                      </a:r>
                    </a:p>
                  </a:txBody>
                  <a:tcPr marL="9525" marR="9525" marT="9525" marB="0" anchor="b"/>
                </a:tc>
                <a:tc>
                  <a:txBody>
                    <a:bodyPr/>
                    <a:lstStyle/>
                    <a:p>
                      <a:pPr algn="ctr" fontAlgn="b"/>
                      <a:r>
                        <a:rPr lang="es-AR" sz="1200" b="0" i="0" u="none" strike="noStrike" dirty="0">
                          <a:solidFill>
                            <a:srgbClr val="000000"/>
                          </a:solidFill>
                          <a:effectLst/>
                          <a:latin typeface="+mn-lt"/>
                        </a:rPr>
                        <a:t>145.558.252</a:t>
                      </a:r>
                    </a:p>
                  </a:txBody>
                  <a:tcPr marL="9525" marR="9525" marT="9525" marB="0" anchor="b"/>
                </a:tc>
                <a:tc>
                  <a:txBody>
                    <a:bodyPr/>
                    <a:lstStyle/>
                    <a:p>
                      <a:pPr algn="ctr" fontAlgn="b"/>
                      <a:endParaRPr lang="es-AR" sz="12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2540663227"/>
                  </a:ext>
                </a:extLst>
              </a:tr>
              <a:tr h="190239">
                <a:tc>
                  <a:txBody>
                    <a:bodyPr/>
                    <a:lstStyle/>
                    <a:p>
                      <a:pPr algn="l" fontAlgn="b"/>
                      <a:r>
                        <a:rPr lang="es-AR" sz="1200" b="0" i="0" u="none" strike="noStrike" dirty="0">
                          <a:solidFill>
                            <a:srgbClr val="000000"/>
                          </a:solidFill>
                          <a:effectLst/>
                          <a:latin typeface="+mn-lt"/>
                        </a:rPr>
                        <a:t>Argentina</a:t>
                      </a:r>
                    </a:p>
                  </a:txBody>
                  <a:tcPr marL="9525" marR="9525" marT="9525" marB="0" anchor="b"/>
                </a:tc>
                <a:tc>
                  <a:txBody>
                    <a:bodyPr/>
                    <a:lstStyle/>
                    <a:p>
                      <a:pPr algn="ctr" fontAlgn="b"/>
                      <a:r>
                        <a:rPr lang="es-AR" sz="1200" b="0" i="0" u="none" strike="noStrike" dirty="0">
                          <a:solidFill>
                            <a:srgbClr val="000000"/>
                          </a:solidFill>
                          <a:effectLst/>
                          <a:latin typeface="+mn-lt"/>
                        </a:rPr>
                        <a:t>128.889</a:t>
                      </a:r>
                    </a:p>
                  </a:txBody>
                  <a:tcPr marL="9525" marR="9525" marT="9525" marB="0" anchor="b"/>
                </a:tc>
                <a:tc>
                  <a:txBody>
                    <a:bodyPr/>
                    <a:lstStyle/>
                    <a:p>
                      <a:pPr algn="ctr" fontAlgn="b"/>
                      <a:r>
                        <a:rPr lang="es-AR" sz="1200" b="0" i="0" u="none" strike="noStrike" dirty="0">
                          <a:solidFill>
                            <a:srgbClr val="000000"/>
                          </a:solidFill>
                          <a:effectLst/>
                          <a:latin typeface="+mn-lt"/>
                        </a:rPr>
                        <a:t>45.376.740</a:t>
                      </a:r>
                    </a:p>
                  </a:txBody>
                  <a:tcPr marL="9525" marR="9525" marT="9525" marB="0" anchor="b"/>
                </a:tc>
                <a:tc>
                  <a:txBody>
                    <a:bodyPr/>
                    <a:lstStyle/>
                    <a:p>
                      <a:pPr algn="ctr" fontAlgn="b"/>
                      <a:endParaRPr lang="es-AR" sz="12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3709713283"/>
                  </a:ext>
                </a:extLst>
              </a:tr>
            </a:tbl>
          </a:graphicData>
        </a:graphic>
      </p:graphicFrame>
    </p:spTree>
    <p:extLst>
      <p:ext uri="{BB962C8B-B14F-4D97-AF65-F5344CB8AC3E}">
        <p14:creationId xmlns:p14="http://schemas.microsoft.com/office/powerpoint/2010/main" val="2203964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7 CuadroTexto">
            <a:extLst>
              <a:ext uri="{FF2B5EF4-FFF2-40B4-BE49-F238E27FC236}">
                <a16:creationId xmlns:a16="http://schemas.microsoft.com/office/drawing/2014/main" id="{6403B800-B194-4F22-90E6-55B8EDE7582B}"/>
              </a:ext>
            </a:extLst>
          </p:cNvPr>
          <p:cNvSpPr txBox="1">
            <a:spLocks noChangeArrowheads="1"/>
          </p:cNvSpPr>
          <p:nvPr/>
        </p:nvSpPr>
        <p:spPr bwMode="auto">
          <a:xfrm>
            <a:off x="457200" y="1032424"/>
            <a:ext cx="807243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dirty="0">
                <a:latin typeface="Cambria" panose="02040503050406030204" pitchFamily="18" charset="0"/>
                <a:ea typeface="Cambria" panose="02040503050406030204" pitchFamily="18" charset="0"/>
                <a:cs typeface="Calibri" panose="020F0502020204030204" pitchFamily="34" charset="0"/>
              </a:rPr>
              <a:t>Comparan </a:t>
            </a:r>
            <a:r>
              <a:rPr lang="es-AR" altLang="es-AR" b="1" dirty="0">
                <a:latin typeface="Cambria" panose="02040503050406030204" pitchFamily="18" charset="0"/>
                <a:ea typeface="Cambria" panose="02040503050406030204" pitchFamily="18" charset="0"/>
                <a:cs typeface="Calibri" panose="020F0502020204030204" pitchFamily="34" charset="0"/>
              </a:rPr>
              <a:t>casos reales</a:t>
            </a:r>
            <a:r>
              <a:rPr lang="es-AR" altLang="es-AR" dirty="0">
                <a:latin typeface="Cambria" panose="02040503050406030204" pitchFamily="18" charset="0"/>
                <a:ea typeface="Cambria" panose="02040503050406030204" pitchFamily="18" charset="0"/>
                <a:cs typeface="Calibri" panose="020F0502020204030204" pitchFamily="34" charset="0"/>
              </a:rPr>
              <a:t> con </a:t>
            </a:r>
            <a:r>
              <a:rPr lang="es-AR" altLang="es-AR" b="1" dirty="0">
                <a:latin typeface="Cambria" panose="02040503050406030204" pitchFamily="18" charset="0"/>
                <a:ea typeface="Cambria" panose="02040503050406030204" pitchFamily="18" charset="0"/>
                <a:cs typeface="Calibri" panose="020F0502020204030204" pitchFamily="34" charset="0"/>
              </a:rPr>
              <a:t>casos potenciales</a:t>
            </a:r>
            <a:r>
              <a:rPr lang="es-AR" altLang="es-AR" dirty="0">
                <a:latin typeface="Cambria" panose="02040503050406030204" pitchFamily="18" charset="0"/>
                <a:ea typeface="Cambria" panose="02040503050406030204" pitchFamily="18" charset="0"/>
                <a:cs typeface="Calibri" panose="020F0502020204030204" pitchFamily="34" charset="0"/>
              </a:rPr>
              <a:t>. Otra forma de expresarlo es que </a:t>
            </a:r>
            <a:r>
              <a:rPr lang="es-AR" altLang="es-AR" b="1" dirty="0">
                <a:latin typeface="Cambria" panose="02040503050406030204" pitchFamily="18" charset="0"/>
                <a:ea typeface="Cambria" panose="02040503050406030204" pitchFamily="18" charset="0"/>
                <a:cs typeface="Calibri" panose="020F0502020204030204" pitchFamily="34" charset="0"/>
              </a:rPr>
              <a:t>son proporciones con denominadores muy grandes</a:t>
            </a:r>
            <a:r>
              <a:rPr lang="es-AR" altLang="es-AR" dirty="0">
                <a:latin typeface="Cambria" panose="02040503050406030204" pitchFamily="18" charset="0"/>
                <a:ea typeface="Cambria" panose="02040503050406030204" pitchFamily="18" charset="0"/>
                <a:cs typeface="Calibri" panose="020F0502020204030204" pitchFamily="34" charset="0"/>
              </a:rPr>
              <a:t>. </a:t>
            </a:r>
          </a:p>
          <a:p>
            <a:pPr algn="just"/>
            <a:endParaRPr lang="es-AR" altLang="es-AR" dirty="0">
              <a:latin typeface="Cambria" panose="02040503050406030204" pitchFamily="18" charset="0"/>
              <a:ea typeface="Cambria" panose="02040503050406030204" pitchFamily="18" charset="0"/>
              <a:cs typeface="Calibri" panose="020F0502020204030204" pitchFamily="34" charset="0"/>
            </a:endParaRPr>
          </a:p>
          <a:p>
            <a:pPr algn="just"/>
            <a:r>
              <a:rPr lang="es-AR" altLang="es-AR" dirty="0">
                <a:latin typeface="Cambria" panose="02040503050406030204" pitchFamily="18" charset="0"/>
                <a:ea typeface="Cambria" panose="02040503050406030204" pitchFamily="18" charset="0"/>
                <a:cs typeface="Calibri" panose="020F0502020204030204" pitchFamily="34" charset="0"/>
              </a:rPr>
              <a:t>Son muy utilizadas en indicadores sociales porque normalmente los casos potenciales son toda la población, toda la población mayor de cierta edad, etc.</a:t>
            </a:r>
            <a:endParaRPr lang="es-AR" altLang="es-AR" sz="1600" b="1" dirty="0">
              <a:latin typeface="Cambria" panose="02040503050406030204" pitchFamily="18" charset="0"/>
              <a:ea typeface="Cambria" panose="02040503050406030204" pitchFamily="18" charset="0"/>
              <a:cs typeface="Calibri" panose="020F0502020204030204" pitchFamily="34" charset="0"/>
            </a:endParaRPr>
          </a:p>
        </p:txBody>
      </p:sp>
      <p:sp>
        <p:nvSpPr>
          <p:cNvPr id="7" name="7 CuadroTexto">
            <a:extLst>
              <a:ext uri="{FF2B5EF4-FFF2-40B4-BE49-F238E27FC236}">
                <a16:creationId xmlns:a16="http://schemas.microsoft.com/office/drawing/2014/main" id="{C855DCAE-8E42-4AA0-A69A-3419EBD1338D}"/>
              </a:ext>
            </a:extLst>
          </p:cNvPr>
          <p:cNvSpPr txBox="1">
            <a:spLocks noChangeArrowheads="1"/>
          </p:cNvSpPr>
          <p:nvPr/>
        </p:nvSpPr>
        <p:spPr bwMode="auto">
          <a:xfrm>
            <a:off x="445442" y="2577075"/>
            <a:ext cx="80724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dirty="0">
                <a:latin typeface="Cambria" panose="02040503050406030204" pitchFamily="18" charset="0"/>
                <a:ea typeface="Cambria" panose="02040503050406030204" pitchFamily="18" charset="0"/>
                <a:cs typeface="Calibri" panose="020F0502020204030204" pitchFamily="34" charset="0"/>
              </a:rPr>
              <a:t>Ejemplo: fallecidos por el COVID19. Se calcula cada 100.000 o cada 1 millón  de habitantes.</a:t>
            </a: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Otros recursos de estandarización: Tasas</a:t>
            </a:r>
          </a:p>
        </p:txBody>
      </p:sp>
      <p:sp>
        <p:nvSpPr>
          <p:cNvPr id="12"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5"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13" name="Tabla 12"/>
          <p:cNvGraphicFramePr>
            <a:graphicFrameLocks noGrp="1"/>
          </p:cNvGraphicFramePr>
          <p:nvPr>
            <p:extLst>
              <p:ext uri="{D42A27DB-BD31-4B8C-83A1-F6EECF244321}">
                <p14:modId xmlns:p14="http://schemas.microsoft.com/office/powerpoint/2010/main" val="3641944662"/>
              </p:ext>
            </p:extLst>
          </p:nvPr>
        </p:nvGraphicFramePr>
        <p:xfrm>
          <a:off x="443542" y="3583353"/>
          <a:ext cx="5000435" cy="1641177"/>
        </p:xfrm>
        <a:graphic>
          <a:graphicData uri="http://schemas.openxmlformats.org/drawingml/2006/table">
            <a:tbl>
              <a:tblPr>
                <a:tableStyleId>{69CF1AB2-1976-4502-BF36-3FF5EA218861}</a:tableStyleId>
              </a:tblPr>
              <a:tblGrid>
                <a:gridCol w="1356049">
                  <a:extLst>
                    <a:ext uri="{9D8B030D-6E8A-4147-A177-3AD203B41FA5}">
                      <a16:colId xmlns:a16="http://schemas.microsoft.com/office/drawing/2014/main" val="1103147240"/>
                    </a:ext>
                  </a:extLst>
                </a:gridCol>
                <a:gridCol w="1186543">
                  <a:extLst>
                    <a:ext uri="{9D8B030D-6E8A-4147-A177-3AD203B41FA5}">
                      <a16:colId xmlns:a16="http://schemas.microsoft.com/office/drawing/2014/main" val="4056893355"/>
                    </a:ext>
                  </a:extLst>
                </a:gridCol>
                <a:gridCol w="1186543">
                  <a:extLst>
                    <a:ext uri="{9D8B030D-6E8A-4147-A177-3AD203B41FA5}">
                      <a16:colId xmlns:a16="http://schemas.microsoft.com/office/drawing/2014/main" val="1554919967"/>
                    </a:ext>
                  </a:extLst>
                </a:gridCol>
                <a:gridCol w="1271300">
                  <a:extLst>
                    <a:ext uri="{9D8B030D-6E8A-4147-A177-3AD203B41FA5}">
                      <a16:colId xmlns:a16="http://schemas.microsoft.com/office/drawing/2014/main" val="2893006345"/>
                    </a:ext>
                  </a:extLst>
                </a:gridCol>
              </a:tblGrid>
              <a:tr h="679152">
                <a:tc>
                  <a:txBody>
                    <a:bodyPr/>
                    <a:lstStyle/>
                    <a:p>
                      <a:pPr algn="l" fontAlgn="b"/>
                      <a:r>
                        <a:rPr lang="es-AR" sz="1200" b="1" u="none" strike="noStrike" dirty="0">
                          <a:effectLst/>
                          <a:latin typeface="+mn-lt"/>
                        </a:rPr>
                        <a:t>País</a:t>
                      </a:r>
                      <a:endParaRPr lang="es-AR" sz="1200" b="1" i="0" u="none" strike="noStrike" dirty="0">
                        <a:solidFill>
                          <a:srgbClr val="000000"/>
                        </a:solidFill>
                        <a:effectLst/>
                        <a:latin typeface="+mn-lt"/>
                      </a:endParaRPr>
                    </a:p>
                  </a:txBody>
                  <a:tcPr marL="9525" marR="9525" marT="9525" marB="0" anchor="ctr"/>
                </a:tc>
                <a:tc>
                  <a:txBody>
                    <a:bodyPr/>
                    <a:lstStyle/>
                    <a:p>
                      <a:pPr algn="ctr" fontAlgn="b"/>
                      <a:r>
                        <a:rPr lang="es-AR" sz="1200" b="1" u="none" strike="noStrike" dirty="0">
                          <a:effectLst/>
                          <a:latin typeface="+mn-lt"/>
                        </a:rPr>
                        <a:t>Fallecidos por COVID-19</a:t>
                      </a:r>
                      <a:endParaRPr lang="es-AR" sz="1200" b="1" i="0" u="none" strike="noStrike" dirty="0">
                        <a:solidFill>
                          <a:srgbClr val="000000"/>
                        </a:solidFill>
                        <a:effectLst/>
                        <a:latin typeface="+mn-lt"/>
                      </a:endParaRPr>
                    </a:p>
                  </a:txBody>
                  <a:tcPr marL="9525" marR="9525" marT="9525" marB="0" anchor="ctr"/>
                </a:tc>
                <a:tc>
                  <a:txBody>
                    <a:bodyPr/>
                    <a:lstStyle/>
                    <a:p>
                      <a:pPr algn="ctr" fontAlgn="b"/>
                      <a:r>
                        <a:rPr lang="es-AR" sz="1200" b="1" u="none" strike="noStrike" dirty="0">
                          <a:effectLst/>
                          <a:latin typeface="+mn-lt"/>
                        </a:rPr>
                        <a:t>Población</a:t>
                      </a:r>
                      <a:endParaRPr lang="es-AR" sz="1200" b="1" i="0" u="none" strike="noStrike" dirty="0">
                        <a:solidFill>
                          <a:srgbClr val="000000"/>
                        </a:solidFill>
                        <a:effectLst/>
                        <a:latin typeface="+mn-lt"/>
                      </a:endParaRPr>
                    </a:p>
                  </a:txBody>
                  <a:tcPr marL="9525" marR="9525" marT="9525" marB="0" anchor="ctr"/>
                </a:tc>
                <a:tc>
                  <a:txBody>
                    <a:bodyPr/>
                    <a:lstStyle/>
                    <a:p>
                      <a:pPr algn="ctr" fontAlgn="b"/>
                      <a:r>
                        <a:rPr lang="es-AR" sz="1200" b="1" u="none" strike="noStrike" dirty="0">
                          <a:effectLst/>
                          <a:latin typeface="+mn-lt"/>
                        </a:rPr>
                        <a:t>Tasa de mortalidad (por millón de habitantes)</a:t>
                      </a:r>
                      <a:endParaRPr lang="es-AR" sz="1200" b="1"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4126403667"/>
                  </a:ext>
                </a:extLst>
              </a:tr>
              <a:tr h="190239">
                <a:tc>
                  <a:txBody>
                    <a:bodyPr/>
                    <a:lstStyle/>
                    <a:p>
                      <a:pPr algn="l" fontAlgn="b"/>
                      <a:r>
                        <a:rPr lang="es-AR" sz="1200" b="0" i="0" u="none" strike="noStrike" dirty="0">
                          <a:solidFill>
                            <a:srgbClr val="000000"/>
                          </a:solidFill>
                          <a:effectLst/>
                          <a:latin typeface="+mn-lt"/>
                        </a:rPr>
                        <a:t>Estados Unidos</a:t>
                      </a:r>
                    </a:p>
                  </a:txBody>
                  <a:tcPr marL="9525" marR="9525" marT="9525" marB="0" anchor="b"/>
                </a:tc>
                <a:tc>
                  <a:txBody>
                    <a:bodyPr/>
                    <a:lstStyle/>
                    <a:p>
                      <a:pPr algn="ctr" fontAlgn="b"/>
                      <a:r>
                        <a:rPr lang="es-AR" sz="1200" b="0" i="0" u="none" strike="noStrike" dirty="0">
                          <a:solidFill>
                            <a:srgbClr val="000000"/>
                          </a:solidFill>
                          <a:effectLst/>
                          <a:latin typeface="+mn-lt"/>
                        </a:rPr>
                        <a:t>1.004.733</a:t>
                      </a:r>
                    </a:p>
                  </a:txBody>
                  <a:tcPr marL="9525" marR="9525" marT="9525" marB="0" anchor="b"/>
                </a:tc>
                <a:tc>
                  <a:txBody>
                    <a:bodyPr/>
                    <a:lstStyle/>
                    <a:p>
                      <a:pPr algn="ctr" fontAlgn="b"/>
                      <a:r>
                        <a:rPr lang="es-AR" sz="1200" b="0" i="0" u="none" strike="noStrike" dirty="0">
                          <a:solidFill>
                            <a:srgbClr val="000000"/>
                          </a:solidFill>
                          <a:effectLst/>
                          <a:latin typeface="+mn-lt"/>
                        </a:rPr>
                        <a:t>332.182.673</a:t>
                      </a:r>
                    </a:p>
                  </a:txBody>
                  <a:tcPr marL="9525" marR="9525" marT="9525" marB="0" anchor="b"/>
                </a:tc>
                <a:tc>
                  <a:txBody>
                    <a:bodyPr/>
                    <a:lstStyle/>
                    <a:p>
                      <a:pPr algn="ctr" fontAlgn="b"/>
                      <a:r>
                        <a:rPr lang="es-AR" sz="1200" b="0" i="0" u="none" strike="noStrike" dirty="0">
                          <a:solidFill>
                            <a:srgbClr val="000000"/>
                          </a:solidFill>
                          <a:effectLst/>
                          <a:latin typeface="+mn-lt"/>
                        </a:rPr>
                        <a:t>3024,6</a:t>
                      </a:r>
                    </a:p>
                  </a:txBody>
                  <a:tcPr marL="9525" marR="9525" marT="9525" marB="0" anchor="b"/>
                </a:tc>
                <a:extLst>
                  <a:ext uri="{0D108BD9-81ED-4DB2-BD59-A6C34878D82A}">
                    <a16:rowId xmlns:a16="http://schemas.microsoft.com/office/drawing/2014/main" val="1179148170"/>
                  </a:ext>
                </a:extLst>
              </a:tr>
              <a:tr h="190239">
                <a:tc>
                  <a:txBody>
                    <a:bodyPr/>
                    <a:lstStyle/>
                    <a:p>
                      <a:pPr algn="l" fontAlgn="b"/>
                      <a:r>
                        <a:rPr lang="es-AR" sz="1200" b="0" i="0" u="none" strike="noStrike">
                          <a:solidFill>
                            <a:srgbClr val="000000"/>
                          </a:solidFill>
                          <a:effectLst/>
                          <a:latin typeface="+mn-lt"/>
                        </a:rPr>
                        <a:t>Brasil</a:t>
                      </a:r>
                    </a:p>
                  </a:txBody>
                  <a:tcPr marL="9525" marR="9525" marT="9525" marB="0" anchor="b"/>
                </a:tc>
                <a:tc>
                  <a:txBody>
                    <a:bodyPr/>
                    <a:lstStyle/>
                    <a:p>
                      <a:pPr algn="ctr" fontAlgn="b"/>
                      <a:r>
                        <a:rPr lang="es-AR" sz="1200" b="0" i="0" u="none" strike="noStrike" dirty="0">
                          <a:solidFill>
                            <a:srgbClr val="000000"/>
                          </a:solidFill>
                          <a:effectLst/>
                          <a:latin typeface="+mn-lt"/>
                        </a:rPr>
                        <a:t>666.453</a:t>
                      </a:r>
                    </a:p>
                  </a:txBody>
                  <a:tcPr marL="9525" marR="9525" marT="9525" marB="0" anchor="b"/>
                </a:tc>
                <a:tc>
                  <a:txBody>
                    <a:bodyPr/>
                    <a:lstStyle/>
                    <a:p>
                      <a:pPr algn="ctr" fontAlgn="b"/>
                      <a:r>
                        <a:rPr lang="es-AR" sz="1200" b="0" i="0" u="none" strike="noStrike" dirty="0">
                          <a:solidFill>
                            <a:srgbClr val="000000"/>
                          </a:solidFill>
                          <a:effectLst/>
                          <a:latin typeface="+mn-lt"/>
                        </a:rPr>
                        <a:t>212.559.602</a:t>
                      </a:r>
                    </a:p>
                  </a:txBody>
                  <a:tcPr marL="9525" marR="9525" marT="9525" marB="0" anchor="b"/>
                </a:tc>
                <a:tc>
                  <a:txBody>
                    <a:bodyPr/>
                    <a:lstStyle/>
                    <a:p>
                      <a:pPr algn="ctr" fontAlgn="b"/>
                      <a:r>
                        <a:rPr lang="es-AR" sz="1200" b="0" i="0" u="none" strike="noStrike" dirty="0">
                          <a:solidFill>
                            <a:srgbClr val="000000"/>
                          </a:solidFill>
                          <a:effectLst/>
                          <a:latin typeface="+mn-lt"/>
                        </a:rPr>
                        <a:t>3135,4</a:t>
                      </a:r>
                    </a:p>
                  </a:txBody>
                  <a:tcPr marL="9525" marR="9525" marT="9525" marB="0" anchor="b"/>
                </a:tc>
                <a:extLst>
                  <a:ext uri="{0D108BD9-81ED-4DB2-BD59-A6C34878D82A}">
                    <a16:rowId xmlns:a16="http://schemas.microsoft.com/office/drawing/2014/main" val="3174538346"/>
                  </a:ext>
                </a:extLst>
              </a:tr>
              <a:tr h="190239">
                <a:tc>
                  <a:txBody>
                    <a:bodyPr/>
                    <a:lstStyle/>
                    <a:p>
                      <a:pPr algn="l" fontAlgn="b"/>
                      <a:r>
                        <a:rPr lang="es-AR" sz="1200" b="0" i="0" u="none" strike="noStrike">
                          <a:solidFill>
                            <a:srgbClr val="000000"/>
                          </a:solidFill>
                          <a:effectLst/>
                          <a:latin typeface="+mn-lt"/>
                        </a:rPr>
                        <a:t>India</a:t>
                      </a:r>
                    </a:p>
                  </a:txBody>
                  <a:tcPr marL="9525" marR="9525" marT="9525" marB="0" anchor="b"/>
                </a:tc>
                <a:tc>
                  <a:txBody>
                    <a:bodyPr/>
                    <a:lstStyle/>
                    <a:p>
                      <a:pPr algn="ctr" fontAlgn="b"/>
                      <a:r>
                        <a:rPr lang="es-AR" sz="1200" b="0" i="0" u="none" strike="noStrike" dirty="0">
                          <a:solidFill>
                            <a:srgbClr val="000000"/>
                          </a:solidFill>
                          <a:effectLst/>
                          <a:latin typeface="+mn-lt"/>
                        </a:rPr>
                        <a:t>524.611</a:t>
                      </a:r>
                    </a:p>
                  </a:txBody>
                  <a:tcPr marL="9525" marR="9525" marT="9525" marB="0" anchor="b"/>
                </a:tc>
                <a:tc>
                  <a:txBody>
                    <a:bodyPr/>
                    <a:lstStyle/>
                    <a:p>
                      <a:pPr algn="ctr" fontAlgn="b"/>
                      <a:r>
                        <a:rPr lang="es-AR" sz="1200" b="0" i="0" u="none" strike="noStrike" dirty="0">
                          <a:solidFill>
                            <a:srgbClr val="000000"/>
                          </a:solidFill>
                          <a:effectLst/>
                          <a:latin typeface="+mn-lt"/>
                        </a:rPr>
                        <a:t>1,380.010.522</a:t>
                      </a:r>
                    </a:p>
                  </a:txBody>
                  <a:tcPr marL="9525" marR="9525" marT="9525" marB="0" anchor="b"/>
                </a:tc>
                <a:tc>
                  <a:txBody>
                    <a:bodyPr/>
                    <a:lstStyle/>
                    <a:p>
                      <a:pPr algn="ctr" fontAlgn="b"/>
                      <a:r>
                        <a:rPr lang="es-AR" sz="1200" b="0" i="0" u="none" strike="noStrike" dirty="0">
                          <a:solidFill>
                            <a:srgbClr val="000000"/>
                          </a:solidFill>
                          <a:effectLst/>
                          <a:latin typeface="+mn-lt"/>
                        </a:rPr>
                        <a:t>380,2</a:t>
                      </a:r>
                    </a:p>
                  </a:txBody>
                  <a:tcPr marL="9525" marR="9525" marT="9525" marB="0" anchor="b"/>
                </a:tc>
                <a:extLst>
                  <a:ext uri="{0D108BD9-81ED-4DB2-BD59-A6C34878D82A}">
                    <a16:rowId xmlns:a16="http://schemas.microsoft.com/office/drawing/2014/main" val="326621097"/>
                  </a:ext>
                </a:extLst>
              </a:tr>
              <a:tr h="151538">
                <a:tc>
                  <a:txBody>
                    <a:bodyPr/>
                    <a:lstStyle/>
                    <a:p>
                      <a:pPr algn="l" fontAlgn="b"/>
                      <a:r>
                        <a:rPr lang="es-AR" sz="1200" b="0" i="0" u="none" strike="noStrike">
                          <a:solidFill>
                            <a:srgbClr val="000000"/>
                          </a:solidFill>
                          <a:effectLst/>
                          <a:latin typeface="+mn-lt"/>
                        </a:rPr>
                        <a:t>Rusia</a:t>
                      </a:r>
                    </a:p>
                  </a:txBody>
                  <a:tcPr marL="9525" marR="9525" marT="9525" marB="0" anchor="b"/>
                </a:tc>
                <a:tc>
                  <a:txBody>
                    <a:bodyPr/>
                    <a:lstStyle/>
                    <a:p>
                      <a:pPr algn="ctr" fontAlgn="b"/>
                      <a:r>
                        <a:rPr lang="es-AR" sz="1200" b="0" i="0" u="none" strike="noStrike" dirty="0">
                          <a:solidFill>
                            <a:srgbClr val="000000"/>
                          </a:solidFill>
                          <a:effectLst/>
                          <a:latin typeface="+mn-lt"/>
                        </a:rPr>
                        <a:t>371.306</a:t>
                      </a:r>
                    </a:p>
                  </a:txBody>
                  <a:tcPr marL="9525" marR="9525" marT="9525" marB="0" anchor="b"/>
                </a:tc>
                <a:tc>
                  <a:txBody>
                    <a:bodyPr/>
                    <a:lstStyle/>
                    <a:p>
                      <a:pPr algn="ctr" fontAlgn="b"/>
                      <a:r>
                        <a:rPr lang="es-AR" sz="1200" b="0" i="0" u="none" strike="noStrike" dirty="0">
                          <a:solidFill>
                            <a:srgbClr val="000000"/>
                          </a:solidFill>
                          <a:effectLst/>
                          <a:latin typeface="+mn-lt"/>
                        </a:rPr>
                        <a:t>145.558.252</a:t>
                      </a:r>
                    </a:p>
                  </a:txBody>
                  <a:tcPr marL="9525" marR="9525" marT="9525" marB="0" anchor="b"/>
                </a:tc>
                <a:tc>
                  <a:txBody>
                    <a:bodyPr/>
                    <a:lstStyle/>
                    <a:p>
                      <a:pPr algn="ctr" fontAlgn="b"/>
                      <a:r>
                        <a:rPr lang="es-AR" sz="1200" b="0" i="0" u="none" strike="noStrike" dirty="0">
                          <a:solidFill>
                            <a:srgbClr val="000000"/>
                          </a:solidFill>
                          <a:effectLst/>
                          <a:latin typeface="+mn-lt"/>
                        </a:rPr>
                        <a:t>2550,9</a:t>
                      </a:r>
                    </a:p>
                  </a:txBody>
                  <a:tcPr marL="9525" marR="9525" marT="9525" marB="0" anchor="b"/>
                </a:tc>
                <a:extLst>
                  <a:ext uri="{0D108BD9-81ED-4DB2-BD59-A6C34878D82A}">
                    <a16:rowId xmlns:a16="http://schemas.microsoft.com/office/drawing/2014/main" val="2540663227"/>
                  </a:ext>
                </a:extLst>
              </a:tr>
              <a:tr h="190239">
                <a:tc>
                  <a:txBody>
                    <a:bodyPr/>
                    <a:lstStyle/>
                    <a:p>
                      <a:pPr algn="l" fontAlgn="b"/>
                      <a:r>
                        <a:rPr lang="es-AR" sz="1200" b="0" i="0" u="none" strike="noStrike" dirty="0">
                          <a:solidFill>
                            <a:srgbClr val="000000"/>
                          </a:solidFill>
                          <a:effectLst/>
                          <a:latin typeface="+mn-lt"/>
                        </a:rPr>
                        <a:t>Argentina</a:t>
                      </a:r>
                    </a:p>
                  </a:txBody>
                  <a:tcPr marL="9525" marR="9525" marT="9525" marB="0" anchor="b"/>
                </a:tc>
                <a:tc>
                  <a:txBody>
                    <a:bodyPr/>
                    <a:lstStyle/>
                    <a:p>
                      <a:pPr algn="ctr" fontAlgn="b"/>
                      <a:r>
                        <a:rPr lang="es-AR" sz="1200" b="0" i="0" u="none" strike="noStrike" dirty="0">
                          <a:solidFill>
                            <a:srgbClr val="000000"/>
                          </a:solidFill>
                          <a:effectLst/>
                          <a:latin typeface="+mn-lt"/>
                        </a:rPr>
                        <a:t>128.889</a:t>
                      </a:r>
                    </a:p>
                  </a:txBody>
                  <a:tcPr marL="9525" marR="9525" marT="9525" marB="0" anchor="b"/>
                </a:tc>
                <a:tc>
                  <a:txBody>
                    <a:bodyPr/>
                    <a:lstStyle/>
                    <a:p>
                      <a:pPr algn="ctr" fontAlgn="b"/>
                      <a:r>
                        <a:rPr lang="es-AR" sz="1200" b="0" i="0" u="none" strike="noStrike" dirty="0">
                          <a:solidFill>
                            <a:srgbClr val="000000"/>
                          </a:solidFill>
                          <a:effectLst/>
                          <a:latin typeface="+mn-lt"/>
                        </a:rPr>
                        <a:t>45.376.740</a:t>
                      </a:r>
                    </a:p>
                  </a:txBody>
                  <a:tcPr marL="9525" marR="9525" marT="9525" marB="0" anchor="b"/>
                </a:tc>
                <a:tc>
                  <a:txBody>
                    <a:bodyPr/>
                    <a:lstStyle/>
                    <a:p>
                      <a:pPr algn="ctr" fontAlgn="b"/>
                      <a:r>
                        <a:rPr lang="es-AR" sz="1200" b="0" i="0" u="none" strike="noStrike" dirty="0">
                          <a:solidFill>
                            <a:srgbClr val="000000"/>
                          </a:solidFill>
                          <a:effectLst/>
                          <a:latin typeface="+mn-lt"/>
                        </a:rPr>
                        <a:t>2840,4</a:t>
                      </a:r>
                    </a:p>
                  </a:txBody>
                  <a:tcPr marL="9525" marR="9525" marT="9525" marB="0" anchor="b"/>
                </a:tc>
                <a:extLst>
                  <a:ext uri="{0D108BD9-81ED-4DB2-BD59-A6C34878D82A}">
                    <a16:rowId xmlns:a16="http://schemas.microsoft.com/office/drawing/2014/main" val="3709713283"/>
                  </a:ext>
                </a:extLst>
              </a:tr>
            </a:tbl>
          </a:graphicData>
        </a:graphic>
      </p:graphicFrame>
      <mc:AlternateContent xmlns:mc="http://schemas.openxmlformats.org/markup-compatibility/2006" xmlns:a14="http://schemas.microsoft.com/office/drawing/2010/main">
        <mc:Choice Requires="a14">
          <p:sp>
            <p:nvSpPr>
              <p:cNvPr id="18" name="Rectangle 82">
                <a:extLst>
                  <a:ext uri="{FF2B5EF4-FFF2-40B4-BE49-F238E27FC236}">
                    <a16:creationId xmlns:a16="http://schemas.microsoft.com/office/drawing/2014/main" id="{545D62CD-BF4B-4938-9347-5DD1AB02A352}"/>
                  </a:ext>
                </a:extLst>
              </p:cNvPr>
              <p:cNvSpPr>
                <a:spLocks noChangeArrowheads="1"/>
              </p:cNvSpPr>
              <p:nvPr/>
            </p:nvSpPr>
            <p:spPr bwMode="auto">
              <a:xfrm>
                <a:off x="5558346" y="3553910"/>
                <a:ext cx="3106328" cy="1761957"/>
              </a:xfrm>
              <a:prstGeom prst="rect">
                <a:avLst/>
              </a:prstGeom>
              <a:noFill/>
              <a:ln w="9525">
                <a:noFill/>
                <a:miter lim="800000"/>
                <a:headEnd/>
                <a:tailEnd/>
              </a:ln>
            </p:spPr>
            <p:txBody>
              <a:bodyPr wrap="square" anchor="ctr">
                <a:spAutoFit/>
              </a:bodyPr>
              <a:lstStyle/>
              <a:p>
                <a:pPr algn="ctr" eaLnBrk="1" hangingPunct="1">
                  <a:spcBef>
                    <a:spcPct val="20000"/>
                  </a:spcBef>
                  <a:buClr>
                    <a:schemeClr val="accent1"/>
                  </a:buClr>
                  <a:buSzPct val="65000"/>
                  <a:defRPr/>
                </a:pPr>
                <a:endParaRPr lang="es-ES" sz="1300" i="1" dirty="0">
                  <a:solidFill>
                    <a:srgbClr val="000000"/>
                  </a:solidFill>
                  <a:latin typeface="Calibri" panose="020F0502020204030204" pitchFamily="34" charset="0"/>
                  <a:cs typeface="Calibri" panose="020F0502020204030204" pitchFamily="34" charset="0"/>
                </a:endParaRPr>
              </a:p>
              <a:p>
                <a:pPr algn="ctr" eaLnBrk="1" hangingPunct="1">
                  <a:spcBef>
                    <a:spcPct val="20000"/>
                  </a:spcBef>
                  <a:buClr>
                    <a:schemeClr val="accent1"/>
                  </a:buClr>
                  <a:buSzPct val="65000"/>
                  <a:defRPr/>
                </a:pPr>
                <a14:m>
                  <m:oMathPara xmlns:m="http://schemas.openxmlformats.org/officeDocument/2006/math">
                    <m:oMathParaPr>
                      <m:jc m:val="centerGroup"/>
                    </m:oMathParaPr>
                    <m:oMath xmlns:m="http://schemas.openxmlformats.org/officeDocument/2006/math">
                      <m:r>
                        <a:rPr lang="es-AR" sz="1300" b="0" i="1" smtClean="0">
                          <a:solidFill>
                            <a:srgbClr val="000000"/>
                          </a:solidFill>
                          <a:latin typeface="Cambria Math" panose="02040503050406030204" pitchFamily="18" charset="0"/>
                          <a:cs typeface="Calibri" panose="020F0502020204030204" pitchFamily="34" charset="0"/>
                        </a:rPr>
                        <m:t>𝑇</m:t>
                      </m:r>
                      <m:r>
                        <a:rPr lang="es-ES" sz="1300" i="1" smtClean="0">
                          <a:solidFill>
                            <a:srgbClr val="000000"/>
                          </a:solidFill>
                          <a:latin typeface="Cambria Math" panose="02040503050406030204" pitchFamily="18" charset="0"/>
                          <a:cs typeface="Calibri" panose="020F0502020204030204" pitchFamily="34" charset="0"/>
                        </a:rPr>
                        <m:t>=</m:t>
                      </m:r>
                      <m:f>
                        <m:fPr>
                          <m:ctrlPr>
                            <a:rPr lang="es-ES" sz="1300" i="1" smtClean="0">
                              <a:solidFill>
                                <a:srgbClr val="000000"/>
                              </a:solidFill>
                              <a:latin typeface="Cambria Math" panose="02040503050406030204" pitchFamily="18" charset="0"/>
                              <a:cs typeface="Calibri" panose="020F0502020204030204" pitchFamily="34" charset="0"/>
                            </a:rPr>
                          </m:ctrlPr>
                        </m:fPr>
                        <m:num>
                          <m:r>
                            <a:rPr lang="es-AR" sz="1300" b="0" i="1" smtClean="0">
                              <a:solidFill>
                                <a:srgbClr val="000000"/>
                              </a:solidFill>
                              <a:latin typeface="Cambria Math" panose="02040503050406030204" pitchFamily="18" charset="0"/>
                              <a:cs typeface="Calibri" panose="020F0502020204030204" pitchFamily="34" charset="0"/>
                            </a:rPr>
                            <m:t>𝑐𝑎𝑠𝑜𝑠</m:t>
                          </m:r>
                          <m:r>
                            <a:rPr lang="es-AR" sz="1300" b="0" i="1" smtClean="0">
                              <a:solidFill>
                                <a:srgbClr val="000000"/>
                              </a:solidFill>
                              <a:latin typeface="Cambria Math" panose="02040503050406030204" pitchFamily="18" charset="0"/>
                              <a:cs typeface="Calibri" panose="020F0502020204030204" pitchFamily="34" charset="0"/>
                            </a:rPr>
                            <m:t> </m:t>
                          </m:r>
                          <m:r>
                            <a:rPr lang="es-AR" sz="1300" b="0" i="1" smtClean="0">
                              <a:solidFill>
                                <a:srgbClr val="000000"/>
                              </a:solidFill>
                              <a:latin typeface="Cambria Math" panose="02040503050406030204" pitchFamily="18" charset="0"/>
                              <a:cs typeface="Calibri" panose="020F0502020204030204" pitchFamily="34" charset="0"/>
                            </a:rPr>
                            <m:t>𝑟𝑒𝑎𝑙𝑒𝑠</m:t>
                          </m:r>
                          <m:r>
                            <a:rPr lang="es-AR" sz="1300" b="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rPr>
                            <m:t>∙1.000.000</m:t>
                          </m:r>
                        </m:num>
                        <m:den>
                          <m:r>
                            <a:rPr lang="es-AR" sz="1300" b="0" i="1" smtClean="0">
                              <a:solidFill>
                                <a:srgbClr val="000000"/>
                              </a:solidFill>
                              <a:latin typeface="Cambria Math" panose="02040503050406030204" pitchFamily="18" charset="0"/>
                              <a:cs typeface="Calibri" panose="020F0502020204030204" pitchFamily="34" charset="0"/>
                            </a:rPr>
                            <m:t>𝑐𝑎𝑠𝑜𝑠</m:t>
                          </m:r>
                          <m:r>
                            <a:rPr lang="es-AR" sz="1300" b="0" i="1" smtClean="0">
                              <a:solidFill>
                                <a:srgbClr val="000000"/>
                              </a:solidFill>
                              <a:latin typeface="Cambria Math" panose="02040503050406030204" pitchFamily="18" charset="0"/>
                              <a:cs typeface="Calibri" panose="020F0502020204030204" pitchFamily="34" charset="0"/>
                            </a:rPr>
                            <m:t> </m:t>
                          </m:r>
                          <m:r>
                            <a:rPr lang="es-AR" sz="1300" b="0" i="1" smtClean="0">
                              <a:solidFill>
                                <a:srgbClr val="000000"/>
                              </a:solidFill>
                              <a:latin typeface="Cambria Math" panose="02040503050406030204" pitchFamily="18" charset="0"/>
                              <a:cs typeface="Calibri" panose="020F0502020204030204" pitchFamily="34" charset="0"/>
                            </a:rPr>
                            <m:t>𝑝𝑜𝑡𝑒𝑛𝑐𝑖𝑎𝑙𝑒𝑠</m:t>
                          </m:r>
                        </m:den>
                      </m:f>
                    </m:oMath>
                  </m:oMathPara>
                </a14:m>
                <a:endParaRPr lang="es-ES" sz="1300" i="1" dirty="0">
                  <a:solidFill>
                    <a:srgbClr val="000000"/>
                  </a:solidFill>
                  <a:latin typeface="Calibri" panose="020F0502020204030204" pitchFamily="34" charset="0"/>
                  <a:cs typeface="Calibri" panose="020F0502020204030204" pitchFamily="34" charset="0"/>
                </a:endParaRPr>
              </a:p>
              <a:p>
                <a:pPr algn="ctr" eaLnBrk="1" hangingPunct="1">
                  <a:spcBef>
                    <a:spcPct val="20000"/>
                  </a:spcBef>
                  <a:buClr>
                    <a:schemeClr val="accent1"/>
                  </a:buClr>
                  <a:buSzPct val="65000"/>
                  <a:defRPr/>
                </a:pPr>
                <a:endParaRPr lang="es-ES" sz="1300" i="1" dirty="0">
                  <a:solidFill>
                    <a:srgbClr val="000000"/>
                  </a:solidFill>
                  <a:latin typeface="Calibri" panose="020F0502020204030204" pitchFamily="34" charset="0"/>
                  <a:cs typeface="Calibri" panose="020F0502020204030204" pitchFamily="34" charset="0"/>
                </a:endParaRPr>
              </a:p>
              <a:p>
                <a:pPr algn="ctr" eaLnBrk="1" hangingPunct="1">
                  <a:spcBef>
                    <a:spcPct val="20000"/>
                  </a:spcBef>
                  <a:buClr>
                    <a:schemeClr val="accent1"/>
                  </a:buClr>
                  <a:buSzPct val="65000"/>
                  <a:defRPr/>
                </a:pPr>
                <a14:m>
                  <m:oMathPara xmlns:m="http://schemas.openxmlformats.org/officeDocument/2006/math">
                    <m:oMathParaPr>
                      <m:jc m:val="centerGroup"/>
                    </m:oMathParaPr>
                    <m:oMath xmlns:m="http://schemas.openxmlformats.org/officeDocument/2006/math">
                      <m:r>
                        <a:rPr lang="es-AR" sz="1300" i="1">
                          <a:solidFill>
                            <a:srgbClr val="000000"/>
                          </a:solidFill>
                          <a:latin typeface="Cambria Math" panose="02040503050406030204" pitchFamily="18" charset="0"/>
                          <a:cs typeface="Calibri" panose="020F0502020204030204" pitchFamily="34" charset="0"/>
                        </a:rPr>
                        <m:t>𝑇</m:t>
                      </m:r>
                      <m:r>
                        <a:rPr lang="es-ES" sz="1300" i="1">
                          <a:solidFill>
                            <a:srgbClr val="000000"/>
                          </a:solidFill>
                          <a:latin typeface="Cambria Math" panose="02040503050406030204" pitchFamily="18" charset="0"/>
                          <a:cs typeface="Calibri" panose="020F0502020204030204" pitchFamily="34" charset="0"/>
                        </a:rPr>
                        <m:t>=</m:t>
                      </m:r>
                      <m:f>
                        <m:fPr>
                          <m:ctrlPr>
                            <a:rPr lang="es-ES" sz="1300" i="1">
                              <a:solidFill>
                                <a:srgbClr val="000000"/>
                              </a:solidFill>
                              <a:latin typeface="Cambria Math" panose="02040503050406030204" pitchFamily="18" charset="0"/>
                              <a:cs typeface="Calibri" panose="020F0502020204030204" pitchFamily="34" charset="0"/>
                            </a:rPr>
                          </m:ctrlPr>
                        </m:fPr>
                        <m:num>
                          <m:r>
                            <a:rPr lang="es-AR" sz="1300" b="0" i="1" smtClean="0">
                              <a:solidFill>
                                <a:srgbClr val="00B050"/>
                              </a:solidFill>
                              <a:latin typeface="Cambria Math" panose="02040503050406030204" pitchFamily="18" charset="0"/>
                              <a:cs typeface="Calibri" panose="020F0502020204030204" pitchFamily="34" charset="0"/>
                            </a:rPr>
                            <m:t>128.889</m:t>
                          </m:r>
                          <m:r>
                            <a:rPr lang="es-AR" sz="1300" i="1">
                              <a:solidFill>
                                <a:srgbClr val="000000"/>
                              </a:solidFill>
                              <a:latin typeface="Cambria Math" panose="02040503050406030204" pitchFamily="18" charset="0"/>
                              <a:ea typeface="Cambria Math" panose="02040503050406030204" pitchFamily="18" charset="0"/>
                              <a:cs typeface="Calibri" panose="020F0502020204030204" pitchFamily="34" charset="0"/>
                            </a:rPr>
                            <m:t>∙1.000.000</m:t>
                          </m:r>
                        </m:num>
                        <m:den>
                          <m:r>
                            <a:rPr lang="es-AR" sz="1300" i="1" smtClean="0">
                              <a:solidFill>
                                <a:srgbClr val="00B050"/>
                              </a:solidFill>
                              <a:latin typeface="Cambria Math" panose="02040503050406030204" pitchFamily="18" charset="0"/>
                              <a:cs typeface="Calibri" panose="020F0502020204030204" pitchFamily="34" charset="0"/>
                            </a:rPr>
                            <m:t>45.376.740 </m:t>
                          </m:r>
                        </m:den>
                      </m:f>
                    </m:oMath>
                  </m:oMathPara>
                </a14:m>
                <a:endParaRPr lang="es-ES" sz="1300" i="1" dirty="0">
                  <a:solidFill>
                    <a:srgbClr val="000000"/>
                  </a:solidFill>
                  <a:latin typeface="Calibri" panose="020F0502020204030204" pitchFamily="34" charset="0"/>
                  <a:cs typeface="Calibri" panose="020F0502020204030204" pitchFamily="34" charset="0"/>
                </a:endParaRPr>
              </a:p>
              <a:p>
                <a:pPr algn="ctr" eaLnBrk="1" hangingPunct="1">
                  <a:spcBef>
                    <a:spcPct val="20000"/>
                  </a:spcBef>
                  <a:buClr>
                    <a:schemeClr val="accent1"/>
                  </a:buClr>
                  <a:buSzPct val="65000"/>
                  <a:defRPr/>
                </a:pPr>
                <a:endParaRPr lang="es-ES" sz="1300" i="1" dirty="0">
                  <a:solidFill>
                    <a:srgbClr val="000000"/>
                  </a:solidFill>
                  <a:latin typeface="Calibri" panose="020F0502020204030204" pitchFamily="34" charset="0"/>
                  <a:cs typeface="Calibri" panose="020F0502020204030204" pitchFamily="34" charset="0"/>
                </a:endParaRPr>
              </a:p>
              <a:p>
                <a:pPr algn="ctr" eaLnBrk="1" hangingPunct="1">
                  <a:spcBef>
                    <a:spcPct val="20000"/>
                  </a:spcBef>
                  <a:buClr>
                    <a:schemeClr val="accent1"/>
                  </a:buClr>
                  <a:buSzPct val="65000"/>
                  <a:defRPr/>
                </a:pPr>
                <a14:m>
                  <m:oMathPara xmlns:m="http://schemas.openxmlformats.org/officeDocument/2006/math">
                    <m:oMathParaPr>
                      <m:jc m:val="centerGroup"/>
                    </m:oMathParaPr>
                    <m:oMath xmlns:m="http://schemas.openxmlformats.org/officeDocument/2006/math">
                      <m:r>
                        <a:rPr lang="es-AR" sz="1300" i="1">
                          <a:solidFill>
                            <a:srgbClr val="000000"/>
                          </a:solidFill>
                          <a:latin typeface="Cambria Math" panose="02040503050406030204" pitchFamily="18" charset="0"/>
                          <a:cs typeface="Calibri" panose="020F0502020204030204" pitchFamily="34" charset="0"/>
                        </a:rPr>
                        <m:t>𝑇</m:t>
                      </m:r>
                      <m:r>
                        <a:rPr lang="es-ES" sz="1300" i="1">
                          <a:solidFill>
                            <a:srgbClr val="000000"/>
                          </a:solidFill>
                          <a:latin typeface="Cambria Math" panose="02040503050406030204" pitchFamily="18" charset="0"/>
                          <a:cs typeface="Calibri" panose="020F0502020204030204" pitchFamily="34" charset="0"/>
                        </a:rPr>
                        <m:t>=2.840,4</m:t>
                      </m:r>
                      <m:r>
                        <a:rPr lang="es-AR" sz="1300" b="0" i="1" smtClean="0">
                          <a:solidFill>
                            <a:srgbClr val="000000"/>
                          </a:solidFill>
                          <a:latin typeface="Cambria Math" panose="02040503050406030204" pitchFamily="18" charset="0"/>
                          <a:cs typeface="Calibri" panose="020F0502020204030204" pitchFamily="34" charset="0"/>
                        </a:rPr>
                        <m:t> </m:t>
                      </m:r>
                      <m:r>
                        <a:rPr lang="es-AR" sz="1300" b="0" i="1" smtClean="0">
                          <a:solidFill>
                            <a:srgbClr val="000000"/>
                          </a:solidFill>
                          <a:latin typeface="Cambria Math" panose="02040503050406030204" pitchFamily="18" charset="0"/>
                          <a:cs typeface="Calibri" panose="020F0502020204030204" pitchFamily="34" charset="0"/>
                        </a:rPr>
                        <m:t>𝑝𝑜𝑟</m:t>
                      </m:r>
                      <m:r>
                        <a:rPr lang="es-AR" sz="1300" b="0" i="1" smtClean="0">
                          <a:solidFill>
                            <a:srgbClr val="000000"/>
                          </a:solidFill>
                          <a:latin typeface="Cambria Math" panose="02040503050406030204" pitchFamily="18" charset="0"/>
                          <a:cs typeface="Calibri" panose="020F0502020204030204" pitchFamily="34" charset="0"/>
                        </a:rPr>
                        <m:t> </m:t>
                      </m:r>
                      <m:r>
                        <a:rPr lang="es-AR" sz="1300" b="0" i="1" smtClean="0">
                          <a:solidFill>
                            <a:srgbClr val="000000"/>
                          </a:solidFill>
                          <a:latin typeface="Cambria Math" panose="02040503050406030204" pitchFamily="18" charset="0"/>
                          <a:cs typeface="Calibri" panose="020F0502020204030204" pitchFamily="34" charset="0"/>
                        </a:rPr>
                        <m:t>𝑚𝑖𝑙𝑙</m:t>
                      </m:r>
                      <m:r>
                        <a:rPr lang="es-AR" sz="1300" b="0" i="1" smtClean="0">
                          <a:solidFill>
                            <a:srgbClr val="000000"/>
                          </a:solidFill>
                          <a:latin typeface="Cambria Math" panose="02040503050406030204" pitchFamily="18" charset="0"/>
                          <a:cs typeface="Calibri" panose="020F0502020204030204" pitchFamily="34" charset="0"/>
                        </a:rPr>
                        <m:t>ó</m:t>
                      </m:r>
                      <m:r>
                        <a:rPr lang="es-AR" sz="1300" b="0" i="1" smtClean="0">
                          <a:solidFill>
                            <a:srgbClr val="000000"/>
                          </a:solidFill>
                          <a:latin typeface="Cambria Math" panose="02040503050406030204" pitchFamily="18" charset="0"/>
                          <a:cs typeface="Calibri" panose="020F0502020204030204" pitchFamily="34" charset="0"/>
                        </a:rPr>
                        <m:t>𝑛</m:t>
                      </m:r>
                    </m:oMath>
                  </m:oMathPara>
                </a14:m>
                <a:endParaRPr lang="es-ES" sz="1300" i="1" dirty="0">
                  <a:solidFill>
                    <a:srgbClr val="000000"/>
                  </a:solidFill>
                  <a:latin typeface="Calibri" panose="020F0502020204030204" pitchFamily="34" charset="0"/>
                  <a:cs typeface="Calibri" panose="020F0502020204030204" pitchFamily="34" charset="0"/>
                </a:endParaRPr>
              </a:p>
            </p:txBody>
          </p:sp>
        </mc:Choice>
        <mc:Fallback xmlns="">
          <p:sp>
            <p:nvSpPr>
              <p:cNvPr id="18" name="Rectangle 82">
                <a:extLst>
                  <a:ext uri="{FF2B5EF4-FFF2-40B4-BE49-F238E27FC236}">
                    <a16:creationId xmlns:a16="http://schemas.microsoft.com/office/drawing/2014/main" id="{545D62CD-BF4B-4938-9347-5DD1AB02A352}"/>
                  </a:ext>
                </a:extLst>
              </p:cNvPr>
              <p:cNvSpPr>
                <a:spLocks noRot="1" noChangeAspect="1" noMove="1" noResize="1" noEditPoints="1" noAdjustHandles="1" noChangeArrowheads="1" noChangeShapeType="1" noTextEdit="1"/>
              </p:cNvSpPr>
              <p:nvPr/>
            </p:nvSpPr>
            <p:spPr bwMode="auto">
              <a:xfrm>
                <a:off x="5558346" y="3553910"/>
                <a:ext cx="3106328" cy="1761957"/>
              </a:xfrm>
              <a:prstGeom prst="rect">
                <a:avLst/>
              </a:prstGeom>
              <a:blipFill>
                <a:blip r:embed="rId2"/>
                <a:stretch>
                  <a:fillRect/>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1368337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angle 3">
            <a:extLst>
              <a:ext uri="{FF2B5EF4-FFF2-40B4-BE49-F238E27FC236}">
                <a16:creationId xmlns:a16="http://schemas.microsoft.com/office/drawing/2014/main" id="{F4F04492-2A97-45A3-94D0-EA8C4F3975E3}"/>
              </a:ext>
            </a:extLst>
          </p:cNvPr>
          <p:cNvSpPr txBox="1">
            <a:spLocks noChangeArrowheads="1"/>
          </p:cNvSpPr>
          <p:nvPr/>
        </p:nvSpPr>
        <p:spPr bwMode="auto">
          <a:xfrm>
            <a:off x="287337" y="3285364"/>
            <a:ext cx="7272338"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cs typeface="+mn-cs"/>
              </a:defRPr>
            </a:lvl5pPr>
            <a:lvl6pPr marL="21383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a:lstStyle>
          <a:p>
            <a:pPr marL="571500" indent="-571500" eaLnBrk="1" hangingPunct="1">
              <a:buFont typeface="Wingdings" panose="05000000000000000000" pitchFamily="2" charset="2"/>
              <a:buNone/>
            </a:pPr>
            <a:r>
              <a:rPr lang="es-AR" altLang="es-AR" sz="3600" b="1" kern="0" dirty="0">
                <a:solidFill>
                  <a:schemeClr val="bg1">
                    <a:lumMod val="50000"/>
                  </a:schemeClr>
                </a:solidFill>
                <a:latin typeface="Arial" panose="020B0604020202020204" pitchFamily="34" charset="0"/>
                <a:cs typeface="Arial" panose="020B0604020202020204" pitchFamily="34" charset="0"/>
              </a:rPr>
              <a:t>PARTE 3</a:t>
            </a:r>
          </a:p>
          <a:p>
            <a:pPr marL="0" indent="0" eaLnBrk="1" hangingPunct="1">
              <a:buFont typeface="Wingdings" panose="05000000000000000000" pitchFamily="2" charset="2"/>
              <a:buNone/>
            </a:pPr>
            <a:r>
              <a:rPr lang="es-AR" altLang="es-AR" sz="3600" b="1" kern="0" dirty="0">
                <a:solidFill>
                  <a:schemeClr val="bg1">
                    <a:lumMod val="50000"/>
                  </a:schemeClr>
                </a:solidFill>
                <a:latin typeface="Arial" panose="020B0604020202020204" pitchFamily="34" charset="0"/>
                <a:cs typeface="Arial" panose="020B0604020202020204" pitchFamily="34" charset="0"/>
              </a:rPr>
              <a:t>Visualización de una distribución de frecuencias</a:t>
            </a:r>
          </a:p>
        </p:txBody>
      </p:sp>
    </p:spTree>
    <p:extLst>
      <p:ext uri="{BB962C8B-B14F-4D97-AF65-F5344CB8AC3E}">
        <p14:creationId xmlns:p14="http://schemas.microsoft.com/office/powerpoint/2010/main" val="1089808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uadroTexto 18">
            <a:extLst>
              <a:ext uri="{FF2B5EF4-FFF2-40B4-BE49-F238E27FC236}">
                <a16:creationId xmlns:a16="http://schemas.microsoft.com/office/drawing/2014/main" id="{D53B7E41-1CEB-4E63-A419-6938BCFC1F92}"/>
              </a:ext>
            </a:extLst>
          </p:cNvPr>
          <p:cNvSpPr txBox="1"/>
          <p:nvPr/>
        </p:nvSpPr>
        <p:spPr>
          <a:xfrm>
            <a:off x="827089" y="2606408"/>
            <a:ext cx="3816424" cy="369332"/>
          </a:xfrm>
          <a:prstGeom prst="rect">
            <a:avLst/>
          </a:prstGeom>
          <a:solidFill>
            <a:schemeClr val="accent6">
              <a:lumMod val="20000"/>
              <a:lumOff val="80000"/>
            </a:schemeClr>
          </a:solidFill>
        </p:spPr>
        <p:txBody>
          <a:bodyPr wrap="square" rtlCol="0">
            <a:spAutoFit/>
          </a:bodyPr>
          <a:lstStyle/>
          <a:p>
            <a:pPr algn="ctr"/>
            <a:r>
              <a:rPr lang="es-AR" dirty="0">
                <a:solidFill>
                  <a:srgbClr val="C00000"/>
                </a:solidFill>
                <a:latin typeface="Calibri" panose="020F0502020204030204" pitchFamily="34" charset="0"/>
                <a:cs typeface="Calibri" panose="020F0502020204030204" pitchFamily="34" charset="0"/>
              </a:rPr>
              <a:t>SECTORES O “TORTA”</a:t>
            </a:r>
          </a:p>
        </p:txBody>
      </p:sp>
      <p:sp>
        <p:nvSpPr>
          <p:cNvPr id="20" name="CuadroTexto 19">
            <a:extLst>
              <a:ext uri="{FF2B5EF4-FFF2-40B4-BE49-F238E27FC236}">
                <a16:creationId xmlns:a16="http://schemas.microsoft.com/office/drawing/2014/main" id="{14EF337C-B5F8-4932-84B5-71D413FF3DA4}"/>
              </a:ext>
            </a:extLst>
          </p:cNvPr>
          <p:cNvSpPr txBox="1"/>
          <p:nvPr/>
        </p:nvSpPr>
        <p:spPr>
          <a:xfrm>
            <a:off x="827088" y="3048938"/>
            <a:ext cx="3816424" cy="369332"/>
          </a:xfrm>
          <a:prstGeom prst="rect">
            <a:avLst/>
          </a:prstGeom>
          <a:solidFill>
            <a:schemeClr val="accent6">
              <a:lumMod val="20000"/>
              <a:lumOff val="80000"/>
            </a:schemeClr>
          </a:solidFill>
        </p:spPr>
        <p:txBody>
          <a:bodyPr wrap="square" rtlCol="0">
            <a:spAutoFit/>
          </a:bodyPr>
          <a:lstStyle/>
          <a:p>
            <a:pPr algn="ctr"/>
            <a:r>
              <a:rPr lang="es-AR" dirty="0">
                <a:solidFill>
                  <a:srgbClr val="C00000"/>
                </a:solidFill>
                <a:latin typeface="Calibri" panose="020F0502020204030204" pitchFamily="34" charset="0"/>
                <a:cs typeface="Calibri" panose="020F0502020204030204" pitchFamily="34" charset="0"/>
              </a:rPr>
              <a:t>PICTOGRAMA</a:t>
            </a:r>
          </a:p>
        </p:txBody>
      </p:sp>
      <p:sp>
        <p:nvSpPr>
          <p:cNvPr id="21" name="CuadroTexto 20">
            <a:extLst>
              <a:ext uri="{FF2B5EF4-FFF2-40B4-BE49-F238E27FC236}">
                <a16:creationId xmlns:a16="http://schemas.microsoft.com/office/drawing/2014/main" id="{8A05D821-9944-4CED-B569-3699D0CCCF36}"/>
              </a:ext>
            </a:extLst>
          </p:cNvPr>
          <p:cNvSpPr txBox="1"/>
          <p:nvPr/>
        </p:nvSpPr>
        <p:spPr>
          <a:xfrm>
            <a:off x="827088" y="3505311"/>
            <a:ext cx="3816424" cy="369332"/>
          </a:xfrm>
          <a:prstGeom prst="rect">
            <a:avLst/>
          </a:prstGeom>
          <a:solidFill>
            <a:schemeClr val="accent6">
              <a:lumMod val="20000"/>
              <a:lumOff val="80000"/>
            </a:schemeClr>
          </a:solidFill>
        </p:spPr>
        <p:txBody>
          <a:bodyPr wrap="square" rtlCol="0">
            <a:spAutoFit/>
          </a:bodyPr>
          <a:lstStyle/>
          <a:p>
            <a:pPr algn="ctr"/>
            <a:r>
              <a:rPr lang="es-AR" dirty="0">
                <a:solidFill>
                  <a:srgbClr val="C00000"/>
                </a:solidFill>
                <a:latin typeface="Calibri" panose="020F0502020204030204" pitchFamily="34" charset="0"/>
                <a:cs typeface="Calibri" panose="020F0502020204030204" pitchFamily="34" charset="0"/>
              </a:rPr>
              <a:t>BARRAS / LINEAS</a:t>
            </a:r>
          </a:p>
        </p:txBody>
      </p:sp>
      <p:sp>
        <p:nvSpPr>
          <p:cNvPr id="22" name="CuadroTexto 21">
            <a:extLst>
              <a:ext uri="{FF2B5EF4-FFF2-40B4-BE49-F238E27FC236}">
                <a16:creationId xmlns:a16="http://schemas.microsoft.com/office/drawing/2014/main" id="{E7BCD017-919C-473E-9E5A-25DC67A899CA}"/>
              </a:ext>
            </a:extLst>
          </p:cNvPr>
          <p:cNvSpPr txBox="1"/>
          <p:nvPr/>
        </p:nvSpPr>
        <p:spPr>
          <a:xfrm>
            <a:off x="827088" y="3956489"/>
            <a:ext cx="3816424" cy="369332"/>
          </a:xfrm>
          <a:prstGeom prst="rect">
            <a:avLst/>
          </a:prstGeom>
          <a:solidFill>
            <a:schemeClr val="accent6">
              <a:lumMod val="20000"/>
              <a:lumOff val="80000"/>
            </a:schemeClr>
          </a:solidFill>
        </p:spPr>
        <p:txBody>
          <a:bodyPr wrap="square" rtlCol="0">
            <a:spAutoFit/>
          </a:bodyPr>
          <a:lstStyle/>
          <a:p>
            <a:pPr algn="ctr"/>
            <a:r>
              <a:rPr lang="es-AR" dirty="0">
                <a:solidFill>
                  <a:srgbClr val="C00000"/>
                </a:solidFill>
                <a:latin typeface="Calibri" panose="020F0502020204030204" pitchFamily="34" charset="0"/>
                <a:cs typeface="Calibri" panose="020F0502020204030204" pitchFamily="34" charset="0"/>
              </a:rPr>
              <a:t>POLÍGONOS DE FRECUENCIAS</a:t>
            </a:r>
          </a:p>
        </p:txBody>
      </p:sp>
      <p:sp>
        <p:nvSpPr>
          <p:cNvPr id="2" name="Cerrar llave 1">
            <a:extLst>
              <a:ext uri="{FF2B5EF4-FFF2-40B4-BE49-F238E27FC236}">
                <a16:creationId xmlns:a16="http://schemas.microsoft.com/office/drawing/2014/main" id="{2701757B-77F6-4AE0-9A38-DF2DB57010AE}"/>
              </a:ext>
            </a:extLst>
          </p:cNvPr>
          <p:cNvSpPr/>
          <p:nvPr/>
        </p:nvSpPr>
        <p:spPr bwMode="auto">
          <a:xfrm>
            <a:off x="4931544" y="2494940"/>
            <a:ext cx="216024" cy="923330"/>
          </a:xfrm>
          <a:prstGeom prst="rightBrace">
            <a:avLst/>
          </a:prstGeom>
          <a:noFill/>
          <a:ln w="2857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23" name="Cerrar llave 22">
            <a:extLst>
              <a:ext uri="{FF2B5EF4-FFF2-40B4-BE49-F238E27FC236}">
                <a16:creationId xmlns:a16="http://schemas.microsoft.com/office/drawing/2014/main" id="{10A12ABF-AED9-4D2D-9B39-D8D3A841D630}"/>
              </a:ext>
            </a:extLst>
          </p:cNvPr>
          <p:cNvSpPr/>
          <p:nvPr/>
        </p:nvSpPr>
        <p:spPr bwMode="auto">
          <a:xfrm>
            <a:off x="4931544" y="3442299"/>
            <a:ext cx="216024" cy="923330"/>
          </a:xfrm>
          <a:prstGeom prst="rightBrace">
            <a:avLst/>
          </a:prstGeom>
          <a:noFill/>
          <a:ln w="2857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24" name="CuadroTexto 23">
            <a:extLst>
              <a:ext uri="{FF2B5EF4-FFF2-40B4-BE49-F238E27FC236}">
                <a16:creationId xmlns:a16="http://schemas.microsoft.com/office/drawing/2014/main" id="{F21F7E58-A365-4503-AB40-39C16E991AB9}"/>
              </a:ext>
            </a:extLst>
          </p:cNvPr>
          <p:cNvSpPr txBox="1"/>
          <p:nvPr/>
        </p:nvSpPr>
        <p:spPr>
          <a:xfrm>
            <a:off x="5615618" y="2766489"/>
            <a:ext cx="2520280" cy="369332"/>
          </a:xfrm>
          <a:prstGeom prst="rect">
            <a:avLst/>
          </a:prstGeom>
          <a:solidFill>
            <a:schemeClr val="accent6">
              <a:lumMod val="60000"/>
              <a:lumOff val="40000"/>
            </a:schemeClr>
          </a:solidFill>
        </p:spPr>
        <p:txBody>
          <a:bodyPr wrap="square" rtlCol="0">
            <a:spAutoFit/>
          </a:bodyPr>
          <a:lstStyle/>
          <a:p>
            <a:pPr algn="ctr"/>
            <a:r>
              <a:rPr lang="es-AR" dirty="0">
                <a:solidFill>
                  <a:srgbClr val="C00000"/>
                </a:solidFill>
                <a:latin typeface="Calibri" panose="020F0502020204030204" pitchFamily="34" charset="0"/>
                <a:cs typeface="Calibri" panose="020F0502020204030204" pitchFamily="34" charset="0"/>
              </a:rPr>
              <a:t>NOMINALES</a:t>
            </a:r>
          </a:p>
        </p:txBody>
      </p:sp>
      <p:sp>
        <p:nvSpPr>
          <p:cNvPr id="25" name="CuadroTexto 24">
            <a:extLst>
              <a:ext uri="{FF2B5EF4-FFF2-40B4-BE49-F238E27FC236}">
                <a16:creationId xmlns:a16="http://schemas.microsoft.com/office/drawing/2014/main" id="{0B01E243-B792-4191-896F-CBB4C599C5A3}"/>
              </a:ext>
            </a:extLst>
          </p:cNvPr>
          <p:cNvSpPr txBox="1"/>
          <p:nvPr/>
        </p:nvSpPr>
        <p:spPr>
          <a:xfrm>
            <a:off x="5291583" y="3697554"/>
            <a:ext cx="3168351" cy="369332"/>
          </a:xfrm>
          <a:prstGeom prst="rect">
            <a:avLst/>
          </a:prstGeom>
          <a:solidFill>
            <a:schemeClr val="accent6">
              <a:lumMod val="60000"/>
              <a:lumOff val="40000"/>
            </a:schemeClr>
          </a:solidFill>
        </p:spPr>
        <p:txBody>
          <a:bodyPr wrap="square" rtlCol="0">
            <a:spAutoFit/>
          </a:bodyPr>
          <a:lstStyle/>
          <a:p>
            <a:pPr algn="ctr"/>
            <a:r>
              <a:rPr lang="es-AR" dirty="0">
                <a:solidFill>
                  <a:srgbClr val="C00000"/>
                </a:solidFill>
                <a:latin typeface="Calibri" panose="020F0502020204030204" pitchFamily="34" charset="0"/>
                <a:cs typeface="Calibri" panose="020F0502020204030204" pitchFamily="34" charset="0"/>
              </a:rPr>
              <a:t>ORDINALES E INTERVALO</a:t>
            </a:r>
          </a:p>
        </p:txBody>
      </p:sp>
      <p:sp>
        <p:nvSpPr>
          <p:cNvPr id="15"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cxnSp>
        <p:nvCxnSpPr>
          <p:cNvPr id="16"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6"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Representación gráfica o visualización</a:t>
            </a:r>
          </a:p>
        </p:txBody>
      </p:sp>
      <p:sp>
        <p:nvSpPr>
          <p:cNvPr id="27"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8"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11735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7 CuadroTexto">
            <a:extLst>
              <a:ext uri="{FF2B5EF4-FFF2-40B4-BE49-F238E27FC236}">
                <a16:creationId xmlns:a16="http://schemas.microsoft.com/office/drawing/2014/main" id="{6403B800-B194-4F22-90E6-55B8EDE7582B}"/>
              </a:ext>
            </a:extLst>
          </p:cNvPr>
          <p:cNvSpPr txBox="1">
            <a:spLocks noChangeArrowheads="1"/>
          </p:cNvSpPr>
          <p:nvPr/>
        </p:nvSpPr>
        <p:spPr bwMode="auto">
          <a:xfrm>
            <a:off x="483448" y="1103757"/>
            <a:ext cx="80724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algn="just">
              <a:buFont typeface="Wingdings" panose="05000000000000000000" pitchFamily="2" charset="2"/>
              <a:buChar char="ü"/>
            </a:pPr>
            <a:r>
              <a:rPr lang="es-AR" altLang="es-AR" dirty="0">
                <a:latin typeface="Calibri" panose="020F0502020204030204" pitchFamily="34" charset="0"/>
                <a:cs typeface="Calibri" panose="020F0502020204030204" pitchFamily="34" charset="0"/>
              </a:rPr>
              <a:t>Es un tipo de gráfico muy frecuente que no requiere de orden entre las categorías presentadas.</a:t>
            </a:r>
            <a:endParaRPr lang="es-AR" altLang="es-AR" sz="1600" b="1" dirty="0">
              <a:latin typeface="Calibri" panose="020F0502020204030204" pitchFamily="34" charset="0"/>
              <a:cs typeface="Calibri" panose="020F0502020204030204" pitchFamily="34" charset="0"/>
            </a:endParaRPr>
          </a:p>
        </p:txBody>
      </p:sp>
      <p:pic>
        <p:nvPicPr>
          <p:cNvPr id="4" name="Imagen 3">
            <a:extLst>
              <a:ext uri="{FF2B5EF4-FFF2-40B4-BE49-F238E27FC236}">
                <a16:creationId xmlns:a16="http://schemas.microsoft.com/office/drawing/2014/main" id="{8BD0117E-1010-47A1-98F6-5D27B19E8A7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333365" y="2470096"/>
            <a:ext cx="4104456" cy="3045096"/>
          </a:xfrm>
          <a:prstGeom prst="rect">
            <a:avLst/>
          </a:prstGeom>
        </p:spPr>
      </p:pic>
      <p:pic>
        <p:nvPicPr>
          <p:cNvPr id="5" name="Imagen 4">
            <a:extLst>
              <a:ext uri="{FF2B5EF4-FFF2-40B4-BE49-F238E27FC236}">
                <a16:creationId xmlns:a16="http://schemas.microsoft.com/office/drawing/2014/main" id="{861FF429-EE35-45B6-AB38-6CA4C0E7437C}"/>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4519666" y="2348880"/>
            <a:ext cx="4453099" cy="1894936"/>
          </a:xfrm>
          <a:prstGeom prst="rect">
            <a:avLst/>
          </a:prstGeom>
        </p:spPr>
      </p:pic>
      <p:sp>
        <p:nvSpPr>
          <p:cNvPr id="26" name="7 CuadroTexto">
            <a:extLst>
              <a:ext uri="{FF2B5EF4-FFF2-40B4-BE49-F238E27FC236}">
                <a16:creationId xmlns:a16="http://schemas.microsoft.com/office/drawing/2014/main" id="{7D94DB5D-94A8-46A3-89DA-1D7FC4AAF7D6}"/>
              </a:ext>
            </a:extLst>
          </p:cNvPr>
          <p:cNvSpPr txBox="1">
            <a:spLocks noChangeArrowheads="1"/>
          </p:cNvSpPr>
          <p:nvPr/>
        </p:nvSpPr>
        <p:spPr bwMode="auto">
          <a:xfrm>
            <a:off x="251520" y="1885321"/>
            <a:ext cx="426814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sz="1600" b="1" dirty="0">
                <a:latin typeface="Calibri" panose="020F0502020204030204" pitchFamily="34" charset="0"/>
                <a:cs typeface="Calibri" panose="020F0502020204030204" pitchFamily="34" charset="0"/>
              </a:rPr>
              <a:t>Gráfico 1. Distribución de los encuestados por categoría de actividad</a:t>
            </a:r>
            <a:endParaRPr lang="es-AR" altLang="es-AR" sz="1400" b="1" dirty="0">
              <a:latin typeface="Calibri" panose="020F0502020204030204" pitchFamily="34" charset="0"/>
              <a:cs typeface="Calibri" panose="020F0502020204030204" pitchFamily="34" charset="0"/>
            </a:endParaRPr>
          </a:p>
        </p:txBody>
      </p:sp>
      <p:sp>
        <p:nvSpPr>
          <p:cNvPr id="27" name="7 CuadroTexto">
            <a:extLst>
              <a:ext uri="{FF2B5EF4-FFF2-40B4-BE49-F238E27FC236}">
                <a16:creationId xmlns:a16="http://schemas.microsoft.com/office/drawing/2014/main" id="{D380A515-B3D6-49A3-B4BD-318BB2521194}"/>
              </a:ext>
            </a:extLst>
          </p:cNvPr>
          <p:cNvSpPr txBox="1">
            <a:spLocks noChangeArrowheads="1"/>
          </p:cNvSpPr>
          <p:nvPr/>
        </p:nvSpPr>
        <p:spPr bwMode="auto">
          <a:xfrm>
            <a:off x="251520" y="5511109"/>
            <a:ext cx="42681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sz="1400" dirty="0">
                <a:solidFill>
                  <a:schemeClr val="bg1"/>
                </a:solidFill>
                <a:latin typeface="Calibri" panose="020F0502020204030204" pitchFamily="34" charset="0"/>
                <a:cs typeface="Calibri" panose="020F0502020204030204" pitchFamily="34" charset="0"/>
              </a:rPr>
              <a:t>Fuente: elaboración propia</a:t>
            </a:r>
            <a:endParaRPr lang="es-AR" altLang="es-AR" sz="1200" dirty="0">
              <a:solidFill>
                <a:schemeClr val="bg1"/>
              </a:solidFill>
              <a:latin typeface="Calibri" panose="020F0502020204030204" pitchFamily="34" charset="0"/>
              <a:cs typeface="Calibri" panose="020F0502020204030204" pitchFamily="34" charset="0"/>
            </a:endParaRPr>
          </a:p>
        </p:txBody>
      </p:sp>
      <p:pic>
        <p:nvPicPr>
          <p:cNvPr id="2" name="Imagen 1"/>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3804464" y="4179222"/>
            <a:ext cx="5336869" cy="2478666"/>
          </a:xfrm>
          <a:prstGeom prst="rect">
            <a:avLst/>
          </a:prstGeom>
        </p:spPr>
      </p:pic>
      <p:sp>
        <p:nvSpPr>
          <p:cNvPr id="11" name="7 CuadroTexto">
            <a:extLst>
              <a:ext uri="{FF2B5EF4-FFF2-40B4-BE49-F238E27FC236}">
                <a16:creationId xmlns:a16="http://schemas.microsoft.com/office/drawing/2014/main" id="{6403B800-B194-4F22-90E6-55B8EDE7582B}"/>
              </a:ext>
            </a:extLst>
          </p:cNvPr>
          <p:cNvSpPr txBox="1">
            <a:spLocks noChangeArrowheads="1"/>
          </p:cNvSpPr>
          <p:nvPr/>
        </p:nvSpPr>
        <p:spPr bwMode="auto">
          <a:xfrm>
            <a:off x="3491881" y="4231131"/>
            <a:ext cx="53285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algn="just">
              <a:buFont typeface="Wingdings" panose="05000000000000000000" pitchFamily="2" charset="2"/>
              <a:buChar char="ü"/>
            </a:pPr>
            <a:r>
              <a:rPr lang="es-AR" altLang="es-AR" dirty="0">
                <a:solidFill>
                  <a:schemeClr val="bg1"/>
                </a:solidFill>
                <a:latin typeface="Calibri" panose="020F0502020204030204" pitchFamily="34" charset="0"/>
                <a:cs typeface="Calibri" panose="020F0502020204030204" pitchFamily="34" charset="0"/>
              </a:rPr>
              <a:t>Su forma alternativa es el gráfico de anillo</a:t>
            </a:r>
            <a:endParaRPr lang="es-AR" altLang="es-AR" sz="1600" b="1" dirty="0">
              <a:solidFill>
                <a:schemeClr val="bg1"/>
              </a:solidFill>
              <a:latin typeface="Calibri" panose="020F0502020204030204" pitchFamily="34" charset="0"/>
              <a:cs typeface="Calibri" panose="020F0502020204030204" pitchFamily="34" charset="0"/>
            </a:endParaRPr>
          </a:p>
        </p:txBody>
      </p:sp>
      <p:sp>
        <p:nvSpPr>
          <p:cNvPr id="10"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sp>
        <p:nvSpPr>
          <p:cNvPr id="15"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cxnSp>
        <p:nvCxnSpPr>
          <p:cNvPr id="16"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Gráfico de sectores o “torta”</a:t>
            </a:r>
          </a:p>
        </p:txBody>
      </p:sp>
    </p:spTree>
    <p:extLst>
      <p:ext uri="{BB962C8B-B14F-4D97-AF65-F5344CB8AC3E}">
        <p14:creationId xmlns:p14="http://schemas.microsoft.com/office/powerpoint/2010/main" val="779476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7 CuadroTexto">
            <a:extLst>
              <a:ext uri="{FF2B5EF4-FFF2-40B4-BE49-F238E27FC236}">
                <a16:creationId xmlns:a16="http://schemas.microsoft.com/office/drawing/2014/main" id="{6403B800-B194-4F22-90E6-55B8EDE7582B}"/>
              </a:ext>
            </a:extLst>
          </p:cNvPr>
          <p:cNvSpPr txBox="1">
            <a:spLocks noChangeArrowheads="1"/>
          </p:cNvSpPr>
          <p:nvPr/>
        </p:nvSpPr>
        <p:spPr bwMode="auto">
          <a:xfrm>
            <a:off x="250826" y="1103757"/>
            <a:ext cx="830506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cs typeface="Calibri" panose="020F0502020204030204" pitchFamily="34" charset="0"/>
              </a:rPr>
              <a:t>Trabaja en un sistema de ejes cartesianos (primer cuadrante) con abscisa positiva y ordenada positiva. En la abscisa (eje horizontal de las X) se representan las categorías de la variable y en la ordenada (eje vertical de las Y) las frecuencias (que pueden ser absolutas o porcentajes).</a:t>
            </a:r>
            <a:endParaRPr lang="es-AR" altLang="es-AR" sz="1600" b="1" dirty="0">
              <a:latin typeface="Cambria" panose="02040503050406030204" pitchFamily="18" charset="0"/>
              <a:ea typeface="Cambria" panose="02040503050406030204" pitchFamily="18" charset="0"/>
              <a:cs typeface="Calibri" panose="020F0502020204030204" pitchFamily="34" charset="0"/>
            </a:endParaRPr>
          </a:p>
        </p:txBody>
      </p:sp>
      <p:pic>
        <p:nvPicPr>
          <p:cNvPr id="2" name="Imagen 1">
            <a:extLst>
              <a:ext uri="{FF2B5EF4-FFF2-40B4-BE49-F238E27FC236}">
                <a16:creationId xmlns:a16="http://schemas.microsoft.com/office/drawing/2014/main" id="{57063602-4CF6-4CBE-8BF8-72553BA090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562" y="3180951"/>
            <a:ext cx="4184907" cy="2360345"/>
          </a:xfrm>
          <a:prstGeom prst="rect">
            <a:avLst/>
          </a:prstGeom>
        </p:spPr>
      </p:pic>
      <p:sp>
        <p:nvSpPr>
          <p:cNvPr id="10" name="7 CuadroTexto">
            <a:extLst>
              <a:ext uri="{FF2B5EF4-FFF2-40B4-BE49-F238E27FC236}">
                <a16:creationId xmlns:a16="http://schemas.microsoft.com/office/drawing/2014/main" id="{A5CF634C-A749-4DAA-96EC-C392CFF5896D}"/>
              </a:ext>
            </a:extLst>
          </p:cNvPr>
          <p:cNvSpPr txBox="1">
            <a:spLocks noChangeArrowheads="1"/>
          </p:cNvSpPr>
          <p:nvPr/>
        </p:nvSpPr>
        <p:spPr bwMode="auto">
          <a:xfrm>
            <a:off x="174370" y="2672289"/>
            <a:ext cx="43854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sz="1200" b="1" dirty="0">
                <a:latin typeface="Cambria" panose="02040503050406030204" pitchFamily="18" charset="0"/>
                <a:ea typeface="Cambria" panose="02040503050406030204" pitchFamily="18" charset="0"/>
                <a:cs typeface="Calibri" panose="020F0502020204030204" pitchFamily="34" charset="0"/>
              </a:rPr>
              <a:t>Gráfico 3. Distribución de los encuestados por nivel educativo</a:t>
            </a:r>
            <a:endParaRPr lang="es-AR" altLang="es-AR" sz="1100" b="1" dirty="0">
              <a:latin typeface="Cambria" panose="02040503050406030204" pitchFamily="18" charset="0"/>
              <a:ea typeface="Cambria" panose="02040503050406030204" pitchFamily="18" charset="0"/>
              <a:cs typeface="Calibri" panose="020F0502020204030204" pitchFamily="34" charset="0"/>
            </a:endParaRPr>
          </a:p>
        </p:txBody>
      </p:sp>
      <p:sp>
        <p:nvSpPr>
          <p:cNvPr id="11" name="7 CuadroTexto">
            <a:extLst>
              <a:ext uri="{FF2B5EF4-FFF2-40B4-BE49-F238E27FC236}">
                <a16:creationId xmlns:a16="http://schemas.microsoft.com/office/drawing/2014/main" id="{49285F27-CEBA-44DD-BB8F-D4009F52C383}"/>
              </a:ext>
            </a:extLst>
          </p:cNvPr>
          <p:cNvSpPr txBox="1">
            <a:spLocks noChangeArrowheads="1"/>
          </p:cNvSpPr>
          <p:nvPr/>
        </p:nvSpPr>
        <p:spPr bwMode="auto">
          <a:xfrm>
            <a:off x="209089" y="5571458"/>
            <a:ext cx="426814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sz="1100" dirty="0">
                <a:latin typeface="Cambria" panose="02040503050406030204" pitchFamily="18" charset="0"/>
                <a:ea typeface="Cambria" panose="02040503050406030204" pitchFamily="18" charset="0"/>
                <a:cs typeface="Calibri" panose="020F0502020204030204" pitchFamily="34" charset="0"/>
              </a:rPr>
              <a:t>Fuente: elaboración propia</a:t>
            </a:r>
            <a:endParaRPr lang="es-AR" altLang="es-AR" sz="1050" dirty="0">
              <a:latin typeface="Cambria" panose="02040503050406030204" pitchFamily="18" charset="0"/>
              <a:ea typeface="Cambria" panose="02040503050406030204" pitchFamily="18" charset="0"/>
              <a:cs typeface="Calibri" panose="020F0502020204030204" pitchFamily="34" charset="0"/>
            </a:endParaRPr>
          </a:p>
        </p:txBody>
      </p:sp>
      <p:pic>
        <p:nvPicPr>
          <p:cNvPr id="3" name="Imagen 2">
            <a:extLst>
              <a:ext uri="{FF2B5EF4-FFF2-40B4-BE49-F238E27FC236}">
                <a16:creationId xmlns:a16="http://schemas.microsoft.com/office/drawing/2014/main" id="{1BB229AE-20BC-496E-BD2D-B75FD618DE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2976" y="3188870"/>
            <a:ext cx="4104456" cy="2312303"/>
          </a:xfrm>
          <a:prstGeom prst="rect">
            <a:avLst/>
          </a:prstGeom>
        </p:spPr>
      </p:pic>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sp>
        <p:nvSpPr>
          <p:cNvPr id="12"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cxnSp>
        <p:nvCxnSpPr>
          <p:cNvPr id="15"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Gráfico de barras / histograma</a:t>
            </a:r>
          </a:p>
        </p:txBody>
      </p:sp>
      <p:sp>
        <p:nvSpPr>
          <p:cNvPr id="17" name="7 CuadroTexto">
            <a:extLst>
              <a:ext uri="{FF2B5EF4-FFF2-40B4-BE49-F238E27FC236}">
                <a16:creationId xmlns:a16="http://schemas.microsoft.com/office/drawing/2014/main" id="{49285F27-CEBA-44DD-BB8F-D4009F52C383}"/>
              </a:ext>
            </a:extLst>
          </p:cNvPr>
          <p:cNvSpPr txBox="1">
            <a:spLocks noChangeArrowheads="1"/>
          </p:cNvSpPr>
          <p:nvPr/>
        </p:nvSpPr>
        <p:spPr bwMode="auto">
          <a:xfrm>
            <a:off x="4513104" y="5571458"/>
            <a:ext cx="426814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sz="1100" dirty="0">
                <a:latin typeface="Cambria" panose="02040503050406030204" pitchFamily="18" charset="0"/>
                <a:ea typeface="Cambria" panose="02040503050406030204" pitchFamily="18" charset="0"/>
                <a:cs typeface="Calibri" panose="020F0502020204030204" pitchFamily="34" charset="0"/>
              </a:rPr>
              <a:t>Fuente: elaboración propia</a:t>
            </a:r>
            <a:endParaRPr lang="es-AR" altLang="es-AR" sz="1050" dirty="0">
              <a:latin typeface="Cambria" panose="02040503050406030204" pitchFamily="18" charset="0"/>
              <a:ea typeface="Cambria" panose="02040503050406030204" pitchFamily="18" charset="0"/>
              <a:cs typeface="Calibri" panose="020F0502020204030204" pitchFamily="34" charset="0"/>
            </a:endParaRPr>
          </a:p>
        </p:txBody>
      </p:sp>
      <p:sp>
        <p:nvSpPr>
          <p:cNvPr id="18" name="7 CuadroTexto">
            <a:extLst>
              <a:ext uri="{FF2B5EF4-FFF2-40B4-BE49-F238E27FC236}">
                <a16:creationId xmlns:a16="http://schemas.microsoft.com/office/drawing/2014/main" id="{A5CF634C-A749-4DAA-96EC-C392CFF5896D}"/>
              </a:ext>
            </a:extLst>
          </p:cNvPr>
          <p:cNvSpPr txBox="1">
            <a:spLocks noChangeArrowheads="1"/>
          </p:cNvSpPr>
          <p:nvPr/>
        </p:nvSpPr>
        <p:spPr bwMode="auto">
          <a:xfrm>
            <a:off x="4507698" y="2672289"/>
            <a:ext cx="43854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sz="1200" b="1" dirty="0">
                <a:latin typeface="Cambria" panose="02040503050406030204" pitchFamily="18" charset="0"/>
                <a:ea typeface="Cambria" panose="02040503050406030204" pitchFamily="18" charset="0"/>
                <a:cs typeface="Calibri" panose="020F0502020204030204" pitchFamily="34" charset="0"/>
              </a:rPr>
              <a:t>Gráfico 3. Distribución de los encuestados por nivel educativo</a:t>
            </a:r>
            <a:endParaRPr lang="es-AR" altLang="es-AR" sz="1100" b="1"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858501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7 CuadroTexto">
            <a:extLst>
              <a:ext uri="{FF2B5EF4-FFF2-40B4-BE49-F238E27FC236}">
                <a16:creationId xmlns:a16="http://schemas.microsoft.com/office/drawing/2014/main" id="{6403B800-B194-4F22-90E6-55B8EDE7582B}"/>
              </a:ext>
            </a:extLst>
          </p:cNvPr>
          <p:cNvSpPr txBox="1">
            <a:spLocks noChangeArrowheads="1"/>
          </p:cNvSpPr>
          <p:nvPr/>
        </p:nvSpPr>
        <p:spPr bwMode="auto">
          <a:xfrm>
            <a:off x="250825" y="1103757"/>
            <a:ext cx="864234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cs typeface="Calibri" panose="020F0502020204030204" pitchFamily="34" charset="0"/>
              </a:rPr>
              <a:t>Trabaja en un sistema de ejes cartesianos (primer cuadrante) con abscisa positiva y ordenada positiva. En la abscisa (eje horizontal de las X) se representan las categorías de la variable y en la ordenada (eje vertical de las Y) las frecuencias.</a:t>
            </a:r>
            <a:endParaRPr lang="es-AR" altLang="es-AR" sz="1600" b="1" dirty="0">
              <a:latin typeface="Cambria" panose="02040503050406030204" pitchFamily="18" charset="0"/>
              <a:ea typeface="Cambria" panose="02040503050406030204" pitchFamily="18" charset="0"/>
              <a:cs typeface="Calibri" panose="020F0502020204030204" pitchFamily="34" charset="0"/>
            </a:endParaRPr>
          </a:p>
        </p:txBody>
      </p:sp>
      <p:sp>
        <p:nvSpPr>
          <p:cNvPr id="10" name="7 CuadroTexto">
            <a:extLst>
              <a:ext uri="{FF2B5EF4-FFF2-40B4-BE49-F238E27FC236}">
                <a16:creationId xmlns:a16="http://schemas.microsoft.com/office/drawing/2014/main" id="{A5CF634C-A749-4DAA-96EC-C392CFF5896D}"/>
              </a:ext>
            </a:extLst>
          </p:cNvPr>
          <p:cNvSpPr txBox="1">
            <a:spLocks noChangeArrowheads="1"/>
          </p:cNvSpPr>
          <p:nvPr/>
        </p:nvSpPr>
        <p:spPr bwMode="auto">
          <a:xfrm>
            <a:off x="1979712" y="2208424"/>
            <a:ext cx="58429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sz="1600" b="1" dirty="0">
                <a:latin typeface="Cambria" panose="02040503050406030204" pitchFamily="18" charset="0"/>
                <a:ea typeface="Cambria" panose="02040503050406030204" pitchFamily="18" charset="0"/>
                <a:cs typeface="Calibri" panose="020F0502020204030204" pitchFamily="34" charset="0"/>
              </a:rPr>
              <a:t>Gráfico 4. Distribución de los trabajadores según ingreso</a:t>
            </a:r>
            <a:endParaRPr lang="es-AR" altLang="es-AR" sz="1400" b="1" dirty="0">
              <a:latin typeface="Cambria" panose="02040503050406030204" pitchFamily="18" charset="0"/>
              <a:ea typeface="Cambria" panose="02040503050406030204" pitchFamily="18" charset="0"/>
              <a:cs typeface="Calibri" panose="020F0502020204030204" pitchFamily="34" charset="0"/>
            </a:endParaRPr>
          </a:p>
        </p:txBody>
      </p:sp>
      <p:sp>
        <p:nvSpPr>
          <p:cNvPr id="11" name="7 CuadroTexto">
            <a:extLst>
              <a:ext uri="{FF2B5EF4-FFF2-40B4-BE49-F238E27FC236}">
                <a16:creationId xmlns:a16="http://schemas.microsoft.com/office/drawing/2014/main" id="{49285F27-CEBA-44DD-BB8F-D4009F52C383}"/>
              </a:ext>
            </a:extLst>
          </p:cNvPr>
          <p:cNvSpPr txBox="1">
            <a:spLocks noChangeArrowheads="1"/>
          </p:cNvSpPr>
          <p:nvPr/>
        </p:nvSpPr>
        <p:spPr bwMode="auto">
          <a:xfrm>
            <a:off x="1886253" y="6132775"/>
            <a:ext cx="42681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sz="1400" dirty="0">
                <a:latin typeface="Cambria" panose="02040503050406030204" pitchFamily="18" charset="0"/>
                <a:ea typeface="Cambria" panose="02040503050406030204" pitchFamily="18" charset="0"/>
                <a:cs typeface="Calibri" panose="020F0502020204030204" pitchFamily="34" charset="0"/>
              </a:rPr>
              <a:t>Fuente: elaboración propia</a:t>
            </a:r>
            <a:endParaRPr lang="es-AR" altLang="es-AR" sz="1200" dirty="0">
              <a:latin typeface="Cambria" panose="02040503050406030204" pitchFamily="18" charset="0"/>
              <a:ea typeface="Cambria" panose="02040503050406030204" pitchFamily="18" charset="0"/>
              <a:cs typeface="Calibri" panose="020F0502020204030204" pitchFamily="34" charset="0"/>
            </a:endParaRPr>
          </a:p>
        </p:txBody>
      </p:sp>
      <p:pic>
        <p:nvPicPr>
          <p:cNvPr id="5" name="Imagen 4"/>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980593" y="2546978"/>
            <a:ext cx="5003279" cy="3575986"/>
          </a:xfrm>
          <a:prstGeom prst="rect">
            <a:avLst/>
          </a:prstGeom>
        </p:spPr>
      </p:pic>
      <p:sp>
        <p:nvSpPr>
          <p:cNvPr id="7"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sp>
        <p:nvSpPr>
          <p:cNvPr id="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cxnSp>
        <p:nvCxnSpPr>
          <p:cNvPr id="12"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Histograma para variables continuas</a:t>
            </a:r>
          </a:p>
        </p:txBody>
      </p:sp>
    </p:spTree>
    <p:extLst>
      <p:ext uri="{BB962C8B-B14F-4D97-AF65-F5344CB8AC3E}">
        <p14:creationId xmlns:p14="http://schemas.microsoft.com/office/powerpoint/2010/main" val="3589303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sp>
        <p:nvSpPr>
          <p:cNvPr id="14"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cxnSp>
        <p:nvCxnSpPr>
          <p:cNvPr id="15"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Gráfico de dispersión en SPSS</a:t>
            </a:r>
          </a:p>
        </p:txBody>
      </p:sp>
      <p:pic>
        <p:nvPicPr>
          <p:cNvPr id="3" name="Imagen 2" descr="Gráfico, Gráfico de dispersión&#10;&#10;Descripción generada automáticamente">
            <a:extLst>
              <a:ext uri="{FF2B5EF4-FFF2-40B4-BE49-F238E27FC236}">
                <a16:creationId xmlns:a16="http://schemas.microsoft.com/office/drawing/2014/main" id="{B0DFA4CA-6ECE-4A12-9CCA-EA2F0C8E33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599" y="1579614"/>
            <a:ext cx="6672075" cy="3937618"/>
          </a:xfrm>
          <a:prstGeom prst="rect">
            <a:avLst/>
          </a:prstGeom>
        </p:spPr>
      </p:pic>
    </p:spTree>
    <p:extLst>
      <p:ext uri="{BB962C8B-B14F-4D97-AF65-F5344CB8AC3E}">
        <p14:creationId xmlns:p14="http://schemas.microsoft.com/office/powerpoint/2010/main" val="105099844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5746</TotalTime>
  <Words>2045</Words>
  <Application>Microsoft Office PowerPoint</Application>
  <PresentationFormat>Presentación en pantalla (4:3)</PresentationFormat>
  <Paragraphs>381</Paragraphs>
  <Slides>25</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25</vt:i4>
      </vt:variant>
    </vt:vector>
  </HeadingPairs>
  <TitlesOfParts>
    <vt:vector size="32" baseType="lpstr">
      <vt:lpstr>Arial</vt:lpstr>
      <vt:lpstr>Calibri</vt:lpstr>
      <vt:lpstr>Cambria</vt:lpstr>
      <vt:lpstr>Cambria Math</vt:lpstr>
      <vt:lpstr>Trebuchet MS</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Santiago Poy</dc:creator>
  <cp:lastModifiedBy>usuario</cp:lastModifiedBy>
  <cp:revision>340</cp:revision>
  <dcterms:created xsi:type="dcterms:W3CDTF">2018-06-06T19:52:13Z</dcterms:created>
  <dcterms:modified xsi:type="dcterms:W3CDTF">2024-10-22T21:04:06Z</dcterms:modified>
</cp:coreProperties>
</file>