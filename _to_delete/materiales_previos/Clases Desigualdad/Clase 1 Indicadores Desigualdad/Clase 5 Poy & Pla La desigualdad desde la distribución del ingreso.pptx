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78" r:id="rId2"/>
    <p:sldId id="391" r:id="rId3"/>
    <p:sldId id="392" r:id="rId4"/>
    <p:sldId id="393" r:id="rId5"/>
    <p:sldId id="394" r:id="rId6"/>
    <p:sldId id="409" r:id="rId7"/>
    <p:sldId id="410" r:id="rId8"/>
    <p:sldId id="395" r:id="rId9"/>
    <p:sldId id="396" r:id="rId10"/>
    <p:sldId id="397" r:id="rId11"/>
    <p:sldId id="412" r:id="rId12"/>
    <p:sldId id="413" r:id="rId13"/>
    <p:sldId id="401" r:id="rId14"/>
    <p:sldId id="414" r:id="rId15"/>
    <p:sldId id="415" r:id="rId16"/>
    <p:sldId id="416" r:id="rId17"/>
    <p:sldId id="417" r:id="rId18"/>
    <p:sldId id="418" r:id="rId19"/>
    <p:sldId id="399" r:id="rId20"/>
    <p:sldId id="406" r:id="rId21"/>
    <p:sldId id="407" r:id="rId22"/>
    <p:sldId id="408" r:id="rId23"/>
    <p:sldId id="411" r:id="rId24"/>
    <p:sldId id="400" r:id="rId25"/>
    <p:sldId id="419" r:id="rId26"/>
    <p:sldId id="420" r:id="rId27"/>
    <p:sldId id="398" r:id="rId28"/>
    <p:sldId id="402" r:id="rId29"/>
    <p:sldId id="422" r:id="rId30"/>
    <p:sldId id="421" r:id="rId31"/>
    <p:sldId id="370" r:id="rId32"/>
    <p:sldId id="423" r:id="rId33"/>
    <p:sldId id="404" r:id="rId34"/>
    <p:sldId id="405" r:id="rId35"/>
    <p:sldId id="424" r:id="rId36"/>
    <p:sldId id="425" r:id="rId37"/>
    <p:sldId id="403" r:id="rId38"/>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521">
          <p15:clr>
            <a:srgbClr val="A4A3A4"/>
          </p15:clr>
        </p15:guide>
        <p15:guide id="4" orient="horz" pos="1661" userDrawn="1">
          <p15:clr>
            <a:srgbClr val="A4A3A4"/>
          </p15:clr>
        </p15:guide>
        <p15:guide id="5" orient="horz" pos="482">
          <p15:clr>
            <a:srgbClr val="A4A3A4"/>
          </p15:clr>
        </p15:guide>
        <p15:guide id="6" orient="horz" pos="210">
          <p15:clr>
            <a:srgbClr val="A4A3A4"/>
          </p15:clr>
        </p15:guide>
        <p15:guide id="7" pos="158">
          <p15:clr>
            <a:srgbClr val="A4A3A4"/>
          </p15:clr>
        </p15:guide>
        <p15:guide id="8" pos="5602">
          <p15:clr>
            <a:srgbClr val="A4A3A4"/>
          </p15:clr>
        </p15:guide>
        <p15:guide id="9" pos="249">
          <p15:clr>
            <a:srgbClr val="A4A3A4"/>
          </p15:clr>
        </p15:guide>
        <p15:guide id="10" orient="horz" pos="3385" userDrawn="1">
          <p15:clr>
            <a:srgbClr val="A4A3A4"/>
          </p15:clr>
        </p15:guide>
        <p15:guide id="11" orient="horz" pos="34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E8E7"/>
    <a:srgbClr val="3DC3BD"/>
    <a:srgbClr val="22706C"/>
    <a:srgbClr val="319F9A"/>
    <a:srgbClr val="EFF7F7"/>
    <a:srgbClr val="DDEFEF"/>
    <a:srgbClr val="737373"/>
    <a:srgbClr val="2A8A85"/>
    <a:srgbClr val="565656"/>
    <a:srgbClr val="F4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42" autoAdjust="0"/>
    <p:restoredTop sz="94704" autoAdjust="0"/>
  </p:normalViewPr>
  <p:slideViewPr>
    <p:cSldViewPr>
      <p:cViewPr varScale="1">
        <p:scale>
          <a:sx n="97" d="100"/>
          <a:sy n="97" d="100"/>
        </p:scale>
        <p:origin x="2202" y="84"/>
      </p:cViewPr>
      <p:guideLst>
        <p:guide orient="horz" pos="2160"/>
        <p:guide pos="2880"/>
        <p:guide pos="521"/>
        <p:guide orient="horz" pos="1661"/>
        <p:guide orient="horz" pos="482"/>
        <p:guide orient="horz" pos="210"/>
        <p:guide pos="158"/>
        <p:guide pos="5602"/>
        <p:guide pos="249"/>
        <p:guide orient="horz" pos="3385"/>
        <p:guide orient="horz" pos="3475"/>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oleObject" Target="Libro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Ingreso Acumulado (%)</c:v>
          </c:tx>
          <c:spPr>
            <a:noFill/>
            <a:ln>
              <a:solidFill>
                <a:schemeClr val="tx1"/>
              </a:solidFill>
            </a:ln>
          </c:spPr>
          <c:marker>
            <c:symbol val="none"/>
          </c:marker>
          <c:cat>
            <c:numRef>
              <c:f>Hoja1!$A$2:$A$21</c:f>
              <c:numCache>
                <c:formatCode>General</c:formatCod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numCache>
            </c:numRef>
          </c:cat>
          <c:val>
            <c:numRef>
              <c:f>Hoja1!$D$2:$D$21</c:f>
              <c:numCache>
                <c:formatCode>0.0%</c:formatCode>
                <c:ptCount val="20"/>
                <c:pt idx="0">
                  <c:v>9.5693779904306268E-3</c:v>
                </c:pt>
                <c:pt idx="1">
                  <c:v>2.0733652312599691E-2</c:v>
                </c:pt>
                <c:pt idx="2">
                  <c:v>3.1897926634768758E-2</c:v>
                </c:pt>
                <c:pt idx="3">
                  <c:v>4.6251993620414683E-2</c:v>
                </c:pt>
                <c:pt idx="4">
                  <c:v>6.220095693779909E-2</c:v>
                </c:pt>
                <c:pt idx="5">
                  <c:v>7.9744816586921896E-2</c:v>
                </c:pt>
                <c:pt idx="6">
                  <c:v>9.888357256778324E-2</c:v>
                </c:pt>
                <c:pt idx="7">
                  <c:v>0.12121212121212128</c:v>
                </c:pt>
                <c:pt idx="8">
                  <c:v>0.14673046251993643</c:v>
                </c:pt>
                <c:pt idx="9">
                  <c:v>0.17543859649122837</c:v>
                </c:pt>
                <c:pt idx="10">
                  <c:v>0.2073365231259969</c:v>
                </c:pt>
                <c:pt idx="11">
                  <c:v>0.24720893141945796</c:v>
                </c:pt>
                <c:pt idx="12">
                  <c:v>0.28867623604465747</c:v>
                </c:pt>
                <c:pt idx="13">
                  <c:v>0.33652312599681078</c:v>
                </c:pt>
                <c:pt idx="14">
                  <c:v>0.38437001594896397</c:v>
                </c:pt>
                <c:pt idx="15">
                  <c:v>0.44816586921850116</c:v>
                </c:pt>
                <c:pt idx="16">
                  <c:v>0.52791068580542211</c:v>
                </c:pt>
                <c:pt idx="17">
                  <c:v>0.60765550239234511</c:v>
                </c:pt>
                <c:pt idx="18">
                  <c:v>0.79904306220095689</c:v>
                </c:pt>
                <c:pt idx="19">
                  <c:v>1</c:v>
                </c:pt>
              </c:numCache>
            </c:numRef>
          </c:val>
          <c:smooth val="0"/>
          <c:extLst>
            <c:ext xmlns:c16="http://schemas.microsoft.com/office/drawing/2014/chart" uri="{C3380CC4-5D6E-409C-BE32-E72D297353CC}">
              <c16:uniqueId val="{00000000-2E0B-4FDB-8EA7-8D238D299620}"/>
            </c:ext>
          </c:extLst>
        </c:ser>
        <c:ser>
          <c:idx val="1"/>
          <c:order val="1"/>
          <c:tx>
            <c:v>Equidistancia</c:v>
          </c:tx>
          <c:marker>
            <c:symbol val="none"/>
          </c:marker>
          <c:cat>
            <c:numRef>
              <c:f>Hoja1!$A$2:$A$21</c:f>
              <c:numCache>
                <c:formatCode>General</c:formatCod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numCache>
            </c:numRef>
          </c:cat>
          <c:val>
            <c:numRef>
              <c:f>Hoja1!$G$2:$G$21</c:f>
              <c:numCache>
                <c:formatCode>0.0%</c:formatCode>
                <c:ptCount val="20"/>
                <c:pt idx="0">
                  <c:v>5.0000000000000031E-2</c:v>
                </c:pt>
                <c:pt idx="1">
                  <c:v>0.1</c:v>
                </c:pt>
                <c:pt idx="2">
                  <c:v>0.15000000000000013</c:v>
                </c:pt>
                <c:pt idx="3">
                  <c:v>0.2</c:v>
                </c:pt>
                <c:pt idx="4">
                  <c:v>0.25</c:v>
                </c:pt>
                <c:pt idx="5">
                  <c:v>0.30000000000000027</c:v>
                </c:pt>
                <c:pt idx="6">
                  <c:v>0.35000000000000026</c:v>
                </c:pt>
                <c:pt idx="7">
                  <c:v>0.4</c:v>
                </c:pt>
                <c:pt idx="8">
                  <c:v>0.45</c:v>
                </c:pt>
                <c:pt idx="9">
                  <c:v>0.5</c:v>
                </c:pt>
                <c:pt idx="10">
                  <c:v>0.55000000000000004</c:v>
                </c:pt>
                <c:pt idx="11">
                  <c:v>0.60000000000000053</c:v>
                </c:pt>
                <c:pt idx="12">
                  <c:v>0.6500000000000008</c:v>
                </c:pt>
                <c:pt idx="13">
                  <c:v>0.70000000000000051</c:v>
                </c:pt>
                <c:pt idx="14">
                  <c:v>0.75000000000000056</c:v>
                </c:pt>
                <c:pt idx="15">
                  <c:v>0.8</c:v>
                </c:pt>
                <c:pt idx="16">
                  <c:v>0.85000000000000053</c:v>
                </c:pt>
                <c:pt idx="17">
                  <c:v>0.9</c:v>
                </c:pt>
                <c:pt idx="18">
                  <c:v>0.95000000000000051</c:v>
                </c:pt>
                <c:pt idx="19">
                  <c:v>1</c:v>
                </c:pt>
              </c:numCache>
            </c:numRef>
          </c:val>
          <c:smooth val="0"/>
          <c:extLst>
            <c:ext xmlns:c16="http://schemas.microsoft.com/office/drawing/2014/chart" uri="{C3380CC4-5D6E-409C-BE32-E72D297353CC}">
              <c16:uniqueId val="{00000001-2E0B-4FDB-8EA7-8D238D299620}"/>
            </c:ext>
          </c:extLst>
        </c:ser>
        <c:dLbls>
          <c:showLegendKey val="0"/>
          <c:showVal val="0"/>
          <c:showCatName val="0"/>
          <c:showSerName val="0"/>
          <c:showPercent val="0"/>
          <c:showBubbleSize val="0"/>
        </c:dLbls>
        <c:smooth val="0"/>
        <c:axId val="70973312"/>
        <c:axId val="70974848"/>
      </c:lineChart>
      <c:catAx>
        <c:axId val="70973312"/>
        <c:scaling>
          <c:orientation val="minMax"/>
        </c:scaling>
        <c:delete val="0"/>
        <c:axPos val="b"/>
        <c:numFmt formatCode="General" sourceLinked="1"/>
        <c:majorTickMark val="none"/>
        <c:minorTickMark val="none"/>
        <c:tickLblPos val="nextTo"/>
        <c:crossAx val="70974848"/>
        <c:crosses val="autoZero"/>
        <c:auto val="1"/>
        <c:lblAlgn val="ctr"/>
        <c:lblOffset val="100"/>
        <c:tickLblSkip val="2"/>
        <c:noMultiLvlLbl val="0"/>
      </c:catAx>
      <c:valAx>
        <c:axId val="70974848"/>
        <c:scaling>
          <c:orientation val="minMax"/>
          <c:max val="1"/>
        </c:scaling>
        <c:delete val="0"/>
        <c:axPos val="r"/>
        <c:majorGridlines/>
        <c:numFmt formatCode="0.0%" sourceLinked="1"/>
        <c:majorTickMark val="none"/>
        <c:minorTickMark val="none"/>
        <c:tickLblPos val="nextTo"/>
        <c:crossAx val="70973312"/>
        <c:crosses val="max"/>
        <c:crossBetween val="between"/>
        <c:majorUnit val="0.2"/>
        <c:minorUnit val="4.000000000000007E-2"/>
      </c:valAx>
    </c:plotArea>
    <c:legend>
      <c:legendPos val="r"/>
      <c:layout>
        <c:manualLayout>
          <c:xMode val="edge"/>
          <c:yMode val="edge"/>
          <c:x val="0.72942625761906721"/>
          <c:y val="0.3292074582533222"/>
          <c:w val="0.23631744385245293"/>
          <c:h val="0.4297744288111528"/>
        </c:manualLayout>
      </c:layout>
      <c:overlay val="0"/>
      <c:txPr>
        <a:bodyPr/>
        <a:lstStyle/>
        <a:p>
          <a:pPr>
            <a:defRPr sz="1100"/>
          </a:pPr>
          <a:endParaRPr lang="es-AR"/>
        </a:p>
      </c:txPr>
    </c:legend>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26535-4EDE-46AE-846D-10CF575EF3AC}" type="datetimeFigureOut">
              <a:rPr lang="es-AR" smtClean="0"/>
              <a:t>6/9/2024</a:t>
            </a:fld>
            <a:endParaRPr lang="es-AR"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6145D8-ED58-44A9-BC65-988CF3BEDD8C}" type="slidenum">
              <a:rPr lang="es-AR" smtClean="0"/>
              <a:t>‹Nº›</a:t>
            </a:fld>
            <a:endParaRPr lang="es-AR" dirty="0"/>
          </a:p>
        </p:txBody>
      </p:sp>
    </p:spTree>
    <p:extLst>
      <p:ext uri="{BB962C8B-B14F-4D97-AF65-F5344CB8AC3E}">
        <p14:creationId xmlns:p14="http://schemas.microsoft.com/office/powerpoint/2010/main" val="394972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a:t>
            </a:fld>
            <a:endParaRPr lang="es-AR" dirty="0"/>
          </a:p>
        </p:txBody>
      </p:sp>
    </p:spTree>
    <p:extLst>
      <p:ext uri="{BB962C8B-B14F-4D97-AF65-F5344CB8AC3E}">
        <p14:creationId xmlns:p14="http://schemas.microsoft.com/office/powerpoint/2010/main" val="1120975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a:t>
            </a:fld>
            <a:endParaRPr lang="es-AR" dirty="0"/>
          </a:p>
        </p:txBody>
      </p:sp>
    </p:spTree>
    <p:extLst>
      <p:ext uri="{BB962C8B-B14F-4D97-AF65-F5344CB8AC3E}">
        <p14:creationId xmlns:p14="http://schemas.microsoft.com/office/powerpoint/2010/main" val="193863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a:t>
            </a:fld>
            <a:endParaRPr lang="es-AR" dirty="0"/>
          </a:p>
        </p:txBody>
      </p:sp>
    </p:spTree>
    <p:extLst>
      <p:ext uri="{BB962C8B-B14F-4D97-AF65-F5344CB8AC3E}">
        <p14:creationId xmlns:p14="http://schemas.microsoft.com/office/powerpoint/2010/main" val="368570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4</a:t>
            </a:fld>
            <a:endParaRPr lang="es-AR" dirty="0"/>
          </a:p>
        </p:txBody>
      </p:sp>
    </p:spTree>
    <p:extLst>
      <p:ext uri="{BB962C8B-B14F-4D97-AF65-F5344CB8AC3E}">
        <p14:creationId xmlns:p14="http://schemas.microsoft.com/office/powerpoint/2010/main" val="1870665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5</a:t>
            </a:fld>
            <a:endParaRPr lang="es-AR" dirty="0"/>
          </a:p>
        </p:txBody>
      </p:sp>
    </p:spTree>
    <p:extLst>
      <p:ext uri="{BB962C8B-B14F-4D97-AF65-F5344CB8AC3E}">
        <p14:creationId xmlns:p14="http://schemas.microsoft.com/office/powerpoint/2010/main" val="1466775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6</a:t>
            </a:fld>
            <a:endParaRPr lang="es-AR" dirty="0"/>
          </a:p>
        </p:txBody>
      </p:sp>
    </p:spTree>
    <p:extLst>
      <p:ext uri="{BB962C8B-B14F-4D97-AF65-F5344CB8AC3E}">
        <p14:creationId xmlns:p14="http://schemas.microsoft.com/office/powerpoint/2010/main" val="1954594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7</a:t>
            </a:fld>
            <a:endParaRPr lang="es-AR" dirty="0"/>
          </a:p>
        </p:txBody>
      </p:sp>
    </p:spTree>
    <p:extLst>
      <p:ext uri="{BB962C8B-B14F-4D97-AF65-F5344CB8AC3E}">
        <p14:creationId xmlns:p14="http://schemas.microsoft.com/office/powerpoint/2010/main" val="3158311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8</a:t>
            </a:fld>
            <a:endParaRPr lang="es-AR" dirty="0"/>
          </a:p>
        </p:txBody>
      </p:sp>
    </p:spTree>
    <p:extLst>
      <p:ext uri="{BB962C8B-B14F-4D97-AF65-F5344CB8AC3E}">
        <p14:creationId xmlns:p14="http://schemas.microsoft.com/office/powerpoint/2010/main" val="1288220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9</a:t>
            </a:fld>
            <a:endParaRPr lang="es-AR" dirty="0"/>
          </a:p>
        </p:txBody>
      </p:sp>
    </p:spTree>
    <p:extLst>
      <p:ext uri="{BB962C8B-B14F-4D97-AF65-F5344CB8AC3E}">
        <p14:creationId xmlns:p14="http://schemas.microsoft.com/office/powerpoint/2010/main" val="544081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10</a:t>
            </a:fld>
            <a:endParaRPr lang="es-AR" dirty="0"/>
          </a:p>
        </p:txBody>
      </p:sp>
    </p:spTree>
    <p:extLst>
      <p:ext uri="{BB962C8B-B14F-4D97-AF65-F5344CB8AC3E}">
        <p14:creationId xmlns:p14="http://schemas.microsoft.com/office/powerpoint/2010/main" val="1947235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11</a:t>
            </a:fld>
            <a:endParaRPr lang="es-AR" dirty="0"/>
          </a:p>
        </p:txBody>
      </p:sp>
    </p:spTree>
    <p:extLst>
      <p:ext uri="{BB962C8B-B14F-4D97-AF65-F5344CB8AC3E}">
        <p14:creationId xmlns:p14="http://schemas.microsoft.com/office/powerpoint/2010/main" val="2290575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12</a:t>
            </a:fld>
            <a:endParaRPr lang="es-AR" dirty="0"/>
          </a:p>
        </p:txBody>
      </p:sp>
    </p:spTree>
    <p:extLst>
      <p:ext uri="{BB962C8B-B14F-4D97-AF65-F5344CB8AC3E}">
        <p14:creationId xmlns:p14="http://schemas.microsoft.com/office/powerpoint/2010/main" val="4068706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13</a:t>
            </a:fld>
            <a:endParaRPr lang="es-AR" dirty="0"/>
          </a:p>
        </p:txBody>
      </p:sp>
    </p:spTree>
    <p:extLst>
      <p:ext uri="{BB962C8B-B14F-4D97-AF65-F5344CB8AC3E}">
        <p14:creationId xmlns:p14="http://schemas.microsoft.com/office/powerpoint/2010/main" val="1619348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14</a:t>
            </a:fld>
            <a:endParaRPr lang="es-AR" dirty="0"/>
          </a:p>
        </p:txBody>
      </p:sp>
    </p:spTree>
    <p:extLst>
      <p:ext uri="{BB962C8B-B14F-4D97-AF65-F5344CB8AC3E}">
        <p14:creationId xmlns:p14="http://schemas.microsoft.com/office/powerpoint/2010/main" val="1935893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15</a:t>
            </a:fld>
            <a:endParaRPr lang="es-AR" dirty="0"/>
          </a:p>
        </p:txBody>
      </p:sp>
    </p:spTree>
    <p:extLst>
      <p:ext uri="{BB962C8B-B14F-4D97-AF65-F5344CB8AC3E}">
        <p14:creationId xmlns:p14="http://schemas.microsoft.com/office/powerpoint/2010/main" val="870354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16</a:t>
            </a:fld>
            <a:endParaRPr lang="es-AR" dirty="0"/>
          </a:p>
        </p:txBody>
      </p:sp>
    </p:spTree>
    <p:extLst>
      <p:ext uri="{BB962C8B-B14F-4D97-AF65-F5344CB8AC3E}">
        <p14:creationId xmlns:p14="http://schemas.microsoft.com/office/powerpoint/2010/main" val="479353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17</a:t>
            </a:fld>
            <a:endParaRPr lang="es-AR" dirty="0"/>
          </a:p>
        </p:txBody>
      </p:sp>
    </p:spTree>
    <p:extLst>
      <p:ext uri="{BB962C8B-B14F-4D97-AF65-F5344CB8AC3E}">
        <p14:creationId xmlns:p14="http://schemas.microsoft.com/office/powerpoint/2010/main" val="3677504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18</a:t>
            </a:fld>
            <a:endParaRPr lang="es-AR" dirty="0"/>
          </a:p>
        </p:txBody>
      </p:sp>
    </p:spTree>
    <p:extLst>
      <p:ext uri="{BB962C8B-B14F-4D97-AF65-F5344CB8AC3E}">
        <p14:creationId xmlns:p14="http://schemas.microsoft.com/office/powerpoint/2010/main" val="3357914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19</a:t>
            </a:fld>
            <a:endParaRPr lang="es-AR" dirty="0"/>
          </a:p>
        </p:txBody>
      </p:sp>
    </p:spTree>
    <p:extLst>
      <p:ext uri="{BB962C8B-B14F-4D97-AF65-F5344CB8AC3E}">
        <p14:creationId xmlns:p14="http://schemas.microsoft.com/office/powerpoint/2010/main" val="3929367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20</a:t>
            </a:fld>
            <a:endParaRPr lang="es-AR" dirty="0"/>
          </a:p>
        </p:txBody>
      </p:sp>
    </p:spTree>
    <p:extLst>
      <p:ext uri="{BB962C8B-B14F-4D97-AF65-F5344CB8AC3E}">
        <p14:creationId xmlns:p14="http://schemas.microsoft.com/office/powerpoint/2010/main" val="1119697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21</a:t>
            </a:fld>
            <a:endParaRPr lang="es-AR" dirty="0"/>
          </a:p>
        </p:txBody>
      </p:sp>
    </p:spTree>
    <p:extLst>
      <p:ext uri="{BB962C8B-B14F-4D97-AF65-F5344CB8AC3E}">
        <p14:creationId xmlns:p14="http://schemas.microsoft.com/office/powerpoint/2010/main" val="1485143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22</a:t>
            </a:fld>
            <a:endParaRPr lang="es-AR" dirty="0"/>
          </a:p>
        </p:txBody>
      </p:sp>
    </p:spTree>
    <p:extLst>
      <p:ext uri="{BB962C8B-B14F-4D97-AF65-F5344CB8AC3E}">
        <p14:creationId xmlns:p14="http://schemas.microsoft.com/office/powerpoint/2010/main" val="1581806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23</a:t>
            </a:fld>
            <a:endParaRPr lang="es-AR" dirty="0"/>
          </a:p>
        </p:txBody>
      </p:sp>
    </p:spTree>
    <p:extLst>
      <p:ext uri="{BB962C8B-B14F-4D97-AF65-F5344CB8AC3E}">
        <p14:creationId xmlns:p14="http://schemas.microsoft.com/office/powerpoint/2010/main" val="3391266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24</a:t>
            </a:fld>
            <a:endParaRPr lang="es-AR" dirty="0"/>
          </a:p>
        </p:txBody>
      </p:sp>
    </p:spTree>
    <p:extLst>
      <p:ext uri="{BB962C8B-B14F-4D97-AF65-F5344CB8AC3E}">
        <p14:creationId xmlns:p14="http://schemas.microsoft.com/office/powerpoint/2010/main" val="2627376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25</a:t>
            </a:fld>
            <a:endParaRPr lang="es-AR" dirty="0"/>
          </a:p>
        </p:txBody>
      </p:sp>
    </p:spTree>
    <p:extLst>
      <p:ext uri="{BB962C8B-B14F-4D97-AF65-F5344CB8AC3E}">
        <p14:creationId xmlns:p14="http://schemas.microsoft.com/office/powerpoint/2010/main" val="5411412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26</a:t>
            </a:fld>
            <a:endParaRPr lang="es-AR" dirty="0"/>
          </a:p>
        </p:txBody>
      </p:sp>
    </p:spTree>
    <p:extLst>
      <p:ext uri="{BB962C8B-B14F-4D97-AF65-F5344CB8AC3E}">
        <p14:creationId xmlns:p14="http://schemas.microsoft.com/office/powerpoint/2010/main" val="1693132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27</a:t>
            </a:fld>
            <a:endParaRPr lang="es-AR" dirty="0"/>
          </a:p>
        </p:txBody>
      </p:sp>
    </p:spTree>
    <p:extLst>
      <p:ext uri="{BB962C8B-B14F-4D97-AF65-F5344CB8AC3E}">
        <p14:creationId xmlns:p14="http://schemas.microsoft.com/office/powerpoint/2010/main" val="29306160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28</a:t>
            </a:fld>
            <a:endParaRPr lang="es-AR" dirty="0"/>
          </a:p>
        </p:txBody>
      </p:sp>
    </p:spTree>
    <p:extLst>
      <p:ext uri="{BB962C8B-B14F-4D97-AF65-F5344CB8AC3E}">
        <p14:creationId xmlns:p14="http://schemas.microsoft.com/office/powerpoint/2010/main" val="32125027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29</a:t>
            </a:fld>
            <a:endParaRPr lang="es-AR" dirty="0"/>
          </a:p>
        </p:txBody>
      </p:sp>
    </p:spTree>
    <p:extLst>
      <p:ext uri="{BB962C8B-B14F-4D97-AF65-F5344CB8AC3E}">
        <p14:creationId xmlns:p14="http://schemas.microsoft.com/office/powerpoint/2010/main" val="3308933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30</a:t>
            </a:fld>
            <a:endParaRPr lang="es-AR" dirty="0"/>
          </a:p>
        </p:txBody>
      </p:sp>
    </p:spTree>
    <p:extLst>
      <p:ext uri="{BB962C8B-B14F-4D97-AF65-F5344CB8AC3E}">
        <p14:creationId xmlns:p14="http://schemas.microsoft.com/office/powerpoint/2010/main" val="20743580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31</a:t>
            </a:fld>
            <a:endParaRPr lang="es-AR" dirty="0"/>
          </a:p>
        </p:txBody>
      </p:sp>
    </p:spTree>
    <p:extLst>
      <p:ext uri="{BB962C8B-B14F-4D97-AF65-F5344CB8AC3E}">
        <p14:creationId xmlns:p14="http://schemas.microsoft.com/office/powerpoint/2010/main" val="20347731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32</a:t>
            </a:fld>
            <a:endParaRPr lang="es-AR" dirty="0"/>
          </a:p>
        </p:txBody>
      </p:sp>
    </p:spTree>
    <p:extLst>
      <p:ext uri="{BB962C8B-B14F-4D97-AF65-F5344CB8AC3E}">
        <p14:creationId xmlns:p14="http://schemas.microsoft.com/office/powerpoint/2010/main" val="42124934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33</a:t>
            </a:fld>
            <a:endParaRPr lang="es-AR" dirty="0"/>
          </a:p>
        </p:txBody>
      </p:sp>
    </p:spTree>
    <p:extLst>
      <p:ext uri="{BB962C8B-B14F-4D97-AF65-F5344CB8AC3E}">
        <p14:creationId xmlns:p14="http://schemas.microsoft.com/office/powerpoint/2010/main" val="17135150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34</a:t>
            </a:fld>
            <a:endParaRPr lang="es-AR" dirty="0"/>
          </a:p>
        </p:txBody>
      </p:sp>
    </p:spTree>
    <p:extLst>
      <p:ext uri="{BB962C8B-B14F-4D97-AF65-F5344CB8AC3E}">
        <p14:creationId xmlns:p14="http://schemas.microsoft.com/office/powerpoint/2010/main" val="20590563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35</a:t>
            </a:fld>
            <a:endParaRPr lang="es-AR" dirty="0"/>
          </a:p>
        </p:txBody>
      </p:sp>
    </p:spTree>
    <p:extLst>
      <p:ext uri="{BB962C8B-B14F-4D97-AF65-F5344CB8AC3E}">
        <p14:creationId xmlns:p14="http://schemas.microsoft.com/office/powerpoint/2010/main" val="34204530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36</a:t>
            </a:fld>
            <a:endParaRPr lang="es-AR" dirty="0"/>
          </a:p>
        </p:txBody>
      </p:sp>
    </p:spTree>
    <p:extLst>
      <p:ext uri="{BB962C8B-B14F-4D97-AF65-F5344CB8AC3E}">
        <p14:creationId xmlns:p14="http://schemas.microsoft.com/office/powerpoint/2010/main" val="30100321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37</a:t>
            </a:fld>
            <a:endParaRPr lang="es-AR" dirty="0"/>
          </a:p>
        </p:txBody>
      </p:sp>
    </p:spTree>
    <p:extLst>
      <p:ext uri="{BB962C8B-B14F-4D97-AF65-F5344CB8AC3E}">
        <p14:creationId xmlns:p14="http://schemas.microsoft.com/office/powerpoint/2010/main" val="3491710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30A94F0A-27A0-4BC8-96DF-D3D95F3434E5}" type="datetime1">
              <a:rPr lang="es-AR" smtClean="0"/>
              <a:t>6/9/2024</a:t>
            </a:fld>
            <a:endParaRPr lang="es-AR" dirty="0"/>
          </a:p>
        </p:txBody>
      </p:sp>
      <p:sp>
        <p:nvSpPr>
          <p:cNvPr id="5" name="4 Marcador de pie de página"/>
          <p:cNvSpPr>
            <a:spLocks noGrp="1"/>
          </p:cNvSpPr>
          <p:nvPr>
            <p:ph type="ftr" sz="quarter" idx="11"/>
          </p:nvPr>
        </p:nvSpPr>
        <p:spPr/>
        <p:txBody>
          <a:bodyPr/>
          <a:lstStyle/>
          <a:p>
            <a:r>
              <a:rPr lang="es-AR" dirty="0"/>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366071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72D5A0D-784F-49F2-83AC-868962BD57AA}" type="datetime1">
              <a:rPr lang="es-AR" smtClean="0"/>
              <a:t>6/9/2024</a:t>
            </a:fld>
            <a:endParaRPr lang="es-AR" dirty="0"/>
          </a:p>
        </p:txBody>
      </p:sp>
      <p:sp>
        <p:nvSpPr>
          <p:cNvPr id="5" name="4 Marcador de pie de página"/>
          <p:cNvSpPr>
            <a:spLocks noGrp="1"/>
          </p:cNvSpPr>
          <p:nvPr>
            <p:ph type="ftr" sz="quarter" idx="11"/>
          </p:nvPr>
        </p:nvSpPr>
        <p:spPr/>
        <p:txBody>
          <a:bodyPr/>
          <a:lstStyle/>
          <a:p>
            <a:r>
              <a:rPr lang="es-AR" dirty="0"/>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178557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30685D93-CCB6-4AA2-9A06-B691E4A94039}" type="datetime1">
              <a:rPr lang="es-AR" smtClean="0"/>
              <a:t>6/9/2024</a:t>
            </a:fld>
            <a:endParaRPr lang="es-AR" dirty="0"/>
          </a:p>
        </p:txBody>
      </p:sp>
      <p:sp>
        <p:nvSpPr>
          <p:cNvPr id="5" name="4 Marcador de pie de página"/>
          <p:cNvSpPr>
            <a:spLocks noGrp="1"/>
          </p:cNvSpPr>
          <p:nvPr>
            <p:ph type="ftr" sz="quarter" idx="11"/>
          </p:nvPr>
        </p:nvSpPr>
        <p:spPr/>
        <p:txBody>
          <a:bodyPr/>
          <a:lstStyle/>
          <a:p>
            <a:r>
              <a:rPr lang="es-AR" dirty="0"/>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89815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34A891F9-CB0F-4879-B678-E3140E49A5AB}" type="datetime1">
              <a:rPr lang="es-AR" smtClean="0"/>
              <a:t>6/9/2024</a:t>
            </a:fld>
            <a:endParaRPr lang="es-AR" dirty="0"/>
          </a:p>
        </p:txBody>
      </p:sp>
      <p:sp>
        <p:nvSpPr>
          <p:cNvPr id="6" name="5 Marcador de pie de página"/>
          <p:cNvSpPr>
            <a:spLocks noGrp="1"/>
          </p:cNvSpPr>
          <p:nvPr>
            <p:ph type="ftr" sz="quarter" idx="11"/>
          </p:nvPr>
        </p:nvSpPr>
        <p:spPr/>
        <p:txBody>
          <a:bodyPr/>
          <a:lstStyle/>
          <a:p>
            <a:r>
              <a:rPr lang="es-AR" dirty="0"/>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1109333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C6697B4B-8FC8-4ED2-A7B7-30B7B546CB7C}" type="datetime1">
              <a:rPr lang="es-AR" smtClean="0"/>
              <a:t>6/9/2024</a:t>
            </a:fld>
            <a:endParaRPr lang="es-AR" dirty="0"/>
          </a:p>
        </p:txBody>
      </p:sp>
      <p:sp>
        <p:nvSpPr>
          <p:cNvPr id="8" name="7 Marcador de pie de página"/>
          <p:cNvSpPr>
            <a:spLocks noGrp="1"/>
          </p:cNvSpPr>
          <p:nvPr>
            <p:ph type="ftr" sz="quarter" idx="11"/>
          </p:nvPr>
        </p:nvSpPr>
        <p:spPr/>
        <p:txBody>
          <a:bodyPr/>
          <a:lstStyle/>
          <a:p>
            <a:r>
              <a:rPr lang="es-AR" dirty="0"/>
              <a:t>Curso SPSS / ODSA-UCA</a:t>
            </a:r>
          </a:p>
        </p:txBody>
      </p:sp>
      <p:sp>
        <p:nvSpPr>
          <p:cNvPr id="9" name="8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88077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4E9A48A6-89ED-45E3-8DC8-69DD7242770A}" type="datetime1">
              <a:rPr lang="es-AR" smtClean="0"/>
              <a:t>6/9/2024</a:t>
            </a:fld>
            <a:endParaRPr lang="es-AR" dirty="0"/>
          </a:p>
        </p:txBody>
      </p:sp>
      <p:sp>
        <p:nvSpPr>
          <p:cNvPr id="4" name="3 Marcador de pie de página"/>
          <p:cNvSpPr>
            <a:spLocks noGrp="1"/>
          </p:cNvSpPr>
          <p:nvPr>
            <p:ph type="ftr" sz="quarter" idx="11"/>
          </p:nvPr>
        </p:nvSpPr>
        <p:spPr/>
        <p:txBody>
          <a:bodyPr/>
          <a:lstStyle/>
          <a:p>
            <a:r>
              <a:rPr lang="es-AR" dirty="0"/>
              <a:t>Curso SPSS / ODSA-UCA</a:t>
            </a:r>
          </a:p>
        </p:txBody>
      </p:sp>
      <p:sp>
        <p:nvSpPr>
          <p:cNvPr id="5" name="4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3320559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FAC46B7-96E1-4D69-97A5-BA2B575DCD5B}" type="datetime1">
              <a:rPr lang="es-AR" smtClean="0"/>
              <a:t>6/9/2024</a:t>
            </a:fld>
            <a:endParaRPr lang="es-AR" dirty="0"/>
          </a:p>
        </p:txBody>
      </p:sp>
      <p:sp>
        <p:nvSpPr>
          <p:cNvPr id="3" name="2 Marcador de pie de página"/>
          <p:cNvSpPr>
            <a:spLocks noGrp="1"/>
          </p:cNvSpPr>
          <p:nvPr>
            <p:ph type="ftr" sz="quarter" idx="11"/>
          </p:nvPr>
        </p:nvSpPr>
        <p:spPr/>
        <p:txBody>
          <a:bodyPr/>
          <a:lstStyle/>
          <a:p>
            <a:r>
              <a:rPr lang="es-AR" dirty="0"/>
              <a:t>Curso SPSS / ODSA-UCA</a:t>
            </a:r>
          </a:p>
        </p:txBody>
      </p:sp>
      <p:sp>
        <p:nvSpPr>
          <p:cNvPr id="4" name="3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2020053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37C0133-B3AE-415F-AD7D-09671FB6B581}" type="datetime1">
              <a:rPr lang="es-AR" smtClean="0"/>
              <a:t>6/9/2024</a:t>
            </a:fld>
            <a:endParaRPr lang="es-AR" dirty="0"/>
          </a:p>
        </p:txBody>
      </p:sp>
      <p:sp>
        <p:nvSpPr>
          <p:cNvPr id="6" name="5 Marcador de pie de página"/>
          <p:cNvSpPr>
            <a:spLocks noGrp="1"/>
          </p:cNvSpPr>
          <p:nvPr>
            <p:ph type="ftr" sz="quarter" idx="11"/>
          </p:nvPr>
        </p:nvSpPr>
        <p:spPr/>
        <p:txBody>
          <a:bodyPr/>
          <a:lstStyle/>
          <a:p>
            <a:r>
              <a:rPr lang="es-AR" dirty="0"/>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148927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FB310E0-D14B-4604-84DC-1535BBF9C4BF}" type="datetime1">
              <a:rPr lang="es-AR" smtClean="0"/>
              <a:t>6/9/2024</a:t>
            </a:fld>
            <a:endParaRPr lang="es-AR" dirty="0"/>
          </a:p>
        </p:txBody>
      </p:sp>
      <p:sp>
        <p:nvSpPr>
          <p:cNvPr id="6" name="5 Marcador de pie de página"/>
          <p:cNvSpPr>
            <a:spLocks noGrp="1"/>
          </p:cNvSpPr>
          <p:nvPr>
            <p:ph type="ftr" sz="quarter" idx="11"/>
          </p:nvPr>
        </p:nvSpPr>
        <p:spPr/>
        <p:txBody>
          <a:bodyPr/>
          <a:lstStyle/>
          <a:p>
            <a:r>
              <a:rPr lang="es-AR" dirty="0"/>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20956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909CC5D-9AA7-445A-80D8-6FCD964E68D7}" type="datetime1">
              <a:rPr lang="es-AR" smtClean="0"/>
              <a:t>6/9/2024</a:t>
            </a:fld>
            <a:endParaRPr lang="es-AR" dirty="0"/>
          </a:p>
        </p:txBody>
      </p:sp>
      <p:sp>
        <p:nvSpPr>
          <p:cNvPr id="5" name="4 Marcador de pie de página"/>
          <p:cNvSpPr>
            <a:spLocks noGrp="1"/>
          </p:cNvSpPr>
          <p:nvPr>
            <p:ph type="ftr" sz="quarter" idx="11"/>
          </p:nvPr>
        </p:nvSpPr>
        <p:spPr/>
        <p:txBody>
          <a:bodyPr/>
          <a:lstStyle/>
          <a:p>
            <a:r>
              <a:rPr lang="es-AR" dirty="0"/>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618306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13CEEFF5-E6F6-49FF-AEE7-0991FC29FF6F}" type="datetime1">
              <a:rPr lang="es-AR" smtClean="0"/>
              <a:t>6/9/2024</a:t>
            </a:fld>
            <a:endParaRPr lang="es-AR" dirty="0"/>
          </a:p>
        </p:txBody>
      </p:sp>
      <p:sp>
        <p:nvSpPr>
          <p:cNvPr id="5" name="4 Marcador de pie de página"/>
          <p:cNvSpPr>
            <a:spLocks noGrp="1"/>
          </p:cNvSpPr>
          <p:nvPr>
            <p:ph type="ftr" sz="quarter" idx="11"/>
          </p:nvPr>
        </p:nvSpPr>
        <p:spPr/>
        <p:txBody>
          <a:bodyPr/>
          <a:lstStyle/>
          <a:p>
            <a:r>
              <a:rPr lang="es-AR" dirty="0"/>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dirty="0"/>
          </a:p>
        </p:txBody>
      </p:sp>
    </p:spTree>
    <p:extLst>
      <p:ext uri="{BB962C8B-B14F-4D97-AF65-F5344CB8AC3E}">
        <p14:creationId xmlns:p14="http://schemas.microsoft.com/office/powerpoint/2010/main" val="103563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CBB71-18DF-4B96-AB10-74B37F964650}" type="datetime1">
              <a:rPr lang="es-AR" smtClean="0"/>
              <a:t>6/9/2024</a:t>
            </a:fld>
            <a:endParaRPr lang="es-AR"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dirty="0"/>
              <a:t>Curso SPSS / ODSA-UCA</a:t>
            </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92C5D-0833-432E-A649-4B28246F9627}" type="slidenum">
              <a:rPr lang="es-AR" smtClean="0"/>
              <a:t>‹Nº›</a:t>
            </a:fld>
            <a:endParaRPr lang="es-AR" dirty="0"/>
          </a:p>
        </p:txBody>
      </p:sp>
    </p:spTree>
    <p:extLst>
      <p:ext uri="{BB962C8B-B14F-4D97-AF65-F5344CB8AC3E}">
        <p14:creationId xmlns:p14="http://schemas.microsoft.com/office/powerpoint/2010/main" val="3208577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755017" y="1941826"/>
            <a:ext cx="8163636" cy="1154162"/>
          </a:xfrm>
          <a:prstGeom prst="rect">
            <a:avLst/>
          </a:prstGeom>
          <a:noFill/>
        </p:spPr>
        <p:txBody>
          <a:bodyPr wrap="square" rtlCol="0">
            <a:spAutoFit/>
          </a:bodyPr>
          <a:lstStyle/>
          <a:p>
            <a:r>
              <a:rPr lang="es-AR" sz="2100" b="1" i="1" dirty="0">
                <a:latin typeface="Cambria" panose="02040503050406030204" pitchFamily="18" charset="0"/>
              </a:rPr>
              <a:t>Seminario Doctorado</a:t>
            </a:r>
          </a:p>
          <a:p>
            <a:r>
              <a:rPr lang="es-AR" sz="2400" b="1" dirty="0">
                <a:solidFill>
                  <a:schemeClr val="accent4"/>
                </a:solidFill>
                <a:latin typeface="Cambria" panose="02040503050406030204" pitchFamily="18" charset="0"/>
              </a:rPr>
              <a:t>Aplicaciones metodológicas cuantitativas al estudio de la desigualdad, la estructura social y la pobreza</a:t>
            </a:r>
          </a:p>
        </p:txBody>
      </p:sp>
      <p:sp>
        <p:nvSpPr>
          <p:cNvPr id="19" name="18 Rectángulo redondeado"/>
          <p:cNvSpPr/>
          <p:nvPr/>
        </p:nvSpPr>
        <p:spPr>
          <a:xfrm>
            <a:off x="803692" y="3335675"/>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674820" y="3429000"/>
            <a:ext cx="7027056"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25" name="24 CuadroTexto"/>
          <p:cNvSpPr txBox="1"/>
          <p:nvPr/>
        </p:nvSpPr>
        <p:spPr>
          <a:xfrm>
            <a:off x="5539986" y="3668688"/>
            <a:ext cx="3240360" cy="1077218"/>
          </a:xfrm>
          <a:prstGeom prst="rect">
            <a:avLst/>
          </a:prstGeom>
          <a:noFill/>
        </p:spPr>
        <p:txBody>
          <a:bodyPr wrap="square" rtlCol="0">
            <a:spAutoFit/>
          </a:bodyPr>
          <a:lstStyle/>
          <a:p>
            <a:pPr algn="r"/>
            <a:r>
              <a:rPr lang="es-AR" sz="1600" dirty="0">
                <a:latin typeface="Cambria" panose="02040503050406030204" pitchFamily="18" charset="0"/>
              </a:rPr>
              <a:t>Santiago Poy</a:t>
            </a:r>
          </a:p>
          <a:p>
            <a:pPr algn="r"/>
            <a:r>
              <a:rPr lang="es-AR" sz="1600" dirty="0">
                <a:latin typeface="Cambria" panose="02040503050406030204" pitchFamily="18" charset="0"/>
              </a:rPr>
              <a:t>Jésica Lorena Pla</a:t>
            </a:r>
          </a:p>
          <a:p>
            <a:pPr algn="r"/>
            <a:endParaRPr lang="es-AR" sz="1600" dirty="0">
              <a:latin typeface="Cambria" panose="02040503050406030204" pitchFamily="18" charset="0"/>
            </a:endParaRPr>
          </a:p>
          <a:p>
            <a:pPr algn="r"/>
            <a:r>
              <a:rPr lang="es-AR" sz="1600" dirty="0">
                <a:latin typeface="Cambria" panose="02040503050406030204" pitchFamily="18" charset="0"/>
              </a:rPr>
              <a:t>Agosto-Septiembre 2024</a:t>
            </a:r>
            <a:endParaRPr lang="es-ES" sz="1600" dirty="0">
              <a:latin typeface="Cambria" panose="02040503050406030204" pitchFamily="18" charset="0"/>
            </a:endParaRPr>
          </a:p>
        </p:txBody>
      </p:sp>
      <p:pic>
        <p:nvPicPr>
          <p:cNvPr id="2" name="Picture 2" descr="Imagen Institucional - Facultad de Ciencias Sociales">
            <a:extLst>
              <a:ext uri="{FF2B5EF4-FFF2-40B4-BE49-F238E27FC236}">
                <a16:creationId xmlns:a16="http://schemas.microsoft.com/office/drawing/2014/main" id="{B3DA93D3-007A-5C69-72DE-FFC8B1C48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37"/>
            <a:ext cx="5438775" cy="1419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09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729539" y="1628800"/>
            <a:ext cx="8163636" cy="1846659"/>
          </a:xfrm>
          <a:prstGeom prst="rect">
            <a:avLst/>
          </a:prstGeom>
          <a:noFill/>
        </p:spPr>
        <p:txBody>
          <a:bodyPr wrap="square" rtlCol="0">
            <a:spAutoFit/>
          </a:bodyPr>
          <a:lstStyle/>
          <a:p>
            <a:endParaRPr lang="es-AR" sz="2400" b="1" dirty="0">
              <a:solidFill>
                <a:schemeClr val="accent4"/>
              </a:solidFill>
              <a:latin typeface="Cambria" panose="02040503050406030204" pitchFamily="18" charset="0"/>
            </a:endParaRPr>
          </a:p>
          <a:p>
            <a:r>
              <a:rPr lang="es-AR" b="1" dirty="0">
                <a:solidFill>
                  <a:schemeClr val="accent4"/>
                </a:solidFill>
                <a:latin typeface="Cambria" panose="02040503050406030204" pitchFamily="18" charset="0"/>
              </a:rPr>
              <a:t>Unidad 2. La medición de la desigualdad de ingresos</a:t>
            </a:r>
          </a:p>
          <a:p>
            <a:endParaRPr lang="es-AR" sz="2400" b="1" dirty="0">
              <a:solidFill>
                <a:schemeClr val="accent4"/>
              </a:solidFill>
              <a:latin typeface="Cambria" panose="02040503050406030204" pitchFamily="18" charset="0"/>
            </a:endParaRPr>
          </a:p>
          <a:p>
            <a:pPr algn="just"/>
            <a:r>
              <a:rPr lang="es-AR" sz="2400" b="1" dirty="0">
                <a:latin typeface="Cambria" panose="02040503050406030204" pitchFamily="18" charset="0"/>
              </a:rPr>
              <a:t>Clase 5: La desigualdad de ingresos: la conceptualización y la medición</a:t>
            </a:r>
          </a:p>
        </p:txBody>
      </p: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Tree>
    <p:extLst>
      <p:ext uri="{BB962C8B-B14F-4D97-AF65-F5344CB8AC3E}">
        <p14:creationId xmlns:p14="http://schemas.microsoft.com/office/powerpoint/2010/main" val="1488914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estudio de la desigualdad en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5355312"/>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Partamos de la idea de Gasparini et al. (2011: 347), quienes plantean:</a:t>
            </a:r>
          </a:p>
          <a:p>
            <a:pPr algn="just"/>
            <a:endParaRPr lang="es-AR" dirty="0">
              <a:cs typeface="FreesiaUPC" panose="020B0502040204020203" pitchFamily="34" charset="-34"/>
            </a:endParaRPr>
          </a:p>
          <a:p>
            <a:pPr algn="just"/>
            <a:r>
              <a:rPr lang="es-AR" i="1" dirty="0">
                <a:cs typeface="FreesiaUPC" panose="020B0502040204020203" pitchFamily="34" charset="-34"/>
              </a:rPr>
              <a:t>El concepto de desigualdad está estrechamente relacionado con el de inequidad. La preocupación por la desigualdad socioeconómica entre personas proviene de presumir que es consecuencia o reflejo de alguna situación injusta, éticamente cuestionable y, por consiguiente, merecedora de alguna acción reparadora</a:t>
            </a:r>
          </a:p>
          <a:p>
            <a:pPr algn="just"/>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Mientras que el concepto de </a:t>
            </a:r>
            <a:r>
              <a:rPr lang="es-AR" b="1" i="1" dirty="0">
                <a:solidFill>
                  <a:schemeClr val="accent4"/>
                </a:solidFill>
                <a:cs typeface="FreesiaUPC" panose="020B0502040204020203" pitchFamily="34" charset="-34"/>
              </a:rPr>
              <a:t>(in)equidad</a:t>
            </a:r>
            <a:r>
              <a:rPr lang="es-AR" dirty="0">
                <a:solidFill>
                  <a:schemeClr val="accent4"/>
                </a:solidFill>
                <a:cs typeface="FreesiaUPC" panose="020B0502040204020203" pitchFamily="34" charset="-34"/>
              </a:rPr>
              <a:t> </a:t>
            </a:r>
            <a:r>
              <a:rPr lang="es-AR" dirty="0">
                <a:cs typeface="FreesiaUPC" panose="020B0502040204020203" pitchFamily="34" charset="-34"/>
              </a:rPr>
              <a:t>tiene un sustrato </a:t>
            </a:r>
            <a:r>
              <a:rPr lang="es-AR" b="1" dirty="0">
                <a:cs typeface="FreesiaUPC" panose="020B0502040204020203" pitchFamily="34" charset="-34"/>
              </a:rPr>
              <a:t>normativo</a:t>
            </a:r>
            <a:r>
              <a:rPr lang="es-AR" dirty="0">
                <a:cs typeface="FreesiaUPC" panose="020B0502040204020203" pitchFamily="34" charset="-34"/>
              </a:rPr>
              <a:t>, vinculado con una dimensión de (in)justicia, el de </a:t>
            </a:r>
            <a:r>
              <a:rPr lang="es-AR" b="1" i="1" dirty="0">
                <a:solidFill>
                  <a:schemeClr val="accent4"/>
                </a:solidFill>
                <a:cs typeface="FreesiaUPC" panose="020B0502040204020203" pitchFamily="34" charset="-34"/>
              </a:rPr>
              <a:t>(des)igualdad</a:t>
            </a:r>
            <a:r>
              <a:rPr lang="es-AR" dirty="0">
                <a:solidFill>
                  <a:schemeClr val="accent4"/>
                </a:solidFill>
                <a:cs typeface="FreesiaUPC" panose="020B0502040204020203" pitchFamily="34" charset="-34"/>
              </a:rPr>
              <a:t> </a:t>
            </a:r>
            <a:r>
              <a:rPr lang="es-AR" dirty="0">
                <a:cs typeface="FreesiaUPC" panose="020B0502040204020203" pitchFamily="34" charset="-34"/>
              </a:rPr>
              <a:t>tiene –desde el punto de vista que le daremos– un alcance más bien </a:t>
            </a:r>
            <a:r>
              <a:rPr lang="es-AR" b="1" dirty="0">
                <a:cs typeface="FreesiaUPC" panose="020B0502040204020203" pitchFamily="34" charset="-34"/>
              </a:rPr>
              <a:t>descriptivo</a:t>
            </a:r>
            <a:r>
              <a:rPr lang="es-AR" dirty="0">
                <a:cs typeface="FreesiaUPC" panose="020B0502040204020203" pitchFamily="34" charset="-34"/>
              </a:rPr>
              <a:t> (ídem: 348). </a:t>
            </a:r>
          </a:p>
          <a:p>
            <a:pPr algn="just"/>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La literatura suele distinguir entre </a:t>
            </a:r>
            <a:r>
              <a:rPr lang="es-AR" b="1" i="1" dirty="0">
                <a:cs typeface="FreesiaUPC" panose="020B0502040204020203" pitchFamily="34" charset="-34"/>
              </a:rPr>
              <a:t>igualdad de oportunidades</a:t>
            </a:r>
            <a:r>
              <a:rPr lang="es-AR" dirty="0">
                <a:cs typeface="FreesiaUPC" panose="020B0502040204020203" pitchFamily="34" charset="-34"/>
              </a:rPr>
              <a:t> e </a:t>
            </a:r>
            <a:r>
              <a:rPr lang="es-AR" b="1" i="1" dirty="0">
                <a:cs typeface="FreesiaUPC" panose="020B0502040204020203" pitchFamily="34" charset="-34"/>
              </a:rPr>
              <a:t>igualdad de resultados</a:t>
            </a:r>
            <a:r>
              <a:rPr lang="es-AR" dirty="0">
                <a:cs typeface="FreesiaUPC" panose="020B0502040204020203" pitchFamily="34" charset="-34"/>
              </a:rPr>
              <a:t>. Atkinson (2016) plantea que el foco en general ha estado en la igualdad de oportunidades, pero es necesario abordar la igualdad de resultados: en última instancia, si la estructura de retribuciones es muy desigual, esta forma de desigualdad tiene implicancias sobre la próxima generación.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Los estudios sobre distribución del ingreso suelen estar enfocados en la dimensión de los </a:t>
            </a:r>
            <a:r>
              <a:rPr lang="es-AR" b="1" i="1" dirty="0">
                <a:cs typeface="FreesiaUPC" panose="020B0502040204020203" pitchFamily="34" charset="-34"/>
              </a:rPr>
              <a:t>resultados</a:t>
            </a:r>
            <a:r>
              <a:rPr lang="es-AR" dirty="0">
                <a:cs typeface="FreesiaUPC" panose="020B0502040204020203" pitchFamily="34" charset="-34"/>
              </a:rPr>
              <a:t>, lo que Atkinson (2016) llama “la estructura de premios”. </a:t>
            </a:r>
          </a:p>
        </p:txBody>
      </p:sp>
    </p:spTree>
    <p:extLst>
      <p:ext uri="{BB962C8B-B14F-4D97-AF65-F5344CB8AC3E}">
        <p14:creationId xmlns:p14="http://schemas.microsoft.com/office/powerpoint/2010/main" val="349572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fade">
                                      <p:cBhvr>
                                        <p:cTn id="17" dur="500"/>
                                        <p:tgtEl>
                                          <p:spTgt spid="1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6" end="6"/>
                                            </p:txEl>
                                          </p:spTgt>
                                        </p:tgtEl>
                                        <p:attrNameLst>
                                          <p:attrName>style.visibility</p:attrName>
                                        </p:attrNameLst>
                                      </p:cBhvr>
                                      <p:to>
                                        <p:strVal val="visible"/>
                                      </p:to>
                                    </p:set>
                                    <p:animEffect transition="in" filter="fade">
                                      <p:cBhvr>
                                        <p:cTn id="22" dur="500"/>
                                        <p:tgtEl>
                                          <p:spTgt spid="1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8" end="8"/>
                                            </p:txEl>
                                          </p:spTgt>
                                        </p:tgtEl>
                                        <p:attrNameLst>
                                          <p:attrName>style.visibility</p:attrName>
                                        </p:attrNameLst>
                                      </p:cBhvr>
                                      <p:to>
                                        <p:strVal val="visible"/>
                                      </p:to>
                                    </p:set>
                                    <p:animEffect transition="in" filter="fade">
                                      <p:cBhvr>
                                        <p:cTn id="27" dur="50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estudio de la desigualdad en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5632311"/>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Siguiendo a Therborn (2013) podemos pensar que hay una importante diferencia entre </a:t>
            </a:r>
            <a:r>
              <a:rPr lang="es-AR" b="1" i="1" dirty="0">
                <a:cs typeface="FreesiaUPC" panose="020B0502040204020203" pitchFamily="34" charset="-34"/>
              </a:rPr>
              <a:t>desigualdad </a:t>
            </a:r>
            <a:r>
              <a:rPr lang="es-AR" dirty="0">
                <a:cs typeface="FreesiaUPC" panose="020B0502040204020203" pitchFamily="34" charset="-34"/>
              </a:rPr>
              <a:t>y </a:t>
            </a:r>
            <a:r>
              <a:rPr lang="es-AR" b="1" i="1" dirty="0">
                <a:cs typeface="FreesiaUPC" panose="020B0502040204020203" pitchFamily="34" charset="-34"/>
              </a:rPr>
              <a:t>diferencia</a:t>
            </a:r>
            <a:r>
              <a:rPr lang="es-AR" dirty="0">
                <a:cs typeface="FreesiaUPC" panose="020B0502040204020203" pitchFamily="34" charset="-34"/>
              </a:rPr>
              <a:t>. Las desigualdades son aquellas diferencias de resultados que atribuimos a condiciones consideradas injustas. Por ejemplo: la diferencia de ingresos basada en el género es percibida como injusta, mientras que la diferencia basada en el estudio o la profesión no necesariamente es vista de ese modo.</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El estudio de la </a:t>
            </a:r>
            <a:r>
              <a:rPr lang="es-AR" b="1" i="1" dirty="0">
                <a:cs typeface="FreesiaUPC" panose="020B0502040204020203" pitchFamily="34" charset="-34"/>
              </a:rPr>
              <a:t>desigualdad de ingresos</a:t>
            </a:r>
            <a:r>
              <a:rPr lang="es-AR" dirty="0">
                <a:cs typeface="FreesiaUPC" panose="020B0502040204020203" pitchFamily="34" charset="-34"/>
              </a:rPr>
              <a:t> es </a:t>
            </a:r>
            <a:r>
              <a:rPr lang="es-AR" u="sng" dirty="0">
                <a:cs typeface="FreesiaUPC" panose="020B0502040204020203" pitchFamily="34" charset="-34"/>
              </a:rPr>
              <a:t>un</a:t>
            </a:r>
            <a:r>
              <a:rPr lang="es-AR" dirty="0">
                <a:cs typeface="FreesiaUPC" panose="020B0502040204020203" pitchFamily="34" charset="-34"/>
              </a:rPr>
              <a:t> aspecto del estudio de la desigualdad que toma en cuenta diferencias económicas que derivan de formas de participar en la producción y distribución de la renta y que tienen consecuencias sobre las capacidades de consumo.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En general, se consideran los ingresos disponibles corrientes (no permanentes) y casi nunca se contempla la desigualdad de patrimonio o capitales. En los últimos años, </a:t>
            </a:r>
            <a:r>
              <a:rPr lang="es-AR" dirty="0" err="1">
                <a:cs typeface="FreesiaUPC" panose="020B0502040204020203" pitchFamily="34" charset="-34"/>
              </a:rPr>
              <a:t>Piketty</a:t>
            </a:r>
            <a:r>
              <a:rPr lang="es-AR" dirty="0">
                <a:cs typeface="FreesiaUPC" panose="020B0502040204020203" pitchFamily="34" charset="-34"/>
              </a:rPr>
              <a:t> (2013) ha llamado la atención sobre este punto y ha hecho aportes significativos a la cuestión.</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Asimismo, en general, son estudios de casos nacionales. Más recientemente, </a:t>
            </a:r>
            <a:r>
              <a:rPr lang="es-AR" dirty="0" err="1">
                <a:cs typeface="FreesiaUPC" panose="020B0502040204020203" pitchFamily="34" charset="-34"/>
              </a:rPr>
              <a:t>Milanovic</a:t>
            </a:r>
            <a:r>
              <a:rPr lang="es-AR" dirty="0">
                <a:cs typeface="FreesiaUPC" panose="020B0502040204020203" pitchFamily="34" charset="-34"/>
              </a:rPr>
              <a:t> (2019) hizo innovaciones al respecto midiendo la desigualdad desde una perspectiva mundial. </a:t>
            </a:r>
          </a:p>
          <a:p>
            <a:pPr marL="285750" indent="-285750" algn="just">
              <a:buFont typeface="Wingdings" panose="05000000000000000000" pitchFamily="2" charset="2"/>
              <a:buChar char="§"/>
            </a:pPr>
            <a:endParaRPr lang="es-AR" dirty="0">
              <a:cs typeface="FreesiaUPC" panose="020B0502040204020203" pitchFamily="34" charset="-34"/>
            </a:endParaRPr>
          </a:p>
        </p:txBody>
      </p:sp>
    </p:spTree>
    <p:extLst>
      <p:ext uri="{BB962C8B-B14F-4D97-AF65-F5344CB8AC3E}">
        <p14:creationId xmlns:p14="http://schemas.microsoft.com/office/powerpoint/2010/main" val="138882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fade">
                                      <p:cBhvr>
                                        <p:cTn id="17" dur="500"/>
                                        <p:tgtEl>
                                          <p:spTgt spid="1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6" end="6"/>
                                            </p:txEl>
                                          </p:spTgt>
                                        </p:tgtEl>
                                        <p:attrNameLst>
                                          <p:attrName>style.visibility</p:attrName>
                                        </p:attrNameLst>
                                      </p:cBhvr>
                                      <p:to>
                                        <p:strVal val="visible"/>
                                      </p:to>
                                    </p:set>
                                    <p:animEffect transition="in" filter="fade">
                                      <p:cBhvr>
                                        <p:cTn id="22"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Las variables de interés: gasto e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5416868"/>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Las dos variables más usualmente utilizadas en el análisis de desigualdad en la distribución son el </a:t>
            </a:r>
            <a:r>
              <a:rPr lang="es-AR" b="1" i="1" dirty="0">
                <a:solidFill>
                  <a:schemeClr val="accent4"/>
                </a:solidFill>
                <a:cs typeface="FreesiaUPC" panose="020B0502040204020203" pitchFamily="34" charset="-34"/>
              </a:rPr>
              <a:t>gasto en consumo </a:t>
            </a:r>
            <a:r>
              <a:rPr lang="es-AR" dirty="0">
                <a:cs typeface="FreesiaUPC" panose="020B0502040204020203" pitchFamily="34" charset="-34"/>
              </a:rPr>
              <a:t>y el </a:t>
            </a:r>
            <a:r>
              <a:rPr lang="es-AR" b="1" i="1" dirty="0">
                <a:solidFill>
                  <a:schemeClr val="accent4"/>
                </a:solidFill>
                <a:cs typeface="FreesiaUPC" panose="020B0502040204020203" pitchFamily="34" charset="-34"/>
              </a:rPr>
              <a:t>ingreso monetario</a:t>
            </a:r>
            <a:r>
              <a:rPr lang="es-AR" dirty="0">
                <a:cs typeface="FreesiaUPC" panose="020B0502040204020203" pitchFamily="34" charset="-34"/>
              </a:rPr>
              <a:t>.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El </a:t>
            </a:r>
            <a:r>
              <a:rPr lang="es-AR" b="1" i="1" dirty="0">
                <a:solidFill>
                  <a:schemeClr val="accent4"/>
                </a:solidFill>
                <a:cs typeface="FreesiaUPC" panose="020B0502040204020203" pitchFamily="34" charset="-34"/>
              </a:rPr>
              <a:t>gasto en consumo </a:t>
            </a:r>
            <a:r>
              <a:rPr lang="es-AR" dirty="0">
                <a:cs typeface="FreesiaUPC" panose="020B0502040204020203" pitchFamily="34" charset="-34"/>
              </a:rPr>
              <a:t>surge de encuestas de ingresos y gastos de los hogares, en las que se les solicita a las personas participantes que informen acerca de todos los gastos que realizan a lo largo de un período de referencia.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El </a:t>
            </a:r>
            <a:r>
              <a:rPr lang="es-AR" b="1" i="1" dirty="0">
                <a:solidFill>
                  <a:schemeClr val="accent4"/>
                </a:solidFill>
                <a:cs typeface="FreesiaUPC" panose="020B0502040204020203" pitchFamily="34" charset="-34"/>
              </a:rPr>
              <a:t>ingreso monetario</a:t>
            </a:r>
            <a:r>
              <a:rPr lang="es-AR" dirty="0">
                <a:cs typeface="FreesiaUPC" panose="020B0502040204020203" pitchFamily="34" charset="-34"/>
              </a:rPr>
              <a:t> surge de encuestas de ingreso que son más regulares que las encuestas de gasto. Se les pregunta a los hogares por sus ingresos laborales y no laborales en un período de referencia.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Jenkins &amp; van </a:t>
            </a:r>
            <a:r>
              <a:rPr lang="es-AR" dirty="0" err="1">
                <a:cs typeface="FreesiaUPC" panose="020B0502040204020203" pitchFamily="34" charset="-34"/>
              </a:rPr>
              <a:t>Kerm</a:t>
            </a:r>
            <a:r>
              <a:rPr lang="es-AR" dirty="0">
                <a:cs typeface="FreesiaUPC" panose="020B0502040204020203" pitchFamily="34" charset="-34"/>
              </a:rPr>
              <a:t> (2011: 42) plantean:</a:t>
            </a:r>
          </a:p>
          <a:p>
            <a:pPr marL="285750" indent="-285750" algn="just">
              <a:buFont typeface="Wingdings" panose="05000000000000000000" pitchFamily="2" charset="2"/>
              <a:buChar char="§"/>
            </a:pPr>
            <a:endParaRPr lang="es-AR" dirty="0">
              <a:cs typeface="FreesiaUPC" panose="020B0502040204020203" pitchFamily="34" charset="-34"/>
            </a:endParaRPr>
          </a:p>
          <a:p>
            <a:pPr algn="just"/>
            <a:r>
              <a:rPr lang="es-AR" sz="1600" i="1" dirty="0">
                <a:cs typeface="FreesiaUPC" panose="020B0502040204020203" pitchFamily="34" charset="-34"/>
              </a:rPr>
              <a:t>El enfoque bienestarista [</a:t>
            </a:r>
            <a:r>
              <a:rPr lang="es-AR" sz="1600" i="1" dirty="0" err="1">
                <a:cs typeface="FreesiaUPC" panose="020B0502040204020203" pitchFamily="34" charset="-34"/>
              </a:rPr>
              <a:t>welfarist</a:t>
            </a:r>
            <a:r>
              <a:rPr lang="es-AR" sz="1600" i="1" dirty="0">
                <a:cs typeface="FreesiaUPC" panose="020B0502040204020203" pitchFamily="34" charset="-34"/>
              </a:rPr>
              <a:t>] convencional para medir el bienestar económico sugiere que el consumo es una medida más apropiada para el análisis distributivo que la renta, porque es el consumo lo que entra en la función de utilidad de un individuo. Sin embargo, la visión bienestarista [</a:t>
            </a:r>
            <a:r>
              <a:rPr lang="es-AR" sz="1600" i="1" dirty="0" err="1">
                <a:cs typeface="FreesiaUPC" panose="020B0502040204020203" pitchFamily="34" charset="-34"/>
              </a:rPr>
              <a:t>welfarist</a:t>
            </a:r>
            <a:r>
              <a:rPr lang="es-AR" sz="1600" i="1" dirty="0">
                <a:cs typeface="FreesiaUPC" panose="020B0502040204020203" pitchFamily="34" charset="-34"/>
              </a:rPr>
              <a:t>] no es universalmente aceptada. A menudo se considera que la desigualdad económica tiene que ver con las diferencias en el acceso a los recursos económicos o el control sobre ellos, más que con el ejercicio real de ese poder, en cuyo caso la renta es la medida preferida al consumo: un millonario avaro se considera rico en lugar de pobre.</a:t>
            </a:r>
            <a:endParaRPr lang="es-AR" dirty="0">
              <a:cs typeface="FreesiaUPC" panose="020B0502040204020203" pitchFamily="34" charset="-34"/>
            </a:endParaRPr>
          </a:p>
        </p:txBody>
      </p:sp>
    </p:spTree>
    <p:extLst>
      <p:ext uri="{BB962C8B-B14F-4D97-AF65-F5344CB8AC3E}">
        <p14:creationId xmlns:p14="http://schemas.microsoft.com/office/powerpoint/2010/main" val="173111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fade">
                                      <p:cBhvr>
                                        <p:cTn id="17" dur="500"/>
                                        <p:tgtEl>
                                          <p:spTgt spid="1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6" end="6"/>
                                            </p:txEl>
                                          </p:spTgt>
                                        </p:tgtEl>
                                        <p:attrNameLst>
                                          <p:attrName>style.visibility</p:attrName>
                                        </p:attrNameLst>
                                      </p:cBhvr>
                                      <p:to>
                                        <p:strVal val="visible"/>
                                      </p:to>
                                    </p:set>
                                    <p:animEffect transition="in" filter="fade">
                                      <p:cBhvr>
                                        <p:cTn id="22" dur="500"/>
                                        <p:tgtEl>
                                          <p:spTgt spid="1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8" end="8"/>
                                            </p:txEl>
                                          </p:spTgt>
                                        </p:tgtEl>
                                        <p:attrNameLst>
                                          <p:attrName>style.visibility</p:attrName>
                                        </p:attrNameLst>
                                      </p:cBhvr>
                                      <p:to>
                                        <p:strVal val="visible"/>
                                      </p:to>
                                    </p:set>
                                    <p:animEffect transition="in" filter="fade">
                                      <p:cBhvr>
                                        <p:cTn id="27" dur="50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Pertinencia teórico-metodológica del estudio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5078313"/>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El estudio de los ingresos familiares cumple un doble papel teórico-metodológico: </a:t>
            </a:r>
          </a:p>
          <a:p>
            <a:pPr marL="285750" indent="-285750" algn="just">
              <a:buFont typeface="Wingdings" panose="05000000000000000000" pitchFamily="2" charset="2"/>
              <a:buChar char="§"/>
            </a:pPr>
            <a:endParaRPr lang="es-AR" dirty="0">
              <a:cs typeface="FreesiaUPC" panose="020B0502040204020203" pitchFamily="34" charset="-34"/>
            </a:endParaRPr>
          </a:p>
          <a:p>
            <a:pPr marL="742950" lvl="1" indent="-285750" algn="just">
              <a:buFont typeface="Wingdings" panose="05000000000000000000" pitchFamily="2" charset="2"/>
              <a:buChar char="§"/>
            </a:pPr>
            <a:r>
              <a:rPr lang="es-AR" dirty="0">
                <a:cs typeface="FreesiaUPC" panose="020B0502040204020203" pitchFamily="34" charset="-34"/>
              </a:rPr>
              <a:t>Por un lado, permite aproximarse a la evolución de las condiciones materiales de vida de la población o de los hogares.</a:t>
            </a:r>
          </a:p>
          <a:p>
            <a:pPr marL="742950" lvl="1" indent="-285750" algn="just">
              <a:buFont typeface="Wingdings" panose="05000000000000000000" pitchFamily="2" charset="2"/>
              <a:buChar char="§"/>
            </a:pPr>
            <a:endParaRPr lang="es-AR" dirty="0">
              <a:cs typeface="FreesiaUPC" panose="020B0502040204020203" pitchFamily="34" charset="-34"/>
            </a:endParaRPr>
          </a:p>
          <a:p>
            <a:pPr marL="742950" lvl="1" indent="-285750" algn="just">
              <a:buFont typeface="Wingdings" panose="05000000000000000000" pitchFamily="2" charset="2"/>
              <a:buChar char="§"/>
            </a:pPr>
            <a:r>
              <a:rPr lang="es-AR" dirty="0">
                <a:cs typeface="FreesiaUPC" panose="020B0502040204020203" pitchFamily="34" charset="-34"/>
              </a:rPr>
              <a:t>Por otro lado, liga dicha evolución al comportamiento de la estructura económico-ocupacional y a las modalidades de intervención estatal.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En este sentido, el estudio de la distribución del ingreso permite sintetizar el papel que juegan la </a:t>
            </a:r>
            <a:r>
              <a:rPr lang="es-AR" b="1" i="1" dirty="0">
                <a:solidFill>
                  <a:schemeClr val="accent4"/>
                </a:solidFill>
                <a:cs typeface="FreesiaUPC" panose="020B0502040204020203" pitchFamily="34" charset="-34"/>
              </a:rPr>
              <a:t>distribución primaria </a:t>
            </a:r>
            <a:r>
              <a:rPr lang="es-AR" dirty="0">
                <a:cs typeface="FreesiaUPC" panose="020B0502040204020203" pitchFamily="34" charset="-34"/>
              </a:rPr>
              <a:t>y la </a:t>
            </a:r>
            <a:r>
              <a:rPr lang="es-AR" b="1" i="1" dirty="0">
                <a:solidFill>
                  <a:schemeClr val="accent4"/>
                </a:solidFill>
                <a:cs typeface="FreesiaUPC" panose="020B0502040204020203" pitchFamily="34" charset="-34"/>
              </a:rPr>
              <a:t>distribución secundaria </a:t>
            </a:r>
            <a:r>
              <a:rPr lang="es-AR" dirty="0">
                <a:cs typeface="FreesiaUPC" panose="020B0502040204020203" pitchFamily="34" charset="-34"/>
              </a:rPr>
              <a:t>sobre el bienestar y las condiciones de vida.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Desde un punto de vista </a:t>
            </a:r>
            <a:r>
              <a:rPr lang="es-AR" i="1" dirty="0">
                <a:cs typeface="FreesiaUPC" panose="020B0502040204020203" pitchFamily="34" charset="-34"/>
              </a:rPr>
              <a:t>“micro”</a:t>
            </a:r>
            <a:r>
              <a:rPr lang="es-AR" dirty="0">
                <a:cs typeface="FreesiaUPC" panose="020B0502040204020203" pitchFamily="34" charset="-34"/>
              </a:rPr>
              <a:t>, analizar el ingreso permite considerar la composición de los presupuestos familiares y nos acerca a una dimensión relevante de las estrategias o comportamientos doméstico-familiares.</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lgn="just">
              <a:buFont typeface="Wingdings" panose="05000000000000000000" pitchFamily="2" charset="2"/>
              <a:buChar char="§"/>
            </a:pPr>
            <a:r>
              <a:rPr lang="es-AR" dirty="0">
                <a:cs typeface="FreesiaUPC" panose="020B0502040204020203" pitchFamily="34" charset="-34"/>
              </a:rPr>
              <a:t>Desde una perspectiva </a:t>
            </a:r>
            <a:r>
              <a:rPr lang="es-AR" i="1" dirty="0">
                <a:cs typeface="FreesiaUPC" panose="020B0502040204020203" pitchFamily="34" charset="-34"/>
              </a:rPr>
              <a:t>“macro”</a:t>
            </a:r>
            <a:r>
              <a:rPr lang="es-AR" dirty="0">
                <a:cs typeface="FreesiaUPC" panose="020B0502040204020203" pitchFamily="34" charset="-34"/>
              </a:rPr>
              <a:t> permite comparar matrices de distribución del ingreso o su cambio en el tiempo, y vincularla con procesos sociales, históricos y políticos. </a:t>
            </a:r>
          </a:p>
        </p:txBody>
      </p:sp>
    </p:spTree>
    <p:extLst>
      <p:ext uri="{BB962C8B-B14F-4D97-AF65-F5344CB8AC3E}">
        <p14:creationId xmlns:p14="http://schemas.microsoft.com/office/powerpoint/2010/main" val="48185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animEffect transition="in" filter="fade">
                                      <p:cBhvr>
                                        <p:cTn id="7" dur="500"/>
                                        <p:tgtEl>
                                          <p:spTgt spid="1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8" end="8"/>
                                            </p:txEl>
                                          </p:spTgt>
                                        </p:tgtEl>
                                        <p:attrNameLst>
                                          <p:attrName>style.visibility</p:attrName>
                                        </p:attrNameLst>
                                      </p:cBhvr>
                                      <p:to>
                                        <p:strVal val="visible"/>
                                      </p:to>
                                    </p:set>
                                    <p:animEffect transition="in" filter="fade">
                                      <p:cBhvr>
                                        <p:cTn id="12" dur="500"/>
                                        <p:tgtEl>
                                          <p:spTgt spid="12">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10" end="10"/>
                                            </p:txEl>
                                          </p:spTgt>
                                        </p:tgtEl>
                                        <p:attrNameLst>
                                          <p:attrName>style.visibility</p:attrName>
                                        </p:attrNameLst>
                                      </p:cBhvr>
                                      <p:to>
                                        <p:strVal val="visible"/>
                                      </p:to>
                                    </p:set>
                                    <p:animEffect transition="in" filter="fade">
                                      <p:cBhvr>
                                        <p:cTn id="17" dur="500"/>
                                        <p:tgtEl>
                                          <p:spTgt spid="1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Pertinencia teórico-metodológica del estudio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5" name="Imagen 4">
            <a:extLst>
              <a:ext uri="{FF2B5EF4-FFF2-40B4-BE49-F238E27FC236}">
                <a16:creationId xmlns:a16="http://schemas.microsoft.com/office/drawing/2014/main" id="{4A6EA443-752E-C1A9-C97C-F6317FD350A6}"/>
              </a:ext>
            </a:extLst>
          </p:cNvPr>
          <p:cNvPicPr>
            <a:picLocks noChangeAspect="1"/>
          </p:cNvPicPr>
          <p:nvPr/>
        </p:nvPicPr>
        <p:blipFill>
          <a:blip r:embed="rId3"/>
          <a:stretch>
            <a:fillRect/>
          </a:stretch>
        </p:blipFill>
        <p:spPr>
          <a:xfrm>
            <a:off x="971600" y="1517747"/>
            <a:ext cx="7742591" cy="4346825"/>
          </a:xfrm>
          <a:prstGeom prst="rect">
            <a:avLst/>
          </a:prstGeom>
        </p:spPr>
      </p:pic>
      <p:sp>
        <p:nvSpPr>
          <p:cNvPr id="9" name="CuadroTexto 8">
            <a:extLst>
              <a:ext uri="{FF2B5EF4-FFF2-40B4-BE49-F238E27FC236}">
                <a16:creationId xmlns:a16="http://schemas.microsoft.com/office/drawing/2014/main" id="{93E9AA6B-F58F-3DB5-A63D-2CD8F8624A0F}"/>
              </a:ext>
            </a:extLst>
          </p:cNvPr>
          <p:cNvSpPr txBox="1"/>
          <p:nvPr/>
        </p:nvSpPr>
        <p:spPr>
          <a:xfrm>
            <a:off x="307975" y="5963960"/>
            <a:ext cx="6280249" cy="267253"/>
          </a:xfrm>
          <a:prstGeom prst="rect">
            <a:avLst/>
          </a:prstGeom>
          <a:noFill/>
        </p:spPr>
        <p:txBody>
          <a:bodyPr wrap="square">
            <a:spAutoFit/>
          </a:bodyPr>
          <a:lstStyle/>
          <a:p>
            <a:pPr algn="just">
              <a:lnSpc>
                <a:spcPct val="115000"/>
              </a:lnSpc>
              <a:spcBef>
                <a:spcPts val="600"/>
              </a:spcBef>
              <a:spcAft>
                <a:spcPts val="1800"/>
              </a:spcAft>
            </a:pPr>
            <a:r>
              <a:rPr lang="es-ES" sz="1050" i="1" dirty="0">
                <a:effectLst/>
                <a:latin typeface="+mj-lt"/>
                <a:ea typeface="Calibri" panose="020F0502020204030204" pitchFamily="34" charset="0"/>
                <a:cs typeface="Times New Roman" panose="02020603050405020304" pitchFamily="18" charset="0"/>
              </a:rPr>
              <a:t>Fuente: </a:t>
            </a:r>
            <a:r>
              <a:rPr lang="es-ES" sz="1050" dirty="0">
                <a:effectLst/>
                <a:latin typeface="+mj-lt"/>
                <a:ea typeface="Calibri" panose="020F0502020204030204" pitchFamily="34" charset="0"/>
                <a:cs typeface="Times New Roman" panose="02020603050405020304" pitchFamily="18" charset="0"/>
              </a:rPr>
              <a:t>elaboración propia a partir de microdatos de EPH (INDEC) y ECV (INE)</a:t>
            </a:r>
            <a:r>
              <a:rPr lang="es-ES" sz="1050" i="1" dirty="0">
                <a:effectLst/>
                <a:latin typeface="+mj-lt"/>
                <a:ea typeface="Calibri" panose="020F0502020204030204" pitchFamily="34" charset="0"/>
                <a:cs typeface="Times New Roman" panose="02020603050405020304" pitchFamily="18" charset="0"/>
              </a:rPr>
              <a:t>.</a:t>
            </a:r>
            <a:endParaRPr lang="es-AR" sz="105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2563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La medición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1754326"/>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En el análisis de desigualdad, se suele preferir el ingreso del hogar por sobre el ingreso individual. El Grupo de Canberra (2011) plantea que “el ingreso del hogar es el principal determinante del bienestar económico para la mayoría de las personas”. </a:t>
            </a:r>
          </a:p>
          <a:p>
            <a:pPr marL="285750" indent="-285750" algn="just">
              <a:buFont typeface="Wingdings" panose="05000000000000000000" pitchFamily="2" charset="2"/>
              <a:buChar char="§"/>
            </a:pPr>
            <a:endParaRPr lang="es-AR" dirty="0">
              <a:cs typeface="FreesiaUPC" panose="020B0502040204020203" pitchFamily="34" charset="-34"/>
            </a:endParaRPr>
          </a:p>
          <a:p>
            <a:pPr marL="285750" indent="-285750">
              <a:buFont typeface="Wingdings" panose="05000000000000000000" pitchFamily="2" charset="2"/>
              <a:buChar char="§"/>
            </a:pPr>
            <a:r>
              <a:rPr lang="es-AR" dirty="0">
                <a:cs typeface="FreesiaUPC" panose="020B0502040204020203" pitchFamily="34" charset="-34"/>
              </a:rPr>
              <a:t>¿Cuáles son los componentes del ingreso que se deberían medir?</a:t>
            </a:r>
          </a:p>
          <a:p>
            <a:pPr marL="285750" indent="-285750" algn="just">
              <a:buFont typeface="Wingdings" panose="05000000000000000000" pitchFamily="2" charset="2"/>
              <a:buChar char="§"/>
            </a:pPr>
            <a:endParaRPr lang="es-AR" dirty="0">
              <a:cs typeface="FreesiaUPC" panose="020B0502040204020203" pitchFamily="34" charset="-34"/>
            </a:endParaRPr>
          </a:p>
        </p:txBody>
      </p:sp>
      <p:graphicFrame>
        <p:nvGraphicFramePr>
          <p:cNvPr id="2" name="Tabla 1">
            <a:extLst>
              <a:ext uri="{FF2B5EF4-FFF2-40B4-BE49-F238E27FC236}">
                <a16:creationId xmlns:a16="http://schemas.microsoft.com/office/drawing/2014/main" id="{E95E75B3-8A2F-B090-94FD-06B7E6BBA386}"/>
              </a:ext>
            </a:extLst>
          </p:cNvPr>
          <p:cNvGraphicFramePr>
            <a:graphicFrameLocks noGrp="1"/>
          </p:cNvGraphicFramePr>
          <p:nvPr>
            <p:extLst>
              <p:ext uri="{D42A27DB-BD31-4B8C-83A1-F6EECF244321}">
                <p14:modId xmlns:p14="http://schemas.microsoft.com/office/powerpoint/2010/main" val="2651068900"/>
              </p:ext>
            </p:extLst>
          </p:nvPr>
        </p:nvGraphicFramePr>
        <p:xfrm>
          <a:off x="2626415" y="2695954"/>
          <a:ext cx="3793122" cy="3811399"/>
        </p:xfrm>
        <a:graphic>
          <a:graphicData uri="http://schemas.openxmlformats.org/drawingml/2006/table">
            <a:tbl>
              <a:tblPr>
                <a:tableStyleId>{5C22544A-7EE6-4342-B048-85BDC9FD1C3A}</a:tableStyleId>
              </a:tblPr>
              <a:tblGrid>
                <a:gridCol w="288032">
                  <a:extLst>
                    <a:ext uri="{9D8B030D-6E8A-4147-A177-3AD203B41FA5}">
                      <a16:colId xmlns:a16="http://schemas.microsoft.com/office/drawing/2014/main" val="638410069"/>
                    </a:ext>
                  </a:extLst>
                </a:gridCol>
                <a:gridCol w="3024336">
                  <a:extLst>
                    <a:ext uri="{9D8B030D-6E8A-4147-A177-3AD203B41FA5}">
                      <a16:colId xmlns:a16="http://schemas.microsoft.com/office/drawing/2014/main" val="1522806375"/>
                    </a:ext>
                  </a:extLst>
                </a:gridCol>
                <a:gridCol w="480754">
                  <a:extLst>
                    <a:ext uri="{9D8B030D-6E8A-4147-A177-3AD203B41FA5}">
                      <a16:colId xmlns:a16="http://schemas.microsoft.com/office/drawing/2014/main" val="1402240842"/>
                    </a:ext>
                  </a:extLst>
                </a:gridCol>
              </a:tblGrid>
              <a:tr h="165713">
                <a:tc>
                  <a:txBody>
                    <a:bodyPr/>
                    <a:lstStyle/>
                    <a:p>
                      <a:pPr algn="r" fontAlgn="b"/>
                      <a:r>
                        <a:rPr lang="es-AR" sz="900" b="1" u="none" strike="noStrike" dirty="0">
                          <a:effectLst/>
                        </a:rPr>
                        <a:t>1</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dirty="0">
                          <a:effectLst/>
                        </a:rPr>
                        <a:t>Ingresos de la ocupación</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78393388"/>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Ingreso por empleo asalariado</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85769490"/>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Ingreso por empleo no asalariado</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2900762"/>
                  </a:ext>
                </a:extLst>
              </a:tr>
              <a:tr h="165713">
                <a:tc>
                  <a:txBody>
                    <a:bodyPr/>
                    <a:lstStyle/>
                    <a:p>
                      <a:pPr algn="r" fontAlgn="b"/>
                      <a:r>
                        <a:rPr lang="es-AR" sz="900" b="1" u="none" strike="noStrike" dirty="0">
                          <a:effectLst/>
                        </a:rPr>
                        <a:t>2</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dirty="0">
                          <a:effectLst/>
                        </a:rPr>
                        <a:t>Rentas de la propiedad</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7952056"/>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dirty="0">
                          <a:effectLst/>
                        </a:rPr>
                        <a:t>Ingresos de activos financieros, neto de gastos</a:t>
                      </a:r>
                      <a:endParaRPr lang="es-AR" sz="900" b="0" i="0" u="none" strike="noStrike" dirty="0">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41942571"/>
                  </a:ext>
                </a:extLst>
              </a:tr>
              <a:tr h="165713">
                <a:tc>
                  <a:txBody>
                    <a:bodyPr/>
                    <a:lstStyle/>
                    <a:p>
                      <a:pPr algn="l" fontAlgn="b"/>
                      <a:endParaRPr lang="es-AR" sz="9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dirty="0">
                          <a:effectLst/>
                        </a:rPr>
                        <a:t>Ingresos de activos no financieros, neto de gastos</a:t>
                      </a:r>
                      <a:endParaRPr lang="es-AR" sz="900" b="0" i="0" u="none" strike="noStrike" dirty="0">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08937697"/>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Ganancias e intereses</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87072492"/>
                  </a:ext>
                </a:extLst>
              </a:tr>
              <a:tr h="165713">
                <a:tc>
                  <a:txBody>
                    <a:bodyPr/>
                    <a:lstStyle/>
                    <a:p>
                      <a:pPr algn="r" fontAlgn="b"/>
                      <a:r>
                        <a:rPr lang="es-AR" sz="900" b="1" u="none" strike="noStrike">
                          <a:effectLst/>
                        </a:rPr>
                        <a:t>3</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a:effectLst/>
                        </a:rPr>
                        <a:t>Ingresos por producción para autoconsumo</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81199575"/>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Alquiler imputado</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85274024"/>
                  </a:ext>
                </a:extLst>
              </a:tr>
              <a:tr h="165713">
                <a:tc>
                  <a:txBody>
                    <a:bodyPr/>
                    <a:lstStyle/>
                    <a:p>
                      <a:pPr algn="r" fontAlgn="b"/>
                      <a:r>
                        <a:rPr lang="es-AR" sz="900" b="1" u="none" strike="noStrike">
                          <a:effectLst/>
                        </a:rPr>
                        <a:t>4</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a:effectLst/>
                        </a:rPr>
                        <a:t>Transferencias recibidas</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847910"/>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Jubilaciones y pensiones</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89206716"/>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Asistencia social</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3597665"/>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Transferencias de organizaciones sin fines de lucro</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16258123"/>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Transferencias de otros hogares</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41783825"/>
                  </a:ext>
                </a:extLst>
              </a:tr>
              <a:tr h="165713">
                <a:tc>
                  <a:txBody>
                    <a:bodyPr/>
                    <a:lstStyle/>
                    <a:p>
                      <a:pPr algn="r" fontAlgn="b"/>
                      <a:r>
                        <a:rPr lang="es-AR" sz="900" b="1" u="none" strike="noStrike" dirty="0">
                          <a:effectLst/>
                        </a:rPr>
                        <a:t>5</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dirty="0">
                          <a:effectLst/>
                        </a:rPr>
                        <a:t>Ingreso de la producción</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AR" sz="900" b="1" u="none" strike="noStrike" dirty="0">
                          <a:effectLst/>
                        </a:rPr>
                        <a:t>1+3</a:t>
                      </a:r>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6999700"/>
                  </a:ext>
                </a:extLst>
              </a:tr>
              <a:tr h="165713">
                <a:tc>
                  <a:txBody>
                    <a:bodyPr/>
                    <a:lstStyle/>
                    <a:p>
                      <a:pPr algn="r" fontAlgn="b"/>
                      <a:r>
                        <a:rPr lang="es-AR" sz="900" b="1" u="none" strike="noStrike">
                          <a:effectLst/>
                        </a:rPr>
                        <a:t>6</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dirty="0">
                          <a:effectLst/>
                        </a:rPr>
                        <a:t>Ingreso primario</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AR" sz="900" b="1" u="none" strike="noStrike">
                          <a:effectLst/>
                        </a:rPr>
                        <a:t>1+2+3</a:t>
                      </a:r>
                      <a:endParaRPr lang="es-AR" sz="9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37911162"/>
                  </a:ext>
                </a:extLst>
              </a:tr>
              <a:tr h="165713">
                <a:tc>
                  <a:txBody>
                    <a:bodyPr/>
                    <a:lstStyle/>
                    <a:p>
                      <a:pPr algn="r" fontAlgn="b"/>
                      <a:r>
                        <a:rPr lang="es-AR" sz="900" b="1" u="none" strike="noStrike">
                          <a:effectLst/>
                        </a:rPr>
                        <a:t>7</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dirty="0">
                          <a:effectLst/>
                        </a:rPr>
                        <a:t>Ingreso total</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AR" sz="900" b="1" u="none" strike="noStrike">
                          <a:effectLst/>
                        </a:rPr>
                        <a:t>1+2+3+4</a:t>
                      </a:r>
                      <a:endParaRPr lang="es-AR" sz="9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68798425"/>
                  </a:ext>
                </a:extLst>
              </a:tr>
              <a:tr h="165713">
                <a:tc>
                  <a:txBody>
                    <a:bodyPr/>
                    <a:lstStyle/>
                    <a:p>
                      <a:pPr algn="r" fontAlgn="b"/>
                      <a:r>
                        <a:rPr lang="es-AR" sz="900" b="1" u="none" strike="noStrike">
                          <a:effectLst/>
                        </a:rPr>
                        <a:t>8</a:t>
                      </a:r>
                      <a:endParaRPr lang="es-AR"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b="1" u="none" strike="noStrike" dirty="0">
                          <a:effectLst/>
                        </a:rPr>
                        <a:t>Transferencias pagadas</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7510975"/>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Impuestos directos</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ctr"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79053277"/>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Tasas y multas</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ctr"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06012788"/>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a:effectLst/>
                        </a:rPr>
                        <a:t>Transferencias a otros hogares</a:t>
                      </a:r>
                      <a:endParaRPr lang="es-AR" sz="900" b="0" i="0" u="none" strike="noStrike">
                        <a:solidFill>
                          <a:srgbClr val="000000"/>
                        </a:solidFill>
                        <a:effectLst/>
                        <a:latin typeface="Calibri" panose="020F0502020204030204" pitchFamily="34" charset="0"/>
                      </a:endParaRPr>
                    </a:p>
                  </a:txBody>
                  <a:tcPr marL="85725" marR="9525" marT="9525" marB="0" anchor="b"/>
                </a:tc>
                <a:tc>
                  <a:txBody>
                    <a:bodyPr/>
                    <a:lstStyle/>
                    <a:p>
                      <a:pPr algn="ctr" fontAlgn="b"/>
                      <a:endParaRPr lang="es-AR" sz="9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81337200"/>
                  </a:ext>
                </a:extLst>
              </a:tr>
              <a:tr h="165713">
                <a:tc>
                  <a:txBody>
                    <a:bodyPr/>
                    <a:lstStyle/>
                    <a:p>
                      <a:pPr algn="l" fontAlgn="b"/>
                      <a:endParaRPr lang="es-AR"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900" u="none" strike="noStrike" dirty="0">
                          <a:effectLst/>
                        </a:rPr>
                        <a:t>Transferencias a organizaciones sin fines de lucro</a:t>
                      </a:r>
                      <a:endParaRPr lang="es-AR" sz="900" b="0" i="0" u="none" strike="noStrike" dirty="0">
                        <a:solidFill>
                          <a:srgbClr val="000000"/>
                        </a:solidFill>
                        <a:effectLst/>
                        <a:latin typeface="Calibri" panose="020F0502020204030204" pitchFamily="34" charset="0"/>
                      </a:endParaRPr>
                    </a:p>
                  </a:txBody>
                  <a:tcPr marL="85725" marR="9525" marT="9525" marB="0" anchor="b"/>
                </a:tc>
                <a:tc>
                  <a:txBody>
                    <a:bodyPr/>
                    <a:lstStyle/>
                    <a:p>
                      <a:pPr algn="ctr" fontAlgn="b"/>
                      <a:endParaRPr lang="es-AR"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34780470"/>
                  </a:ext>
                </a:extLst>
              </a:tr>
              <a:tr h="165713">
                <a:tc>
                  <a:txBody>
                    <a:bodyPr/>
                    <a:lstStyle/>
                    <a:p>
                      <a:pPr algn="r" fontAlgn="b"/>
                      <a:r>
                        <a:rPr lang="es-AR" sz="900" b="1" i="0" u="none" strike="noStrike" dirty="0">
                          <a:solidFill>
                            <a:srgbClr val="000000"/>
                          </a:solidFill>
                          <a:effectLst/>
                          <a:latin typeface="Calibri" panose="020F0502020204030204" pitchFamily="34" charset="0"/>
                        </a:rPr>
                        <a:t>9</a:t>
                      </a:r>
                    </a:p>
                  </a:txBody>
                  <a:tcPr marL="9525" marR="9525" marT="9525" marB="0" anchor="b"/>
                </a:tc>
                <a:tc>
                  <a:txBody>
                    <a:bodyPr/>
                    <a:lstStyle/>
                    <a:p>
                      <a:pPr algn="l" fontAlgn="b"/>
                      <a:r>
                        <a:rPr lang="es-AR" sz="900" b="1" u="none" strike="noStrike" dirty="0">
                          <a:effectLst/>
                        </a:rPr>
                        <a:t>Ingreso disponible</a:t>
                      </a:r>
                      <a:endParaRPr lang="es-AR" sz="9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AR" sz="900" b="1" u="none" strike="noStrike" dirty="0">
                          <a:effectLst/>
                        </a:rPr>
                        <a:t>7-8</a:t>
                      </a:r>
                      <a:endParaRPr lang="es-AR" sz="9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8535383"/>
                  </a:ext>
                </a:extLst>
              </a:tr>
            </a:tbl>
          </a:graphicData>
        </a:graphic>
      </p:graphicFrame>
      <p:sp>
        <p:nvSpPr>
          <p:cNvPr id="8" name="CuadroTexto 7">
            <a:extLst>
              <a:ext uri="{FF2B5EF4-FFF2-40B4-BE49-F238E27FC236}">
                <a16:creationId xmlns:a16="http://schemas.microsoft.com/office/drawing/2014/main" id="{C5EB1288-60F4-ABA4-D77A-81027D4AC9B2}"/>
              </a:ext>
            </a:extLst>
          </p:cNvPr>
          <p:cNvSpPr txBox="1"/>
          <p:nvPr/>
        </p:nvSpPr>
        <p:spPr>
          <a:xfrm>
            <a:off x="2555776" y="6485091"/>
            <a:ext cx="4572000" cy="261610"/>
          </a:xfrm>
          <a:prstGeom prst="rect">
            <a:avLst/>
          </a:prstGeom>
          <a:noFill/>
        </p:spPr>
        <p:txBody>
          <a:bodyPr wrap="square">
            <a:spAutoFit/>
          </a:bodyPr>
          <a:lstStyle/>
          <a:p>
            <a:pPr algn="just"/>
            <a:r>
              <a:rPr lang="es-AR" sz="1050" dirty="0">
                <a:cs typeface="FreesiaUPC" panose="020B0502040204020203" pitchFamily="34" charset="-34"/>
              </a:rPr>
              <a:t>Fuente: Canberra </a:t>
            </a:r>
            <a:r>
              <a:rPr lang="es-AR" sz="1050" dirty="0" err="1">
                <a:cs typeface="FreesiaUPC" panose="020B0502040204020203" pitchFamily="34" charset="-34"/>
              </a:rPr>
              <a:t>Handbook</a:t>
            </a:r>
            <a:r>
              <a:rPr lang="es-AR" sz="1050" dirty="0">
                <a:cs typeface="FreesiaUPC" panose="020B0502040204020203" pitchFamily="34" charset="-34"/>
              </a:rPr>
              <a:t> (2011)</a:t>
            </a:r>
          </a:p>
        </p:txBody>
      </p:sp>
    </p:spTree>
    <p:extLst>
      <p:ext uri="{BB962C8B-B14F-4D97-AF65-F5344CB8AC3E}">
        <p14:creationId xmlns:p14="http://schemas.microsoft.com/office/powerpoint/2010/main" val="2243410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La medición del ingreso en Argentina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5642721" cy="923330"/>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La medición oficial del ingreso y sus distintos componentes resulta de la </a:t>
            </a:r>
            <a:r>
              <a:rPr lang="es-AR" b="1" dirty="0">
                <a:cs typeface="FreesiaUPC" panose="020B0502040204020203" pitchFamily="34" charset="-34"/>
              </a:rPr>
              <a:t>Encuesta Permanente de Hogares</a:t>
            </a:r>
            <a:r>
              <a:rPr lang="es-AR" dirty="0">
                <a:cs typeface="FreesiaUPC" panose="020B0502040204020203" pitchFamily="34" charset="-34"/>
              </a:rPr>
              <a:t>. </a:t>
            </a:r>
          </a:p>
        </p:txBody>
      </p:sp>
      <p:pic>
        <p:nvPicPr>
          <p:cNvPr id="9" name="Imagen 8">
            <a:extLst>
              <a:ext uri="{FF2B5EF4-FFF2-40B4-BE49-F238E27FC236}">
                <a16:creationId xmlns:a16="http://schemas.microsoft.com/office/drawing/2014/main" id="{77A119C3-51D5-ED58-7588-FD9DCD4F61B3}"/>
              </a:ext>
            </a:extLst>
          </p:cNvPr>
          <p:cNvPicPr>
            <a:picLocks noChangeAspect="1"/>
          </p:cNvPicPr>
          <p:nvPr/>
        </p:nvPicPr>
        <p:blipFill>
          <a:blip r:embed="rId3"/>
          <a:stretch>
            <a:fillRect/>
          </a:stretch>
        </p:blipFill>
        <p:spPr>
          <a:xfrm>
            <a:off x="5990624" y="1276634"/>
            <a:ext cx="2869531" cy="4119166"/>
          </a:xfrm>
          <a:prstGeom prst="rect">
            <a:avLst/>
          </a:prstGeom>
        </p:spPr>
      </p:pic>
      <p:graphicFrame>
        <p:nvGraphicFramePr>
          <p:cNvPr id="10" name="Tabla 9">
            <a:extLst>
              <a:ext uri="{FF2B5EF4-FFF2-40B4-BE49-F238E27FC236}">
                <a16:creationId xmlns:a16="http://schemas.microsoft.com/office/drawing/2014/main" id="{79E1F964-C6FB-A18E-B2A8-9DC990F62BD5}"/>
              </a:ext>
            </a:extLst>
          </p:cNvPr>
          <p:cNvGraphicFramePr>
            <a:graphicFrameLocks noGrp="1"/>
          </p:cNvGraphicFramePr>
          <p:nvPr>
            <p:extLst>
              <p:ext uri="{D42A27DB-BD31-4B8C-83A1-F6EECF244321}">
                <p14:modId xmlns:p14="http://schemas.microsoft.com/office/powerpoint/2010/main" val="1453719061"/>
              </p:ext>
            </p:extLst>
          </p:nvPr>
        </p:nvGraphicFramePr>
        <p:xfrm>
          <a:off x="612775" y="2287256"/>
          <a:ext cx="5159386" cy="2876349"/>
        </p:xfrm>
        <a:graphic>
          <a:graphicData uri="http://schemas.openxmlformats.org/drawingml/2006/table">
            <a:tbl>
              <a:tblPr>
                <a:tableStyleId>{5C22544A-7EE6-4342-B048-85BDC9FD1C3A}</a:tableStyleId>
              </a:tblPr>
              <a:tblGrid>
                <a:gridCol w="2735089">
                  <a:extLst>
                    <a:ext uri="{9D8B030D-6E8A-4147-A177-3AD203B41FA5}">
                      <a16:colId xmlns:a16="http://schemas.microsoft.com/office/drawing/2014/main" val="2861931761"/>
                    </a:ext>
                  </a:extLst>
                </a:gridCol>
                <a:gridCol w="2424297">
                  <a:extLst>
                    <a:ext uri="{9D8B030D-6E8A-4147-A177-3AD203B41FA5}">
                      <a16:colId xmlns:a16="http://schemas.microsoft.com/office/drawing/2014/main" val="610780945"/>
                    </a:ext>
                  </a:extLst>
                </a:gridCol>
              </a:tblGrid>
              <a:tr h="421924">
                <a:tc>
                  <a:txBody>
                    <a:bodyPr/>
                    <a:lstStyle/>
                    <a:p>
                      <a:pPr algn="ctr" fontAlgn="ctr"/>
                      <a:r>
                        <a:rPr lang="es-AR" sz="1100" u="none" strike="noStrike" dirty="0">
                          <a:effectLst/>
                        </a:rPr>
                        <a:t>Descripción</a:t>
                      </a:r>
                      <a:endParaRPr lang="es-AR"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AR" sz="1100" u="none" strike="noStrike">
                          <a:effectLst/>
                        </a:rPr>
                        <a:t>Variable EPH</a:t>
                      </a:r>
                      <a:endParaRPr lang="es-AR"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69398206"/>
                  </a:ext>
                </a:extLst>
              </a:tr>
              <a:tr h="210962">
                <a:tc>
                  <a:txBody>
                    <a:bodyPr/>
                    <a:lstStyle/>
                    <a:p>
                      <a:pPr algn="l" fontAlgn="b"/>
                      <a:r>
                        <a:rPr lang="es-AR" sz="1100" u="none" strike="noStrike" dirty="0">
                          <a:effectLst/>
                        </a:rPr>
                        <a:t>Ingreso del asalariado (inc. aguinaldo)</a:t>
                      </a:r>
                      <a:endParaRPr lang="es-AR"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AR" sz="1100" u="none" strike="noStrike" dirty="0">
                          <a:effectLst/>
                        </a:rPr>
                        <a:t>pp08d1 pp08f1 pp08f2 pp08j2 pp08j3 pp08j1</a:t>
                      </a:r>
                      <a:r>
                        <a:rPr lang="es-AR" sz="1100" b="0" i="0" u="none" strike="noStrike" dirty="0">
                          <a:solidFill>
                            <a:srgbClr val="000000"/>
                          </a:solidFill>
                          <a:effectLst/>
                          <a:latin typeface="Calibri" panose="020F0502020204030204" pitchFamily="34" charset="0"/>
                        </a:rPr>
                        <a:t> (aguinaldo)</a:t>
                      </a:r>
                    </a:p>
                  </a:txBody>
                  <a:tcPr marL="9525" marR="9525" marT="9525" marB="0" anchor="b"/>
                </a:tc>
                <a:extLst>
                  <a:ext uri="{0D108BD9-81ED-4DB2-BD59-A6C34878D82A}">
                    <a16:rowId xmlns:a16="http://schemas.microsoft.com/office/drawing/2014/main" val="545834850"/>
                  </a:ext>
                </a:extLst>
              </a:tr>
              <a:tr h="210962">
                <a:tc>
                  <a:txBody>
                    <a:bodyPr/>
                    <a:lstStyle/>
                    <a:p>
                      <a:pPr algn="l" fontAlgn="b"/>
                      <a:r>
                        <a:rPr lang="es-AR" sz="1100" u="none" strike="noStrike" dirty="0">
                          <a:effectLst/>
                        </a:rPr>
                        <a:t>Ingreso del no asalariado</a:t>
                      </a:r>
                      <a:endParaRPr lang="es-AR"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pp06c pp06d</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13834739"/>
                  </a:ext>
                </a:extLst>
              </a:tr>
              <a:tr h="210962">
                <a:tc>
                  <a:txBody>
                    <a:bodyPr/>
                    <a:lstStyle/>
                    <a:p>
                      <a:pPr algn="l" fontAlgn="b"/>
                      <a:r>
                        <a:rPr lang="es-AR" sz="1100" u="none" strike="noStrike" dirty="0">
                          <a:effectLst/>
                        </a:rPr>
                        <a:t>Jubilaciones y pensiones</a:t>
                      </a:r>
                      <a:endParaRPr lang="es-AR"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v2_m v21_m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11301421"/>
                  </a:ext>
                </a:extLst>
              </a:tr>
              <a:tr h="210962">
                <a:tc>
                  <a:txBody>
                    <a:bodyPr/>
                    <a:lstStyle/>
                    <a:p>
                      <a:pPr algn="l" fontAlgn="b"/>
                      <a:r>
                        <a:rPr lang="es-AR" sz="1100" b="0" i="0" u="none" strike="noStrike" dirty="0">
                          <a:solidFill>
                            <a:srgbClr val="000000"/>
                          </a:solidFill>
                          <a:effectLst/>
                          <a:latin typeface="Calibri" panose="020F0502020204030204" pitchFamily="34" charset="0"/>
                        </a:rPr>
                        <a:t>Indemnización por despido</a:t>
                      </a:r>
                    </a:p>
                  </a:txBody>
                  <a:tcPr marL="9525" marR="9525" marT="9525" marB="0" anchor="b"/>
                </a:tc>
                <a:tc>
                  <a:txBody>
                    <a:bodyPr/>
                    <a:lstStyle/>
                    <a:p>
                      <a:pPr algn="l" fontAlgn="b"/>
                      <a:r>
                        <a:rPr lang="es-AR" sz="1100" b="0" i="0" u="none" strike="noStrike" dirty="0">
                          <a:solidFill>
                            <a:srgbClr val="000000"/>
                          </a:solidFill>
                          <a:effectLst/>
                          <a:latin typeface="Calibri" panose="020F0502020204030204" pitchFamily="34" charset="0"/>
                        </a:rPr>
                        <a:t>v3_m</a:t>
                      </a:r>
                    </a:p>
                  </a:txBody>
                  <a:tcPr marL="9525" marR="9525" marT="9525" marB="0" anchor="b"/>
                </a:tc>
                <a:extLst>
                  <a:ext uri="{0D108BD9-81ED-4DB2-BD59-A6C34878D82A}">
                    <a16:rowId xmlns:a16="http://schemas.microsoft.com/office/drawing/2014/main" val="3190279576"/>
                  </a:ext>
                </a:extLst>
              </a:tr>
              <a:tr h="210962">
                <a:tc>
                  <a:txBody>
                    <a:bodyPr/>
                    <a:lstStyle/>
                    <a:p>
                      <a:pPr algn="l" fontAlgn="b"/>
                      <a:r>
                        <a:rPr lang="es-AR" sz="1100" u="none" strike="noStrike" dirty="0">
                          <a:effectLst/>
                        </a:rPr>
                        <a:t>Seguro de desempleo</a:t>
                      </a:r>
                      <a:endParaRPr lang="es-AR"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v4_m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54305481"/>
                  </a:ext>
                </a:extLst>
              </a:tr>
              <a:tr h="210962">
                <a:tc>
                  <a:txBody>
                    <a:bodyPr/>
                    <a:lstStyle/>
                    <a:p>
                      <a:pPr algn="l" fontAlgn="b"/>
                      <a:r>
                        <a:rPr lang="es-AR" sz="1100" u="none" strike="noStrike">
                          <a:effectLst/>
                        </a:rPr>
                        <a:t>Asistencia social</a:t>
                      </a:r>
                      <a:endParaRPr lang="es-AR"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v5_m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07931354"/>
                  </a:ext>
                </a:extLst>
              </a:tr>
              <a:tr h="210962">
                <a:tc>
                  <a:txBody>
                    <a:bodyPr/>
                    <a:lstStyle/>
                    <a:p>
                      <a:pPr algn="l" fontAlgn="b"/>
                      <a:r>
                        <a:rPr lang="es-AR" sz="1100" u="none" strike="noStrike">
                          <a:effectLst/>
                        </a:rPr>
                        <a:t>Ingresos por alquiler</a:t>
                      </a:r>
                      <a:endParaRPr lang="es-AR"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v8_m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54180258"/>
                  </a:ext>
                </a:extLst>
              </a:tr>
              <a:tr h="210962">
                <a:tc>
                  <a:txBody>
                    <a:bodyPr/>
                    <a:lstStyle/>
                    <a:p>
                      <a:pPr algn="l" fontAlgn="b"/>
                      <a:r>
                        <a:rPr lang="es-AR" sz="1100" u="none" strike="noStrike">
                          <a:effectLst/>
                        </a:rPr>
                        <a:t>Intereses y dividendos</a:t>
                      </a:r>
                      <a:endParaRPr lang="es-AR"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v9_m v10_m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94279668"/>
                  </a:ext>
                </a:extLst>
              </a:tr>
              <a:tr h="210962">
                <a:tc>
                  <a:txBody>
                    <a:bodyPr/>
                    <a:lstStyle/>
                    <a:p>
                      <a:pPr algn="l" fontAlgn="b"/>
                      <a:r>
                        <a:rPr lang="es-AR" sz="1100" u="none" strike="noStrike" dirty="0">
                          <a:effectLst/>
                        </a:rPr>
                        <a:t>Ingresos provenientes de otros hogares</a:t>
                      </a:r>
                      <a:endParaRPr lang="es-AR"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v12_m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7945615"/>
                  </a:ext>
                </a:extLst>
              </a:tr>
              <a:tr h="210962">
                <a:tc>
                  <a:txBody>
                    <a:bodyPr/>
                    <a:lstStyle/>
                    <a:p>
                      <a:pPr algn="l" fontAlgn="b"/>
                      <a:r>
                        <a:rPr lang="es-AR" sz="1100" b="0" i="0" u="none" strike="noStrike" dirty="0">
                          <a:solidFill>
                            <a:srgbClr val="000000"/>
                          </a:solidFill>
                          <a:effectLst/>
                          <a:latin typeface="Calibri" panose="020F0502020204030204" pitchFamily="34" charset="0"/>
                        </a:rPr>
                        <a:t>Ingresos por premios, juegos de azar</a:t>
                      </a:r>
                    </a:p>
                  </a:txBody>
                  <a:tcPr marL="9525" marR="9525" marT="9525" marB="0" anchor="b"/>
                </a:tc>
                <a:tc>
                  <a:txBody>
                    <a:bodyPr/>
                    <a:lstStyle/>
                    <a:p>
                      <a:pPr algn="l" fontAlgn="b"/>
                      <a:r>
                        <a:rPr lang="es-AR" sz="1100" u="none" strike="noStrike" dirty="0">
                          <a:effectLst/>
                        </a:rPr>
                        <a:t>v18_m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79093128"/>
                  </a:ext>
                </a:extLst>
              </a:tr>
              <a:tr h="210962">
                <a:tc>
                  <a:txBody>
                    <a:bodyPr/>
                    <a:lstStyle/>
                    <a:p>
                      <a:pPr algn="l" fontAlgn="b"/>
                      <a:r>
                        <a:rPr lang="es-AR" sz="1100" u="none" strike="noStrike">
                          <a:effectLst/>
                        </a:rPr>
                        <a:t>Ingresos de menores</a:t>
                      </a:r>
                      <a:endParaRPr lang="es-AR"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AR" sz="1100" u="none" strike="noStrike" dirty="0">
                          <a:effectLst/>
                        </a:rPr>
                        <a:t>v19_am</a:t>
                      </a:r>
                      <a:endParaRPr lang="es-A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24183865"/>
                  </a:ext>
                </a:extLst>
              </a:tr>
            </a:tbl>
          </a:graphicData>
        </a:graphic>
      </p:graphicFrame>
    </p:spTree>
    <p:extLst>
      <p:ext uri="{BB962C8B-B14F-4D97-AF65-F5344CB8AC3E}">
        <p14:creationId xmlns:p14="http://schemas.microsoft.com/office/powerpoint/2010/main" val="1440070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Problemas de medición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4247317"/>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En la medición de ingresos nos enfrentamos a </a:t>
            </a:r>
            <a:r>
              <a:rPr lang="es-AR" b="1" dirty="0">
                <a:cs typeface="FreesiaUPC" panose="020B0502040204020203" pitchFamily="34" charset="-34"/>
              </a:rPr>
              <a:t>tres problemas principales:</a:t>
            </a:r>
            <a:endParaRPr lang="es-AR" dirty="0">
              <a:cs typeface="FreesiaUPC" panose="020B0502040204020203" pitchFamily="34" charset="-34"/>
            </a:endParaRPr>
          </a:p>
          <a:p>
            <a:pPr marL="285750" indent="-285750" algn="just">
              <a:buFont typeface="Wingdings" panose="05000000000000000000" pitchFamily="2" charset="2"/>
              <a:buChar char="§"/>
            </a:pPr>
            <a:endParaRPr lang="es-AR" dirty="0">
              <a:cs typeface="FreesiaUPC" panose="020B0502040204020203" pitchFamily="34" charset="-34"/>
            </a:endParaRPr>
          </a:p>
          <a:p>
            <a:pPr marL="742950" lvl="1" indent="-285750" algn="just">
              <a:buFont typeface="Wingdings" panose="05000000000000000000" pitchFamily="2" charset="2"/>
              <a:buChar char="§"/>
            </a:pPr>
            <a:r>
              <a:rPr lang="es-AR" b="1" i="1" dirty="0">
                <a:cs typeface="FreesiaUPC" panose="020B0502040204020203" pitchFamily="34" charset="-34"/>
              </a:rPr>
              <a:t>Problemas asociados al truncamiento muestral</a:t>
            </a:r>
            <a:r>
              <a:rPr lang="es-AR" dirty="0">
                <a:cs typeface="FreesiaUPC" panose="020B0502040204020203" pitchFamily="34" charset="-34"/>
              </a:rPr>
              <a:t>: la dificultad para captar a las personas más ricas a través de procedimientos estándar de muestreo. Por mera probabilidad, es difícil que esas personas integren nuestra muestra.</a:t>
            </a:r>
          </a:p>
          <a:p>
            <a:pPr marL="742950" lvl="1" indent="-285750" algn="just">
              <a:buFont typeface="Wingdings" panose="05000000000000000000" pitchFamily="2" charset="2"/>
              <a:buChar char="§"/>
            </a:pPr>
            <a:endParaRPr lang="es-AR" b="1" i="1" dirty="0">
              <a:cs typeface="FreesiaUPC" panose="020B0502040204020203" pitchFamily="34" charset="-34"/>
            </a:endParaRPr>
          </a:p>
          <a:p>
            <a:pPr marL="742950" lvl="1" indent="-285750" algn="just">
              <a:buFont typeface="Wingdings" panose="05000000000000000000" pitchFamily="2" charset="2"/>
              <a:buChar char="§"/>
            </a:pPr>
            <a:r>
              <a:rPr lang="es-AR" b="1" i="1" dirty="0">
                <a:cs typeface="FreesiaUPC" panose="020B0502040204020203" pitchFamily="34" charset="-34"/>
              </a:rPr>
              <a:t>Problemas asociados a la no declaración: </a:t>
            </a:r>
            <a:r>
              <a:rPr lang="es-AR" dirty="0">
                <a:cs typeface="FreesiaUPC" panose="020B0502040204020203" pitchFamily="34" charset="-34"/>
              </a:rPr>
              <a:t>un problema muy relevante, que afecta a las encuestas de ingreso, es la no declaración de ingresos. Esto debe resolverse de algún modo, en general usando técnicas de imputación.</a:t>
            </a:r>
          </a:p>
          <a:p>
            <a:pPr marL="742950" lvl="1" indent="-285750" algn="just">
              <a:buFont typeface="Wingdings" panose="05000000000000000000" pitchFamily="2" charset="2"/>
              <a:buChar char="§"/>
            </a:pPr>
            <a:endParaRPr lang="es-AR" b="1" i="1" dirty="0">
              <a:cs typeface="FreesiaUPC" panose="020B0502040204020203" pitchFamily="34" charset="-34"/>
            </a:endParaRPr>
          </a:p>
          <a:p>
            <a:pPr marL="742950" lvl="1" indent="-285750" algn="just">
              <a:buFont typeface="Wingdings" panose="05000000000000000000" pitchFamily="2" charset="2"/>
              <a:buChar char="§"/>
            </a:pPr>
            <a:r>
              <a:rPr lang="es-AR" b="1" i="1" dirty="0">
                <a:cs typeface="FreesiaUPC" panose="020B0502040204020203" pitchFamily="34" charset="-34"/>
              </a:rPr>
              <a:t>Problemas de </a:t>
            </a:r>
            <a:r>
              <a:rPr lang="es-AR" b="1" i="1" dirty="0" err="1">
                <a:cs typeface="FreesiaUPC" panose="020B0502040204020203" pitchFamily="34" charset="-34"/>
              </a:rPr>
              <a:t>subdeclaración</a:t>
            </a:r>
            <a:r>
              <a:rPr lang="es-AR" b="1" i="1" dirty="0">
                <a:cs typeface="FreesiaUPC" panose="020B0502040204020203" pitchFamily="34" charset="-34"/>
              </a:rPr>
              <a:t>: </a:t>
            </a:r>
            <a:r>
              <a:rPr lang="es-AR" dirty="0">
                <a:cs typeface="FreesiaUPC" panose="020B0502040204020203" pitchFamily="34" charset="-34"/>
              </a:rPr>
              <a:t>este problema es más complejo que el anterior en términos de su posible solución. Las personas pueden preferir declarar un ingreso más bajo que el que efectivamente perciben. Sólo se puede tener evidencia al respecto mediante triangulación de fuentes.</a:t>
            </a:r>
            <a:endParaRPr lang="es-AR" b="1" i="1" dirty="0">
              <a:cs typeface="FreesiaUPC" panose="020B0502040204020203" pitchFamily="34" charset="-34"/>
            </a:endParaRPr>
          </a:p>
          <a:p>
            <a:pPr marL="285750" indent="-285750" algn="just">
              <a:buFont typeface="Wingdings" panose="05000000000000000000" pitchFamily="2" charset="2"/>
              <a:buChar char="§"/>
            </a:pPr>
            <a:endParaRPr lang="es-AR" dirty="0">
              <a:cs typeface="FreesiaUPC" panose="020B0502040204020203" pitchFamily="34" charset="-34"/>
            </a:endParaRPr>
          </a:p>
        </p:txBody>
      </p:sp>
    </p:spTree>
    <p:extLst>
      <p:ext uri="{BB962C8B-B14F-4D97-AF65-F5344CB8AC3E}">
        <p14:creationId xmlns:p14="http://schemas.microsoft.com/office/powerpoint/2010/main" val="409674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fade">
                                      <p:cBhvr>
                                        <p:cTn id="10" dur="500"/>
                                        <p:tgtEl>
                                          <p:spTgt spid="12">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animEffect transition="in" filter="fade">
                                      <p:cBhvr>
                                        <p:cTn id="13" dur="500"/>
                                        <p:tgtEl>
                                          <p:spTgt spid="12">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6" end="6"/>
                                            </p:txEl>
                                          </p:spTgt>
                                        </p:tgtEl>
                                        <p:attrNameLst>
                                          <p:attrName>style.visibility</p:attrName>
                                        </p:attrNameLst>
                                      </p:cBhvr>
                                      <p:to>
                                        <p:strVal val="visible"/>
                                      </p:to>
                                    </p:set>
                                    <p:animEffect transition="in" filter="fade">
                                      <p:cBhvr>
                                        <p:cTn id="16"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2308324"/>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latin typeface="+mj-lt"/>
              </a:rPr>
              <a:t>Vamos a ver tres formas de analizar la desigualdad en la distribución del ingreso:</a:t>
            </a:r>
          </a:p>
          <a:p>
            <a:pPr marL="285750" indent="-285750" algn="just">
              <a:buFont typeface="Wingdings" panose="05000000000000000000" pitchFamily="2" charset="2"/>
              <a:buChar char="§"/>
            </a:pPr>
            <a:endParaRPr lang="es-AR" dirty="0">
              <a:latin typeface="+mj-lt"/>
            </a:endParaRPr>
          </a:p>
          <a:p>
            <a:pPr marL="742950" lvl="1" indent="-285750" algn="just">
              <a:buFont typeface="Wingdings" panose="05000000000000000000" pitchFamily="2" charset="2"/>
              <a:buChar char="§"/>
            </a:pPr>
            <a:r>
              <a:rPr lang="es-AR" b="1" i="1" dirty="0">
                <a:solidFill>
                  <a:schemeClr val="accent4"/>
                </a:solidFill>
                <a:latin typeface="+mj-lt"/>
              </a:rPr>
              <a:t>Aproximación estadística básica: </a:t>
            </a:r>
            <a:r>
              <a:rPr lang="es-AR" dirty="0">
                <a:latin typeface="+mj-lt"/>
              </a:rPr>
              <a:t>medidas de tendencia central, medidas de posición y coeficiente de variabilidad.</a:t>
            </a:r>
          </a:p>
          <a:p>
            <a:pPr marL="742950" lvl="1" indent="-285750" algn="just">
              <a:buFont typeface="Wingdings" panose="05000000000000000000" pitchFamily="2" charset="2"/>
              <a:buChar char="§"/>
            </a:pPr>
            <a:endParaRPr lang="es-AR" dirty="0">
              <a:latin typeface="+mj-lt"/>
            </a:endParaRPr>
          </a:p>
          <a:p>
            <a:pPr marL="742950" lvl="1" indent="-285750" algn="just">
              <a:buFont typeface="Wingdings" panose="05000000000000000000" pitchFamily="2" charset="2"/>
              <a:buChar char="§"/>
            </a:pPr>
            <a:r>
              <a:rPr lang="es-AR" b="1" i="1" dirty="0">
                <a:solidFill>
                  <a:schemeClr val="accent4"/>
                </a:solidFill>
                <a:latin typeface="+mj-lt"/>
              </a:rPr>
              <a:t>Aproximación gráfica a la distribución: </a:t>
            </a:r>
            <a:r>
              <a:rPr lang="es-AR" dirty="0">
                <a:latin typeface="+mj-lt"/>
              </a:rPr>
              <a:t>histogramas y función de densidad.</a:t>
            </a:r>
          </a:p>
          <a:p>
            <a:pPr marL="742950" lvl="1" indent="-285750" algn="just">
              <a:buFont typeface="Wingdings" panose="05000000000000000000" pitchFamily="2" charset="2"/>
              <a:buChar char="§"/>
            </a:pPr>
            <a:endParaRPr lang="es-AR" dirty="0">
              <a:latin typeface="+mj-lt"/>
            </a:endParaRPr>
          </a:p>
          <a:p>
            <a:pPr marL="742950" lvl="1" indent="-285750" algn="just">
              <a:buFont typeface="Wingdings" panose="05000000000000000000" pitchFamily="2" charset="2"/>
              <a:buChar char="§"/>
            </a:pPr>
            <a:r>
              <a:rPr lang="es-AR" b="1" i="1" dirty="0">
                <a:solidFill>
                  <a:schemeClr val="accent4"/>
                </a:solidFill>
                <a:latin typeface="+mj-lt"/>
              </a:rPr>
              <a:t>Indicadores sintéticos: </a:t>
            </a:r>
            <a:r>
              <a:rPr lang="es-AR" dirty="0">
                <a:latin typeface="+mj-lt"/>
              </a:rPr>
              <a:t>el coeficiente de Gini. </a:t>
            </a:r>
          </a:p>
        </p:txBody>
      </p:sp>
    </p:spTree>
    <p:extLst>
      <p:ext uri="{BB962C8B-B14F-4D97-AF65-F5344CB8AC3E}">
        <p14:creationId xmlns:p14="http://schemas.microsoft.com/office/powerpoint/2010/main" val="238096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fade">
                                      <p:cBhvr>
                                        <p:cTn id="10" dur="500"/>
                                        <p:tgtEl>
                                          <p:spTgt spid="12">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animEffect transition="in" filter="fade">
                                      <p:cBhvr>
                                        <p:cTn id="13" dur="500"/>
                                        <p:tgtEl>
                                          <p:spTgt spid="12">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6" end="6"/>
                                            </p:txEl>
                                          </p:spTgt>
                                        </p:tgtEl>
                                        <p:attrNameLst>
                                          <p:attrName>style.visibility</p:attrName>
                                        </p:attrNameLst>
                                      </p:cBhvr>
                                      <p:to>
                                        <p:strVal val="visible"/>
                                      </p:to>
                                    </p:set>
                                    <p:animEffect transition="in" filter="fade">
                                      <p:cBhvr>
                                        <p:cTn id="16"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1C7B36A0-4E7A-479D-405F-248649711207}"/>
              </a:ext>
            </a:extLst>
          </p:cNvPr>
          <p:cNvPicPr>
            <a:picLocks noChangeAspect="1"/>
          </p:cNvPicPr>
          <p:nvPr/>
        </p:nvPicPr>
        <p:blipFill>
          <a:blip r:embed="rId3"/>
          <a:stretch>
            <a:fillRect/>
          </a:stretch>
        </p:blipFill>
        <p:spPr>
          <a:xfrm>
            <a:off x="1460656" y="1838387"/>
            <a:ext cx="6210300" cy="3286125"/>
          </a:xfrm>
          <a:prstGeom prst="rect">
            <a:avLst/>
          </a:prstGeom>
        </p:spPr>
      </p:pic>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646331"/>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Medidas de tendencia central: </a:t>
            </a:r>
            <a:r>
              <a:rPr lang="es-AR" b="1" i="1" dirty="0">
                <a:solidFill>
                  <a:schemeClr val="accent4"/>
                </a:solidFill>
                <a:cs typeface="FreesiaUPC" panose="020B0502040204020203" pitchFamily="34" charset="-34"/>
              </a:rPr>
              <a:t>media</a:t>
            </a:r>
            <a:r>
              <a:rPr lang="es-AR" dirty="0">
                <a:cs typeface="FreesiaUPC" panose="020B0502040204020203" pitchFamily="34" charset="-34"/>
              </a:rPr>
              <a:t> y </a:t>
            </a:r>
            <a:r>
              <a:rPr lang="es-AR" b="1" i="1" dirty="0">
                <a:solidFill>
                  <a:schemeClr val="accent4"/>
                </a:solidFill>
                <a:cs typeface="FreesiaUPC" panose="020B0502040204020203" pitchFamily="34" charset="-34"/>
              </a:rPr>
              <a:t>mediana</a:t>
            </a:r>
            <a:r>
              <a:rPr lang="es-AR" dirty="0">
                <a:cs typeface="FreesiaUPC" panose="020B0502040204020203" pitchFamily="34" charset="-34"/>
              </a:rPr>
              <a:t> de la distribución</a:t>
            </a:r>
          </a:p>
          <a:p>
            <a:pPr algn="just"/>
            <a:endParaRPr lang="es-AR" dirty="0">
              <a:cs typeface="FreesiaUPC" panose="020B0502040204020203" pitchFamily="34" charset="-34"/>
            </a:endParaRPr>
          </a:p>
        </p:txBody>
      </p:sp>
      <p:sp>
        <p:nvSpPr>
          <p:cNvPr id="8" name="Elipse 7">
            <a:extLst>
              <a:ext uri="{FF2B5EF4-FFF2-40B4-BE49-F238E27FC236}">
                <a16:creationId xmlns:a16="http://schemas.microsoft.com/office/drawing/2014/main" id="{13701CB6-1742-FE51-5B28-CBCE0F349648}"/>
              </a:ext>
            </a:extLst>
          </p:cNvPr>
          <p:cNvSpPr/>
          <p:nvPr/>
        </p:nvSpPr>
        <p:spPr>
          <a:xfrm>
            <a:off x="5652120" y="4437112"/>
            <a:ext cx="576064" cy="28803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Elipse 8">
            <a:extLst>
              <a:ext uri="{FF2B5EF4-FFF2-40B4-BE49-F238E27FC236}">
                <a16:creationId xmlns:a16="http://schemas.microsoft.com/office/drawing/2014/main" id="{D0241C4B-B3FE-F87A-4BE6-9351937EDA2D}"/>
              </a:ext>
            </a:extLst>
          </p:cNvPr>
          <p:cNvSpPr/>
          <p:nvPr/>
        </p:nvSpPr>
        <p:spPr>
          <a:xfrm>
            <a:off x="6876256" y="4437856"/>
            <a:ext cx="576064" cy="28803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3793786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369332"/>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latin typeface="+mj-lt"/>
              </a:rPr>
              <a:t>Medidas de </a:t>
            </a:r>
            <a:r>
              <a:rPr lang="es-AR" b="1" i="1" dirty="0">
                <a:solidFill>
                  <a:schemeClr val="accent4"/>
                </a:solidFill>
                <a:latin typeface="+mj-lt"/>
              </a:rPr>
              <a:t>dispersión </a:t>
            </a:r>
            <a:r>
              <a:rPr lang="es-AR" dirty="0"/>
              <a:t>de la distribución:</a:t>
            </a:r>
            <a:r>
              <a:rPr lang="es-AR" b="1" i="1" dirty="0">
                <a:solidFill>
                  <a:schemeClr val="accent4"/>
                </a:solidFill>
                <a:latin typeface="+mj-lt"/>
              </a:rPr>
              <a:t> </a:t>
            </a:r>
            <a:endParaRPr lang="es-AR" dirty="0">
              <a:solidFill>
                <a:schemeClr val="accent4"/>
              </a:solidFill>
              <a:latin typeface="+mj-lt"/>
            </a:endParaRPr>
          </a:p>
        </p:txBody>
      </p:sp>
      <p:sp>
        <p:nvSpPr>
          <p:cNvPr id="2" name="7 CuadroTexto">
            <a:extLst>
              <a:ext uri="{FF2B5EF4-FFF2-40B4-BE49-F238E27FC236}">
                <a16:creationId xmlns:a16="http://schemas.microsoft.com/office/drawing/2014/main" id="{711E9A88-51DC-3D0E-D368-A426372D7638}"/>
              </a:ext>
            </a:extLst>
          </p:cNvPr>
          <p:cNvSpPr txBox="1">
            <a:spLocks noChangeArrowheads="1"/>
          </p:cNvSpPr>
          <p:nvPr/>
        </p:nvSpPr>
        <p:spPr bwMode="auto">
          <a:xfrm>
            <a:off x="486757" y="1855173"/>
            <a:ext cx="80724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sz="1600" dirty="0">
                <a:latin typeface="Calibri" panose="020F0502020204030204" pitchFamily="34" charset="0"/>
                <a:ea typeface="Cambria" panose="02040503050406030204" pitchFamily="18" charset="0"/>
                <a:cs typeface="Calibri" panose="020F0502020204030204" pitchFamily="34" charset="0"/>
              </a:rPr>
              <a:t>El uso de una medida de tendencia central nos da una imagen incompleta de la distribución de una variable. </a:t>
            </a:r>
          </a:p>
        </p:txBody>
      </p:sp>
      <p:pic>
        <p:nvPicPr>
          <p:cNvPr id="5" name="Imagen 4">
            <a:extLst>
              <a:ext uri="{FF2B5EF4-FFF2-40B4-BE49-F238E27FC236}">
                <a16:creationId xmlns:a16="http://schemas.microsoft.com/office/drawing/2014/main" id="{1A3C3668-D175-7A73-5879-FD0842C16D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988" y="2713143"/>
            <a:ext cx="5568185" cy="3160748"/>
          </a:xfrm>
          <a:prstGeom prst="rect">
            <a:avLst/>
          </a:prstGeom>
        </p:spPr>
      </p:pic>
      <p:sp>
        <p:nvSpPr>
          <p:cNvPr id="8" name="7 CuadroTexto">
            <a:extLst>
              <a:ext uri="{FF2B5EF4-FFF2-40B4-BE49-F238E27FC236}">
                <a16:creationId xmlns:a16="http://schemas.microsoft.com/office/drawing/2014/main" id="{6AE56604-3232-F493-B5AA-F3F496C5E60E}"/>
              </a:ext>
            </a:extLst>
          </p:cNvPr>
          <p:cNvSpPr txBox="1">
            <a:spLocks noChangeArrowheads="1"/>
          </p:cNvSpPr>
          <p:nvPr/>
        </p:nvSpPr>
        <p:spPr bwMode="auto">
          <a:xfrm>
            <a:off x="6070173" y="2869114"/>
            <a:ext cx="252028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Wingdings" panose="05000000000000000000" pitchFamily="2" charset="2"/>
              <a:buChar char="ü"/>
            </a:pPr>
            <a:r>
              <a:rPr lang="es-AR" altLang="es-AR" sz="1600" dirty="0">
                <a:latin typeface="Calibri" panose="020F0502020204030204" pitchFamily="34" charset="0"/>
                <a:ea typeface="Cambria" panose="02040503050406030204" pitchFamily="18" charset="0"/>
                <a:cs typeface="Calibri" panose="020F0502020204030204" pitchFamily="34" charset="0"/>
              </a:rPr>
              <a:t>En ambos casos, la </a:t>
            </a:r>
            <a:r>
              <a:rPr lang="es-AR" altLang="es-AR" sz="1600" b="1" dirty="0">
                <a:latin typeface="Calibri" panose="020F0502020204030204" pitchFamily="34" charset="0"/>
                <a:ea typeface="Cambria" panose="02040503050406030204" pitchFamily="18" charset="0"/>
                <a:cs typeface="Calibri" panose="020F0502020204030204" pitchFamily="34" charset="0"/>
              </a:rPr>
              <a:t>media es la misma: 5,5 puntos</a:t>
            </a:r>
            <a:r>
              <a:rPr lang="es-AR" altLang="es-AR" sz="1600" dirty="0">
                <a:latin typeface="Calibri" panose="020F0502020204030204" pitchFamily="34" charset="0"/>
                <a:ea typeface="Cambria" panose="02040503050406030204" pitchFamily="18" charset="0"/>
                <a:cs typeface="Calibri" panose="020F0502020204030204" pitchFamily="34" charset="0"/>
              </a:rPr>
              <a:t>… ¿pero diríamos que las distribuciones son iguales?</a:t>
            </a:r>
          </a:p>
        </p:txBody>
      </p:sp>
      <p:sp>
        <p:nvSpPr>
          <p:cNvPr id="10" name="7 CuadroTexto">
            <a:extLst>
              <a:ext uri="{FF2B5EF4-FFF2-40B4-BE49-F238E27FC236}">
                <a16:creationId xmlns:a16="http://schemas.microsoft.com/office/drawing/2014/main" id="{D7E0E988-C626-F91E-50DE-19A1FA1A693C}"/>
              </a:ext>
            </a:extLst>
          </p:cNvPr>
          <p:cNvSpPr txBox="1">
            <a:spLocks noChangeArrowheads="1"/>
          </p:cNvSpPr>
          <p:nvPr/>
        </p:nvSpPr>
        <p:spPr bwMode="auto">
          <a:xfrm>
            <a:off x="6062420" y="4348524"/>
            <a:ext cx="252028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Wingdings" panose="05000000000000000000" pitchFamily="2" charset="2"/>
              <a:buChar char="ü"/>
            </a:pPr>
            <a:r>
              <a:rPr lang="es-AR" altLang="es-AR" sz="1600" dirty="0">
                <a:latin typeface="Calibri" panose="020F0502020204030204" pitchFamily="34" charset="0"/>
                <a:ea typeface="Cambria" panose="02040503050406030204" pitchFamily="18" charset="0"/>
                <a:cs typeface="Calibri" panose="020F0502020204030204" pitchFamily="34" charset="0"/>
              </a:rPr>
              <a:t>Para ello apelamos a las </a:t>
            </a:r>
            <a:r>
              <a:rPr lang="es-AR" altLang="es-AR" sz="1600" b="1" dirty="0">
                <a:latin typeface="Calibri" panose="020F0502020204030204" pitchFamily="34" charset="0"/>
                <a:ea typeface="Cambria" panose="02040503050406030204" pitchFamily="18" charset="0"/>
                <a:cs typeface="Calibri" panose="020F0502020204030204" pitchFamily="34" charset="0"/>
              </a:rPr>
              <a:t>medidas de dispersión: en particular, a la desviación estándar.</a:t>
            </a:r>
          </a:p>
        </p:txBody>
      </p:sp>
    </p:spTree>
    <p:extLst>
      <p:ext uri="{BB962C8B-B14F-4D97-AF65-F5344CB8AC3E}">
        <p14:creationId xmlns:p14="http://schemas.microsoft.com/office/powerpoint/2010/main" val="40792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9B0555F2-BB6B-4661-202C-0C2C2E4CB412}"/>
              </a:ext>
            </a:extLst>
          </p:cNvPr>
          <p:cNvPicPr>
            <a:picLocks noChangeAspect="1"/>
          </p:cNvPicPr>
          <p:nvPr/>
        </p:nvPicPr>
        <p:blipFill>
          <a:blip r:embed="rId3"/>
          <a:stretch>
            <a:fillRect/>
          </a:stretch>
        </p:blipFill>
        <p:spPr>
          <a:xfrm>
            <a:off x="827088" y="4217887"/>
            <a:ext cx="2181225" cy="1790700"/>
          </a:xfrm>
          <a:prstGeom prst="rect">
            <a:avLst/>
          </a:prstGeom>
        </p:spPr>
      </p:pic>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369332"/>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latin typeface="+mj-lt"/>
              </a:rPr>
              <a:t>Medidas de </a:t>
            </a:r>
            <a:r>
              <a:rPr lang="es-AR" b="1" i="1" dirty="0">
                <a:solidFill>
                  <a:schemeClr val="accent4"/>
                </a:solidFill>
                <a:latin typeface="+mj-lt"/>
              </a:rPr>
              <a:t>dispersión </a:t>
            </a:r>
            <a:r>
              <a:rPr lang="es-AR" dirty="0"/>
              <a:t>de la distribución:</a:t>
            </a:r>
            <a:r>
              <a:rPr lang="es-AR" b="1" i="1" dirty="0">
                <a:solidFill>
                  <a:schemeClr val="accent4"/>
                </a:solidFill>
                <a:latin typeface="+mj-lt"/>
              </a:rPr>
              <a:t> </a:t>
            </a:r>
            <a:endParaRPr lang="es-AR" dirty="0">
              <a:solidFill>
                <a:schemeClr val="accent4"/>
              </a:solidFill>
              <a:latin typeface="+mj-lt"/>
            </a:endParaRPr>
          </a:p>
        </p:txBody>
      </p:sp>
      <p:pic>
        <p:nvPicPr>
          <p:cNvPr id="16" name="Imagen 15">
            <a:extLst>
              <a:ext uri="{FF2B5EF4-FFF2-40B4-BE49-F238E27FC236}">
                <a16:creationId xmlns:a16="http://schemas.microsoft.com/office/drawing/2014/main" id="{9B9CD6C2-1B9F-4D79-EB1A-834516E20A81}"/>
              </a:ext>
            </a:extLst>
          </p:cNvPr>
          <p:cNvPicPr>
            <a:picLocks noChangeAspect="1"/>
          </p:cNvPicPr>
          <p:nvPr/>
        </p:nvPicPr>
        <p:blipFill>
          <a:blip r:embed="rId4"/>
          <a:stretch>
            <a:fillRect/>
          </a:stretch>
        </p:blipFill>
        <p:spPr>
          <a:xfrm>
            <a:off x="801345" y="1881283"/>
            <a:ext cx="2943225" cy="1752600"/>
          </a:xfrm>
          <a:prstGeom prst="rect">
            <a:avLst/>
          </a:prstGeom>
        </p:spPr>
      </p:pic>
      <p:sp>
        <p:nvSpPr>
          <p:cNvPr id="17" name="Elipse 16">
            <a:extLst>
              <a:ext uri="{FF2B5EF4-FFF2-40B4-BE49-F238E27FC236}">
                <a16:creationId xmlns:a16="http://schemas.microsoft.com/office/drawing/2014/main" id="{CC72D4A5-75D6-16C6-B410-4DB1261333DA}"/>
              </a:ext>
            </a:extLst>
          </p:cNvPr>
          <p:cNvSpPr/>
          <p:nvPr/>
        </p:nvSpPr>
        <p:spPr>
          <a:xfrm>
            <a:off x="1907704" y="3372327"/>
            <a:ext cx="936104" cy="28803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1" name="CuadroTexto 20">
            <a:extLst>
              <a:ext uri="{FF2B5EF4-FFF2-40B4-BE49-F238E27FC236}">
                <a16:creationId xmlns:a16="http://schemas.microsoft.com/office/drawing/2014/main" id="{9653EE96-A066-F016-3FB0-47973009FCA2}"/>
              </a:ext>
            </a:extLst>
          </p:cNvPr>
          <p:cNvSpPr txBox="1"/>
          <p:nvPr/>
        </p:nvSpPr>
        <p:spPr>
          <a:xfrm>
            <a:off x="3950167" y="2433554"/>
            <a:ext cx="3142113" cy="1169551"/>
          </a:xfrm>
          <a:prstGeom prst="wedgeRectCallout">
            <a:avLst>
              <a:gd name="adj1" fmla="val -64922"/>
              <a:gd name="adj2" fmla="val 29287"/>
            </a:avLst>
          </a:prstGeom>
          <a:solidFill>
            <a:schemeClr val="bg2"/>
          </a:solidFill>
          <a:ln w="9525"/>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s-AR" altLang="es-AR" sz="1400" dirty="0">
                <a:latin typeface="Calibri" panose="020F0502020204030204" pitchFamily="34" charset="0"/>
                <a:ea typeface="Cambria" panose="02040503050406030204" pitchFamily="18" charset="0"/>
                <a:cs typeface="Calibri" panose="020F0502020204030204" pitchFamily="34" charset="0"/>
              </a:rPr>
              <a:t>La desviación estándar se interpreta como la </a:t>
            </a:r>
            <a:r>
              <a:rPr lang="es-AR" altLang="es-AR" sz="1400" b="1" i="1" dirty="0">
                <a:latin typeface="Calibri" panose="020F0502020204030204" pitchFamily="34" charset="0"/>
                <a:ea typeface="Cambria" panose="02040503050406030204" pitchFamily="18" charset="0"/>
                <a:cs typeface="Calibri" panose="020F0502020204030204" pitchFamily="34" charset="0"/>
              </a:rPr>
              <a:t>dispersión promedio de todos los valores de la variable con respecto a la media </a:t>
            </a:r>
            <a:r>
              <a:rPr lang="es-AR" altLang="es-AR" sz="1400" dirty="0">
                <a:latin typeface="Calibri" panose="020F0502020204030204" pitchFamily="34" charset="0"/>
                <a:ea typeface="Cambria" panose="02040503050406030204" pitchFamily="18" charset="0"/>
                <a:cs typeface="Calibri" panose="020F0502020204030204" pitchFamily="34" charset="0"/>
              </a:rPr>
              <a:t>y se expresa en unidades de la variable original. </a:t>
            </a:r>
          </a:p>
        </p:txBody>
      </p:sp>
      <p:sp>
        <p:nvSpPr>
          <p:cNvPr id="23" name="Elipse 22">
            <a:extLst>
              <a:ext uri="{FF2B5EF4-FFF2-40B4-BE49-F238E27FC236}">
                <a16:creationId xmlns:a16="http://schemas.microsoft.com/office/drawing/2014/main" id="{5C400AB6-C492-B3BB-67C2-DCDD34ED5D1D}"/>
              </a:ext>
            </a:extLst>
          </p:cNvPr>
          <p:cNvSpPr/>
          <p:nvPr/>
        </p:nvSpPr>
        <p:spPr>
          <a:xfrm>
            <a:off x="2048894" y="5703182"/>
            <a:ext cx="936104" cy="28803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4" name="CuadroTexto 23">
            <a:extLst>
              <a:ext uri="{FF2B5EF4-FFF2-40B4-BE49-F238E27FC236}">
                <a16:creationId xmlns:a16="http://schemas.microsoft.com/office/drawing/2014/main" id="{296E2D91-9648-CF79-8A39-8D760BD9CE05}"/>
              </a:ext>
            </a:extLst>
          </p:cNvPr>
          <p:cNvSpPr txBox="1"/>
          <p:nvPr/>
        </p:nvSpPr>
        <p:spPr>
          <a:xfrm>
            <a:off x="3950167" y="4589469"/>
            <a:ext cx="3142113" cy="738664"/>
          </a:xfrm>
          <a:prstGeom prst="wedgeRectCallout">
            <a:avLst>
              <a:gd name="adj1" fmla="val -60228"/>
              <a:gd name="adj2" fmla="val 106490"/>
            </a:avLst>
          </a:prstGeom>
          <a:solidFill>
            <a:schemeClr val="bg2"/>
          </a:solidFill>
          <a:ln w="9525"/>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s-AR" altLang="es-AR" sz="1400" dirty="0">
                <a:latin typeface="Calibri" panose="020F0502020204030204" pitchFamily="34" charset="0"/>
                <a:ea typeface="Cambria" panose="02040503050406030204" pitchFamily="18" charset="0"/>
                <a:cs typeface="Calibri" panose="020F0502020204030204" pitchFamily="34" charset="0"/>
              </a:rPr>
              <a:t>Excluyendo un caso </a:t>
            </a:r>
            <a:r>
              <a:rPr lang="es-AR" altLang="es-AR" sz="1400" b="1" i="1" dirty="0">
                <a:latin typeface="Calibri" panose="020F0502020204030204" pitchFamily="34" charset="0"/>
                <a:ea typeface="Cambria" panose="02040503050406030204" pitchFamily="18" charset="0"/>
                <a:cs typeface="Calibri" panose="020F0502020204030204" pitchFamily="34" charset="0"/>
              </a:rPr>
              <a:t>alto atípico</a:t>
            </a:r>
            <a:r>
              <a:rPr lang="es-AR" altLang="es-AR" sz="1400" dirty="0">
                <a:latin typeface="Calibri" panose="020F0502020204030204" pitchFamily="34" charset="0"/>
                <a:ea typeface="Cambria" panose="02040503050406030204" pitchFamily="18" charset="0"/>
                <a:cs typeface="Calibri" panose="020F0502020204030204" pitchFamily="34" charset="0"/>
              </a:rPr>
              <a:t> reducimos la variabilidad de la distribución</a:t>
            </a:r>
          </a:p>
        </p:txBody>
      </p:sp>
    </p:spTree>
    <p:extLst>
      <p:ext uri="{BB962C8B-B14F-4D97-AF65-F5344CB8AC3E}">
        <p14:creationId xmlns:p14="http://schemas.microsoft.com/office/powerpoint/2010/main" val="105270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369332"/>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latin typeface="+mj-lt"/>
              </a:rPr>
              <a:t>Medidas de </a:t>
            </a:r>
            <a:r>
              <a:rPr lang="es-AR" b="1" i="1" dirty="0">
                <a:solidFill>
                  <a:schemeClr val="accent4"/>
                </a:solidFill>
                <a:latin typeface="+mj-lt"/>
              </a:rPr>
              <a:t>dispersión relativa </a:t>
            </a:r>
            <a:r>
              <a:rPr lang="es-AR" dirty="0"/>
              <a:t>de la distribución: coeficiente de variabilidad</a:t>
            </a:r>
            <a:r>
              <a:rPr lang="es-AR" b="1" i="1" dirty="0">
                <a:solidFill>
                  <a:schemeClr val="accent4"/>
                </a:solidFill>
                <a:latin typeface="+mj-lt"/>
              </a:rPr>
              <a:t> </a:t>
            </a:r>
            <a:endParaRPr lang="es-AR" dirty="0">
              <a:solidFill>
                <a:schemeClr val="accent4"/>
              </a:solidFill>
              <a:latin typeface="+mj-lt"/>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0E0CC6F7-2CDE-25F8-0DBC-10B0263D8897}"/>
                  </a:ext>
                </a:extLst>
              </p:cNvPr>
              <p:cNvSpPr txBox="1"/>
              <p:nvPr/>
            </p:nvSpPr>
            <p:spPr>
              <a:xfrm>
                <a:off x="1254591" y="5209758"/>
                <a:ext cx="2592288" cy="566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r>
                            <a:rPr lang="es-AR" sz="1800" b="0" i="1" smtClean="0">
                              <a:latin typeface="Cambria Math" panose="02040503050406030204" pitchFamily="18" charset="0"/>
                            </a:rPr>
                            <m:t>𝑠</m:t>
                          </m:r>
                        </m:num>
                        <m:den>
                          <m:acc>
                            <m:accPr>
                              <m:chr m:val="̅"/>
                              <m:ctrlPr>
                                <a:rPr lang="es-AR" altLang="es-AR" sz="1800" b="1" i="1" dirty="0">
                                  <a:latin typeface="Cambria Math" panose="02040503050406030204" pitchFamily="18" charset="0"/>
                                  <a:ea typeface="Cambria" panose="02040503050406030204" pitchFamily="18" charset="0"/>
                                  <a:cs typeface="Calibri" panose="020F0502020204030204" pitchFamily="34" charset="0"/>
                                </a:rPr>
                              </m:ctrlPr>
                            </m:accPr>
                            <m:e>
                              <m:r>
                                <a:rPr lang="es-AR" altLang="es-AR" sz="1800" b="1" i="1" dirty="0">
                                  <a:latin typeface="Cambria Math" panose="02040503050406030204" pitchFamily="18" charset="0"/>
                                  <a:ea typeface="Cambria" panose="02040503050406030204" pitchFamily="18" charset="0"/>
                                  <a:cs typeface="Calibri" panose="020F0502020204030204" pitchFamily="34" charset="0"/>
                                </a:rPr>
                                <m:t>𝒙</m:t>
                              </m:r>
                            </m:e>
                          </m:acc>
                        </m:den>
                      </m:f>
                      <m:r>
                        <a:rPr lang="el-GR" sz="1800" i="1" smtClean="0">
                          <a:latin typeface="Cambria Math" panose="02040503050406030204" pitchFamily="18" charset="0"/>
                          <a:ea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100</m:t>
                      </m:r>
                    </m:oMath>
                  </m:oMathPara>
                </a14:m>
                <a:endParaRPr lang="es-AR" sz="1800" dirty="0"/>
              </a:p>
            </p:txBody>
          </p:sp>
        </mc:Choice>
        <mc:Fallback>
          <p:sp>
            <p:nvSpPr>
              <p:cNvPr id="2" name="CuadroTexto 1">
                <a:extLst>
                  <a:ext uri="{FF2B5EF4-FFF2-40B4-BE49-F238E27FC236}">
                    <a16:creationId xmlns:a16="http://schemas.microsoft.com/office/drawing/2014/main" id="{0E0CC6F7-2CDE-25F8-0DBC-10B0263D8897}"/>
                  </a:ext>
                </a:extLst>
              </p:cNvPr>
              <p:cNvSpPr txBox="1">
                <a:spLocks noRot="1" noChangeAspect="1" noMove="1" noResize="1" noEditPoints="1" noAdjustHandles="1" noChangeArrowheads="1" noChangeShapeType="1" noTextEdit="1"/>
              </p:cNvSpPr>
              <p:nvPr/>
            </p:nvSpPr>
            <p:spPr>
              <a:xfrm>
                <a:off x="1254591" y="5209758"/>
                <a:ext cx="2592288" cy="56663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A1457993-6D44-0997-20DC-43D4315B1623}"/>
                  </a:ext>
                </a:extLst>
              </p:cNvPr>
              <p:cNvSpPr txBox="1"/>
              <p:nvPr/>
            </p:nvSpPr>
            <p:spPr>
              <a:xfrm>
                <a:off x="3275856" y="5209758"/>
                <a:ext cx="2592288"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r>
                            <a:rPr lang="es-AR" sz="1800" b="0" i="1" smtClean="0">
                              <a:latin typeface="Cambria Math" panose="02040503050406030204" pitchFamily="18" charset="0"/>
                            </a:rPr>
                            <m:t>824</m:t>
                          </m:r>
                        </m:num>
                        <m:den>
                          <m:r>
                            <a:rPr lang="es-AR" altLang="es-AR" sz="1800" b="0" i="1" dirty="0" smtClean="0">
                              <a:latin typeface="Cambria Math" panose="02040503050406030204" pitchFamily="18" charset="0"/>
                              <a:ea typeface="Cambria" panose="02040503050406030204" pitchFamily="18" charset="0"/>
                              <a:cs typeface="Calibri" panose="020F0502020204030204" pitchFamily="34" charset="0"/>
                            </a:rPr>
                            <m:t>780</m:t>
                          </m:r>
                        </m:den>
                      </m:f>
                      <m:r>
                        <a:rPr lang="el-GR" sz="1800" i="1" smtClean="0">
                          <a:latin typeface="Cambria Math" panose="02040503050406030204" pitchFamily="18" charset="0"/>
                          <a:ea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100</m:t>
                      </m:r>
                    </m:oMath>
                  </m:oMathPara>
                </a14:m>
                <a:endParaRPr lang="es-AR" sz="1800" dirty="0"/>
              </a:p>
            </p:txBody>
          </p:sp>
        </mc:Choice>
        <mc:Fallback>
          <p:sp>
            <p:nvSpPr>
              <p:cNvPr id="5" name="CuadroTexto 4">
                <a:extLst>
                  <a:ext uri="{FF2B5EF4-FFF2-40B4-BE49-F238E27FC236}">
                    <a16:creationId xmlns:a16="http://schemas.microsoft.com/office/drawing/2014/main" id="{A1457993-6D44-0997-20DC-43D4315B1623}"/>
                  </a:ext>
                </a:extLst>
              </p:cNvPr>
              <p:cNvSpPr txBox="1">
                <a:spLocks noRot="1" noChangeAspect="1" noMove="1" noResize="1" noEditPoints="1" noAdjustHandles="1" noChangeArrowheads="1" noChangeShapeType="1" noTextEdit="1"/>
              </p:cNvSpPr>
              <p:nvPr/>
            </p:nvSpPr>
            <p:spPr>
              <a:xfrm>
                <a:off x="3275856" y="5209758"/>
                <a:ext cx="2592288" cy="61273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FD5CB9D6-6A7F-521B-04E5-49010088E9DB}"/>
                  </a:ext>
                </a:extLst>
              </p:cNvPr>
              <p:cNvSpPr txBox="1"/>
              <p:nvPr/>
            </p:nvSpPr>
            <p:spPr>
              <a:xfrm>
                <a:off x="5337590" y="5331458"/>
                <a:ext cx="25922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r>
                        <a:rPr lang="es-AR" sz="1800" b="0" i="1" smtClean="0">
                          <a:latin typeface="Cambria Math" panose="02040503050406030204" pitchFamily="18" charset="0"/>
                        </a:rPr>
                        <m:t>105,7</m:t>
                      </m:r>
                      <m:r>
                        <a:rPr lang="es-AR" sz="1800" b="0" i="1" smtClean="0">
                          <a:latin typeface="Cambria Math" panose="02040503050406030204" pitchFamily="18" charset="0"/>
                        </a:rPr>
                        <m:t>%</m:t>
                      </m:r>
                    </m:oMath>
                  </m:oMathPara>
                </a14:m>
                <a:endParaRPr lang="es-AR" sz="1800" dirty="0"/>
              </a:p>
            </p:txBody>
          </p:sp>
        </mc:Choice>
        <mc:Fallback>
          <p:sp>
            <p:nvSpPr>
              <p:cNvPr id="9" name="CuadroTexto 8">
                <a:extLst>
                  <a:ext uri="{FF2B5EF4-FFF2-40B4-BE49-F238E27FC236}">
                    <a16:creationId xmlns:a16="http://schemas.microsoft.com/office/drawing/2014/main" id="{FD5CB9D6-6A7F-521B-04E5-49010088E9DB}"/>
                  </a:ext>
                </a:extLst>
              </p:cNvPr>
              <p:cNvSpPr txBox="1">
                <a:spLocks noRot="1" noChangeAspect="1" noMove="1" noResize="1" noEditPoints="1" noAdjustHandles="1" noChangeArrowheads="1" noChangeShapeType="1" noTextEdit="1"/>
              </p:cNvSpPr>
              <p:nvPr/>
            </p:nvSpPr>
            <p:spPr>
              <a:xfrm>
                <a:off x="5337590" y="5331458"/>
                <a:ext cx="2592288" cy="369332"/>
              </a:xfrm>
              <a:prstGeom prst="rect">
                <a:avLst/>
              </a:prstGeom>
              <a:blipFill>
                <a:blip r:embed="rId5"/>
                <a:stretch>
                  <a:fillRect/>
                </a:stretch>
              </a:blipFill>
            </p:spPr>
            <p:txBody>
              <a:bodyPr/>
              <a:lstStyle/>
              <a:p>
                <a:r>
                  <a:rPr lang="es-AR">
                    <a:noFill/>
                  </a:rPr>
                  <a:t> </a:t>
                </a:r>
              </a:p>
            </p:txBody>
          </p:sp>
        </mc:Fallback>
      </mc:AlternateContent>
      <p:sp>
        <p:nvSpPr>
          <p:cNvPr id="13" name="7 CuadroTexto">
            <a:extLst>
              <a:ext uri="{FF2B5EF4-FFF2-40B4-BE49-F238E27FC236}">
                <a16:creationId xmlns:a16="http://schemas.microsoft.com/office/drawing/2014/main" id="{FA80B9E2-4B14-EADA-A3D2-37CC9E2D94CB}"/>
              </a:ext>
            </a:extLst>
          </p:cNvPr>
          <p:cNvSpPr txBox="1">
            <a:spLocks noChangeArrowheads="1"/>
          </p:cNvSpPr>
          <p:nvPr/>
        </p:nvSpPr>
        <p:spPr bwMode="auto">
          <a:xfrm>
            <a:off x="486757" y="1855173"/>
            <a:ext cx="80724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sz="1600" dirty="0">
                <a:latin typeface="Calibri" panose="020F0502020204030204" pitchFamily="34" charset="0"/>
                <a:ea typeface="Cambria" panose="02040503050406030204" pitchFamily="18" charset="0"/>
                <a:cs typeface="Calibri" panose="020F0502020204030204" pitchFamily="34" charset="0"/>
              </a:rPr>
              <a:t>Si queremos comparar dos distribuciones, la desviación estándar no es apropiada porque está expresada en relación con la media de la variable original. Por lo tanto, dos distribuciones con distinta media no son comparables directamente en función de su desviación estándar. </a:t>
            </a:r>
          </a:p>
        </p:txBody>
      </p:sp>
      <p:pic>
        <p:nvPicPr>
          <p:cNvPr id="25" name="Imagen 24">
            <a:extLst>
              <a:ext uri="{FF2B5EF4-FFF2-40B4-BE49-F238E27FC236}">
                <a16:creationId xmlns:a16="http://schemas.microsoft.com/office/drawing/2014/main" id="{8A29A1F3-3E02-AE23-71C3-069D17852E85}"/>
              </a:ext>
            </a:extLst>
          </p:cNvPr>
          <p:cNvPicPr>
            <a:picLocks noChangeAspect="1"/>
          </p:cNvPicPr>
          <p:nvPr/>
        </p:nvPicPr>
        <p:blipFill>
          <a:blip r:embed="rId6"/>
          <a:srcRect b="30571"/>
          <a:stretch/>
        </p:blipFill>
        <p:spPr>
          <a:xfrm>
            <a:off x="517682" y="2957567"/>
            <a:ext cx="8405222" cy="2054632"/>
          </a:xfrm>
          <a:prstGeom prst="rect">
            <a:avLst/>
          </a:prstGeom>
        </p:spPr>
      </p:pic>
    </p:spTree>
    <p:extLst>
      <p:ext uri="{BB962C8B-B14F-4D97-AF65-F5344CB8AC3E}">
        <p14:creationId xmlns:p14="http://schemas.microsoft.com/office/powerpoint/2010/main" val="431762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369332"/>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latin typeface="+mj-lt"/>
              </a:rPr>
              <a:t>Medidas de </a:t>
            </a:r>
            <a:r>
              <a:rPr lang="es-AR" b="1" i="1" dirty="0">
                <a:solidFill>
                  <a:schemeClr val="accent4"/>
                </a:solidFill>
                <a:latin typeface="+mj-lt"/>
              </a:rPr>
              <a:t>dispersión relativa </a:t>
            </a:r>
            <a:r>
              <a:rPr lang="es-AR" dirty="0"/>
              <a:t>de la distribución: coeficiente de variabilidad</a:t>
            </a:r>
            <a:r>
              <a:rPr lang="es-AR" b="1" i="1" dirty="0">
                <a:solidFill>
                  <a:schemeClr val="accent4"/>
                </a:solidFill>
                <a:latin typeface="+mj-lt"/>
              </a:rPr>
              <a:t> </a:t>
            </a:r>
            <a:endParaRPr lang="es-AR" dirty="0">
              <a:solidFill>
                <a:schemeClr val="accent4"/>
              </a:solidFill>
              <a:latin typeface="+mj-lt"/>
            </a:endParaRPr>
          </a:p>
        </p:txBody>
      </p:sp>
      <p:sp>
        <p:nvSpPr>
          <p:cNvPr id="13" name="7 CuadroTexto">
            <a:extLst>
              <a:ext uri="{FF2B5EF4-FFF2-40B4-BE49-F238E27FC236}">
                <a16:creationId xmlns:a16="http://schemas.microsoft.com/office/drawing/2014/main" id="{FA80B9E2-4B14-EADA-A3D2-37CC9E2D94CB}"/>
              </a:ext>
            </a:extLst>
          </p:cNvPr>
          <p:cNvSpPr txBox="1">
            <a:spLocks noChangeArrowheads="1"/>
          </p:cNvSpPr>
          <p:nvPr/>
        </p:nvSpPr>
        <p:spPr bwMode="auto">
          <a:xfrm>
            <a:off x="486757" y="1855173"/>
            <a:ext cx="80724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sz="1600" dirty="0">
                <a:latin typeface="Calibri" panose="020F0502020204030204" pitchFamily="34" charset="0"/>
                <a:ea typeface="Cambria" panose="02040503050406030204" pitchFamily="18" charset="0"/>
                <a:cs typeface="Calibri" panose="020F0502020204030204" pitchFamily="34" charset="0"/>
              </a:rPr>
              <a:t>Si queremos comparar dos distribuciones, la desviación estándar no es apropiada porque está expresada en relación con la media de la variable original. Por lo tanto, dos distribuciones con distinta media no son comparables directamente en función de su desviación estándar. </a:t>
            </a:r>
          </a:p>
        </p:txBody>
      </p:sp>
      <p:pic>
        <p:nvPicPr>
          <p:cNvPr id="25" name="Imagen 24">
            <a:extLst>
              <a:ext uri="{FF2B5EF4-FFF2-40B4-BE49-F238E27FC236}">
                <a16:creationId xmlns:a16="http://schemas.microsoft.com/office/drawing/2014/main" id="{8A29A1F3-3E02-AE23-71C3-069D17852E85}"/>
              </a:ext>
            </a:extLst>
          </p:cNvPr>
          <p:cNvPicPr>
            <a:picLocks noChangeAspect="1"/>
          </p:cNvPicPr>
          <p:nvPr/>
        </p:nvPicPr>
        <p:blipFill>
          <a:blip r:embed="rId3"/>
          <a:srcRect b="6205"/>
          <a:stretch/>
        </p:blipFill>
        <p:spPr>
          <a:xfrm>
            <a:off x="517682" y="2957566"/>
            <a:ext cx="8405222" cy="2775687"/>
          </a:xfrm>
          <a:prstGeom prst="rect">
            <a:avLst/>
          </a:prstGeom>
        </p:spPr>
      </p:pic>
      <p:sp>
        <p:nvSpPr>
          <p:cNvPr id="8" name="CuadroTexto 7">
            <a:extLst>
              <a:ext uri="{FF2B5EF4-FFF2-40B4-BE49-F238E27FC236}">
                <a16:creationId xmlns:a16="http://schemas.microsoft.com/office/drawing/2014/main" id="{6BD3F4A4-503D-C893-1AC8-8CB3FC6550E9}"/>
              </a:ext>
            </a:extLst>
          </p:cNvPr>
          <p:cNvSpPr txBox="1"/>
          <p:nvPr/>
        </p:nvSpPr>
        <p:spPr>
          <a:xfrm>
            <a:off x="6516216" y="5839319"/>
            <a:ext cx="2134001" cy="523220"/>
          </a:xfrm>
          <a:prstGeom prst="wedgeRectCallout">
            <a:avLst>
              <a:gd name="adj1" fmla="val 19757"/>
              <a:gd name="adj2" fmla="val -76652"/>
            </a:avLst>
          </a:prstGeom>
          <a:solidFill>
            <a:schemeClr val="bg2"/>
          </a:solidFill>
          <a:ln w="9525"/>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s-AR" altLang="es-AR" sz="1400" dirty="0">
                <a:latin typeface="Calibri" panose="020F0502020204030204" pitchFamily="34" charset="0"/>
                <a:ea typeface="Cambria" panose="02040503050406030204" pitchFamily="18" charset="0"/>
                <a:cs typeface="Calibri" panose="020F0502020204030204" pitchFamily="34" charset="0"/>
              </a:rPr>
              <a:t>Distribución más homogénea o igualitaria</a:t>
            </a:r>
          </a:p>
        </p:txBody>
      </p:sp>
    </p:spTree>
    <p:extLst>
      <p:ext uri="{BB962C8B-B14F-4D97-AF65-F5344CB8AC3E}">
        <p14:creationId xmlns:p14="http://schemas.microsoft.com/office/powerpoint/2010/main" val="2893732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1C7B36A0-4E7A-479D-405F-248649711207}"/>
              </a:ext>
            </a:extLst>
          </p:cNvPr>
          <p:cNvPicPr>
            <a:picLocks noChangeAspect="1"/>
          </p:cNvPicPr>
          <p:nvPr/>
        </p:nvPicPr>
        <p:blipFill>
          <a:blip r:embed="rId3"/>
          <a:stretch>
            <a:fillRect/>
          </a:stretch>
        </p:blipFill>
        <p:spPr>
          <a:xfrm>
            <a:off x="1460656" y="1838387"/>
            <a:ext cx="6210300" cy="3286125"/>
          </a:xfrm>
          <a:prstGeom prst="rect">
            <a:avLst/>
          </a:prstGeom>
        </p:spPr>
      </p:pic>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369332"/>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Medidas de posición: </a:t>
            </a:r>
            <a:r>
              <a:rPr lang="es-AR" b="1" i="1" dirty="0">
                <a:solidFill>
                  <a:schemeClr val="accent4"/>
                </a:solidFill>
                <a:cs typeface="FreesiaUPC" panose="020B0502040204020203" pitchFamily="34" charset="-34"/>
              </a:rPr>
              <a:t>cuantiles</a:t>
            </a:r>
            <a:endParaRPr lang="es-AR" dirty="0">
              <a:cs typeface="FreesiaUPC" panose="020B0502040204020203" pitchFamily="34" charset="-34"/>
            </a:endParaRPr>
          </a:p>
        </p:txBody>
      </p:sp>
      <p:sp>
        <p:nvSpPr>
          <p:cNvPr id="2" name="Elipse 1">
            <a:extLst>
              <a:ext uri="{FF2B5EF4-FFF2-40B4-BE49-F238E27FC236}">
                <a16:creationId xmlns:a16="http://schemas.microsoft.com/office/drawing/2014/main" id="{13701CB6-1742-FE51-5B28-CBCE0F349648}"/>
              </a:ext>
            </a:extLst>
          </p:cNvPr>
          <p:cNvSpPr/>
          <p:nvPr/>
        </p:nvSpPr>
        <p:spPr>
          <a:xfrm>
            <a:off x="1691680" y="3145413"/>
            <a:ext cx="576064" cy="14419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5" name="Elipse 4">
            <a:extLst>
              <a:ext uri="{FF2B5EF4-FFF2-40B4-BE49-F238E27FC236}">
                <a16:creationId xmlns:a16="http://schemas.microsoft.com/office/drawing/2014/main" id="{2B98DDFB-EF2E-98CC-BE34-8FF32CA330D7}"/>
              </a:ext>
            </a:extLst>
          </p:cNvPr>
          <p:cNvSpPr/>
          <p:nvPr/>
        </p:nvSpPr>
        <p:spPr>
          <a:xfrm>
            <a:off x="1691680" y="4352088"/>
            <a:ext cx="576064" cy="14419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1120148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Aproximación estadística básica</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1" y="1231234"/>
            <a:ext cx="8595743" cy="646331"/>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cs typeface="FreesiaUPC" panose="020B0502040204020203" pitchFamily="34" charset="-34"/>
              </a:rPr>
              <a:t>Histogramas</a:t>
            </a:r>
          </a:p>
          <a:p>
            <a:pPr algn="just"/>
            <a:endParaRPr lang="es-AR" dirty="0">
              <a:cs typeface="FreesiaUPC" panose="020B0502040204020203" pitchFamily="34" charset="-34"/>
            </a:endParaRPr>
          </a:p>
        </p:txBody>
      </p:sp>
      <p:pic>
        <p:nvPicPr>
          <p:cNvPr id="5" name="Imagen 4">
            <a:extLst>
              <a:ext uri="{FF2B5EF4-FFF2-40B4-BE49-F238E27FC236}">
                <a16:creationId xmlns:a16="http://schemas.microsoft.com/office/drawing/2014/main" id="{ECE428A9-C172-F5AE-7991-CFEF5EFCB7F5}"/>
              </a:ext>
            </a:extLst>
          </p:cNvPr>
          <p:cNvPicPr>
            <a:picLocks noChangeAspect="1"/>
          </p:cNvPicPr>
          <p:nvPr/>
        </p:nvPicPr>
        <p:blipFill>
          <a:blip r:embed="rId3"/>
          <a:stretch>
            <a:fillRect/>
          </a:stretch>
        </p:blipFill>
        <p:spPr>
          <a:xfrm>
            <a:off x="459242" y="2359108"/>
            <a:ext cx="4037262" cy="2928124"/>
          </a:xfrm>
          <a:prstGeom prst="rect">
            <a:avLst/>
          </a:prstGeom>
        </p:spPr>
      </p:pic>
      <p:sp>
        <p:nvSpPr>
          <p:cNvPr id="10" name="11 CuadroTexto">
            <a:extLst>
              <a:ext uri="{FF2B5EF4-FFF2-40B4-BE49-F238E27FC236}">
                <a16:creationId xmlns:a16="http://schemas.microsoft.com/office/drawing/2014/main" id="{CAE12472-8621-9E2F-71F3-C85D910AE52B}"/>
              </a:ext>
            </a:extLst>
          </p:cNvPr>
          <p:cNvSpPr txBox="1"/>
          <p:nvPr/>
        </p:nvSpPr>
        <p:spPr>
          <a:xfrm>
            <a:off x="1907704" y="1916729"/>
            <a:ext cx="1847899" cy="369332"/>
          </a:xfrm>
          <a:prstGeom prst="rect">
            <a:avLst/>
          </a:prstGeom>
          <a:noFill/>
        </p:spPr>
        <p:txBody>
          <a:bodyPr wrap="square" rtlCol="0">
            <a:spAutoFit/>
          </a:bodyPr>
          <a:lstStyle/>
          <a:p>
            <a:pPr algn="just"/>
            <a:r>
              <a:rPr lang="es-AR" dirty="0">
                <a:cs typeface="FreesiaUPC" panose="020B0502040204020203" pitchFamily="34" charset="-34"/>
              </a:rPr>
              <a:t>ARGENTINA</a:t>
            </a:r>
          </a:p>
        </p:txBody>
      </p:sp>
      <p:pic>
        <p:nvPicPr>
          <p:cNvPr id="18" name="Imagen 17">
            <a:extLst>
              <a:ext uri="{FF2B5EF4-FFF2-40B4-BE49-F238E27FC236}">
                <a16:creationId xmlns:a16="http://schemas.microsoft.com/office/drawing/2014/main" id="{34C56C73-5C3C-A3BC-87D1-806E20B206BE}"/>
              </a:ext>
            </a:extLst>
          </p:cNvPr>
          <p:cNvPicPr>
            <a:picLocks noChangeAspect="1"/>
          </p:cNvPicPr>
          <p:nvPr/>
        </p:nvPicPr>
        <p:blipFill>
          <a:blip r:embed="rId4"/>
          <a:stretch>
            <a:fillRect/>
          </a:stretch>
        </p:blipFill>
        <p:spPr>
          <a:xfrm>
            <a:off x="4647496" y="2286061"/>
            <a:ext cx="4037262" cy="3138603"/>
          </a:xfrm>
          <a:prstGeom prst="rect">
            <a:avLst/>
          </a:prstGeom>
        </p:spPr>
      </p:pic>
      <p:sp>
        <p:nvSpPr>
          <p:cNvPr id="21" name="11 CuadroTexto">
            <a:extLst>
              <a:ext uri="{FF2B5EF4-FFF2-40B4-BE49-F238E27FC236}">
                <a16:creationId xmlns:a16="http://schemas.microsoft.com/office/drawing/2014/main" id="{E1B88B6A-24FB-8757-D6C9-C84D0FB0C29A}"/>
              </a:ext>
            </a:extLst>
          </p:cNvPr>
          <p:cNvSpPr txBox="1"/>
          <p:nvPr/>
        </p:nvSpPr>
        <p:spPr>
          <a:xfrm>
            <a:off x="6084168" y="1852636"/>
            <a:ext cx="1847899" cy="369332"/>
          </a:xfrm>
          <a:prstGeom prst="rect">
            <a:avLst/>
          </a:prstGeom>
          <a:noFill/>
        </p:spPr>
        <p:txBody>
          <a:bodyPr wrap="square" rtlCol="0">
            <a:spAutoFit/>
          </a:bodyPr>
          <a:lstStyle/>
          <a:p>
            <a:pPr algn="just"/>
            <a:r>
              <a:rPr lang="es-AR" dirty="0">
                <a:cs typeface="FreesiaUPC" panose="020B0502040204020203" pitchFamily="34" charset="-34"/>
              </a:rPr>
              <a:t>BRASIL</a:t>
            </a:r>
          </a:p>
        </p:txBody>
      </p:sp>
    </p:spTree>
    <p:extLst>
      <p:ext uri="{BB962C8B-B14F-4D97-AF65-F5344CB8AC3E}">
        <p14:creationId xmlns:p14="http://schemas.microsoft.com/office/powerpoint/2010/main" val="2032469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477328"/>
          </a:xfrm>
          <a:prstGeom prst="rect">
            <a:avLst/>
          </a:prstGeom>
          <a:noFill/>
        </p:spPr>
        <p:txBody>
          <a:bodyPr wrap="square" rtlCol="0">
            <a:spAutoFit/>
          </a:bodyPr>
          <a:lstStyle/>
          <a:p>
            <a:pPr marL="285750" indent="-285750" algn="just">
              <a:buFont typeface="Wingdings" panose="05000000000000000000" pitchFamily="2" charset="2"/>
              <a:buChar char="§"/>
            </a:pPr>
            <a:r>
              <a:rPr lang="es-AR" b="1" dirty="0">
                <a:latin typeface="+mj-lt"/>
              </a:rPr>
              <a:t>Indicadores sintéticos de distribución</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sp>
        <p:nvSpPr>
          <p:cNvPr id="2" name="11 CuadroTexto">
            <a:extLst>
              <a:ext uri="{FF2B5EF4-FFF2-40B4-BE49-F238E27FC236}">
                <a16:creationId xmlns:a16="http://schemas.microsoft.com/office/drawing/2014/main" id="{B8315BEA-11CC-F52D-9287-8E46714BE25D}"/>
              </a:ext>
            </a:extLst>
          </p:cNvPr>
          <p:cNvSpPr txBox="1"/>
          <p:nvPr/>
        </p:nvSpPr>
        <p:spPr>
          <a:xfrm>
            <a:off x="428553" y="1733113"/>
            <a:ext cx="8595742" cy="3847207"/>
          </a:xfrm>
          <a:prstGeom prst="rect">
            <a:avLst/>
          </a:prstGeom>
          <a:noFill/>
        </p:spPr>
        <p:txBody>
          <a:bodyPr wrap="square" rtlCol="0">
            <a:spAutoFit/>
          </a:bodyPr>
          <a:lstStyle/>
          <a:p>
            <a:pPr algn="just"/>
            <a:r>
              <a:rPr lang="es-AR" sz="1600" b="1" i="1" dirty="0">
                <a:solidFill>
                  <a:schemeClr val="accent4"/>
                </a:solidFill>
              </a:rPr>
              <a:t>Propiedades deseables de las medidas de desigualdad</a:t>
            </a:r>
          </a:p>
          <a:p>
            <a:pPr marL="285750" indent="-285750" algn="just">
              <a:buFont typeface="Wingdings" panose="05000000000000000000" pitchFamily="2" charset="2"/>
              <a:buChar char="§"/>
            </a:pPr>
            <a:endParaRPr lang="es-AR" sz="1200" b="1" dirty="0"/>
          </a:p>
          <a:p>
            <a:pPr marL="285750" indent="-285750" algn="just">
              <a:buFont typeface="Wingdings" panose="05000000000000000000" pitchFamily="2" charset="2"/>
              <a:buChar char="§"/>
            </a:pPr>
            <a:r>
              <a:rPr lang="es-AR" sz="1200" b="1" dirty="0"/>
              <a:t>Invariancia a la escala:</a:t>
            </a:r>
            <a:r>
              <a:rPr lang="es-AR" sz="1200" dirty="0"/>
              <a:t> la medida de la desigualdad debe ser insensible a los cambios generales en el valor de la variable evaluada. Si se multiplica por una constante las unidades analizadas, el nivel de desigualdad debería mantenerse en igual valor. </a:t>
            </a:r>
          </a:p>
          <a:p>
            <a:pPr marL="285750" indent="-285750" algn="just">
              <a:buFont typeface="Wingdings" panose="05000000000000000000" pitchFamily="2" charset="2"/>
              <a:buChar char="§"/>
            </a:pPr>
            <a:endParaRPr lang="es-AR" sz="1200" dirty="0"/>
          </a:p>
          <a:p>
            <a:pPr marL="285750" indent="-285750" algn="just">
              <a:buFont typeface="Wingdings" panose="05000000000000000000" pitchFamily="2" charset="2"/>
              <a:buChar char="§"/>
            </a:pPr>
            <a:r>
              <a:rPr lang="es-AR" sz="1200" b="1" dirty="0"/>
              <a:t>Invariancia a las réplicas:</a:t>
            </a:r>
            <a:r>
              <a:rPr lang="es-AR" sz="1200" dirty="0"/>
              <a:t> la desigualdad no debería cambiar ante un múltiplo enésimo de la población evaluada. Los resultados de un índice o medida de desigualdad deberían ser comparables entre grupos y poblaciones de distinto tamaño.</a:t>
            </a:r>
          </a:p>
          <a:p>
            <a:pPr marL="285750" indent="-285750" algn="just">
              <a:buFont typeface="Wingdings" panose="05000000000000000000" pitchFamily="2" charset="2"/>
              <a:buChar char="§"/>
            </a:pPr>
            <a:endParaRPr lang="es-AR" sz="1200" dirty="0"/>
          </a:p>
          <a:p>
            <a:pPr marL="285750" indent="-285750" algn="just">
              <a:buFont typeface="Wingdings" panose="05000000000000000000" pitchFamily="2" charset="2"/>
              <a:buChar char="§"/>
            </a:pPr>
            <a:r>
              <a:rPr lang="es-AR" sz="1200" b="1" dirty="0"/>
              <a:t>Simetría:</a:t>
            </a:r>
            <a:r>
              <a:rPr lang="es-AR" sz="1200" dirty="0"/>
              <a:t> si dos individuos ubicados a un mismo nivel de la distribución intercambian sus ingresos, la medida de desigualdad debe mantenerse invariante e imparcial.</a:t>
            </a:r>
          </a:p>
          <a:p>
            <a:pPr marL="285750" indent="-285750" algn="just">
              <a:buFont typeface="Wingdings" panose="05000000000000000000" pitchFamily="2" charset="2"/>
              <a:buChar char="§"/>
            </a:pPr>
            <a:endParaRPr lang="es-AR" sz="1200" dirty="0"/>
          </a:p>
          <a:p>
            <a:pPr marL="285750" indent="-285750" algn="just">
              <a:buFont typeface="Wingdings" panose="05000000000000000000" pitchFamily="2" charset="2"/>
              <a:buChar char="§"/>
            </a:pPr>
            <a:r>
              <a:rPr lang="es-AR" sz="1200" b="1" dirty="0"/>
              <a:t>Principio de las transferencias (Principio </a:t>
            </a:r>
            <a:r>
              <a:rPr lang="es-AR" sz="1200" b="1" dirty="0" err="1"/>
              <a:t>Pigou</a:t>
            </a:r>
            <a:r>
              <a:rPr lang="es-AR" sz="1200" b="1" dirty="0"/>
              <a:t>-Dalton):</a:t>
            </a:r>
            <a:r>
              <a:rPr lang="es-AR" sz="1200" dirty="0"/>
              <a:t> si se genera una transferencia de ingresos de los hogares ubicados en la parte superior de la distribución hacia las familias o personas ubicadas en los primeros percentiles, el indicador propuesto debe reflejar necesariamente una caída en el nivel de concentración</a:t>
            </a:r>
          </a:p>
          <a:p>
            <a:pPr marL="285750" indent="-285750" algn="just">
              <a:buFont typeface="Wingdings" panose="05000000000000000000" pitchFamily="2" charset="2"/>
              <a:buChar char="§"/>
            </a:pPr>
            <a:endParaRPr lang="es-AR" sz="1200" dirty="0"/>
          </a:p>
          <a:p>
            <a:pPr marL="285750" indent="-285750" algn="just">
              <a:buFont typeface="Wingdings" panose="05000000000000000000" pitchFamily="2" charset="2"/>
              <a:buChar char="§"/>
            </a:pPr>
            <a:r>
              <a:rPr lang="es-AR" sz="1200" b="1" dirty="0"/>
              <a:t>Decrecimiento de Efecto ante Transferencias. </a:t>
            </a:r>
            <a:r>
              <a:rPr lang="es-AR" sz="1200" dirty="0"/>
              <a:t>Implica que las transferencias equivalentes entre individuos equidistantes tienen mayor efecto cuando ambos están ubicados en la parte baja de la distribución</a:t>
            </a:r>
          </a:p>
          <a:p>
            <a:pPr marL="285750" indent="-285750" algn="just">
              <a:buFont typeface="Wingdings" panose="05000000000000000000" pitchFamily="2" charset="2"/>
              <a:buChar char="§"/>
            </a:pPr>
            <a:endParaRPr lang="es-AR" sz="1200" dirty="0"/>
          </a:p>
          <a:p>
            <a:pPr marL="285750" indent="-285750" algn="just">
              <a:buFont typeface="Wingdings" panose="05000000000000000000" pitchFamily="2" charset="2"/>
              <a:buChar char="§"/>
            </a:pPr>
            <a:r>
              <a:rPr lang="es-AR" sz="1200" b="1" dirty="0" err="1"/>
              <a:t>Descomponibilidad</a:t>
            </a:r>
            <a:r>
              <a:rPr lang="es-AR" sz="1200" b="1" dirty="0"/>
              <a:t>:</a:t>
            </a:r>
            <a:r>
              <a:rPr lang="es-AR" sz="1200" dirty="0"/>
              <a:t> Es deseable que la medida de desigualdad calculada para un universo se pueda desglosar en los subgrupos que lo constituyen. </a:t>
            </a:r>
            <a:endParaRPr lang="es-AR" sz="1400" dirty="0"/>
          </a:p>
        </p:txBody>
      </p:sp>
    </p:spTree>
    <p:extLst>
      <p:ext uri="{BB962C8B-B14F-4D97-AF65-F5344CB8AC3E}">
        <p14:creationId xmlns:p14="http://schemas.microsoft.com/office/powerpoint/2010/main" val="2358661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477328"/>
          </a:xfrm>
          <a:prstGeom prst="rect">
            <a:avLst/>
          </a:prstGeom>
          <a:noFill/>
        </p:spPr>
        <p:txBody>
          <a:bodyPr wrap="square" rtlCol="0">
            <a:spAutoFit/>
          </a:bodyPr>
          <a:lstStyle/>
          <a:p>
            <a:pPr marL="285750" indent="-285750" algn="just">
              <a:buFont typeface="Wingdings" panose="05000000000000000000" pitchFamily="2" charset="2"/>
              <a:buChar char="§"/>
            </a:pPr>
            <a:r>
              <a:rPr lang="es-AR" b="1" dirty="0">
                <a:latin typeface="+mj-lt"/>
              </a:rPr>
              <a:t>Indicadores sintéticos de distribución: el coeficiente de Gini</a:t>
            </a:r>
          </a:p>
          <a:p>
            <a:pPr marL="285750" indent="-285750" algn="just">
              <a:buFont typeface="Wingdings" panose="05000000000000000000" pitchFamily="2" charset="2"/>
              <a:buChar char="§"/>
            </a:pPr>
            <a:endParaRPr lang="es-AR" b="1"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sp>
        <p:nvSpPr>
          <p:cNvPr id="5" name="11 CuadroTexto">
            <a:extLst>
              <a:ext uri="{FF2B5EF4-FFF2-40B4-BE49-F238E27FC236}">
                <a16:creationId xmlns:a16="http://schemas.microsoft.com/office/drawing/2014/main" id="{0DDA97F7-4128-5280-9F8B-91202C781C3F}"/>
              </a:ext>
            </a:extLst>
          </p:cNvPr>
          <p:cNvSpPr txBox="1"/>
          <p:nvPr/>
        </p:nvSpPr>
        <p:spPr>
          <a:xfrm>
            <a:off x="307975" y="1672231"/>
            <a:ext cx="8595742" cy="4524315"/>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t>La </a:t>
            </a:r>
            <a:r>
              <a:rPr lang="es-AR" b="1" i="1" dirty="0">
                <a:solidFill>
                  <a:schemeClr val="accent4"/>
                </a:solidFill>
              </a:rPr>
              <a:t>curva de </a:t>
            </a:r>
            <a:r>
              <a:rPr lang="es-AR" b="1" i="1" dirty="0" err="1">
                <a:solidFill>
                  <a:schemeClr val="accent4"/>
                </a:solidFill>
              </a:rPr>
              <a:t>Lorenz</a:t>
            </a:r>
            <a:r>
              <a:rPr lang="es-AR" b="1" i="1" dirty="0">
                <a:solidFill>
                  <a:schemeClr val="accent4"/>
                </a:solidFill>
              </a:rPr>
              <a:t> </a:t>
            </a:r>
            <a:r>
              <a:rPr lang="es-AR" dirty="0"/>
              <a:t>es una representación en un plano de la distribución de una variable numérica e </a:t>
            </a:r>
            <a:r>
              <a:rPr lang="es-AR" dirty="0" err="1"/>
              <a:t>intervalar</a:t>
            </a:r>
            <a:r>
              <a:rPr lang="es-AR" dirty="0"/>
              <a:t> (Ej. </a:t>
            </a:r>
            <a:r>
              <a:rPr lang="es-AR" i="1" dirty="0"/>
              <a:t>ingreso monetario</a:t>
            </a:r>
            <a:r>
              <a:rPr lang="es-AR" dirty="0"/>
              <a:t>) al interior de una población donde:</a:t>
            </a:r>
          </a:p>
          <a:p>
            <a:pPr marL="285750" indent="-285750" algn="just">
              <a:buFont typeface="Wingdings" panose="05000000000000000000" pitchFamily="2" charset="2"/>
              <a:buChar char="§"/>
            </a:pPr>
            <a:endParaRPr lang="es-AR" dirty="0"/>
          </a:p>
          <a:p>
            <a:pPr marL="800100" lvl="1" indent="-342900">
              <a:buFont typeface="Wingdings" pitchFamily="2" charset="2"/>
              <a:buChar char="§"/>
            </a:pPr>
            <a:r>
              <a:rPr lang="es-AR" dirty="0"/>
              <a:t>El eje X (horizontal) refleja el porcentaje o proporción acumulada de unidades del universo; </a:t>
            </a:r>
          </a:p>
          <a:p>
            <a:pPr marL="800100" lvl="1" indent="-342900">
              <a:buFont typeface="Wingdings" pitchFamily="2" charset="2"/>
              <a:buChar char="§"/>
            </a:pPr>
            <a:endParaRPr lang="es-AR" dirty="0"/>
          </a:p>
          <a:p>
            <a:pPr marL="800100" lvl="1" indent="-342900">
              <a:buFont typeface="Wingdings" pitchFamily="2" charset="2"/>
              <a:buChar char="§"/>
            </a:pPr>
            <a:r>
              <a:rPr lang="es-AR" dirty="0"/>
              <a:t>El eje Y (vertical) el porcentaje acumulado de la variable de interés hasta ese punto;</a:t>
            </a:r>
          </a:p>
          <a:p>
            <a:pPr marL="800100" lvl="1" indent="-342900">
              <a:buFont typeface="Wingdings" pitchFamily="2" charset="2"/>
              <a:buChar char="§"/>
            </a:pPr>
            <a:endParaRPr lang="es-AR" dirty="0"/>
          </a:p>
          <a:p>
            <a:pPr marL="800100" lvl="1" indent="-342900">
              <a:buFont typeface="Wingdings" pitchFamily="2" charset="2"/>
              <a:buChar char="§"/>
            </a:pPr>
            <a:r>
              <a:rPr lang="es-AR" dirty="0"/>
              <a:t>Si todos reportan el mismo nivel de la variable (</a:t>
            </a:r>
            <a:r>
              <a:rPr lang="es-AR" i="1" dirty="0"/>
              <a:t>renta</a:t>
            </a:r>
            <a:r>
              <a:rPr lang="es-AR" dirty="0"/>
              <a:t>) la curva es de 45° y se denomina “de equidistribución”. La mayor o menor la cercanía o lejanía de la curva real a esta línea significa menor o mayor desigualdad en la distribución. </a:t>
            </a:r>
          </a:p>
          <a:p>
            <a:pPr marL="742950" lvl="1" indent="-285750" algn="just">
              <a:buFont typeface="Wingdings" panose="05000000000000000000" pitchFamily="2" charset="2"/>
              <a:buChar char="§"/>
            </a:pPr>
            <a:endParaRPr lang="es-AR" dirty="0"/>
          </a:p>
          <a:p>
            <a:pPr marL="285750" indent="-285750" algn="just">
              <a:buFont typeface="Wingdings" panose="05000000000000000000" pitchFamily="2" charset="2"/>
              <a:buChar char="§"/>
            </a:pPr>
            <a:r>
              <a:rPr lang="es-AR" dirty="0"/>
              <a:t>El </a:t>
            </a:r>
            <a:r>
              <a:rPr lang="es-AR" b="1" dirty="0">
                <a:solidFill>
                  <a:schemeClr val="accent4"/>
                </a:solidFill>
              </a:rPr>
              <a:t>Coeficiente de Gini</a:t>
            </a:r>
            <a:r>
              <a:rPr lang="es-AR" dirty="0"/>
              <a:t> aprovecha el área qué se genera a partir del trazado de la curva de Lorenz para obtener una de las medidas resumen de la desigualdad más utilizadas.</a:t>
            </a:r>
          </a:p>
        </p:txBody>
      </p:sp>
    </p:spTree>
    <p:extLst>
      <p:ext uri="{BB962C8B-B14F-4D97-AF65-F5344CB8AC3E}">
        <p14:creationId xmlns:p14="http://schemas.microsoft.com/office/powerpoint/2010/main" val="4070541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477328"/>
          </a:xfrm>
          <a:prstGeom prst="rect">
            <a:avLst/>
          </a:prstGeom>
          <a:noFill/>
        </p:spPr>
        <p:txBody>
          <a:bodyPr wrap="square" rtlCol="0">
            <a:spAutoFit/>
          </a:bodyPr>
          <a:lstStyle/>
          <a:p>
            <a:pPr marL="285750" indent="-285750" algn="just">
              <a:buFont typeface="Wingdings" panose="05000000000000000000" pitchFamily="2" charset="2"/>
              <a:buChar char="§"/>
            </a:pPr>
            <a:r>
              <a:rPr lang="es-AR" b="1" dirty="0">
                <a:latin typeface="+mj-lt"/>
              </a:rPr>
              <a:t>Indicadores sintéticos de distribución: el coeficiente de Gini</a:t>
            </a:r>
          </a:p>
          <a:p>
            <a:pPr marL="285750" indent="-285750" algn="just">
              <a:buFont typeface="Wingdings" panose="05000000000000000000" pitchFamily="2" charset="2"/>
              <a:buChar char="§"/>
            </a:pPr>
            <a:endParaRPr lang="es-AR" b="1"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graphicFrame>
        <p:nvGraphicFramePr>
          <p:cNvPr id="2" name="13 Tabla">
            <a:extLst>
              <a:ext uri="{FF2B5EF4-FFF2-40B4-BE49-F238E27FC236}">
                <a16:creationId xmlns:a16="http://schemas.microsoft.com/office/drawing/2014/main" id="{C733AF78-778C-551D-0A0F-84B63763E7A6}"/>
              </a:ext>
            </a:extLst>
          </p:cNvPr>
          <p:cNvGraphicFramePr>
            <a:graphicFrameLocks noGrp="1"/>
          </p:cNvGraphicFramePr>
          <p:nvPr/>
        </p:nvGraphicFramePr>
        <p:xfrm>
          <a:off x="386598" y="1713330"/>
          <a:ext cx="2664296" cy="4815840"/>
        </p:xfrm>
        <a:graphic>
          <a:graphicData uri="http://schemas.openxmlformats.org/drawingml/2006/table">
            <a:tbl>
              <a:tblPr/>
              <a:tblGrid>
                <a:gridCol w="671489">
                  <a:extLst>
                    <a:ext uri="{9D8B030D-6E8A-4147-A177-3AD203B41FA5}">
                      <a16:colId xmlns:a16="http://schemas.microsoft.com/office/drawing/2014/main" val="20000"/>
                    </a:ext>
                  </a:extLst>
                </a:gridCol>
                <a:gridCol w="866438">
                  <a:extLst>
                    <a:ext uri="{9D8B030D-6E8A-4147-A177-3AD203B41FA5}">
                      <a16:colId xmlns:a16="http://schemas.microsoft.com/office/drawing/2014/main" val="20001"/>
                    </a:ext>
                  </a:extLst>
                </a:gridCol>
                <a:gridCol w="1126369">
                  <a:extLst>
                    <a:ext uri="{9D8B030D-6E8A-4147-A177-3AD203B41FA5}">
                      <a16:colId xmlns:a16="http://schemas.microsoft.com/office/drawing/2014/main" val="20002"/>
                    </a:ext>
                  </a:extLst>
                </a:gridCol>
              </a:tblGrid>
              <a:tr h="498110">
                <a:tc>
                  <a:txBody>
                    <a:bodyPr/>
                    <a:lstStyle/>
                    <a:p>
                      <a:pPr algn="ctr" fontAlgn="ctr"/>
                      <a:r>
                        <a:rPr lang="en-GB" sz="1200" b="1" i="0" u="none" strike="noStrike" dirty="0" err="1">
                          <a:solidFill>
                            <a:srgbClr val="000000"/>
                          </a:solidFill>
                          <a:latin typeface="Calibri"/>
                        </a:rPr>
                        <a:t>Nivel</a:t>
                      </a:r>
                      <a:r>
                        <a:rPr lang="en-GB" sz="1200" b="1" i="0" u="none" strike="noStrike" dirty="0">
                          <a:solidFill>
                            <a:srgbClr val="000000"/>
                          </a:solidFill>
                          <a:latin typeface="Calibri"/>
                        </a:rPr>
                        <a:t> de </a:t>
                      </a:r>
                      <a:r>
                        <a:rPr lang="en-GB" sz="1200" b="1" i="0" u="none" strike="noStrike" dirty="0" err="1">
                          <a:solidFill>
                            <a:srgbClr val="000000"/>
                          </a:solidFill>
                          <a:latin typeface="Calibri"/>
                        </a:rPr>
                        <a:t>Ingreso</a:t>
                      </a:r>
                      <a:endParaRPr lang="en-GB" sz="1200" b="1" i="0" u="none" strike="noStrike" dirty="0">
                        <a:solidFill>
                          <a:srgbClr val="000000"/>
                        </a:solidFill>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00" b="1" i="0" u="none" strike="noStrike" dirty="0" err="1">
                          <a:solidFill>
                            <a:srgbClr val="000000"/>
                          </a:solidFill>
                          <a:latin typeface="Calibri"/>
                        </a:rPr>
                        <a:t>Ingreso</a:t>
                      </a:r>
                      <a:r>
                        <a:rPr lang="en-GB" sz="1200" b="1" i="0" u="none" strike="noStrike" dirty="0">
                          <a:solidFill>
                            <a:srgbClr val="000000"/>
                          </a:solidFill>
                          <a:latin typeface="Calibri"/>
                        </a:rPr>
                        <a:t> </a:t>
                      </a:r>
                      <a:r>
                        <a:rPr lang="en-GB" sz="1200" b="1" i="0" u="none" strike="noStrike" dirty="0" err="1">
                          <a:solidFill>
                            <a:srgbClr val="000000"/>
                          </a:solidFill>
                          <a:latin typeface="Calibri"/>
                        </a:rPr>
                        <a:t>Acumulado</a:t>
                      </a:r>
                      <a:r>
                        <a:rPr lang="en-GB" sz="1200" b="1" i="0" u="none" strike="noStrike" dirty="0">
                          <a:solidFill>
                            <a:srgbClr val="000000"/>
                          </a:solidFill>
                          <a:latin typeface="Calibri"/>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00" b="1" i="0" u="none" strike="noStrike" dirty="0" err="1">
                          <a:solidFill>
                            <a:srgbClr val="000000"/>
                          </a:solidFill>
                          <a:latin typeface="Calibri"/>
                        </a:rPr>
                        <a:t>Equidistancia</a:t>
                      </a:r>
                      <a:r>
                        <a:rPr lang="en-GB" sz="1200" b="1" i="0" u="none" strike="noStrike" dirty="0">
                          <a:solidFill>
                            <a:srgbClr val="000000"/>
                          </a:solidFill>
                          <a:latin typeface="Calibri"/>
                        </a:rPr>
                        <a:t> </a:t>
                      </a:r>
                      <a:r>
                        <a:rPr lang="en-GB" sz="1100" b="1" i="0" u="none" strike="noStrike" dirty="0">
                          <a:solidFill>
                            <a:srgbClr val="000000"/>
                          </a:solidFill>
                          <a:latin typeface="Calibri"/>
                        </a:rPr>
                        <a:t>(Distr.</a:t>
                      </a:r>
                      <a:r>
                        <a:rPr lang="en-GB" sz="1100" b="1" i="0" u="none" strike="noStrike" baseline="0" dirty="0">
                          <a:solidFill>
                            <a:srgbClr val="000000"/>
                          </a:solidFill>
                          <a:latin typeface="Calibri"/>
                        </a:rPr>
                        <a:t> </a:t>
                      </a:r>
                      <a:r>
                        <a:rPr lang="en-GB" sz="1100" b="1" i="0" u="none" strike="noStrike" baseline="0" dirty="0" err="1">
                          <a:solidFill>
                            <a:srgbClr val="000000"/>
                          </a:solidFill>
                          <a:latin typeface="Calibri"/>
                        </a:rPr>
                        <a:t>Igualitaria</a:t>
                      </a:r>
                      <a:r>
                        <a:rPr lang="en-GB" sz="1100" b="1" i="0" u="none" strike="noStrike" baseline="0" dirty="0">
                          <a:solidFill>
                            <a:srgbClr val="000000"/>
                          </a:solidFill>
                          <a:latin typeface="Calibri"/>
                        </a:rPr>
                        <a:t>)</a:t>
                      </a:r>
                      <a:endParaRPr lang="en-GB" sz="1200" b="1" i="0" u="none" strike="noStrike" dirty="0">
                        <a:solidFill>
                          <a:srgbClr val="000000"/>
                        </a:solidFill>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3918">
                <a:tc>
                  <a:txBody>
                    <a:bodyPr/>
                    <a:lstStyle/>
                    <a:p>
                      <a:pPr algn="ctr" fontAlgn="b"/>
                      <a:r>
                        <a:rPr lang="en-GB" sz="1400" b="0" i="0" u="none" strike="noStrike" dirty="0">
                          <a:solidFill>
                            <a:srgbClr val="000000"/>
                          </a:solidFill>
                          <a:latin typeface="Calibri"/>
                        </a:rPr>
                        <a:t>300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a:solidFill>
                            <a:srgbClr val="000000"/>
                          </a:solidFill>
                          <a:latin typeface="Calibri"/>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3918">
                <a:tc>
                  <a:txBody>
                    <a:bodyPr/>
                    <a:lstStyle/>
                    <a:p>
                      <a:pPr algn="ctr" fontAlgn="b"/>
                      <a:r>
                        <a:rPr lang="en-GB" sz="1400" b="0" i="0" u="none" strike="noStrike" dirty="0">
                          <a:solidFill>
                            <a:srgbClr val="000000"/>
                          </a:solidFill>
                          <a:latin typeface="Calibri"/>
                        </a:rPr>
                        <a:t>350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3918">
                <a:tc>
                  <a:txBody>
                    <a:bodyPr/>
                    <a:lstStyle/>
                    <a:p>
                      <a:pPr algn="ctr" fontAlgn="b"/>
                      <a:r>
                        <a:rPr lang="en-GB" sz="1400" b="0" i="0" u="none" strike="noStrike">
                          <a:solidFill>
                            <a:srgbClr val="000000"/>
                          </a:solidFill>
                          <a:latin typeface="Calibri"/>
                        </a:rPr>
                        <a:t>350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3918">
                <a:tc>
                  <a:txBody>
                    <a:bodyPr/>
                    <a:lstStyle/>
                    <a:p>
                      <a:pPr algn="ctr" fontAlgn="b"/>
                      <a:r>
                        <a:rPr lang="en-GB" sz="1400" b="0" i="0" u="none" strike="noStrike">
                          <a:solidFill>
                            <a:srgbClr val="000000"/>
                          </a:solidFill>
                          <a:latin typeface="Calibri"/>
                        </a:rPr>
                        <a:t>450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3918">
                <a:tc>
                  <a:txBody>
                    <a:bodyPr/>
                    <a:lstStyle/>
                    <a:p>
                      <a:pPr algn="ctr" fontAlgn="b"/>
                      <a:r>
                        <a:rPr lang="en-GB" sz="1400" b="0" i="0" u="none" strike="noStrike">
                          <a:solidFill>
                            <a:srgbClr val="000000"/>
                          </a:solidFill>
                          <a:latin typeface="Calibri"/>
                        </a:rPr>
                        <a:t>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3918">
                <a:tc>
                  <a:txBody>
                    <a:bodyPr/>
                    <a:lstStyle/>
                    <a:p>
                      <a:pPr algn="ctr" fontAlgn="b"/>
                      <a:r>
                        <a:rPr lang="en-GB" sz="1400" b="0" i="0" u="none" strike="noStrike">
                          <a:solidFill>
                            <a:srgbClr val="000000"/>
                          </a:solidFill>
                          <a:latin typeface="Calibri"/>
                        </a:rPr>
                        <a:t>550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30,0%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3918">
                <a:tc>
                  <a:txBody>
                    <a:bodyPr/>
                    <a:lstStyle/>
                    <a:p>
                      <a:pPr algn="ctr" fontAlgn="b"/>
                      <a:r>
                        <a:rPr lang="en-GB" sz="1400" b="0" i="0" u="none" strike="noStrike" dirty="0">
                          <a:solidFill>
                            <a:srgbClr val="000000"/>
                          </a:solidFill>
                          <a:latin typeface="Calibri"/>
                        </a:rPr>
                        <a:t>600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9,9%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35,0%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3918">
                <a:tc>
                  <a:txBody>
                    <a:bodyPr/>
                    <a:lstStyle/>
                    <a:p>
                      <a:pPr algn="ctr" fontAlgn="b"/>
                      <a:r>
                        <a:rPr lang="en-GB" sz="1400" b="0" i="0" u="none" strike="noStrike" dirty="0">
                          <a:solidFill>
                            <a:srgbClr val="000000"/>
                          </a:solidFill>
                          <a:latin typeface="Calibri"/>
                        </a:rPr>
                        <a:t>700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83918">
                <a:tc>
                  <a:txBody>
                    <a:bodyPr/>
                    <a:lstStyle/>
                    <a:p>
                      <a:pPr algn="ctr" fontAlgn="b"/>
                      <a:r>
                        <a:rPr lang="en-GB" sz="1400" b="0" i="0" u="none" strike="noStrike" dirty="0">
                          <a:solidFill>
                            <a:srgbClr val="000000"/>
                          </a:solidFill>
                          <a:latin typeface="Calibri"/>
                        </a:rPr>
                        <a:t>800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45,0%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3918">
                <a:tc>
                  <a:txBody>
                    <a:bodyPr/>
                    <a:lstStyle/>
                    <a:p>
                      <a:pPr algn="ctr" fontAlgn="b"/>
                      <a:r>
                        <a:rPr lang="en-GB" sz="1400" b="0" i="0" u="none" strike="noStrike">
                          <a:solidFill>
                            <a:srgbClr val="000000"/>
                          </a:solidFill>
                          <a:latin typeface="Calibri"/>
                        </a:rPr>
                        <a:t>900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3918">
                <a:tc>
                  <a:txBody>
                    <a:bodyPr/>
                    <a:lstStyle/>
                    <a:p>
                      <a:pPr algn="ctr" fontAlgn="b"/>
                      <a:r>
                        <a:rPr lang="en-GB" sz="1400" b="0" i="0" u="none" strike="noStrike">
                          <a:solidFill>
                            <a:srgbClr val="000000"/>
                          </a:solidFill>
                          <a:latin typeface="Calibri"/>
                        </a:rPr>
                        <a:t>1000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20,7%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55,0%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3918">
                <a:tc>
                  <a:txBody>
                    <a:bodyPr/>
                    <a:lstStyle/>
                    <a:p>
                      <a:pPr algn="ctr" fontAlgn="b"/>
                      <a:r>
                        <a:rPr lang="en-GB" sz="1400" b="0" i="0" u="none" strike="noStrike">
                          <a:solidFill>
                            <a:srgbClr val="000000"/>
                          </a:solidFill>
                          <a:latin typeface="Calibri"/>
                        </a:rPr>
                        <a:t>1250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24,7%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60,0%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3918">
                <a:tc>
                  <a:txBody>
                    <a:bodyPr/>
                    <a:lstStyle/>
                    <a:p>
                      <a:pPr algn="ctr" fontAlgn="b"/>
                      <a:r>
                        <a:rPr lang="en-GB" sz="1400" b="0" i="0" u="none" strike="noStrike">
                          <a:solidFill>
                            <a:srgbClr val="000000"/>
                          </a:solidFill>
                          <a:latin typeface="Calibri"/>
                        </a:rPr>
                        <a:t>1300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28,9%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65,0%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3918">
                <a:tc>
                  <a:txBody>
                    <a:bodyPr/>
                    <a:lstStyle/>
                    <a:p>
                      <a:pPr algn="ctr" fontAlgn="b"/>
                      <a:r>
                        <a:rPr lang="en-GB" sz="1400" b="0" i="0" u="none" strike="noStrike">
                          <a:solidFill>
                            <a:srgbClr val="000000"/>
                          </a:solidFill>
                          <a:latin typeface="Calibri"/>
                        </a:rPr>
                        <a:t>1500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33,7%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70,0%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83918">
                <a:tc>
                  <a:txBody>
                    <a:bodyPr/>
                    <a:lstStyle/>
                    <a:p>
                      <a:pPr algn="ctr" fontAlgn="b"/>
                      <a:r>
                        <a:rPr lang="en-GB" sz="1400" b="0" i="0" u="none" strike="noStrike">
                          <a:solidFill>
                            <a:srgbClr val="000000"/>
                          </a:solidFill>
                          <a:latin typeface="Calibri"/>
                        </a:rPr>
                        <a:t>1500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38,4%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75,0%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3918">
                <a:tc>
                  <a:txBody>
                    <a:bodyPr/>
                    <a:lstStyle/>
                    <a:p>
                      <a:pPr algn="ctr" fontAlgn="b"/>
                      <a:r>
                        <a:rPr lang="en-GB" sz="1400" b="0" i="0" u="none" strike="noStrike">
                          <a:solidFill>
                            <a:srgbClr val="000000"/>
                          </a:solidFill>
                          <a:latin typeface="Calibri"/>
                        </a:rPr>
                        <a:t>2000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44,8%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80,0%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3918">
                <a:tc>
                  <a:txBody>
                    <a:bodyPr/>
                    <a:lstStyle/>
                    <a:p>
                      <a:pPr algn="ctr" fontAlgn="b"/>
                      <a:r>
                        <a:rPr lang="en-GB" sz="1400" b="0" i="0" u="none" strike="noStrike">
                          <a:solidFill>
                            <a:srgbClr val="000000"/>
                          </a:solidFill>
                          <a:latin typeface="Calibri"/>
                        </a:rPr>
                        <a:t>2500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52,8%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3918">
                <a:tc>
                  <a:txBody>
                    <a:bodyPr/>
                    <a:lstStyle/>
                    <a:p>
                      <a:pPr algn="ctr" fontAlgn="b"/>
                      <a:r>
                        <a:rPr lang="en-GB" sz="1400" b="0" i="0" u="none" strike="noStrike">
                          <a:solidFill>
                            <a:srgbClr val="000000"/>
                          </a:solidFill>
                          <a:latin typeface="Calibri"/>
                        </a:rPr>
                        <a:t>2500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60,8%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90,0%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3918">
                <a:tc>
                  <a:txBody>
                    <a:bodyPr/>
                    <a:lstStyle/>
                    <a:p>
                      <a:pPr algn="ctr" fontAlgn="b"/>
                      <a:r>
                        <a:rPr lang="en-GB" sz="1400" b="0" i="0" u="none" strike="noStrike">
                          <a:solidFill>
                            <a:srgbClr val="000000"/>
                          </a:solidFill>
                          <a:latin typeface="Calibri"/>
                        </a:rPr>
                        <a:t>6000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79,9%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95,0%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83918">
                <a:tc>
                  <a:txBody>
                    <a:bodyPr/>
                    <a:lstStyle/>
                    <a:p>
                      <a:pPr algn="ctr" fontAlgn="b"/>
                      <a:r>
                        <a:rPr lang="en-GB" sz="1400" b="0" i="0" u="none" strike="noStrike">
                          <a:solidFill>
                            <a:srgbClr val="000000"/>
                          </a:solidFill>
                          <a:latin typeface="Calibri"/>
                        </a:rPr>
                        <a:t>6300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400" b="0" i="0" u="none" strike="noStrike" dirty="0">
                          <a:solidFill>
                            <a:srgbClr val="000000"/>
                          </a:solidFill>
                          <a:latin typeface="Calibri"/>
                        </a:rPr>
                        <a:t>100,0%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graphicFrame>
        <p:nvGraphicFramePr>
          <p:cNvPr id="8" name="11 Gráfico">
            <a:extLst>
              <a:ext uri="{FF2B5EF4-FFF2-40B4-BE49-F238E27FC236}">
                <a16:creationId xmlns:a16="http://schemas.microsoft.com/office/drawing/2014/main" id="{346F10F6-91DE-ECE3-497E-A7D873DC3BC3}"/>
              </a:ext>
            </a:extLst>
          </p:cNvPr>
          <p:cNvGraphicFramePr/>
          <p:nvPr>
            <p:extLst>
              <p:ext uri="{D42A27DB-BD31-4B8C-83A1-F6EECF244321}">
                <p14:modId xmlns:p14="http://schemas.microsoft.com/office/powerpoint/2010/main" val="1571023445"/>
              </p:ext>
            </p:extLst>
          </p:nvPr>
        </p:nvGraphicFramePr>
        <p:xfrm>
          <a:off x="3339744" y="2348880"/>
          <a:ext cx="5417658" cy="33714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0347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477328"/>
          </a:xfrm>
          <a:prstGeom prst="rect">
            <a:avLst/>
          </a:prstGeom>
          <a:noFill/>
        </p:spPr>
        <p:txBody>
          <a:bodyPr wrap="square" rtlCol="0">
            <a:spAutoFit/>
          </a:bodyPr>
          <a:lstStyle/>
          <a:p>
            <a:pPr marL="285750" indent="-285750" algn="just">
              <a:buFont typeface="Wingdings" panose="05000000000000000000" pitchFamily="2" charset="2"/>
              <a:buChar char="§"/>
            </a:pPr>
            <a:r>
              <a:rPr lang="es-AR" b="1" dirty="0">
                <a:latin typeface="+mj-lt"/>
              </a:rPr>
              <a:t>Indicadores sintéticos de distribución: el coeficiente de Gini</a:t>
            </a:r>
          </a:p>
          <a:p>
            <a:pPr marL="285750" indent="-285750" algn="just">
              <a:buFont typeface="Wingdings" panose="05000000000000000000" pitchFamily="2" charset="2"/>
              <a:buChar char="§"/>
            </a:pPr>
            <a:endParaRPr lang="es-AR" b="1"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1C8591B-C95B-1BA6-4F9A-32596B2F4530}"/>
                  </a:ext>
                </a:extLst>
              </p:cNvPr>
              <p:cNvSpPr txBox="1"/>
              <p:nvPr/>
            </p:nvSpPr>
            <p:spPr>
              <a:xfrm>
                <a:off x="2267744" y="2006776"/>
                <a:ext cx="3649424" cy="6769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𝐺</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nary>
                            <m:naryPr>
                              <m:chr m:val="∑"/>
                              <m:subHide m:val="on"/>
                              <m:supHide m:val="on"/>
                              <m:ctrlPr>
                                <a:rPr lang="es-AR" sz="1800" i="1" smtClean="0">
                                  <a:latin typeface="Cambria Math" panose="02040503050406030204" pitchFamily="18" charset="0"/>
                                </a:rPr>
                              </m:ctrlPr>
                            </m:naryPr>
                            <m:sub/>
                            <m:sup/>
                            <m:e>
                              <m:r>
                                <a:rPr lang="es-AR" sz="1800" b="0" i="1" smtClean="0">
                                  <a:latin typeface="Cambria Math" panose="02040503050406030204" pitchFamily="18" charset="0"/>
                                </a:rPr>
                                <m:t>(</m:t>
                              </m:r>
                              <m:sSub>
                                <m:sSubPr>
                                  <m:ctrlPr>
                                    <a:rPr lang="es-AR" sz="1800" b="0" i="1" smtClean="0">
                                      <a:latin typeface="Cambria Math" panose="02040503050406030204" pitchFamily="18" charset="0"/>
                                    </a:rPr>
                                  </m:ctrlPr>
                                </m:sSubPr>
                                <m:e>
                                  <m:r>
                                    <a:rPr lang="es-AR" sz="1800" b="0" i="1" smtClean="0">
                                      <a:latin typeface="Cambria Math" panose="02040503050406030204" pitchFamily="18" charset="0"/>
                                    </a:rPr>
                                    <m:t>𝑃𝑖</m:t>
                                  </m:r>
                                </m:e>
                                <m:sub>
                                  <m:r>
                                    <a:rPr lang="es-AR" sz="1800" b="0" i="1" smtClean="0">
                                      <a:latin typeface="Cambria Math" panose="02040503050406030204" pitchFamily="18" charset="0"/>
                                    </a:rPr>
                                    <m:t>𝑎𝑐𝑢𝑚</m:t>
                                  </m:r>
                                </m:sub>
                              </m:sSub>
                              <m:r>
                                <a:rPr lang="es-AR" sz="1800" b="0" i="1" smtClean="0">
                                  <a:latin typeface="Cambria Math" panose="02040503050406030204" pitchFamily="18" charset="0"/>
                                </a:rPr>
                                <m:t>−</m:t>
                              </m:r>
                              <m:sSub>
                                <m:sSubPr>
                                  <m:ctrlPr>
                                    <a:rPr lang="es-AR" i="1">
                                      <a:latin typeface="Cambria Math" panose="02040503050406030204" pitchFamily="18" charset="0"/>
                                    </a:rPr>
                                  </m:ctrlPr>
                                </m:sSubPr>
                                <m:e>
                                  <m:r>
                                    <a:rPr lang="es-AR" b="0" i="1" smtClean="0">
                                      <a:latin typeface="Cambria Math" panose="02040503050406030204" pitchFamily="18" charset="0"/>
                                    </a:rPr>
                                    <m:t>𝑄</m:t>
                                  </m:r>
                                  <m:r>
                                    <a:rPr lang="es-AR" i="1">
                                      <a:latin typeface="Cambria Math" panose="02040503050406030204" pitchFamily="18" charset="0"/>
                                    </a:rPr>
                                    <m:t>𝑖</m:t>
                                  </m:r>
                                </m:e>
                                <m:sub>
                                  <m:r>
                                    <a:rPr lang="es-AR" i="1">
                                      <a:latin typeface="Cambria Math" panose="02040503050406030204" pitchFamily="18" charset="0"/>
                                    </a:rPr>
                                    <m:t>𝑎𝑐𝑢𝑚</m:t>
                                  </m:r>
                                </m:sub>
                              </m:sSub>
                              <m:r>
                                <a:rPr lang="es-AR" b="0" i="1" smtClean="0">
                                  <a:latin typeface="Cambria Math" panose="02040503050406030204" pitchFamily="18" charset="0"/>
                                </a:rPr>
                                <m:t>)</m:t>
                              </m:r>
                            </m:e>
                          </m:nary>
                        </m:num>
                        <m:den>
                          <m:nary>
                            <m:naryPr>
                              <m:chr m:val="∑"/>
                              <m:subHide m:val="on"/>
                              <m:supHide m:val="on"/>
                              <m:ctrlPr>
                                <a:rPr lang="es-AR" i="1">
                                  <a:latin typeface="Cambria Math" panose="02040503050406030204" pitchFamily="18" charset="0"/>
                                </a:rPr>
                              </m:ctrlPr>
                            </m:naryPr>
                            <m:sub/>
                            <m:sup/>
                            <m:e>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𝑃𝑖</m:t>
                                  </m:r>
                                </m:e>
                                <m:sub>
                                  <m:r>
                                    <a:rPr lang="es-AR" i="1">
                                      <a:latin typeface="Cambria Math" panose="02040503050406030204" pitchFamily="18" charset="0"/>
                                    </a:rPr>
                                    <m:t>𝑎𝑐𝑢𝑚</m:t>
                                  </m:r>
                                </m:sub>
                              </m:sSub>
                              <m:r>
                                <a:rPr lang="es-AR" b="0" i="1" smtClean="0">
                                  <a:latin typeface="Cambria Math" panose="02040503050406030204" pitchFamily="18" charset="0"/>
                                </a:rPr>
                                <m:t>−1</m:t>
                              </m:r>
                              <m:r>
                                <a:rPr lang="es-AR" i="1">
                                  <a:latin typeface="Cambria Math" panose="02040503050406030204" pitchFamily="18" charset="0"/>
                                </a:rPr>
                                <m:t>)</m:t>
                              </m:r>
                            </m:e>
                          </m:nary>
                        </m:den>
                      </m:f>
                    </m:oMath>
                  </m:oMathPara>
                </a14:m>
                <a:endParaRPr lang="es-AR" sz="1800" dirty="0"/>
              </a:p>
            </p:txBody>
          </p:sp>
        </mc:Choice>
        <mc:Fallback xmlns="">
          <p:sp>
            <p:nvSpPr>
              <p:cNvPr id="5" name="CuadroTexto 4">
                <a:extLst>
                  <a:ext uri="{FF2B5EF4-FFF2-40B4-BE49-F238E27FC236}">
                    <a16:creationId xmlns:a16="http://schemas.microsoft.com/office/drawing/2014/main" id="{81C8591B-C95B-1BA6-4F9A-32596B2F4530}"/>
                  </a:ext>
                </a:extLst>
              </p:cNvPr>
              <p:cNvSpPr txBox="1">
                <a:spLocks noRot="1" noChangeAspect="1" noMove="1" noResize="1" noEditPoints="1" noAdjustHandles="1" noChangeArrowheads="1" noChangeShapeType="1" noTextEdit="1"/>
              </p:cNvSpPr>
              <p:nvPr/>
            </p:nvSpPr>
            <p:spPr>
              <a:xfrm>
                <a:off x="2267744" y="2006776"/>
                <a:ext cx="3649424" cy="67698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11 CuadroTexto">
                <a:extLst>
                  <a:ext uri="{FF2B5EF4-FFF2-40B4-BE49-F238E27FC236}">
                    <a16:creationId xmlns:a16="http://schemas.microsoft.com/office/drawing/2014/main" id="{CE461EE5-389A-D8E8-4BEA-61954C5E1691}"/>
                  </a:ext>
                </a:extLst>
              </p:cNvPr>
              <p:cNvSpPr txBox="1"/>
              <p:nvPr/>
            </p:nvSpPr>
            <p:spPr>
              <a:xfrm>
                <a:off x="316910" y="2946368"/>
                <a:ext cx="8595742" cy="646331"/>
              </a:xfrm>
              <a:prstGeom prst="rect">
                <a:avLst/>
              </a:prstGeom>
              <a:noFill/>
            </p:spPr>
            <p:txBody>
              <a:bodyPr wrap="square" rtlCol="0">
                <a:spAutoFit/>
              </a:bodyPr>
              <a:lstStyle/>
              <a:p>
                <a:pPr algn="just"/>
                <a:r>
                  <a:rPr lang="es-AR" dirty="0"/>
                  <a:t>Donde </a:t>
                </a:r>
                <a14:m>
                  <m:oMath xmlns:m="http://schemas.openxmlformats.org/officeDocument/2006/math">
                    <m:sSub>
                      <m:sSubPr>
                        <m:ctrlPr>
                          <a:rPr lang="es-AR" sz="1800" b="0" i="1" smtClean="0">
                            <a:latin typeface="Cambria Math" panose="02040503050406030204" pitchFamily="18" charset="0"/>
                          </a:rPr>
                        </m:ctrlPr>
                      </m:sSubPr>
                      <m:e>
                        <m:r>
                          <a:rPr lang="es-AR" sz="1800" b="0" i="1" smtClean="0">
                            <a:latin typeface="Cambria Math" panose="02040503050406030204" pitchFamily="18" charset="0"/>
                          </a:rPr>
                          <m:t>𝑃𝑖</m:t>
                        </m:r>
                      </m:e>
                      <m:sub>
                        <m:r>
                          <a:rPr lang="es-AR" sz="1800" b="0" i="1" smtClean="0">
                            <a:latin typeface="Cambria Math" panose="02040503050406030204" pitchFamily="18" charset="0"/>
                          </a:rPr>
                          <m:t>𝑎𝑐𝑢𝑚</m:t>
                        </m:r>
                      </m:sub>
                    </m:sSub>
                  </m:oMath>
                </a14:m>
                <a:r>
                  <a:rPr lang="es-AR" dirty="0"/>
                  <a:t> es la distribución acumulada de casos y </a:t>
                </a: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𝑄𝑖</m:t>
                        </m:r>
                      </m:e>
                      <m:sub>
                        <m:r>
                          <a:rPr lang="es-AR" i="1">
                            <a:latin typeface="Cambria Math" panose="02040503050406030204" pitchFamily="18" charset="0"/>
                          </a:rPr>
                          <m:t>𝑎𝑐𝑢𝑚</m:t>
                        </m:r>
                      </m:sub>
                    </m:sSub>
                  </m:oMath>
                </a14:m>
                <a:r>
                  <a:rPr lang="es-AR" dirty="0"/>
                  <a:t> es la participación relativa en el ingreso acumulada por cada cuantil </a:t>
                </a:r>
                <a:r>
                  <a:rPr lang="es-AR" i="1" dirty="0"/>
                  <a:t>i-</a:t>
                </a:r>
                <a:r>
                  <a:rPr lang="es-AR" i="1" dirty="0" err="1"/>
                  <a:t>ésimo</a:t>
                </a:r>
                <a:r>
                  <a:rPr lang="es-AR" dirty="0"/>
                  <a:t>.</a:t>
                </a:r>
              </a:p>
            </p:txBody>
          </p:sp>
        </mc:Choice>
        <mc:Fallback xmlns="">
          <p:sp>
            <p:nvSpPr>
              <p:cNvPr id="9" name="11 CuadroTexto">
                <a:extLst>
                  <a:ext uri="{FF2B5EF4-FFF2-40B4-BE49-F238E27FC236}">
                    <a16:creationId xmlns:a16="http://schemas.microsoft.com/office/drawing/2014/main" id="{CE461EE5-389A-D8E8-4BEA-61954C5E1691}"/>
                  </a:ext>
                </a:extLst>
              </p:cNvPr>
              <p:cNvSpPr txBox="1">
                <a:spLocks noRot="1" noChangeAspect="1" noMove="1" noResize="1" noEditPoints="1" noAdjustHandles="1" noChangeArrowheads="1" noChangeShapeType="1" noTextEdit="1"/>
              </p:cNvSpPr>
              <p:nvPr/>
            </p:nvSpPr>
            <p:spPr>
              <a:xfrm>
                <a:off x="316910" y="2946368"/>
                <a:ext cx="8595742" cy="646331"/>
              </a:xfrm>
              <a:prstGeom prst="rect">
                <a:avLst/>
              </a:prstGeom>
              <a:blipFill>
                <a:blip r:embed="rId4"/>
                <a:stretch>
                  <a:fillRect l="-638" t="-4717" r="-567" b="-14151"/>
                </a:stretch>
              </a:blipFill>
            </p:spPr>
            <p:txBody>
              <a:bodyPr/>
              <a:lstStyle/>
              <a:p>
                <a:r>
                  <a:rPr lang="es-AR">
                    <a:noFill/>
                  </a:rPr>
                  <a:t> </a:t>
                </a:r>
              </a:p>
            </p:txBody>
          </p:sp>
        </mc:Fallback>
      </mc:AlternateContent>
    </p:spTree>
    <p:extLst>
      <p:ext uri="{BB962C8B-B14F-4D97-AF65-F5344CB8AC3E}">
        <p14:creationId xmlns:p14="http://schemas.microsoft.com/office/powerpoint/2010/main" val="739571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750121" y="2413831"/>
            <a:ext cx="8163636" cy="1077218"/>
          </a:xfrm>
          <a:prstGeom prst="rect">
            <a:avLst/>
          </a:prstGeom>
          <a:noFill/>
        </p:spPr>
        <p:txBody>
          <a:bodyPr wrap="square" rtlCol="0">
            <a:spAutoFit/>
          </a:bodyPr>
          <a:lstStyle/>
          <a:p>
            <a:endParaRPr lang="es-AR" sz="3200" b="1" dirty="0">
              <a:solidFill>
                <a:schemeClr val="accent4"/>
              </a:solidFill>
              <a:latin typeface="Cambria" panose="02040503050406030204" pitchFamily="18" charset="0"/>
            </a:endParaRPr>
          </a:p>
          <a:p>
            <a:pPr algn="just"/>
            <a:r>
              <a:rPr lang="es-AR" sz="3200" b="1" dirty="0">
                <a:latin typeface="Cambria" panose="02040503050406030204" pitchFamily="18" charset="0"/>
              </a:rPr>
              <a:t>Ejercicios de aplicación</a:t>
            </a:r>
          </a:p>
        </p:txBody>
      </p: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Tree>
    <p:extLst>
      <p:ext uri="{BB962C8B-B14F-4D97-AF65-F5344CB8AC3E}">
        <p14:creationId xmlns:p14="http://schemas.microsoft.com/office/powerpoint/2010/main" val="703763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2308324"/>
          </a:xfrm>
          <a:prstGeom prst="rect">
            <a:avLst/>
          </a:prstGeom>
          <a:noFill/>
        </p:spPr>
        <p:txBody>
          <a:bodyPr wrap="square" rtlCol="0">
            <a:spAutoFit/>
          </a:bodyPr>
          <a:lstStyle/>
          <a:p>
            <a:pPr marL="285750" indent="-285750" algn="just">
              <a:buFont typeface="Wingdings" panose="05000000000000000000" pitchFamily="2" charset="2"/>
              <a:buChar char="§"/>
            </a:pPr>
            <a:r>
              <a:rPr lang="es-AR" dirty="0">
                <a:latin typeface="+mj-lt"/>
              </a:rPr>
              <a:t>Vamos a ver tres formas de analizar la desigualdad en la distribución del ingreso:</a:t>
            </a:r>
          </a:p>
          <a:p>
            <a:pPr marL="285750" indent="-285750" algn="just">
              <a:buFont typeface="Wingdings" panose="05000000000000000000" pitchFamily="2" charset="2"/>
              <a:buChar char="§"/>
            </a:pPr>
            <a:endParaRPr lang="es-AR" dirty="0">
              <a:latin typeface="+mj-lt"/>
            </a:endParaRPr>
          </a:p>
          <a:p>
            <a:pPr marL="742950" lvl="1" indent="-285750" algn="just">
              <a:buFont typeface="Wingdings" panose="05000000000000000000" pitchFamily="2" charset="2"/>
              <a:buChar char="§"/>
            </a:pPr>
            <a:r>
              <a:rPr lang="es-AR" dirty="0">
                <a:latin typeface="+mj-lt"/>
              </a:rPr>
              <a:t>Aproximación estadística básica: medidas de tendencia central, medidas de posición y coeficiente de variabilidad.</a:t>
            </a:r>
          </a:p>
          <a:p>
            <a:pPr marL="742950" lvl="1" indent="-285750" algn="just">
              <a:buFont typeface="Wingdings" panose="05000000000000000000" pitchFamily="2" charset="2"/>
              <a:buChar char="§"/>
            </a:pPr>
            <a:endParaRPr lang="es-AR" dirty="0">
              <a:latin typeface="+mj-lt"/>
            </a:endParaRPr>
          </a:p>
          <a:p>
            <a:pPr marL="742950" lvl="1" indent="-285750" algn="just">
              <a:buFont typeface="Wingdings" panose="05000000000000000000" pitchFamily="2" charset="2"/>
              <a:buChar char="§"/>
            </a:pPr>
            <a:r>
              <a:rPr lang="es-AR" dirty="0">
                <a:latin typeface="+mj-lt"/>
              </a:rPr>
              <a:t>Aproximación gráfica a la distribución: histogramas y función de densidad.</a:t>
            </a:r>
          </a:p>
          <a:p>
            <a:pPr marL="742950" lvl="1" indent="-285750" algn="just">
              <a:buFont typeface="Wingdings" panose="05000000000000000000" pitchFamily="2" charset="2"/>
              <a:buChar char="§"/>
            </a:pPr>
            <a:endParaRPr lang="es-AR" dirty="0">
              <a:latin typeface="+mj-lt"/>
            </a:endParaRPr>
          </a:p>
          <a:p>
            <a:pPr marL="742950" lvl="1" indent="-285750" algn="just">
              <a:buFont typeface="Wingdings" panose="05000000000000000000" pitchFamily="2" charset="2"/>
              <a:buChar char="§"/>
            </a:pPr>
            <a:r>
              <a:rPr lang="es-AR" dirty="0">
                <a:latin typeface="+mj-lt"/>
              </a:rPr>
              <a:t>Indicadores sintéticos: el coeficiente de Gini. </a:t>
            </a:r>
          </a:p>
        </p:txBody>
      </p:sp>
    </p:spTree>
    <p:extLst>
      <p:ext uri="{BB962C8B-B14F-4D97-AF65-F5344CB8AC3E}">
        <p14:creationId xmlns:p14="http://schemas.microsoft.com/office/powerpoint/2010/main" val="2565786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200329"/>
          </a:xfrm>
          <a:prstGeom prst="rect">
            <a:avLst/>
          </a:prstGeom>
          <a:noFill/>
        </p:spPr>
        <p:txBody>
          <a:bodyPr wrap="square" rtlCol="0">
            <a:spAutoFit/>
          </a:bodyPr>
          <a:lstStyle/>
          <a:p>
            <a:pPr algn="just"/>
            <a:r>
              <a:rPr lang="es-AR" b="1" dirty="0">
                <a:latin typeface="+mj-lt"/>
              </a:rPr>
              <a:t>1) Obtener las medidas de tendencia central, posición y dispersión vistas en clase para el Ingreso per cápita familiar (</a:t>
            </a:r>
            <a:r>
              <a:rPr lang="es-AR" b="1" i="1" dirty="0">
                <a:latin typeface="+mj-lt"/>
              </a:rPr>
              <a:t>IPCF)</a:t>
            </a:r>
          </a:p>
          <a:p>
            <a:pPr algn="just"/>
            <a:endParaRPr lang="es-AR" b="1" dirty="0">
              <a:latin typeface="+mj-lt"/>
            </a:endParaRPr>
          </a:p>
          <a:p>
            <a:pPr algn="just"/>
            <a:r>
              <a:rPr lang="es-AR" dirty="0">
                <a:latin typeface="+mj-lt"/>
              </a:rPr>
              <a:t>Paso 1: PONDERAR LA BASE POR PONDIH</a:t>
            </a:r>
          </a:p>
        </p:txBody>
      </p:sp>
      <p:pic>
        <p:nvPicPr>
          <p:cNvPr id="5" name="Imagen 4">
            <a:extLst>
              <a:ext uri="{FF2B5EF4-FFF2-40B4-BE49-F238E27FC236}">
                <a16:creationId xmlns:a16="http://schemas.microsoft.com/office/drawing/2014/main" id="{9202DAB2-73C1-1E71-20B5-836B9BAE8EDB}"/>
              </a:ext>
            </a:extLst>
          </p:cNvPr>
          <p:cNvPicPr>
            <a:picLocks noChangeAspect="1"/>
          </p:cNvPicPr>
          <p:nvPr/>
        </p:nvPicPr>
        <p:blipFill>
          <a:blip r:embed="rId3"/>
          <a:stretch>
            <a:fillRect/>
          </a:stretch>
        </p:blipFill>
        <p:spPr>
          <a:xfrm>
            <a:off x="395288" y="2648364"/>
            <a:ext cx="5872800" cy="2295051"/>
          </a:xfrm>
          <a:prstGeom prst="rect">
            <a:avLst/>
          </a:prstGeom>
        </p:spPr>
      </p:pic>
    </p:spTree>
    <p:extLst>
      <p:ext uri="{BB962C8B-B14F-4D97-AF65-F5344CB8AC3E}">
        <p14:creationId xmlns:p14="http://schemas.microsoft.com/office/powerpoint/2010/main" val="3489933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200329"/>
          </a:xfrm>
          <a:prstGeom prst="rect">
            <a:avLst/>
          </a:prstGeom>
          <a:noFill/>
        </p:spPr>
        <p:txBody>
          <a:bodyPr wrap="square" rtlCol="0">
            <a:spAutoFit/>
          </a:bodyPr>
          <a:lstStyle/>
          <a:p>
            <a:pPr algn="just"/>
            <a:r>
              <a:rPr lang="es-AR" b="1" dirty="0">
                <a:latin typeface="+mj-lt"/>
              </a:rPr>
              <a:t>1) Obtener las medidas de tendencia central, posición y dispersión vistas en clase para el Ingreso per cápita familiar (</a:t>
            </a:r>
            <a:r>
              <a:rPr lang="es-AR" b="1" i="1" dirty="0">
                <a:latin typeface="+mj-lt"/>
              </a:rPr>
              <a:t>IPCF)</a:t>
            </a:r>
          </a:p>
          <a:p>
            <a:pPr algn="just"/>
            <a:endParaRPr lang="es-AR" b="1" dirty="0">
              <a:latin typeface="+mj-lt"/>
            </a:endParaRPr>
          </a:p>
          <a:p>
            <a:pPr algn="just"/>
            <a:r>
              <a:rPr lang="es-AR" dirty="0">
                <a:latin typeface="+mj-lt"/>
              </a:rPr>
              <a:t>Paso 2: ANALIZAR LA DISTRIBUCIÓN</a:t>
            </a:r>
          </a:p>
        </p:txBody>
      </p:sp>
      <p:pic>
        <p:nvPicPr>
          <p:cNvPr id="8" name="Imagen 7">
            <a:extLst>
              <a:ext uri="{FF2B5EF4-FFF2-40B4-BE49-F238E27FC236}">
                <a16:creationId xmlns:a16="http://schemas.microsoft.com/office/drawing/2014/main" id="{E95E3469-BB58-82D9-2749-00C9E22165A5}"/>
              </a:ext>
            </a:extLst>
          </p:cNvPr>
          <p:cNvPicPr>
            <a:picLocks noChangeAspect="1"/>
          </p:cNvPicPr>
          <p:nvPr/>
        </p:nvPicPr>
        <p:blipFill>
          <a:blip r:embed="rId3"/>
          <a:srcRect l="12963" r="61050" b="31875"/>
          <a:stretch/>
        </p:blipFill>
        <p:spPr>
          <a:xfrm>
            <a:off x="420420" y="2380904"/>
            <a:ext cx="2889834" cy="4261323"/>
          </a:xfrm>
          <a:prstGeom prst="rect">
            <a:avLst/>
          </a:prstGeom>
        </p:spPr>
      </p:pic>
      <p:sp>
        <p:nvSpPr>
          <p:cNvPr id="9" name="Elipse 8">
            <a:extLst>
              <a:ext uri="{FF2B5EF4-FFF2-40B4-BE49-F238E27FC236}">
                <a16:creationId xmlns:a16="http://schemas.microsoft.com/office/drawing/2014/main" id="{9F292740-76F4-8CBE-38B3-D6B9EC9FCA94}"/>
              </a:ext>
            </a:extLst>
          </p:cNvPr>
          <p:cNvSpPr/>
          <p:nvPr/>
        </p:nvSpPr>
        <p:spPr>
          <a:xfrm>
            <a:off x="2123728" y="2767987"/>
            <a:ext cx="864096" cy="20330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13" name="Imagen 12">
            <a:extLst>
              <a:ext uri="{FF2B5EF4-FFF2-40B4-BE49-F238E27FC236}">
                <a16:creationId xmlns:a16="http://schemas.microsoft.com/office/drawing/2014/main" id="{E297EA3F-DE69-5F73-A818-2A1A808E3360}"/>
              </a:ext>
            </a:extLst>
          </p:cNvPr>
          <p:cNvPicPr>
            <a:picLocks noChangeAspect="1"/>
          </p:cNvPicPr>
          <p:nvPr/>
        </p:nvPicPr>
        <p:blipFill>
          <a:blip r:embed="rId4"/>
          <a:srcRect b="66811"/>
          <a:stretch/>
        </p:blipFill>
        <p:spPr>
          <a:xfrm>
            <a:off x="3747788" y="2391993"/>
            <a:ext cx="4825059" cy="1037008"/>
          </a:xfrm>
          <a:prstGeom prst="rect">
            <a:avLst/>
          </a:prstGeom>
        </p:spPr>
      </p:pic>
      <p:sp>
        <p:nvSpPr>
          <p:cNvPr id="14" name="Elipse 13">
            <a:extLst>
              <a:ext uri="{FF2B5EF4-FFF2-40B4-BE49-F238E27FC236}">
                <a16:creationId xmlns:a16="http://schemas.microsoft.com/office/drawing/2014/main" id="{B10000FE-54D1-CBF9-C007-4AB3D0F652F8}"/>
              </a:ext>
            </a:extLst>
          </p:cNvPr>
          <p:cNvSpPr/>
          <p:nvPr/>
        </p:nvSpPr>
        <p:spPr>
          <a:xfrm>
            <a:off x="5796136" y="2707193"/>
            <a:ext cx="864096" cy="20330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17" name="Conector recto de flecha 16">
            <a:extLst>
              <a:ext uri="{FF2B5EF4-FFF2-40B4-BE49-F238E27FC236}">
                <a16:creationId xmlns:a16="http://schemas.microsoft.com/office/drawing/2014/main" id="{4C936ABE-9C43-0E81-B575-DF428FCF41AF}"/>
              </a:ext>
            </a:extLst>
          </p:cNvPr>
          <p:cNvCxnSpPr>
            <a:cxnSpLocks/>
            <a:stCxn id="9" idx="6"/>
          </p:cNvCxnSpPr>
          <p:nvPr/>
        </p:nvCxnSpPr>
        <p:spPr>
          <a:xfrm flipV="1">
            <a:off x="2987824" y="2808845"/>
            <a:ext cx="2808312" cy="60794"/>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1" name="Elipse 20">
            <a:extLst>
              <a:ext uri="{FF2B5EF4-FFF2-40B4-BE49-F238E27FC236}">
                <a16:creationId xmlns:a16="http://schemas.microsoft.com/office/drawing/2014/main" id="{0012DB2A-EE65-95D8-59FC-2E49A05A1A39}"/>
              </a:ext>
            </a:extLst>
          </p:cNvPr>
          <p:cNvSpPr/>
          <p:nvPr/>
        </p:nvSpPr>
        <p:spPr>
          <a:xfrm>
            <a:off x="7668344" y="2635591"/>
            <a:ext cx="864096" cy="20330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22" name="Conector recto de flecha 21">
            <a:extLst>
              <a:ext uri="{FF2B5EF4-FFF2-40B4-BE49-F238E27FC236}">
                <a16:creationId xmlns:a16="http://schemas.microsoft.com/office/drawing/2014/main" id="{48831BCD-77F8-DEF6-B2D8-BA0EEBE86FF8}"/>
              </a:ext>
            </a:extLst>
          </p:cNvPr>
          <p:cNvCxnSpPr>
            <a:cxnSpLocks/>
            <a:stCxn id="21" idx="4"/>
            <a:endCxn id="27" idx="0"/>
          </p:cNvCxnSpPr>
          <p:nvPr/>
        </p:nvCxnSpPr>
        <p:spPr>
          <a:xfrm flipH="1">
            <a:off x="5948484" y="2838895"/>
            <a:ext cx="2151908" cy="107331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pic>
        <p:nvPicPr>
          <p:cNvPr id="27" name="Imagen 26">
            <a:extLst>
              <a:ext uri="{FF2B5EF4-FFF2-40B4-BE49-F238E27FC236}">
                <a16:creationId xmlns:a16="http://schemas.microsoft.com/office/drawing/2014/main" id="{BDFF2897-73FF-44B2-BDF1-524E02C5BF7D}"/>
              </a:ext>
            </a:extLst>
          </p:cNvPr>
          <p:cNvPicPr>
            <a:picLocks noChangeAspect="1"/>
          </p:cNvPicPr>
          <p:nvPr/>
        </p:nvPicPr>
        <p:blipFill>
          <a:blip r:embed="rId5"/>
          <a:stretch>
            <a:fillRect/>
          </a:stretch>
        </p:blipFill>
        <p:spPr>
          <a:xfrm>
            <a:off x="3996507" y="3912205"/>
            <a:ext cx="3903953" cy="2612420"/>
          </a:xfrm>
          <a:prstGeom prst="rect">
            <a:avLst/>
          </a:prstGeom>
        </p:spPr>
      </p:pic>
    </p:spTree>
    <p:extLst>
      <p:ext uri="{BB962C8B-B14F-4D97-AF65-F5344CB8AC3E}">
        <p14:creationId xmlns:p14="http://schemas.microsoft.com/office/powerpoint/2010/main" val="469898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9" name="Imagen 8">
            <a:extLst>
              <a:ext uri="{FF2B5EF4-FFF2-40B4-BE49-F238E27FC236}">
                <a16:creationId xmlns:a16="http://schemas.microsoft.com/office/drawing/2014/main" id="{48ED97B2-E55B-32BC-A449-4E0FD4999DAE}"/>
              </a:ext>
            </a:extLst>
          </p:cNvPr>
          <p:cNvPicPr>
            <a:picLocks noChangeAspect="1"/>
          </p:cNvPicPr>
          <p:nvPr/>
        </p:nvPicPr>
        <p:blipFill>
          <a:blip r:embed="rId3"/>
          <a:stretch>
            <a:fillRect/>
          </a:stretch>
        </p:blipFill>
        <p:spPr>
          <a:xfrm>
            <a:off x="1105144" y="2710628"/>
            <a:ext cx="2952750" cy="1771650"/>
          </a:xfrm>
          <a:prstGeom prst="rect">
            <a:avLst/>
          </a:prstGeom>
        </p:spPr>
      </p:pic>
      <p:pic>
        <p:nvPicPr>
          <p:cNvPr id="18" name="Imagen 17">
            <a:extLst>
              <a:ext uri="{FF2B5EF4-FFF2-40B4-BE49-F238E27FC236}">
                <a16:creationId xmlns:a16="http://schemas.microsoft.com/office/drawing/2014/main" id="{E8696E30-72B8-0C3A-9AD7-F76793915608}"/>
              </a:ext>
            </a:extLst>
          </p:cNvPr>
          <p:cNvPicPr>
            <a:picLocks noChangeAspect="1"/>
          </p:cNvPicPr>
          <p:nvPr/>
        </p:nvPicPr>
        <p:blipFill>
          <a:blip r:embed="rId4"/>
          <a:stretch>
            <a:fillRect/>
          </a:stretch>
        </p:blipFill>
        <p:spPr>
          <a:xfrm>
            <a:off x="5086108" y="2718319"/>
            <a:ext cx="3048000" cy="2857500"/>
          </a:xfrm>
          <a:prstGeom prst="rect">
            <a:avLst/>
          </a:prstGeom>
        </p:spPr>
      </p:pic>
      <p:sp>
        <p:nvSpPr>
          <p:cNvPr id="21" name="11 CuadroTexto">
            <a:extLst>
              <a:ext uri="{FF2B5EF4-FFF2-40B4-BE49-F238E27FC236}">
                <a16:creationId xmlns:a16="http://schemas.microsoft.com/office/drawing/2014/main" id="{0639B32F-30D2-58D5-4C2B-403FBFE4454B}"/>
              </a:ext>
            </a:extLst>
          </p:cNvPr>
          <p:cNvSpPr txBox="1"/>
          <p:nvPr/>
        </p:nvSpPr>
        <p:spPr>
          <a:xfrm>
            <a:off x="181665" y="5870087"/>
            <a:ext cx="2755790" cy="276999"/>
          </a:xfrm>
          <a:prstGeom prst="rect">
            <a:avLst/>
          </a:prstGeom>
          <a:noFill/>
        </p:spPr>
        <p:txBody>
          <a:bodyPr wrap="square" rtlCol="0">
            <a:spAutoFit/>
          </a:bodyPr>
          <a:lstStyle/>
          <a:p>
            <a:pPr algn="just"/>
            <a:r>
              <a:rPr lang="es-AR" sz="1200" dirty="0">
                <a:latin typeface="+mj-lt"/>
              </a:rPr>
              <a:t>Resultados ponderados por PONDIH</a:t>
            </a:r>
          </a:p>
        </p:txBody>
      </p:sp>
      <p:sp>
        <p:nvSpPr>
          <p:cNvPr id="5" name="11 CuadroTexto">
            <a:extLst>
              <a:ext uri="{FF2B5EF4-FFF2-40B4-BE49-F238E27FC236}">
                <a16:creationId xmlns:a16="http://schemas.microsoft.com/office/drawing/2014/main" id="{FF9F65AA-ACBC-2B93-219B-2B0ADA49EF6A}"/>
              </a:ext>
            </a:extLst>
          </p:cNvPr>
          <p:cNvSpPr txBox="1"/>
          <p:nvPr/>
        </p:nvSpPr>
        <p:spPr>
          <a:xfrm>
            <a:off x="297432" y="1231234"/>
            <a:ext cx="8595742" cy="1200329"/>
          </a:xfrm>
          <a:prstGeom prst="rect">
            <a:avLst/>
          </a:prstGeom>
          <a:noFill/>
        </p:spPr>
        <p:txBody>
          <a:bodyPr wrap="square" rtlCol="0">
            <a:spAutoFit/>
          </a:bodyPr>
          <a:lstStyle/>
          <a:p>
            <a:pPr algn="just"/>
            <a:r>
              <a:rPr lang="es-AR" b="1" dirty="0">
                <a:latin typeface="+mj-lt"/>
              </a:rPr>
              <a:t>1) Obtener las medidas de tendencia central, posición y dispersión vistas en clase para el Ingreso per cápita familiar (</a:t>
            </a:r>
            <a:r>
              <a:rPr lang="es-AR" b="1" i="1" dirty="0">
                <a:latin typeface="+mj-lt"/>
              </a:rPr>
              <a:t>IPCF)</a:t>
            </a:r>
          </a:p>
          <a:p>
            <a:pPr algn="just"/>
            <a:endParaRPr lang="es-AR" b="1" dirty="0">
              <a:latin typeface="+mj-lt"/>
            </a:endParaRPr>
          </a:p>
          <a:p>
            <a:pPr algn="just"/>
            <a:r>
              <a:rPr lang="es-AR" dirty="0">
                <a:latin typeface="+mj-lt"/>
              </a:rPr>
              <a:t>Paso 3: FORMULAR UNA LECTURA INTEGRADA DE LA INFORMACIÓN</a:t>
            </a:r>
          </a:p>
        </p:txBody>
      </p:sp>
    </p:spTree>
    <p:extLst>
      <p:ext uri="{BB962C8B-B14F-4D97-AF65-F5344CB8AC3E}">
        <p14:creationId xmlns:p14="http://schemas.microsoft.com/office/powerpoint/2010/main" val="1340079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2585323"/>
          </a:xfrm>
          <a:prstGeom prst="rect">
            <a:avLst/>
          </a:prstGeom>
          <a:noFill/>
        </p:spPr>
        <p:txBody>
          <a:bodyPr wrap="square" rtlCol="0">
            <a:spAutoFit/>
          </a:bodyPr>
          <a:lstStyle/>
          <a:p>
            <a:pPr algn="just"/>
            <a:r>
              <a:rPr lang="es-AR" b="1" dirty="0"/>
              <a:t>2) Comparar los promedios de IPCF según el nivel educativo del jefe de hogar</a:t>
            </a:r>
          </a:p>
          <a:p>
            <a:pPr algn="just"/>
            <a:endParaRPr lang="es-AR" b="1" i="1" dirty="0"/>
          </a:p>
          <a:p>
            <a:pPr algn="just"/>
            <a:r>
              <a:rPr lang="es-AR" dirty="0"/>
              <a:t>Paso 1: FORMULAR UNA HIPÓTESIS DE LECTURA DE LOS DATOS QUE RELACIONEN NIVEL EDUCATIVO (</a:t>
            </a:r>
            <a:r>
              <a:rPr lang="es-AR" i="1" dirty="0" err="1"/>
              <a:t>h_educajefe</a:t>
            </a:r>
            <a:r>
              <a:rPr lang="es-AR" i="1" dirty="0"/>
              <a:t>)</a:t>
            </a:r>
            <a:r>
              <a:rPr lang="es-AR" dirty="0"/>
              <a:t> CON EL INGRESO PER CÁPITA FAMILIAR (</a:t>
            </a:r>
            <a:r>
              <a:rPr lang="es-AR" i="1" dirty="0"/>
              <a:t>IPCF)</a:t>
            </a:r>
            <a:r>
              <a:rPr lang="es-AR" dirty="0"/>
              <a:t>.</a:t>
            </a:r>
          </a:p>
          <a:p>
            <a:pPr algn="just"/>
            <a:endParaRPr lang="es-AR" dirty="0"/>
          </a:p>
          <a:p>
            <a:pPr algn="just"/>
            <a:r>
              <a:rPr lang="es-AR" dirty="0"/>
              <a:t>Paso 2: FILTRAR A LAS PERSONAS QUE VIVEN EN HOGARES CON JEFES CON SECUNDARIA INCOMPLETA. REPETIR LA OPERACIÓN PARA PERSONAS EN HOGARES CON JEFES CON UNIVERSITARIO COMPLETO. </a:t>
            </a:r>
          </a:p>
          <a:p>
            <a:pPr algn="just"/>
            <a:endParaRPr lang="es-AR" b="1" i="1" dirty="0"/>
          </a:p>
        </p:txBody>
      </p:sp>
    </p:spTree>
    <p:extLst>
      <p:ext uri="{BB962C8B-B14F-4D97-AF65-F5344CB8AC3E}">
        <p14:creationId xmlns:p14="http://schemas.microsoft.com/office/powerpoint/2010/main" val="200674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53DA099C-746A-5E4B-49B8-592D6A77EA4F}"/>
              </a:ext>
            </a:extLst>
          </p:cNvPr>
          <p:cNvPicPr>
            <a:picLocks noChangeAspect="1"/>
          </p:cNvPicPr>
          <p:nvPr/>
        </p:nvPicPr>
        <p:blipFill>
          <a:blip r:embed="rId3"/>
          <a:srcRect b="61090"/>
          <a:stretch/>
        </p:blipFill>
        <p:spPr>
          <a:xfrm>
            <a:off x="3635896" y="1765447"/>
            <a:ext cx="3763888" cy="1250962"/>
          </a:xfrm>
          <a:prstGeom prst="rect">
            <a:avLst/>
          </a:prstGeom>
        </p:spPr>
      </p:pic>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646331"/>
          </a:xfrm>
          <a:prstGeom prst="rect">
            <a:avLst/>
          </a:prstGeom>
          <a:noFill/>
        </p:spPr>
        <p:txBody>
          <a:bodyPr wrap="square" rtlCol="0">
            <a:spAutoFit/>
          </a:bodyPr>
          <a:lstStyle/>
          <a:p>
            <a:pPr algn="just"/>
            <a:r>
              <a:rPr lang="es-AR" b="1" dirty="0"/>
              <a:t>2) Comparar los promedios de IPCF según el nivel educativo del jefe de hogar</a:t>
            </a:r>
          </a:p>
          <a:p>
            <a:pPr algn="just"/>
            <a:endParaRPr lang="es-AR" b="1" i="1" dirty="0"/>
          </a:p>
        </p:txBody>
      </p:sp>
      <p:pic>
        <p:nvPicPr>
          <p:cNvPr id="9" name="Imagen 8">
            <a:extLst>
              <a:ext uri="{FF2B5EF4-FFF2-40B4-BE49-F238E27FC236}">
                <a16:creationId xmlns:a16="http://schemas.microsoft.com/office/drawing/2014/main" id="{348FF975-9741-FA63-AF7F-E222AF01521E}"/>
              </a:ext>
            </a:extLst>
          </p:cNvPr>
          <p:cNvPicPr>
            <a:picLocks noChangeAspect="1"/>
          </p:cNvPicPr>
          <p:nvPr/>
        </p:nvPicPr>
        <p:blipFill>
          <a:blip r:embed="rId4"/>
          <a:srcRect r="69687" b="31800"/>
          <a:stretch/>
        </p:blipFill>
        <p:spPr>
          <a:xfrm>
            <a:off x="363141" y="1813485"/>
            <a:ext cx="2771800" cy="3507845"/>
          </a:xfrm>
          <a:prstGeom prst="rect">
            <a:avLst/>
          </a:prstGeom>
        </p:spPr>
      </p:pic>
      <p:sp>
        <p:nvSpPr>
          <p:cNvPr id="10" name="Elipse 9">
            <a:extLst>
              <a:ext uri="{FF2B5EF4-FFF2-40B4-BE49-F238E27FC236}">
                <a16:creationId xmlns:a16="http://schemas.microsoft.com/office/drawing/2014/main" id="{EAB97F7E-F388-B604-25D4-4F28969494A5}"/>
              </a:ext>
            </a:extLst>
          </p:cNvPr>
          <p:cNvSpPr/>
          <p:nvPr/>
        </p:nvSpPr>
        <p:spPr>
          <a:xfrm>
            <a:off x="1020760" y="4849287"/>
            <a:ext cx="936104" cy="20640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18" name="Imagen 17">
            <a:extLst>
              <a:ext uri="{FF2B5EF4-FFF2-40B4-BE49-F238E27FC236}">
                <a16:creationId xmlns:a16="http://schemas.microsoft.com/office/drawing/2014/main" id="{F9F2D8A5-1E81-3D13-6F61-26BC546F777F}"/>
              </a:ext>
            </a:extLst>
          </p:cNvPr>
          <p:cNvPicPr>
            <a:picLocks noChangeAspect="1"/>
          </p:cNvPicPr>
          <p:nvPr/>
        </p:nvPicPr>
        <p:blipFill>
          <a:blip r:embed="rId5"/>
          <a:stretch>
            <a:fillRect/>
          </a:stretch>
        </p:blipFill>
        <p:spPr>
          <a:xfrm>
            <a:off x="3468057" y="3435311"/>
            <a:ext cx="5220072" cy="3001034"/>
          </a:xfrm>
          <a:prstGeom prst="rect">
            <a:avLst/>
          </a:prstGeom>
        </p:spPr>
      </p:pic>
      <p:cxnSp>
        <p:nvCxnSpPr>
          <p:cNvPr id="14" name="Conector recto de flecha 13">
            <a:extLst>
              <a:ext uri="{FF2B5EF4-FFF2-40B4-BE49-F238E27FC236}">
                <a16:creationId xmlns:a16="http://schemas.microsoft.com/office/drawing/2014/main" id="{A325C40C-160C-9F49-83EA-369F99CDDA1D}"/>
              </a:ext>
            </a:extLst>
          </p:cNvPr>
          <p:cNvCxnSpPr>
            <a:cxnSpLocks/>
          </p:cNvCxnSpPr>
          <p:nvPr/>
        </p:nvCxnSpPr>
        <p:spPr>
          <a:xfrm flipV="1">
            <a:off x="1956864" y="2541102"/>
            <a:ext cx="2983382" cy="2409888"/>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4" name="Elipse 23">
            <a:extLst>
              <a:ext uri="{FF2B5EF4-FFF2-40B4-BE49-F238E27FC236}">
                <a16:creationId xmlns:a16="http://schemas.microsoft.com/office/drawing/2014/main" id="{DB110DCB-67D8-7C38-9F9D-E421B927C9EE}"/>
              </a:ext>
            </a:extLst>
          </p:cNvPr>
          <p:cNvSpPr/>
          <p:nvPr/>
        </p:nvSpPr>
        <p:spPr>
          <a:xfrm>
            <a:off x="4595303" y="2334701"/>
            <a:ext cx="936104" cy="20640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26" name="Conector recto de flecha 25">
            <a:extLst>
              <a:ext uri="{FF2B5EF4-FFF2-40B4-BE49-F238E27FC236}">
                <a16:creationId xmlns:a16="http://schemas.microsoft.com/office/drawing/2014/main" id="{489E0EA0-8EF2-007C-96DB-54C41D7D2A7C}"/>
              </a:ext>
            </a:extLst>
          </p:cNvPr>
          <p:cNvCxnSpPr>
            <a:cxnSpLocks/>
          </p:cNvCxnSpPr>
          <p:nvPr/>
        </p:nvCxnSpPr>
        <p:spPr>
          <a:xfrm>
            <a:off x="5063355" y="2554143"/>
            <a:ext cx="157826" cy="1172067"/>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87339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4524315"/>
          </a:xfrm>
          <a:prstGeom prst="rect">
            <a:avLst/>
          </a:prstGeom>
          <a:noFill/>
        </p:spPr>
        <p:txBody>
          <a:bodyPr wrap="square" rtlCol="0">
            <a:spAutoFit/>
          </a:bodyPr>
          <a:lstStyle/>
          <a:p>
            <a:pPr algn="just"/>
            <a:r>
              <a:rPr lang="es-AR" b="1" dirty="0"/>
              <a:t>2) Comparar los promedios de IPCF según el nivel educativo del jefe de hogar</a:t>
            </a:r>
          </a:p>
          <a:p>
            <a:pPr algn="just"/>
            <a:endParaRPr lang="es-AR" b="1" i="1" dirty="0"/>
          </a:p>
          <a:p>
            <a:pPr algn="just"/>
            <a:r>
              <a:rPr lang="es-AR" dirty="0"/>
              <a:t>Paso 3: </a:t>
            </a:r>
            <a:r>
              <a:rPr lang="es-AR" dirty="0">
                <a:latin typeface="+mj-lt"/>
              </a:rPr>
              <a:t>ANALIZAR LA DISTRIBUCIÓN (IGUAL QUE HICIMOS EN EL EJERCICIO 1). FORMULAR UNA LECTURA INTEGRADA</a:t>
            </a:r>
            <a:endParaRPr lang="es-AR" dirty="0"/>
          </a:p>
          <a:p>
            <a:pPr algn="just"/>
            <a:endParaRPr lang="es-AR" b="1" i="1" dirty="0"/>
          </a:p>
          <a:p>
            <a:pPr algn="just"/>
            <a:endParaRPr lang="es-AR" b="1" i="1" dirty="0"/>
          </a:p>
          <a:p>
            <a:pPr algn="just"/>
            <a:endParaRPr lang="es-AR" b="1" i="1" dirty="0"/>
          </a:p>
          <a:p>
            <a:pPr algn="just"/>
            <a:endParaRPr lang="es-AR" b="1" i="1" dirty="0"/>
          </a:p>
          <a:p>
            <a:pPr algn="just"/>
            <a:endParaRPr lang="es-AR" b="1" i="1" dirty="0"/>
          </a:p>
          <a:p>
            <a:pPr algn="just"/>
            <a:endParaRPr lang="es-AR" b="1" i="1" dirty="0"/>
          </a:p>
          <a:p>
            <a:pPr algn="just"/>
            <a:endParaRPr lang="es-AR" b="1" i="1" dirty="0"/>
          </a:p>
          <a:p>
            <a:pPr algn="just"/>
            <a:endParaRPr lang="es-AR" b="1" i="1" dirty="0"/>
          </a:p>
          <a:p>
            <a:pPr algn="just"/>
            <a:endParaRPr lang="es-AR" b="1" i="1" dirty="0"/>
          </a:p>
          <a:p>
            <a:pPr algn="just"/>
            <a:endParaRPr lang="es-AR" b="1" i="1" dirty="0"/>
          </a:p>
          <a:p>
            <a:pPr algn="just"/>
            <a:r>
              <a:rPr lang="es-AR" dirty="0"/>
              <a:t>Paso 4: ¿CUÁL ES LA DISTRIBUCIÓN MÁS HETEROGÉNEA? CALCULAR EL COEFICIENTE DE VARIACIÓN</a:t>
            </a:r>
          </a:p>
        </p:txBody>
      </p:sp>
      <p:sp>
        <p:nvSpPr>
          <p:cNvPr id="21" name="11 CuadroTexto">
            <a:extLst>
              <a:ext uri="{FF2B5EF4-FFF2-40B4-BE49-F238E27FC236}">
                <a16:creationId xmlns:a16="http://schemas.microsoft.com/office/drawing/2014/main" id="{0639B32F-30D2-58D5-4C2B-403FBFE4454B}"/>
              </a:ext>
            </a:extLst>
          </p:cNvPr>
          <p:cNvSpPr txBox="1"/>
          <p:nvPr/>
        </p:nvSpPr>
        <p:spPr>
          <a:xfrm>
            <a:off x="277261" y="4520153"/>
            <a:ext cx="2755790" cy="276999"/>
          </a:xfrm>
          <a:prstGeom prst="rect">
            <a:avLst/>
          </a:prstGeom>
          <a:noFill/>
        </p:spPr>
        <p:txBody>
          <a:bodyPr wrap="square" rtlCol="0">
            <a:spAutoFit/>
          </a:bodyPr>
          <a:lstStyle/>
          <a:p>
            <a:pPr algn="just"/>
            <a:r>
              <a:rPr lang="es-AR" sz="1200" dirty="0">
                <a:latin typeface="+mj-lt"/>
              </a:rPr>
              <a:t>Resultados ponderados por PONDIH</a:t>
            </a:r>
          </a:p>
        </p:txBody>
      </p:sp>
      <p:pic>
        <p:nvPicPr>
          <p:cNvPr id="10" name="Imagen 9">
            <a:extLst>
              <a:ext uri="{FF2B5EF4-FFF2-40B4-BE49-F238E27FC236}">
                <a16:creationId xmlns:a16="http://schemas.microsoft.com/office/drawing/2014/main" id="{603E414B-58E8-6062-2C7B-CE4F5AE4C141}"/>
              </a:ext>
            </a:extLst>
          </p:cNvPr>
          <p:cNvPicPr>
            <a:picLocks noChangeAspect="1"/>
          </p:cNvPicPr>
          <p:nvPr/>
        </p:nvPicPr>
        <p:blipFill>
          <a:blip r:embed="rId3"/>
          <a:stretch>
            <a:fillRect/>
          </a:stretch>
        </p:blipFill>
        <p:spPr>
          <a:xfrm>
            <a:off x="1467701" y="2697887"/>
            <a:ext cx="3048000" cy="1809750"/>
          </a:xfrm>
          <a:prstGeom prst="rect">
            <a:avLst/>
          </a:prstGeom>
        </p:spPr>
      </p:pic>
      <p:sp>
        <p:nvSpPr>
          <p:cNvPr id="13" name="11 CuadroTexto">
            <a:extLst>
              <a:ext uri="{FF2B5EF4-FFF2-40B4-BE49-F238E27FC236}">
                <a16:creationId xmlns:a16="http://schemas.microsoft.com/office/drawing/2014/main" id="{6878F402-47D1-EBD7-B27B-3029CDDEF0A3}"/>
              </a:ext>
            </a:extLst>
          </p:cNvPr>
          <p:cNvSpPr txBox="1"/>
          <p:nvPr/>
        </p:nvSpPr>
        <p:spPr>
          <a:xfrm>
            <a:off x="1383696" y="2420888"/>
            <a:ext cx="2755790" cy="276999"/>
          </a:xfrm>
          <a:prstGeom prst="rect">
            <a:avLst/>
          </a:prstGeom>
          <a:noFill/>
        </p:spPr>
        <p:txBody>
          <a:bodyPr wrap="square" rtlCol="0">
            <a:spAutoFit/>
          </a:bodyPr>
          <a:lstStyle/>
          <a:p>
            <a:pPr algn="just"/>
            <a:r>
              <a:rPr lang="es-AR" sz="1200" dirty="0">
                <a:solidFill>
                  <a:srgbClr val="FF0000"/>
                </a:solidFill>
                <a:latin typeface="+mj-lt"/>
              </a:rPr>
              <a:t>Hasta secundaria incompleta</a:t>
            </a:r>
          </a:p>
        </p:txBody>
      </p:sp>
      <p:pic>
        <p:nvPicPr>
          <p:cNvPr id="22" name="Imagen 21">
            <a:extLst>
              <a:ext uri="{FF2B5EF4-FFF2-40B4-BE49-F238E27FC236}">
                <a16:creationId xmlns:a16="http://schemas.microsoft.com/office/drawing/2014/main" id="{83615EFB-3B08-70A0-ACC3-A7A7761F25DA}"/>
              </a:ext>
            </a:extLst>
          </p:cNvPr>
          <p:cNvPicPr>
            <a:picLocks noChangeAspect="1"/>
          </p:cNvPicPr>
          <p:nvPr/>
        </p:nvPicPr>
        <p:blipFill>
          <a:blip r:embed="rId4"/>
          <a:stretch>
            <a:fillRect/>
          </a:stretch>
        </p:blipFill>
        <p:spPr>
          <a:xfrm>
            <a:off x="5221740" y="2716220"/>
            <a:ext cx="3048000" cy="1809750"/>
          </a:xfrm>
          <a:prstGeom prst="rect">
            <a:avLst/>
          </a:prstGeom>
        </p:spPr>
      </p:pic>
      <p:sp>
        <p:nvSpPr>
          <p:cNvPr id="23" name="11 CuadroTexto">
            <a:extLst>
              <a:ext uri="{FF2B5EF4-FFF2-40B4-BE49-F238E27FC236}">
                <a16:creationId xmlns:a16="http://schemas.microsoft.com/office/drawing/2014/main" id="{F573C577-FB1F-5AB8-33CE-DC34D1F7134F}"/>
              </a:ext>
            </a:extLst>
          </p:cNvPr>
          <p:cNvSpPr txBox="1"/>
          <p:nvPr/>
        </p:nvSpPr>
        <p:spPr>
          <a:xfrm>
            <a:off x="5148064" y="2462730"/>
            <a:ext cx="2755790" cy="276999"/>
          </a:xfrm>
          <a:prstGeom prst="rect">
            <a:avLst/>
          </a:prstGeom>
          <a:noFill/>
        </p:spPr>
        <p:txBody>
          <a:bodyPr wrap="square" rtlCol="0">
            <a:spAutoFit/>
          </a:bodyPr>
          <a:lstStyle/>
          <a:p>
            <a:pPr algn="just"/>
            <a:r>
              <a:rPr lang="es-AR" sz="1200" dirty="0">
                <a:solidFill>
                  <a:srgbClr val="FF0000"/>
                </a:solidFill>
                <a:latin typeface="+mj-lt"/>
              </a:rPr>
              <a:t>Universitario completo y más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CDAE3C0-11B8-89D4-824E-9EC76E31EEC4}"/>
                  </a:ext>
                </a:extLst>
              </p:cNvPr>
              <p:cNvSpPr txBox="1"/>
              <p:nvPr/>
            </p:nvSpPr>
            <p:spPr>
              <a:xfrm>
                <a:off x="755576" y="5624438"/>
                <a:ext cx="2592288" cy="566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r>
                            <a:rPr lang="es-AR" sz="1800" b="0" i="1" smtClean="0">
                              <a:latin typeface="Cambria Math" panose="02040503050406030204" pitchFamily="18" charset="0"/>
                            </a:rPr>
                            <m:t>𝑠</m:t>
                          </m:r>
                        </m:num>
                        <m:den>
                          <m:acc>
                            <m:accPr>
                              <m:chr m:val="̅"/>
                              <m:ctrlPr>
                                <a:rPr lang="es-AR" altLang="es-AR" sz="1800" b="1" i="1" dirty="0">
                                  <a:latin typeface="Cambria Math" panose="02040503050406030204" pitchFamily="18" charset="0"/>
                                  <a:ea typeface="Cambria" panose="02040503050406030204" pitchFamily="18" charset="0"/>
                                  <a:cs typeface="Calibri" panose="020F0502020204030204" pitchFamily="34" charset="0"/>
                                </a:rPr>
                              </m:ctrlPr>
                            </m:accPr>
                            <m:e>
                              <m:r>
                                <a:rPr lang="es-AR" altLang="es-AR" sz="1800" b="1" i="1" dirty="0">
                                  <a:latin typeface="Cambria Math" panose="02040503050406030204" pitchFamily="18" charset="0"/>
                                  <a:ea typeface="Cambria" panose="02040503050406030204" pitchFamily="18" charset="0"/>
                                  <a:cs typeface="Calibri" panose="020F0502020204030204" pitchFamily="34" charset="0"/>
                                </a:rPr>
                                <m:t>𝒙</m:t>
                              </m:r>
                            </m:e>
                          </m:acc>
                        </m:den>
                      </m:f>
                      <m:r>
                        <a:rPr lang="el-GR" sz="1800" i="1" smtClean="0">
                          <a:latin typeface="Cambria Math" panose="02040503050406030204" pitchFamily="18" charset="0"/>
                          <a:ea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100</m:t>
                      </m:r>
                    </m:oMath>
                  </m:oMathPara>
                </a14:m>
                <a:endParaRPr lang="es-AR" sz="1800" dirty="0"/>
              </a:p>
            </p:txBody>
          </p:sp>
        </mc:Choice>
        <mc:Fallback>
          <p:sp>
            <p:nvSpPr>
              <p:cNvPr id="2" name="CuadroTexto 1">
                <a:extLst>
                  <a:ext uri="{FF2B5EF4-FFF2-40B4-BE49-F238E27FC236}">
                    <a16:creationId xmlns:a16="http://schemas.microsoft.com/office/drawing/2014/main" id="{ACDAE3C0-11B8-89D4-824E-9EC76E31EEC4}"/>
                  </a:ext>
                </a:extLst>
              </p:cNvPr>
              <p:cNvSpPr txBox="1">
                <a:spLocks noRot="1" noChangeAspect="1" noMove="1" noResize="1" noEditPoints="1" noAdjustHandles="1" noChangeArrowheads="1" noChangeShapeType="1" noTextEdit="1"/>
              </p:cNvSpPr>
              <p:nvPr/>
            </p:nvSpPr>
            <p:spPr>
              <a:xfrm>
                <a:off x="755576" y="5624438"/>
                <a:ext cx="2592288" cy="566630"/>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195CCA2A-E23F-0AE6-6FAA-ABC18C5BF694}"/>
                  </a:ext>
                </a:extLst>
              </p:cNvPr>
              <p:cNvSpPr txBox="1"/>
              <p:nvPr/>
            </p:nvSpPr>
            <p:spPr>
              <a:xfrm>
                <a:off x="2776841" y="5624438"/>
                <a:ext cx="2592288"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r>
                            <a:rPr lang="es-AR" sz="1800" b="0" i="1" smtClean="0">
                              <a:latin typeface="Cambria Math" panose="02040503050406030204" pitchFamily="18" charset="0"/>
                            </a:rPr>
                            <m:t>80124</m:t>
                          </m:r>
                        </m:num>
                        <m:den>
                          <m:r>
                            <a:rPr lang="es-AR" altLang="es-AR" sz="1800" b="0" i="1" dirty="0" smtClean="0">
                              <a:latin typeface="Cambria Math" panose="02040503050406030204" pitchFamily="18" charset="0"/>
                              <a:ea typeface="Cambria" panose="02040503050406030204" pitchFamily="18" charset="0"/>
                              <a:cs typeface="Calibri" panose="020F0502020204030204" pitchFamily="34" charset="0"/>
                            </a:rPr>
                            <m:t>103831</m:t>
                          </m:r>
                        </m:den>
                      </m:f>
                      <m:r>
                        <a:rPr lang="el-GR" sz="1800" i="1" smtClean="0">
                          <a:latin typeface="Cambria Math" panose="02040503050406030204" pitchFamily="18" charset="0"/>
                          <a:ea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100</m:t>
                      </m:r>
                    </m:oMath>
                  </m:oMathPara>
                </a14:m>
                <a:endParaRPr lang="es-AR" sz="1800" dirty="0"/>
              </a:p>
            </p:txBody>
          </p:sp>
        </mc:Choice>
        <mc:Fallback>
          <p:sp>
            <p:nvSpPr>
              <p:cNvPr id="5" name="CuadroTexto 4">
                <a:extLst>
                  <a:ext uri="{FF2B5EF4-FFF2-40B4-BE49-F238E27FC236}">
                    <a16:creationId xmlns:a16="http://schemas.microsoft.com/office/drawing/2014/main" id="{195CCA2A-E23F-0AE6-6FAA-ABC18C5BF694}"/>
                  </a:ext>
                </a:extLst>
              </p:cNvPr>
              <p:cNvSpPr txBox="1">
                <a:spLocks noRot="1" noChangeAspect="1" noMove="1" noResize="1" noEditPoints="1" noAdjustHandles="1" noChangeArrowheads="1" noChangeShapeType="1" noTextEdit="1"/>
              </p:cNvSpPr>
              <p:nvPr/>
            </p:nvSpPr>
            <p:spPr>
              <a:xfrm>
                <a:off x="2776841" y="5624438"/>
                <a:ext cx="2592288" cy="612732"/>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B0CF5192-4E10-1772-511E-6E83E05276F1}"/>
                  </a:ext>
                </a:extLst>
              </p:cNvPr>
              <p:cNvSpPr txBox="1"/>
              <p:nvPr/>
            </p:nvSpPr>
            <p:spPr>
              <a:xfrm>
                <a:off x="5558914" y="5589240"/>
                <a:ext cx="2592288"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r>
                            <a:rPr lang="es-AR" sz="1800" b="0" i="1" smtClean="0">
                              <a:latin typeface="Cambria Math" panose="02040503050406030204" pitchFamily="18" charset="0"/>
                            </a:rPr>
                            <m:t>258296</m:t>
                          </m:r>
                        </m:num>
                        <m:den>
                          <m:r>
                            <a:rPr lang="es-AR" sz="1800" b="0" i="1" smtClean="0">
                              <a:latin typeface="Cambria Math" panose="02040503050406030204" pitchFamily="18" charset="0"/>
                            </a:rPr>
                            <m:t>271356</m:t>
                          </m:r>
                        </m:den>
                      </m:f>
                      <m:r>
                        <a:rPr lang="el-GR" sz="1800" i="1" smtClean="0">
                          <a:latin typeface="Cambria Math" panose="02040503050406030204" pitchFamily="18" charset="0"/>
                          <a:ea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100</m:t>
                      </m:r>
                    </m:oMath>
                  </m:oMathPara>
                </a14:m>
                <a:endParaRPr lang="es-AR" sz="1800" dirty="0"/>
              </a:p>
            </p:txBody>
          </p:sp>
        </mc:Choice>
        <mc:Fallback>
          <p:sp>
            <p:nvSpPr>
              <p:cNvPr id="8" name="CuadroTexto 7">
                <a:extLst>
                  <a:ext uri="{FF2B5EF4-FFF2-40B4-BE49-F238E27FC236}">
                    <a16:creationId xmlns:a16="http://schemas.microsoft.com/office/drawing/2014/main" id="{B0CF5192-4E10-1772-511E-6E83E05276F1}"/>
                  </a:ext>
                </a:extLst>
              </p:cNvPr>
              <p:cNvSpPr txBox="1">
                <a:spLocks noRot="1" noChangeAspect="1" noMove="1" noResize="1" noEditPoints="1" noAdjustHandles="1" noChangeArrowheads="1" noChangeShapeType="1" noTextEdit="1"/>
              </p:cNvSpPr>
              <p:nvPr/>
            </p:nvSpPr>
            <p:spPr>
              <a:xfrm>
                <a:off x="5558914" y="5589240"/>
                <a:ext cx="2592288" cy="612732"/>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B9F54BA5-C580-D1F7-442B-D0395290C459}"/>
                  </a:ext>
                </a:extLst>
              </p:cNvPr>
              <p:cNvSpPr txBox="1"/>
              <p:nvPr/>
            </p:nvSpPr>
            <p:spPr>
              <a:xfrm>
                <a:off x="2745019" y="6356111"/>
                <a:ext cx="25922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r>
                        <a:rPr lang="es-AR" sz="1800" b="0" i="1" smtClean="0">
                          <a:latin typeface="Cambria Math" panose="02040503050406030204" pitchFamily="18" charset="0"/>
                        </a:rPr>
                        <m:t>77%</m:t>
                      </m:r>
                    </m:oMath>
                  </m:oMathPara>
                </a14:m>
                <a:endParaRPr lang="es-AR" sz="1800" dirty="0"/>
              </a:p>
            </p:txBody>
          </p:sp>
        </mc:Choice>
        <mc:Fallback>
          <p:sp>
            <p:nvSpPr>
              <p:cNvPr id="9" name="CuadroTexto 8">
                <a:extLst>
                  <a:ext uri="{FF2B5EF4-FFF2-40B4-BE49-F238E27FC236}">
                    <a16:creationId xmlns:a16="http://schemas.microsoft.com/office/drawing/2014/main" id="{B9F54BA5-C580-D1F7-442B-D0395290C459}"/>
                  </a:ext>
                </a:extLst>
              </p:cNvPr>
              <p:cNvSpPr txBox="1">
                <a:spLocks noRot="1" noChangeAspect="1" noMove="1" noResize="1" noEditPoints="1" noAdjustHandles="1" noChangeArrowheads="1" noChangeShapeType="1" noTextEdit="1"/>
              </p:cNvSpPr>
              <p:nvPr/>
            </p:nvSpPr>
            <p:spPr>
              <a:xfrm>
                <a:off x="2745019" y="6356111"/>
                <a:ext cx="2592288" cy="369332"/>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0C0572D9-F439-06B8-6051-97FB848ADE80}"/>
                  </a:ext>
                </a:extLst>
              </p:cNvPr>
              <p:cNvSpPr txBox="1"/>
              <p:nvPr/>
            </p:nvSpPr>
            <p:spPr>
              <a:xfrm>
                <a:off x="5145911" y="6352570"/>
                <a:ext cx="25922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𝐶𝑉</m:t>
                      </m:r>
                      <m:r>
                        <a:rPr lang="es-AR" sz="1800" i="1" smtClean="0">
                          <a:latin typeface="Cambria Math" panose="02040503050406030204" pitchFamily="18" charset="0"/>
                        </a:rPr>
                        <m:t>=</m:t>
                      </m:r>
                      <m:r>
                        <a:rPr lang="es-AR" sz="1800" b="0" i="1" smtClean="0">
                          <a:latin typeface="Cambria Math" panose="02040503050406030204" pitchFamily="18" charset="0"/>
                        </a:rPr>
                        <m:t>95%</m:t>
                      </m:r>
                    </m:oMath>
                  </m:oMathPara>
                </a14:m>
                <a:endParaRPr lang="es-AR" sz="1800" dirty="0"/>
              </a:p>
            </p:txBody>
          </p:sp>
        </mc:Choice>
        <mc:Fallback>
          <p:sp>
            <p:nvSpPr>
              <p:cNvPr id="14" name="CuadroTexto 13">
                <a:extLst>
                  <a:ext uri="{FF2B5EF4-FFF2-40B4-BE49-F238E27FC236}">
                    <a16:creationId xmlns:a16="http://schemas.microsoft.com/office/drawing/2014/main" id="{0C0572D9-F439-06B8-6051-97FB848ADE80}"/>
                  </a:ext>
                </a:extLst>
              </p:cNvPr>
              <p:cNvSpPr txBox="1">
                <a:spLocks noRot="1" noChangeAspect="1" noMove="1" noResize="1" noEditPoints="1" noAdjustHandles="1" noChangeArrowheads="1" noChangeShapeType="1" noTextEdit="1"/>
              </p:cNvSpPr>
              <p:nvPr/>
            </p:nvSpPr>
            <p:spPr>
              <a:xfrm>
                <a:off x="5145911" y="6352570"/>
                <a:ext cx="2592288" cy="369332"/>
              </a:xfrm>
              <a:prstGeom prst="rect">
                <a:avLst/>
              </a:prstGeom>
              <a:blipFill>
                <a:blip r:embed="rId9"/>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1665270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923330"/>
          </a:xfrm>
          <a:prstGeom prst="rect">
            <a:avLst/>
          </a:prstGeom>
          <a:noFill/>
        </p:spPr>
        <p:txBody>
          <a:bodyPr wrap="square" rtlCol="0">
            <a:spAutoFit/>
          </a:bodyPr>
          <a:lstStyle/>
          <a:p>
            <a:pPr algn="just"/>
            <a:r>
              <a:rPr lang="es-AR" b="1" dirty="0"/>
              <a:t>3) Analizar visualmente la distribución del ingreso per cápita familiar</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pic>
        <p:nvPicPr>
          <p:cNvPr id="5" name="Imagen 4">
            <a:extLst>
              <a:ext uri="{FF2B5EF4-FFF2-40B4-BE49-F238E27FC236}">
                <a16:creationId xmlns:a16="http://schemas.microsoft.com/office/drawing/2014/main" id="{9F6CA32F-86F5-8096-0844-1E5940DD1463}"/>
              </a:ext>
            </a:extLst>
          </p:cNvPr>
          <p:cNvPicPr>
            <a:picLocks noChangeAspect="1"/>
          </p:cNvPicPr>
          <p:nvPr/>
        </p:nvPicPr>
        <p:blipFill>
          <a:blip r:embed="rId3"/>
          <a:srcRect r="63387" b="56277"/>
          <a:stretch/>
        </p:blipFill>
        <p:spPr>
          <a:xfrm>
            <a:off x="307975" y="1656199"/>
            <a:ext cx="3347864" cy="2248900"/>
          </a:xfrm>
          <a:prstGeom prst="rect">
            <a:avLst/>
          </a:prstGeom>
        </p:spPr>
      </p:pic>
      <p:pic>
        <p:nvPicPr>
          <p:cNvPr id="17" name="Imagen 16">
            <a:extLst>
              <a:ext uri="{FF2B5EF4-FFF2-40B4-BE49-F238E27FC236}">
                <a16:creationId xmlns:a16="http://schemas.microsoft.com/office/drawing/2014/main" id="{B8D6D60E-4414-721C-FDD7-2554BCCAC143}"/>
              </a:ext>
            </a:extLst>
          </p:cNvPr>
          <p:cNvPicPr>
            <a:picLocks noChangeAspect="1"/>
          </p:cNvPicPr>
          <p:nvPr/>
        </p:nvPicPr>
        <p:blipFill>
          <a:blip r:embed="rId4"/>
          <a:stretch>
            <a:fillRect/>
          </a:stretch>
        </p:blipFill>
        <p:spPr>
          <a:xfrm>
            <a:off x="3059832" y="2662088"/>
            <a:ext cx="6084168" cy="3908689"/>
          </a:xfrm>
          <a:prstGeom prst="rect">
            <a:avLst/>
          </a:prstGeom>
        </p:spPr>
      </p:pic>
      <p:cxnSp>
        <p:nvCxnSpPr>
          <p:cNvPr id="18" name="Conector recto de flecha 17">
            <a:extLst>
              <a:ext uri="{FF2B5EF4-FFF2-40B4-BE49-F238E27FC236}">
                <a16:creationId xmlns:a16="http://schemas.microsoft.com/office/drawing/2014/main" id="{5B7FD94A-8E36-51D9-34C3-3622E4F62F4C}"/>
              </a:ext>
            </a:extLst>
          </p:cNvPr>
          <p:cNvCxnSpPr>
            <a:cxnSpLocks/>
          </p:cNvCxnSpPr>
          <p:nvPr/>
        </p:nvCxnSpPr>
        <p:spPr>
          <a:xfrm>
            <a:off x="3059832" y="1988840"/>
            <a:ext cx="360040" cy="3816424"/>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3" name="Elipse 22">
            <a:extLst>
              <a:ext uri="{FF2B5EF4-FFF2-40B4-BE49-F238E27FC236}">
                <a16:creationId xmlns:a16="http://schemas.microsoft.com/office/drawing/2014/main" id="{E4BC784B-DC36-595A-029A-EFFCA269304D}"/>
              </a:ext>
            </a:extLst>
          </p:cNvPr>
          <p:cNvSpPr/>
          <p:nvPr/>
        </p:nvSpPr>
        <p:spPr>
          <a:xfrm>
            <a:off x="4788024" y="5056800"/>
            <a:ext cx="648072" cy="63377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4" name="CuadroTexto 23">
            <a:extLst>
              <a:ext uri="{FF2B5EF4-FFF2-40B4-BE49-F238E27FC236}">
                <a16:creationId xmlns:a16="http://schemas.microsoft.com/office/drawing/2014/main" id="{5B952247-4DB8-713D-5A53-CFD22DBA9C94}"/>
              </a:ext>
            </a:extLst>
          </p:cNvPr>
          <p:cNvSpPr txBox="1"/>
          <p:nvPr/>
        </p:nvSpPr>
        <p:spPr>
          <a:xfrm>
            <a:off x="5724130" y="4872378"/>
            <a:ext cx="1728192" cy="738664"/>
          </a:xfrm>
          <a:prstGeom prst="rect">
            <a:avLst/>
          </a:prstGeom>
          <a:solidFill>
            <a:schemeClr val="bg1"/>
          </a:solidFill>
          <a:ln>
            <a:solidFill>
              <a:srgbClr val="C00000"/>
            </a:solidFill>
          </a:ln>
        </p:spPr>
        <p:txBody>
          <a:bodyPr wrap="square" rtlCol="0">
            <a:spAutoFit/>
          </a:bodyPr>
          <a:lstStyle/>
          <a:p>
            <a:r>
              <a:rPr lang="es-AR" sz="1400" dirty="0">
                <a:solidFill>
                  <a:srgbClr val="C00000"/>
                </a:solidFill>
              </a:rPr>
              <a:t>1) Arrastrar la figura hasta el área en blanco</a:t>
            </a:r>
          </a:p>
        </p:txBody>
      </p:sp>
      <p:cxnSp>
        <p:nvCxnSpPr>
          <p:cNvPr id="25" name="Conector recto de flecha 24">
            <a:extLst>
              <a:ext uri="{FF2B5EF4-FFF2-40B4-BE49-F238E27FC236}">
                <a16:creationId xmlns:a16="http://schemas.microsoft.com/office/drawing/2014/main" id="{72D5C536-94A7-41AE-3F9E-79E177184747}"/>
              </a:ext>
            </a:extLst>
          </p:cNvPr>
          <p:cNvCxnSpPr>
            <a:cxnSpLocks/>
          </p:cNvCxnSpPr>
          <p:nvPr/>
        </p:nvCxnSpPr>
        <p:spPr>
          <a:xfrm flipV="1">
            <a:off x="5112510" y="4308484"/>
            <a:ext cx="107562" cy="73534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8" name="CuadroTexto 27">
            <a:extLst>
              <a:ext uri="{FF2B5EF4-FFF2-40B4-BE49-F238E27FC236}">
                <a16:creationId xmlns:a16="http://schemas.microsoft.com/office/drawing/2014/main" id="{E2179D0F-40C0-5877-60E5-F3AC28E4B6BD}"/>
              </a:ext>
            </a:extLst>
          </p:cNvPr>
          <p:cNvSpPr txBox="1"/>
          <p:nvPr/>
        </p:nvSpPr>
        <p:spPr>
          <a:xfrm>
            <a:off x="3521105" y="3026536"/>
            <a:ext cx="1728192" cy="738664"/>
          </a:xfrm>
          <a:prstGeom prst="rect">
            <a:avLst/>
          </a:prstGeom>
          <a:solidFill>
            <a:schemeClr val="bg1"/>
          </a:solidFill>
          <a:ln>
            <a:solidFill>
              <a:srgbClr val="C00000"/>
            </a:solidFill>
          </a:ln>
        </p:spPr>
        <p:txBody>
          <a:bodyPr wrap="square" rtlCol="0">
            <a:spAutoFit/>
          </a:bodyPr>
          <a:lstStyle/>
          <a:p>
            <a:r>
              <a:rPr lang="es-AR" sz="1400" dirty="0">
                <a:solidFill>
                  <a:srgbClr val="C00000"/>
                </a:solidFill>
              </a:rPr>
              <a:t>2) Arrastrar la variable </a:t>
            </a:r>
            <a:r>
              <a:rPr lang="es-AR" sz="1400" i="1" dirty="0">
                <a:solidFill>
                  <a:srgbClr val="C00000"/>
                </a:solidFill>
              </a:rPr>
              <a:t>IPCF hasta “Eje x”</a:t>
            </a:r>
            <a:endParaRPr lang="es-AR" sz="1400" dirty="0">
              <a:solidFill>
                <a:srgbClr val="C00000"/>
              </a:solidFill>
            </a:endParaRPr>
          </a:p>
        </p:txBody>
      </p:sp>
      <p:cxnSp>
        <p:nvCxnSpPr>
          <p:cNvPr id="29" name="Conector recto de flecha 28">
            <a:extLst>
              <a:ext uri="{FF2B5EF4-FFF2-40B4-BE49-F238E27FC236}">
                <a16:creationId xmlns:a16="http://schemas.microsoft.com/office/drawing/2014/main" id="{A20645D6-F89F-58F2-DCFA-B2E601E35D33}"/>
              </a:ext>
            </a:extLst>
          </p:cNvPr>
          <p:cNvCxnSpPr>
            <a:cxnSpLocks/>
          </p:cNvCxnSpPr>
          <p:nvPr/>
        </p:nvCxnSpPr>
        <p:spPr>
          <a:xfrm>
            <a:off x="3601618" y="3796673"/>
            <a:ext cx="993685" cy="690835"/>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03935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923330"/>
          </a:xfrm>
          <a:prstGeom prst="rect">
            <a:avLst/>
          </a:prstGeom>
          <a:noFill/>
        </p:spPr>
        <p:txBody>
          <a:bodyPr wrap="square" rtlCol="0">
            <a:spAutoFit/>
          </a:bodyPr>
          <a:lstStyle/>
          <a:p>
            <a:pPr algn="just"/>
            <a:r>
              <a:rPr lang="es-AR" b="1" dirty="0"/>
              <a:t>3) Analizar visualmente la distribución del ingreso per cápita familiar</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pic>
        <p:nvPicPr>
          <p:cNvPr id="8" name="Imagen 7">
            <a:extLst>
              <a:ext uri="{FF2B5EF4-FFF2-40B4-BE49-F238E27FC236}">
                <a16:creationId xmlns:a16="http://schemas.microsoft.com/office/drawing/2014/main" id="{CF69B747-178C-66B4-949F-0292C94C21A1}"/>
              </a:ext>
            </a:extLst>
          </p:cNvPr>
          <p:cNvPicPr>
            <a:picLocks noChangeAspect="1"/>
          </p:cNvPicPr>
          <p:nvPr/>
        </p:nvPicPr>
        <p:blipFill>
          <a:blip r:embed="rId3"/>
          <a:stretch>
            <a:fillRect/>
          </a:stretch>
        </p:blipFill>
        <p:spPr>
          <a:xfrm>
            <a:off x="222682" y="1746593"/>
            <a:ext cx="8745242" cy="4313085"/>
          </a:xfrm>
          <a:prstGeom prst="rect">
            <a:avLst/>
          </a:prstGeom>
        </p:spPr>
      </p:pic>
      <p:sp>
        <p:nvSpPr>
          <p:cNvPr id="9" name="Elipse 8">
            <a:extLst>
              <a:ext uri="{FF2B5EF4-FFF2-40B4-BE49-F238E27FC236}">
                <a16:creationId xmlns:a16="http://schemas.microsoft.com/office/drawing/2014/main" id="{27B4874D-C378-9E28-348A-8F2D0A9069F2}"/>
              </a:ext>
            </a:extLst>
          </p:cNvPr>
          <p:cNvSpPr/>
          <p:nvPr/>
        </p:nvSpPr>
        <p:spPr>
          <a:xfrm>
            <a:off x="3991611" y="3086166"/>
            <a:ext cx="1512168" cy="36004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Elipse 9">
            <a:extLst>
              <a:ext uri="{FF2B5EF4-FFF2-40B4-BE49-F238E27FC236}">
                <a16:creationId xmlns:a16="http://schemas.microsoft.com/office/drawing/2014/main" id="{1B5D8654-998A-41CE-1CB0-9F81151351D1}"/>
              </a:ext>
            </a:extLst>
          </p:cNvPr>
          <p:cNvSpPr/>
          <p:nvPr/>
        </p:nvSpPr>
        <p:spPr>
          <a:xfrm>
            <a:off x="3991611" y="4999412"/>
            <a:ext cx="1512168" cy="36004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Elipse 12">
            <a:extLst>
              <a:ext uri="{FF2B5EF4-FFF2-40B4-BE49-F238E27FC236}">
                <a16:creationId xmlns:a16="http://schemas.microsoft.com/office/drawing/2014/main" id="{5EC5C17C-540A-9B01-CA80-7624DACA15BD}"/>
              </a:ext>
            </a:extLst>
          </p:cNvPr>
          <p:cNvSpPr/>
          <p:nvPr/>
        </p:nvSpPr>
        <p:spPr>
          <a:xfrm>
            <a:off x="6732240" y="3266186"/>
            <a:ext cx="1800200" cy="36004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6" name="Elipse 15">
            <a:extLst>
              <a:ext uri="{FF2B5EF4-FFF2-40B4-BE49-F238E27FC236}">
                <a16:creationId xmlns:a16="http://schemas.microsoft.com/office/drawing/2014/main" id="{83983DF5-09C9-E561-AA0B-A111F4A49B26}"/>
              </a:ext>
            </a:extLst>
          </p:cNvPr>
          <p:cNvSpPr/>
          <p:nvPr/>
        </p:nvSpPr>
        <p:spPr>
          <a:xfrm>
            <a:off x="2123728" y="4437112"/>
            <a:ext cx="648072" cy="63377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3749185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de la distribución del ingreso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923330"/>
          </a:xfrm>
          <a:prstGeom prst="rect">
            <a:avLst/>
          </a:prstGeom>
          <a:noFill/>
        </p:spPr>
        <p:txBody>
          <a:bodyPr wrap="square" rtlCol="0">
            <a:spAutoFit/>
          </a:bodyPr>
          <a:lstStyle/>
          <a:p>
            <a:pPr algn="just"/>
            <a:r>
              <a:rPr lang="es-AR" b="1" dirty="0"/>
              <a:t>3) Analizar visualmente la distribución del ingreso per cápita familiar</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pic>
        <p:nvPicPr>
          <p:cNvPr id="5" name="Imagen 4">
            <a:extLst>
              <a:ext uri="{FF2B5EF4-FFF2-40B4-BE49-F238E27FC236}">
                <a16:creationId xmlns:a16="http://schemas.microsoft.com/office/drawing/2014/main" id="{12F3C784-D726-A2C6-88EE-C9587E6A3AB3}"/>
              </a:ext>
            </a:extLst>
          </p:cNvPr>
          <p:cNvPicPr>
            <a:picLocks noChangeAspect="1"/>
          </p:cNvPicPr>
          <p:nvPr/>
        </p:nvPicPr>
        <p:blipFill>
          <a:blip r:embed="rId3"/>
          <a:stretch>
            <a:fillRect/>
          </a:stretch>
        </p:blipFill>
        <p:spPr>
          <a:xfrm>
            <a:off x="971600" y="1727207"/>
            <a:ext cx="7716280" cy="4553870"/>
          </a:xfrm>
          <a:prstGeom prst="rect">
            <a:avLst/>
          </a:prstGeom>
        </p:spPr>
      </p:pic>
    </p:spTree>
    <p:extLst>
      <p:ext uri="{BB962C8B-B14F-4D97-AF65-F5344CB8AC3E}">
        <p14:creationId xmlns:p14="http://schemas.microsoft.com/office/powerpoint/2010/main" val="266052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1477328"/>
          </a:xfrm>
          <a:prstGeom prst="rect">
            <a:avLst/>
          </a:prstGeom>
          <a:noFill/>
        </p:spPr>
        <p:txBody>
          <a:bodyPr wrap="square" rtlCol="0">
            <a:spAutoFit/>
          </a:bodyPr>
          <a:lstStyle/>
          <a:p>
            <a:pPr algn="just"/>
            <a:r>
              <a:rPr lang="es-AR" b="1" dirty="0"/>
              <a:t>3) Analizar visualmente la distribución del ingreso per cápita familiar</a:t>
            </a:r>
          </a:p>
          <a:p>
            <a:pPr algn="just"/>
            <a:endParaRPr lang="es-AR" b="1" dirty="0"/>
          </a:p>
          <a:p>
            <a:pPr algn="just"/>
            <a:r>
              <a:rPr lang="es-AR" dirty="0"/>
              <a:t>COMPARAR DOS GRUPOS SEGÚN NIVEL EDUCATIVO DEL JEFE</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pic>
        <p:nvPicPr>
          <p:cNvPr id="8" name="Imagen 7">
            <a:extLst>
              <a:ext uri="{FF2B5EF4-FFF2-40B4-BE49-F238E27FC236}">
                <a16:creationId xmlns:a16="http://schemas.microsoft.com/office/drawing/2014/main" id="{F273C19E-D68D-32FF-E76D-4AFDF4FC3000}"/>
              </a:ext>
            </a:extLst>
          </p:cNvPr>
          <p:cNvPicPr>
            <a:picLocks noChangeAspect="1"/>
          </p:cNvPicPr>
          <p:nvPr/>
        </p:nvPicPr>
        <p:blipFill>
          <a:blip r:embed="rId3"/>
          <a:stretch>
            <a:fillRect/>
          </a:stretch>
        </p:blipFill>
        <p:spPr>
          <a:xfrm>
            <a:off x="491626" y="3229969"/>
            <a:ext cx="3899316" cy="2301236"/>
          </a:xfrm>
          <a:prstGeom prst="rect">
            <a:avLst/>
          </a:prstGeom>
        </p:spPr>
      </p:pic>
      <p:pic>
        <p:nvPicPr>
          <p:cNvPr id="17" name="Imagen 16">
            <a:extLst>
              <a:ext uri="{FF2B5EF4-FFF2-40B4-BE49-F238E27FC236}">
                <a16:creationId xmlns:a16="http://schemas.microsoft.com/office/drawing/2014/main" id="{E5AFE152-8EAA-5B6F-7DBC-DE4C112C9BE9}"/>
              </a:ext>
            </a:extLst>
          </p:cNvPr>
          <p:cNvPicPr>
            <a:picLocks noChangeAspect="1"/>
          </p:cNvPicPr>
          <p:nvPr/>
        </p:nvPicPr>
        <p:blipFill>
          <a:blip r:embed="rId4"/>
          <a:stretch>
            <a:fillRect/>
          </a:stretch>
        </p:blipFill>
        <p:spPr>
          <a:xfrm>
            <a:off x="4390942" y="3139199"/>
            <a:ext cx="4360607" cy="2573473"/>
          </a:xfrm>
          <a:prstGeom prst="rect">
            <a:avLst/>
          </a:prstGeom>
        </p:spPr>
      </p:pic>
      <p:sp>
        <p:nvSpPr>
          <p:cNvPr id="18" name="11 CuadroTexto">
            <a:extLst>
              <a:ext uri="{FF2B5EF4-FFF2-40B4-BE49-F238E27FC236}">
                <a16:creationId xmlns:a16="http://schemas.microsoft.com/office/drawing/2014/main" id="{9842BC1E-6096-9A16-BB30-025DE8230CD9}"/>
              </a:ext>
            </a:extLst>
          </p:cNvPr>
          <p:cNvSpPr txBox="1"/>
          <p:nvPr/>
        </p:nvSpPr>
        <p:spPr>
          <a:xfrm>
            <a:off x="1210078" y="2489981"/>
            <a:ext cx="2755790" cy="276999"/>
          </a:xfrm>
          <a:prstGeom prst="rect">
            <a:avLst/>
          </a:prstGeom>
          <a:noFill/>
        </p:spPr>
        <p:txBody>
          <a:bodyPr wrap="square" rtlCol="0">
            <a:spAutoFit/>
          </a:bodyPr>
          <a:lstStyle/>
          <a:p>
            <a:pPr algn="just"/>
            <a:r>
              <a:rPr lang="es-AR" sz="1200" dirty="0">
                <a:solidFill>
                  <a:srgbClr val="FF0000"/>
                </a:solidFill>
                <a:latin typeface="+mj-lt"/>
              </a:rPr>
              <a:t>Hasta secundaria incompleta</a:t>
            </a:r>
          </a:p>
        </p:txBody>
      </p:sp>
      <p:sp>
        <p:nvSpPr>
          <p:cNvPr id="21" name="11 CuadroTexto">
            <a:extLst>
              <a:ext uri="{FF2B5EF4-FFF2-40B4-BE49-F238E27FC236}">
                <a16:creationId xmlns:a16="http://schemas.microsoft.com/office/drawing/2014/main" id="{B235B7F7-0BCE-38CB-A2A5-CCB9E77B61E6}"/>
              </a:ext>
            </a:extLst>
          </p:cNvPr>
          <p:cNvSpPr txBox="1"/>
          <p:nvPr/>
        </p:nvSpPr>
        <p:spPr>
          <a:xfrm>
            <a:off x="4974446" y="2531823"/>
            <a:ext cx="2755790" cy="276999"/>
          </a:xfrm>
          <a:prstGeom prst="rect">
            <a:avLst/>
          </a:prstGeom>
          <a:noFill/>
        </p:spPr>
        <p:txBody>
          <a:bodyPr wrap="square" rtlCol="0">
            <a:spAutoFit/>
          </a:bodyPr>
          <a:lstStyle/>
          <a:p>
            <a:pPr algn="just"/>
            <a:r>
              <a:rPr lang="es-AR" sz="1200" dirty="0">
                <a:solidFill>
                  <a:srgbClr val="FF0000"/>
                </a:solidFill>
                <a:latin typeface="+mj-lt"/>
              </a:rPr>
              <a:t>Universitario completo y más</a:t>
            </a:r>
          </a:p>
        </p:txBody>
      </p:sp>
    </p:spTree>
    <p:extLst>
      <p:ext uri="{BB962C8B-B14F-4D97-AF65-F5344CB8AC3E}">
        <p14:creationId xmlns:p14="http://schemas.microsoft.com/office/powerpoint/2010/main" val="3420203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2031325"/>
          </a:xfrm>
          <a:prstGeom prst="rect">
            <a:avLst/>
          </a:prstGeom>
          <a:noFill/>
        </p:spPr>
        <p:txBody>
          <a:bodyPr wrap="square" rtlCol="0">
            <a:spAutoFit/>
          </a:bodyPr>
          <a:lstStyle/>
          <a:p>
            <a:pPr algn="just"/>
            <a:r>
              <a:rPr lang="es-AR" b="1" dirty="0"/>
              <a:t>4) Construir deciles de ingreso per cápita familiar</a:t>
            </a:r>
          </a:p>
          <a:p>
            <a:pPr algn="just"/>
            <a:endParaRPr lang="es-AR" b="1" dirty="0"/>
          </a:p>
          <a:p>
            <a:pPr algn="just"/>
            <a:r>
              <a:rPr lang="es-AR" dirty="0"/>
              <a:t>PASO 1: REMOVER FILTROS</a:t>
            </a:r>
          </a:p>
          <a:p>
            <a:pPr algn="just"/>
            <a:endParaRPr lang="es-AR" dirty="0"/>
          </a:p>
          <a:p>
            <a:pPr algn="just"/>
            <a:r>
              <a:rPr lang="es-AR" dirty="0"/>
              <a:t>PASO 2: USAR LA FUNCIÓN RANK CASOS</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pic>
        <p:nvPicPr>
          <p:cNvPr id="5" name="Imagen 4">
            <a:extLst>
              <a:ext uri="{FF2B5EF4-FFF2-40B4-BE49-F238E27FC236}">
                <a16:creationId xmlns:a16="http://schemas.microsoft.com/office/drawing/2014/main" id="{3B29B73C-9C88-7550-9C4C-0B7E2595768B}"/>
              </a:ext>
            </a:extLst>
          </p:cNvPr>
          <p:cNvPicPr>
            <a:picLocks noChangeAspect="1"/>
          </p:cNvPicPr>
          <p:nvPr/>
        </p:nvPicPr>
        <p:blipFill>
          <a:blip r:embed="rId3"/>
          <a:srcRect r="64175" b="47314"/>
          <a:stretch/>
        </p:blipFill>
        <p:spPr>
          <a:xfrm>
            <a:off x="709767" y="2797750"/>
            <a:ext cx="4113704" cy="3402980"/>
          </a:xfrm>
          <a:prstGeom prst="rect">
            <a:avLst/>
          </a:prstGeom>
        </p:spPr>
      </p:pic>
      <p:sp>
        <p:nvSpPr>
          <p:cNvPr id="9" name="Elipse 8">
            <a:extLst>
              <a:ext uri="{FF2B5EF4-FFF2-40B4-BE49-F238E27FC236}">
                <a16:creationId xmlns:a16="http://schemas.microsoft.com/office/drawing/2014/main" id="{9CC2105A-1EA3-4BCF-83F1-A3DCC7A0F0BF}"/>
              </a:ext>
            </a:extLst>
          </p:cNvPr>
          <p:cNvSpPr/>
          <p:nvPr/>
        </p:nvSpPr>
        <p:spPr>
          <a:xfrm>
            <a:off x="1835696" y="4605919"/>
            <a:ext cx="1512168" cy="36004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4000176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2031325"/>
          </a:xfrm>
          <a:prstGeom prst="rect">
            <a:avLst/>
          </a:prstGeom>
          <a:noFill/>
        </p:spPr>
        <p:txBody>
          <a:bodyPr wrap="square" rtlCol="0">
            <a:spAutoFit/>
          </a:bodyPr>
          <a:lstStyle/>
          <a:p>
            <a:pPr algn="just"/>
            <a:r>
              <a:rPr lang="es-AR" b="1" dirty="0"/>
              <a:t>4) Construir deciles de ingreso per cápita familiar</a:t>
            </a:r>
          </a:p>
          <a:p>
            <a:pPr algn="just"/>
            <a:endParaRPr lang="es-AR" b="1" dirty="0"/>
          </a:p>
          <a:p>
            <a:pPr algn="just"/>
            <a:r>
              <a:rPr lang="es-AR" dirty="0"/>
              <a:t>PASO 1: REMOVER FILTROS</a:t>
            </a:r>
          </a:p>
          <a:p>
            <a:pPr algn="just"/>
            <a:endParaRPr lang="es-AR" dirty="0"/>
          </a:p>
          <a:p>
            <a:pPr algn="just"/>
            <a:r>
              <a:rPr lang="es-AR" dirty="0"/>
              <a:t>PASO 2: USAR LA FUNCIÓN RANK CASOS</a:t>
            </a:r>
          </a:p>
          <a:p>
            <a:pPr marL="285750" indent="-285750" algn="just">
              <a:buFont typeface="Wingdings" panose="05000000000000000000" pitchFamily="2" charset="2"/>
              <a:buChar char="§"/>
            </a:pPr>
            <a:endParaRPr lang="es-AR" dirty="0">
              <a:latin typeface="+mj-lt"/>
            </a:endParaRPr>
          </a:p>
          <a:p>
            <a:pPr marL="285750" indent="-285750" algn="just">
              <a:buFont typeface="Wingdings" panose="05000000000000000000" pitchFamily="2" charset="2"/>
              <a:buChar char="§"/>
            </a:pPr>
            <a:endParaRPr lang="es-AR" dirty="0">
              <a:latin typeface="+mj-lt"/>
            </a:endParaRPr>
          </a:p>
        </p:txBody>
      </p:sp>
      <p:pic>
        <p:nvPicPr>
          <p:cNvPr id="8" name="Imagen 7">
            <a:extLst>
              <a:ext uri="{FF2B5EF4-FFF2-40B4-BE49-F238E27FC236}">
                <a16:creationId xmlns:a16="http://schemas.microsoft.com/office/drawing/2014/main" id="{93143A44-D88E-0B87-1FAA-CB4FF7E7E3B7}"/>
              </a:ext>
            </a:extLst>
          </p:cNvPr>
          <p:cNvPicPr>
            <a:picLocks noChangeAspect="1"/>
          </p:cNvPicPr>
          <p:nvPr/>
        </p:nvPicPr>
        <p:blipFill>
          <a:blip r:embed="rId3"/>
          <a:stretch>
            <a:fillRect/>
          </a:stretch>
        </p:blipFill>
        <p:spPr>
          <a:xfrm>
            <a:off x="687817" y="3080721"/>
            <a:ext cx="7611392" cy="2927866"/>
          </a:xfrm>
          <a:prstGeom prst="rect">
            <a:avLst/>
          </a:prstGeom>
        </p:spPr>
      </p:pic>
      <p:sp>
        <p:nvSpPr>
          <p:cNvPr id="10" name="Elipse 9">
            <a:extLst>
              <a:ext uri="{FF2B5EF4-FFF2-40B4-BE49-F238E27FC236}">
                <a16:creationId xmlns:a16="http://schemas.microsoft.com/office/drawing/2014/main" id="{955E0871-F1AF-33E4-9754-DF1B0EEAF9FE}"/>
              </a:ext>
            </a:extLst>
          </p:cNvPr>
          <p:cNvSpPr/>
          <p:nvPr/>
        </p:nvSpPr>
        <p:spPr>
          <a:xfrm>
            <a:off x="2915816" y="3385620"/>
            <a:ext cx="576064" cy="20982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Elipse 12">
            <a:extLst>
              <a:ext uri="{FF2B5EF4-FFF2-40B4-BE49-F238E27FC236}">
                <a16:creationId xmlns:a16="http://schemas.microsoft.com/office/drawing/2014/main" id="{68FA8D36-D0DA-7211-2EEE-69E15848CDE0}"/>
              </a:ext>
            </a:extLst>
          </p:cNvPr>
          <p:cNvSpPr/>
          <p:nvPr/>
        </p:nvSpPr>
        <p:spPr>
          <a:xfrm>
            <a:off x="4860032" y="3325840"/>
            <a:ext cx="576064" cy="20982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14" name="Conector recto de flecha 13">
            <a:extLst>
              <a:ext uri="{FF2B5EF4-FFF2-40B4-BE49-F238E27FC236}">
                <a16:creationId xmlns:a16="http://schemas.microsoft.com/office/drawing/2014/main" id="{57D537B0-2D18-2B20-FDD7-94DA57444432}"/>
              </a:ext>
            </a:extLst>
          </p:cNvPr>
          <p:cNvCxnSpPr>
            <a:cxnSpLocks/>
          </p:cNvCxnSpPr>
          <p:nvPr/>
        </p:nvCxnSpPr>
        <p:spPr>
          <a:xfrm>
            <a:off x="5377125" y="3500365"/>
            <a:ext cx="993685" cy="82885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447554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Ejercicios de aplicación</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1 CuadroTexto"/>
          <p:cNvSpPr txBox="1"/>
          <p:nvPr/>
        </p:nvSpPr>
        <p:spPr>
          <a:xfrm>
            <a:off x="297432" y="1231234"/>
            <a:ext cx="8595742" cy="923330"/>
          </a:xfrm>
          <a:prstGeom prst="rect">
            <a:avLst/>
          </a:prstGeom>
          <a:noFill/>
        </p:spPr>
        <p:txBody>
          <a:bodyPr wrap="square" rtlCol="0">
            <a:spAutoFit/>
          </a:bodyPr>
          <a:lstStyle/>
          <a:p>
            <a:pPr algn="just"/>
            <a:r>
              <a:rPr lang="es-AR" b="1" dirty="0"/>
              <a:t>4) Construir deciles de ingreso per cápita familiar</a:t>
            </a:r>
          </a:p>
          <a:p>
            <a:pPr algn="just"/>
            <a:endParaRPr lang="es-AR" b="1" dirty="0"/>
          </a:p>
          <a:p>
            <a:pPr algn="just"/>
            <a:r>
              <a:rPr lang="es-AR" dirty="0"/>
              <a:t>PASO 3: COMPARAR LA SUMA DEL INGRESO DE CADA DECIL (% PARTICIPACIÓN)</a:t>
            </a:r>
          </a:p>
        </p:txBody>
      </p:sp>
      <p:sp>
        <p:nvSpPr>
          <p:cNvPr id="21" name="11 CuadroTexto">
            <a:extLst>
              <a:ext uri="{FF2B5EF4-FFF2-40B4-BE49-F238E27FC236}">
                <a16:creationId xmlns:a16="http://schemas.microsoft.com/office/drawing/2014/main" id="{0639B32F-30D2-58D5-4C2B-403FBFE4454B}"/>
              </a:ext>
            </a:extLst>
          </p:cNvPr>
          <p:cNvSpPr txBox="1"/>
          <p:nvPr/>
        </p:nvSpPr>
        <p:spPr>
          <a:xfrm>
            <a:off x="745500" y="4290628"/>
            <a:ext cx="2755790" cy="276999"/>
          </a:xfrm>
          <a:prstGeom prst="rect">
            <a:avLst/>
          </a:prstGeom>
          <a:noFill/>
        </p:spPr>
        <p:txBody>
          <a:bodyPr wrap="square" rtlCol="0">
            <a:spAutoFit/>
          </a:bodyPr>
          <a:lstStyle/>
          <a:p>
            <a:pPr algn="just"/>
            <a:r>
              <a:rPr lang="es-AR" sz="1200" dirty="0">
                <a:latin typeface="+mj-lt"/>
              </a:rPr>
              <a:t>Resultados ponderados por PONDIH</a:t>
            </a:r>
          </a:p>
        </p:txBody>
      </p:sp>
      <p:pic>
        <p:nvPicPr>
          <p:cNvPr id="24" name="Imagen 23">
            <a:extLst>
              <a:ext uri="{FF2B5EF4-FFF2-40B4-BE49-F238E27FC236}">
                <a16:creationId xmlns:a16="http://schemas.microsoft.com/office/drawing/2014/main" id="{A691F0B9-6CE3-9F2C-0DDC-A96C82217F96}"/>
              </a:ext>
            </a:extLst>
          </p:cNvPr>
          <p:cNvPicPr>
            <a:picLocks noChangeAspect="1"/>
          </p:cNvPicPr>
          <p:nvPr/>
        </p:nvPicPr>
        <p:blipFill>
          <a:blip r:embed="rId3"/>
          <a:stretch>
            <a:fillRect/>
          </a:stretch>
        </p:blipFill>
        <p:spPr>
          <a:xfrm>
            <a:off x="869082" y="2293049"/>
            <a:ext cx="7639050" cy="2076450"/>
          </a:xfrm>
          <a:prstGeom prst="rect">
            <a:avLst/>
          </a:prstGeom>
        </p:spPr>
      </p:pic>
      <p:sp>
        <p:nvSpPr>
          <p:cNvPr id="30" name="11 CuadroTexto">
            <a:extLst>
              <a:ext uri="{FF2B5EF4-FFF2-40B4-BE49-F238E27FC236}">
                <a16:creationId xmlns:a16="http://schemas.microsoft.com/office/drawing/2014/main" id="{BB050802-9D5F-301E-5EB9-1F294A784F99}"/>
              </a:ext>
            </a:extLst>
          </p:cNvPr>
          <p:cNvSpPr txBox="1"/>
          <p:nvPr/>
        </p:nvSpPr>
        <p:spPr>
          <a:xfrm>
            <a:off x="548548" y="4693007"/>
            <a:ext cx="5357219" cy="276999"/>
          </a:xfrm>
          <a:prstGeom prst="rect">
            <a:avLst/>
          </a:prstGeom>
          <a:noFill/>
        </p:spPr>
        <p:txBody>
          <a:bodyPr wrap="square" rtlCol="0">
            <a:spAutoFit/>
          </a:bodyPr>
          <a:lstStyle/>
          <a:p>
            <a:pPr algn="just"/>
            <a:r>
              <a:rPr lang="es-AR" sz="1200" b="1" i="1" dirty="0">
                <a:solidFill>
                  <a:schemeClr val="accent4"/>
                </a:solidFill>
                <a:latin typeface="+mj-lt"/>
              </a:rPr>
              <a:t>Brecha entre deciles extremos: </a:t>
            </a:r>
            <a:r>
              <a:rPr lang="es-AR" sz="1200" i="1" dirty="0">
                <a:solidFill>
                  <a:schemeClr val="accent4"/>
                </a:solidFill>
                <a:latin typeface="+mj-lt"/>
              </a:rPr>
              <a:t>% del ingreso que concentra el D10 y el D1</a:t>
            </a:r>
            <a:endParaRPr lang="es-AR" sz="1200" dirty="0">
              <a:solidFill>
                <a:srgbClr val="FF0000"/>
              </a:solidFill>
              <a:latin typeface="+mj-lt"/>
            </a:endParaRPr>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7C4269AE-3DD9-6BFA-85E7-FA9C08274FBA}"/>
                  </a:ext>
                </a:extLst>
              </p:cNvPr>
              <p:cNvSpPr txBox="1"/>
              <p:nvPr/>
            </p:nvSpPr>
            <p:spPr>
              <a:xfrm>
                <a:off x="1704442" y="5029665"/>
                <a:ext cx="2592288" cy="6420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𝐵</m:t>
                      </m:r>
                      <m:r>
                        <a:rPr lang="es-AR" sz="1800" i="1" smtClean="0">
                          <a:latin typeface="Cambria Math" panose="02040503050406030204" pitchFamily="18" charset="0"/>
                        </a:rPr>
                        <m:t>=</m:t>
                      </m:r>
                      <m:f>
                        <m:fPr>
                          <m:ctrlPr>
                            <a:rPr lang="es-AR" sz="1800" i="1" smtClean="0">
                              <a:latin typeface="Cambria Math" panose="02040503050406030204" pitchFamily="18" charset="0"/>
                            </a:rPr>
                          </m:ctrlPr>
                        </m:fPr>
                        <m:num>
                          <m:r>
                            <a:rPr lang="es-AR" sz="1800" b="0" i="1" smtClean="0">
                              <a:latin typeface="Cambria Math" panose="02040503050406030204" pitchFamily="18" charset="0"/>
                            </a:rPr>
                            <m:t>32,1</m:t>
                          </m:r>
                        </m:num>
                        <m:den>
                          <m:r>
                            <a:rPr lang="es-AR" sz="1800" b="0" i="1" smtClean="0">
                              <a:latin typeface="Cambria Math" panose="02040503050406030204" pitchFamily="18" charset="0"/>
                            </a:rPr>
                            <m:t>1,7</m:t>
                          </m:r>
                        </m:den>
                      </m:f>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m:t>
                      </m:r>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𝟏𝟖</m:t>
                      </m:r>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m:t>
                      </m:r>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𝟐</m:t>
                      </m:r>
                    </m:oMath>
                  </m:oMathPara>
                </a14:m>
                <a:endParaRPr lang="es-AR" sz="1800" dirty="0"/>
              </a:p>
            </p:txBody>
          </p:sp>
        </mc:Choice>
        <mc:Fallback>
          <p:sp>
            <p:nvSpPr>
              <p:cNvPr id="31" name="CuadroTexto 30">
                <a:extLst>
                  <a:ext uri="{FF2B5EF4-FFF2-40B4-BE49-F238E27FC236}">
                    <a16:creationId xmlns:a16="http://schemas.microsoft.com/office/drawing/2014/main" id="{7C4269AE-3DD9-6BFA-85E7-FA9C08274FBA}"/>
                  </a:ext>
                </a:extLst>
              </p:cNvPr>
              <p:cNvSpPr txBox="1">
                <a:spLocks noRot="1" noChangeAspect="1" noMove="1" noResize="1" noEditPoints="1" noAdjustHandles="1" noChangeArrowheads="1" noChangeShapeType="1" noTextEdit="1"/>
              </p:cNvSpPr>
              <p:nvPr/>
            </p:nvSpPr>
            <p:spPr>
              <a:xfrm>
                <a:off x="1704442" y="5029665"/>
                <a:ext cx="2592288" cy="642035"/>
              </a:xfrm>
              <a:prstGeom prst="rect">
                <a:avLst/>
              </a:prstGeom>
              <a:blipFill>
                <a:blip r:embed="rId4"/>
                <a:stretch>
                  <a:fillRect/>
                </a:stretch>
              </a:blipFill>
            </p:spPr>
            <p:txBody>
              <a:bodyPr/>
              <a:lstStyle/>
              <a:p>
                <a:r>
                  <a:rPr lang="es-AR">
                    <a:noFill/>
                  </a:rPr>
                  <a:t> </a:t>
                </a:r>
              </a:p>
            </p:txBody>
          </p:sp>
        </mc:Fallback>
      </mc:AlternateContent>
      <p:sp>
        <p:nvSpPr>
          <p:cNvPr id="32" name="11 CuadroTexto">
            <a:extLst>
              <a:ext uri="{FF2B5EF4-FFF2-40B4-BE49-F238E27FC236}">
                <a16:creationId xmlns:a16="http://schemas.microsoft.com/office/drawing/2014/main" id="{7ED7170B-93DB-31EA-C309-8F81389A0876}"/>
              </a:ext>
            </a:extLst>
          </p:cNvPr>
          <p:cNvSpPr txBox="1"/>
          <p:nvPr/>
        </p:nvSpPr>
        <p:spPr>
          <a:xfrm>
            <a:off x="508634" y="5797080"/>
            <a:ext cx="5357219" cy="276999"/>
          </a:xfrm>
          <a:prstGeom prst="rect">
            <a:avLst/>
          </a:prstGeom>
          <a:noFill/>
        </p:spPr>
        <p:txBody>
          <a:bodyPr wrap="square" rtlCol="0">
            <a:spAutoFit/>
          </a:bodyPr>
          <a:lstStyle/>
          <a:p>
            <a:pPr algn="just"/>
            <a:r>
              <a:rPr lang="es-AR" sz="1200" b="1" i="1" dirty="0">
                <a:solidFill>
                  <a:schemeClr val="accent4"/>
                </a:solidFill>
                <a:latin typeface="+mj-lt"/>
              </a:rPr>
              <a:t>Ratio de Palma: </a:t>
            </a:r>
            <a:r>
              <a:rPr lang="es-AR" sz="1200" i="1" dirty="0">
                <a:solidFill>
                  <a:schemeClr val="accent4"/>
                </a:solidFill>
                <a:latin typeface="+mj-lt"/>
              </a:rPr>
              <a:t>% que concentra el D10 vs los D1 a 4</a:t>
            </a:r>
            <a:endParaRPr lang="es-AR" sz="1200" dirty="0">
              <a:solidFill>
                <a:srgbClr val="FF0000"/>
              </a:solidFill>
              <a:latin typeface="+mj-lt"/>
            </a:endParaRPr>
          </a:p>
        </p:txBody>
      </p:sp>
      <mc:AlternateContent xmlns:mc="http://schemas.openxmlformats.org/markup-compatibility/2006">
        <mc:Choice xmlns:a14="http://schemas.microsoft.com/office/drawing/2010/main" Requires="a14">
          <p:sp>
            <p:nvSpPr>
              <p:cNvPr id="33" name="CuadroTexto 32">
                <a:extLst>
                  <a:ext uri="{FF2B5EF4-FFF2-40B4-BE49-F238E27FC236}">
                    <a16:creationId xmlns:a16="http://schemas.microsoft.com/office/drawing/2014/main" id="{884582A3-37BA-8832-2355-68D3616525D0}"/>
                  </a:ext>
                </a:extLst>
              </p:cNvPr>
              <p:cNvSpPr txBox="1"/>
              <p:nvPr/>
            </p:nvSpPr>
            <p:spPr>
              <a:xfrm>
                <a:off x="1704442" y="6210343"/>
                <a:ext cx="25922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b="0" i="1" smtClean="0">
                          <a:latin typeface="Cambria Math" panose="02040503050406030204" pitchFamily="18" charset="0"/>
                        </a:rPr>
                        <m:t>𝑅𝑃</m:t>
                      </m:r>
                      <m:r>
                        <a:rPr lang="es-AR" sz="1800" i="1" smtClean="0">
                          <a:latin typeface="Cambria Math" panose="02040503050406030204" pitchFamily="18" charset="0"/>
                        </a:rPr>
                        <m:t>=</m:t>
                      </m:r>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𝟐</m:t>
                      </m:r>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m:t>
                      </m:r>
                      <m:r>
                        <a:rPr lang="es-AR" altLang="es-AR" sz="1800" b="1" i="1" dirty="0" smtClean="0">
                          <a:latin typeface="Cambria Math" panose="02040503050406030204" pitchFamily="18" charset="0"/>
                          <a:ea typeface="Cambria" panose="02040503050406030204" pitchFamily="18" charset="0"/>
                          <a:cs typeface="Calibri" panose="020F0502020204030204" pitchFamily="34" charset="0"/>
                        </a:rPr>
                        <m:t>𝟖</m:t>
                      </m:r>
                    </m:oMath>
                  </m:oMathPara>
                </a14:m>
                <a:endParaRPr lang="es-AR" sz="1800" dirty="0"/>
              </a:p>
            </p:txBody>
          </p:sp>
        </mc:Choice>
        <mc:Fallback>
          <p:sp>
            <p:nvSpPr>
              <p:cNvPr id="33" name="CuadroTexto 32">
                <a:extLst>
                  <a:ext uri="{FF2B5EF4-FFF2-40B4-BE49-F238E27FC236}">
                    <a16:creationId xmlns:a16="http://schemas.microsoft.com/office/drawing/2014/main" id="{884582A3-37BA-8832-2355-68D3616525D0}"/>
                  </a:ext>
                </a:extLst>
              </p:cNvPr>
              <p:cNvSpPr txBox="1">
                <a:spLocks noRot="1" noChangeAspect="1" noMove="1" noResize="1" noEditPoints="1" noAdjustHandles="1" noChangeArrowheads="1" noChangeShapeType="1" noTextEdit="1"/>
              </p:cNvSpPr>
              <p:nvPr/>
            </p:nvSpPr>
            <p:spPr>
              <a:xfrm>
                <a:off x="1704442" y="6210343"/>
                <a:ext cx="2592288" cy="369332"/>
              </a:xfrm>
              <a:prstGeom prst="rect">
                <a:avLst/>
              </a:prstGeom>
              <a:blipFill>
                <a:blip r:embed="rId5"/>
                <a:stretch>
                  <a:fillRect/>
                </a:stretch>
              </a:blipFill>
            </p:spPr>
            <p:txBody>
              <a:bodyPr/>
              <a:lstStyle/>
              <a:p>
                <a:r>
                  <a:rPr lang="es-AR">
                    <a:noFill/>
                  </a:rPr>
                  <a:t> </a:t>
                </a:r>
              </a:p>
            </p:txBody>
          </p:sp>
        </mc:Fallback>
      </mc:AlternateContent>
      <p:sp>
        <p:nvSpPr>
          <p:cNvPr id="2" name="Elipse 1">
            <a:extLst>
              <a:ext uri="{FF2B5EF4-FFF2-40B4-BE49-F238E27FC236}">
                <a16:creationId xmlns:a16="http://schemas.microsoft.com/office/drawing/2014/main" id="{6A923E00-136C-A1E4-1FC2-6C079CDBFF99}"/>
              </a:ext>
            </a:extLst>
          </p:cNvPr>
          <p:cNvSpPr/>
          <p:nvPr/>
        </p:nvSpPr>
        <p:spPr>
          <a:xfrm>
            <a:off x="712378" y="2329836"/>
            <a:ext cx="958942" cy="92603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6703073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7586</TotalTime>
  <Words>2830</Words>
  <Application>Microsoft Office PowerPoint</Application>
  <PresentationFormat>Presentación en pantalla (4:3)</PresentationFormat>
  <Paragraphs>391</Paragraphs>
  <Slides>37</Slides>
  <Notes>37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37</vt:i4>
      </vt:variant>
    </vt:vector>
  </HeadingPairs>
  <TitlesOfParts>
    <vt:vector size="44" baseType="lpstr">
      <vt:lpstr>Arial</vt:lpstr>
      <vt:lpstr>Calibri</vt:lpstr>
      <vt:lpstr>Cambria</vt:lpstr>
      <vt:lpstr>Cambria Math</vt:lpstr>
      <vt:lpstr>FreesiaUPC</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Santiago Poy</dc:creator>
  <cp:lastModifiedBy>usuario</cp:lastModifiedBy>
  <cp:revision>334</cp:revision>
  <dcterms:created xsi:type="dcterms:W3CDTF">2018-06-06T19:52:13Z</dcterms:created>
  <dcterms:modified xsi:type="dcterms:W3CDTF">2024-09-06T17:28:39Z</dcterms:modified>
</cp:coreProperties>
</file>