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78" r:id="rId2"/>
    <p:sldId id="391" r:id="rId3"/>
    <p:sldId id="411" r:id="rId4"/>
    <p:sldId id="400" r:id="rId5"/>
    <p:sldId id="419" r:id="rId6"/>
    <p:sldId id="420" r:id="rId7"/>
    <p:sldId id="398" r:id="rId8"/>
    <p:sldId id="402" r:id="rId9"/>
    <p:sldId id="422" r:id="rId10"/>
    <p:sldId id="421" r:id="rId11"/>
    <p:sldId id="370" r:id="rId12"/>
    <p:sldId id="423" r:id="rId13"/>
    <p:sldId id="404" r:id="rId14"/>
    <p:sldId id="405" r:id="rId15"/>
    <p:sldId id="424" r:id="rId16"/>
    <p:sldId id="425" r:id="rId17"/>
    <p:sldId id="403" r:id="rId18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521">
          <p15:clr>
            <a:srgbClr val="A4A3A4"/>
          </p15:clr>
        </p15:guide>
        <p15:guide id="4" orient="horz" pos="1661" userDrawn="1">
          <p15:clr>
            <a:srgbClr val="A4A3A4"/>
          </p15:clr>
        </p15:guide>
        <p15:guide id="5" orient="horz" pos="482">
          <p15:clr>
            <a:srgbClr val="A4A3A4"/>
          </p15:clr>
        </p15:guide>
        <p15:guide id="6" orient="horz" pos="210">
          <p15:clr>
            <a:srgbClr val="A4A3A4"/>
          </p15:clr>
        </p15:guide>
        <p15:guide id="7" pos="158">
          <p15:clr>
            <a:srgbClr val="A4A3A4"/>
          </p15:clr>
        </p15:guide>
        <p15:guide id="8" pos="5602">
          <p15:clr>
            <a:srgbClr val="A4A3A4"/>
          </p15:clr>
        </p15:guide>
        <p15:guide id="9" pos="249">
          <p15:clr>
            <a:srgbClr val="A4A3A4"/>
          </p15:clr>
        </p15:guide>
        <p15:guide id="10" orient="horz" pos="3385" userDrawn="1">
          <p15:clr>
            <a:srgbClr val="A4A3A4"/>
          </p15:clr>
        </p15:guide>
        <p15:guide id="11" orient="horz" pos="34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E8E7"/>
    <a:srgbClr val="3DC3BD"/>
    <a:srgbClr val="22706C"/>
    <a:srgbClr val="319F9A"/>
    <a:srgbClr val="EFF7F7"/>
    <a:srgbClr val="DDEFEF"/>
    <a:srgbClr val="737373"/>
    <a:srgbClr val="2A8A85"/>
    <a:srgbClr val="565656"/>
    <a:srgbClr val="F4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42" autoAdjust="0"/>
    <p:restoredTop sz="94704" autoAdjust="0"/>
  </p:normalViewPr>
  <p:slideViewPr>
    <p:cSldViewPr>
      <p:cViewPr varScale="1">
        <p:scale>
          <a:sx n="97" d="100"/>
          <a:sy n="97" d="100"/>
        </p:scale>
        <p:origin x="2202" y="84"/>
      </p:cViewPr>
      <p:guideLst>
        <p:guide orient="horz" pos="2160"/>
        <p:guide pos="2880"/>
        <p:guide pos="521"/>
        <p:guide orient="horz" pos="1661"/>
        <p:guide orient="horz" pos="482"/>
        <p:guide orient="horz" pos="210"/>
        <p:guide pos="158"/>
        <p:guide pos="5602"/>
        <p:guide pos="249"/>
        <p:guide orient="horz" pos="3385"/>
        <p:guide orient="horz" pos="347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D26535-4EDE-46AE-846D-10CF575EF3AC}" type="datetimeFigureOut">
              <a:rPr lang="es-AR" smtClean="0"/>
              <a:t>6/9/2024</a:t>
            </a:fld>
            <a:endParaRPr lang="es-AR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6145D8-ED58-44A9-BC65-988CF3BEDD8C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949729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145D8-ED58-44A9-BC65-988CF3BEDD8C}" type="slidenum">
              <a:rPr lang="es-AR" smtClean="0"/>
              <a:t>1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120975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145D8-ED58-44A9-BC65-988CF3BEDD8C}" type="slidenum">
              <a:rPr lang="es-AR" smtClean="0"/>
              <a:t>2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93863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145D8-ED58-44A9-BC65-988CF3BEDD8C}" type="slidenum">
              <a:rPr lang="es-AR" smtClean="0"/>
              <a:t>3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391266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145D8-ED58-44A9-BC65-988CF3BEDD8C}" type="slidenum">
              <a:rPr lang="es-AR" smtClean="0"/>
              <a:t>4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627376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145D8-ED58-44A9-BC65-988CF3BEDD8C}" type="slidenum">
              <a:rPr lang="es-AR" smtClean="0"/>
              <a:t>5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541141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145D8-ED58-44A9-BC65-988CF3BEDD8C}" type="slidenum">
              <a:rPr lang="es-AR" smtClean="0"/>
              <a:t>6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6931329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145D8-ED58-44A9-BC65-988CF3BEDD8C}" type="slidenum">
              <a:rPr lang="es-AR" smtClean="0"/>
              <a:t>7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306160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145D8-ED58-44A9-BC65-988CF3BEDD8C}" type="slidenum">
              <a:rPr lang="es-AR" smtClean="0"/>
              <a:t>8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2125027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145D8-ED58-44A9-BC65-988CF3BEDD8C}" type="slidenum">
              <a:rPr lang="es-AR" smtClean="0"/>
              <a:t>9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3089333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145D8-ED58-44A9-BC65-988CF3BEDD8C}" type="slidenum">
              <a:rPr lang="es-AR" smtClean="0"/>
              <a:t>10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0743580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145D8-ED58-44A9-BC65-988CF3BEDD8C}" type="slidenum">
              <a:rPr lang="es-AR" smtClean="0"/>
              <a:t>11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0347731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145D8-ED58-44A9-BC65-988CF3BEDD8C}" type="slidenum">
              <a:rPr lang="es-AR" smtClean="0"/>
              <a:t>12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2124934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145D8-ED58-44A9-BC65-988CF3BEDD8C}" type="slidenum">
              <a:rPr lang="es-AR" smtClean="0"/>
              <a:t>13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7135150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145D8-ED58-44A9-BC65-988CF3BEDD8C}" type="slidenum">
              <a:rPr lang="es-AR" smtClean="0"/>
              <a:t>14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0590563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145D8-ED58-44A9-BC65-988CF3BEDD8C}" type="slidenum">
              <a:rPr lang="es-AR" smtClean="0"/>
              <a:t>15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4204530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145D8-ED58-44A9-BC65-988CF3BEDD8C}" type="slidenum">
              <a:rPr lang="es-AR" smtClean="0"/>
              <a:t>16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0100321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145D8-ED58-44A9-BC65-988CF3BEDD8C}" type="slidenum">
              <a:rPr lang="es-AR" smtClean="0"/>
              <a:t>17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491710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94F0A-27A0-4BC8-96DF-D3D95F3434E5}" type="datetime1">
              <a:rPr lang="es-AR" smtClean="0"/>
              <a:t>6/9/2024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/>
              <a:t>Curso SPSS / ODSA-UCA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2C5D-0833-432E-A649-4B28246F9627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660716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D5A0D-784F-49F2-83AC-868962BD57AA}" type="datetime1">
              <a:rPr lang="es-AR" smtClean="0"/>
              <a:t>6/9/2024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/>
              <a:t>Curso SPSS / ODSA-UCA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2C5D-0833-432E-A649-4B28246F9627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785571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85D93-CCB6-4AA2-9A06-B691E4A94039}" type="datetime1">
              <a:rPr lang="es-AR" smtClean="0"/>
              <a:t>6/9/2024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/>
              <a:t>Curso SPSS / ODSA-UCA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2C5D-0833-432E-A649-4B28246F9627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898152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891F9-CB0F-4879-B678-E3140E49A5AB}" type="datetime1">
              <a:rPr lang="es-AR" smtClean="0"/>
              <a:t>6/9/2024</a:t>
            </a:fld>
            <a:endParaRPr lang="es-AR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/>
              <a:t>Curso SPSS / ODSA-UCA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2C5D-0833-432E-A649-4B28246F9627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109333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97B4B-8FC8-4ED2-A7B7-30B7B546CB7C}" type="datetime1">
              <a:rPr lang="es-AR" smtClean="0"/>
              <a:t>6/9/2024</a:t>
            </a:fld>
            <a:endParaRPr lang="es-AR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/>
              <a:t>Curso SPSS / ODSA-UCA</a:t>
            </a: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2C5D-0833-432E-A649-4B28246F9627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88077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A48A6-89ED-45E3-8DC8-69DD7242770A}" type="datetime1">
              <a:rPr lang="es-AR" smtClean="0"/>
              <a:t>6/9/2024</a:t>
            </a:fld>
            <a:endParaRPr lang="es-AR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/>
              <a:t>Curso SPSS / ODSA-UCA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2C5D-0833-432E-A649-4B28246F9627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320559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C46B7-96E1-4D69-97A5-BA2B575DCD5B}" type="datetime1">
              <a:rPr lang="es-AR" smtClean="0"/>
              <a:t>6/9/2024</a:t>
            </a:fld>
            <a:endParaRPr lang="es-AR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/>
              <a:t>Curso SPSS / ODSA-UCA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2C5D-0833-432E-A649-4B28246F9627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020053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C0133-B3AE-415F-AD7D-09671FB6B581}" type="datetime1">
              <a:rPr lang="es-AR" smtClean="0"/>
              <a:t>6/9/2024</a:t>
            </a:fld>
            <a:endParaRPr lang="es-AR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/>
              <a:t>Curso SPSS / ODSA-UCA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2C5D-0833-432E-A649-4B28246F9627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489277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310E0-D14B-4604-84DC-1535BBF9C4BF}" type="datetime1">
              <a:rPr lang="es-AR" smtClean="0"/>
              <a:t>6/9/2024</a:t>
            </a:fld>
            <a:endParaRPr lang="es-AR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/>
              <a:t>Curso SPSS / ODSA-UCA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2C5D-0833-432E-A649-4B28246F9627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09560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CC5D-9AA7-445A-80D8-6FCD964E68D7}" type="datetime1">
              <a:rPr lang="es-AR" smtClean="0"/>
              <a:t>6/9/2024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/>
              <a:t>Curso SPSS / ODSA-UCA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2C5D-0833-432E-A649-4B28246F9627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618306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EEFF5-E6F6-49FF-AEE7-0991FC29FF6F}" type="datetime1">
              <a:rPr lang="es-AR" smtClean="0"/>
              <a:t>6/9/2024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/>
              <a:t>Curso SPSS / ODSA-UCA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2C5D-0833-432E-A649-4B28246F9627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03563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CBB71-18DF-4B96-AB10-74B37F964650}" type="datetime1">
              <a:rPr lang="es-AR" smtClean="0"/>
              <a:t>6/9/2024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AR" dirty="0"/>
              <a:t>Curso SPSS / ODSA-UCA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92C5D-0833-432E-A649-4B28246F9627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208577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10 CuadroTexto"/>
          <p:cNvSpPr txBox="1"/>
          <p:nvPr/>
        </p:nvSpPr>
        <p:spPr>
          <a:xfrm>
            <a:off x="755017" y="1941826"/>
            <a:ext cx="8163636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100" b="1" i="1" dirty="0">
                <a:latin typeface="Cambria" panose="02040503050406030204" pitchFamily="18" charset="0"/>
              </a:rPr>
              <a:t>Seminario Doctorado</a:t>
            </a:r>
          </a:p>
          <a:p>
            <a:r>
              <a:rPr lang="es-AR" sz="2400" b="1" dirty="0">
                <a:solidFill>
                  <a:schemeClr val="accent4"/>
                </a:solidFill>
                <a:latin typeface="Cambria" panose="02040503050406030204" pitchFamily="18" charset="0"/>
              </a:rPr>
              <a:t>Aplicaciones metodológicas cuantitativas al estudio de la desigualdad, la estructura social y la pobreza</a:t>
            </a:r>
          </a:p>
        </p:txBody>
      </p:sp>
      <p:sp>
        <p:nvSpPr>
          <p:cNvPr id="19" name="18 Rectángulo redondeado"/>
          <p:cNvSpPr/>
          <p:nvPr/>
        </p:nvSpPr>
        <p:spPr>
          <a:xfrm>
            <a:off x="803692" y="3335675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20" name="19 Conector recto"/>
          <p:cNvCxnSpPr/>
          <p:nvPr/>
        </p:nvCxnSpPr>
        <p:spPr>
          <a:xfrm flipV="1">
            <a:off x="1674820" y="3429000"/>
            <a:ext cx="7027056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2" descr="Resultado de imagen para logo twit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6" name="AutoShape 4" descr="Resultado de imagen para logo twitter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7" name="AutoShape 6" descr="Resultado de imagen para logo twitter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25" name="24 CuadroTexto"/>
          <p:cNvSpPr txBox="1"/>
          <p:nvPr/>
        </p:nvSpPr>
        <p:spPr>
          <a:xfrm>
            <a:off x="5539986" y="3668688"/>
            <a:ext cx="32403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AR" sz="1600" dirty="0">
                <a:latin typeface="Cambria" panose="02040503050406030204" pitchFamily="18" charset="0"/>
              </a:rPr>
              <a:t>Santiago Poy</a:t>
            </a:r>
          </a:p>
          <a:p>
            <a:pPr algn="r"/>
            <a:r>
              <a:rPr lang="es-AR" sz="1600" dirty="0">
                <a:latin typeface="Cambria" panose="02040503050406030204" pitchFamily="18" charset="0"/>
              </a:rPr>
              <a:t>Jésica Lorena Pla</a:t>
            </a:r>
          </a:p>
          <a:p>
            <a:pPr algn="r"/>
            <a:endParaRPr lang="es-AR" sz="1600" dirty="0">
              <a:latin typeface="Cambria" panose="02040503050406030204" pitchFamily="18" charset="0"/>
            </a:endParaRPr>
          </a:p>
          <a:p>
            <a:pPr algn="r"/>
            <a:r>
              <a:rPr lang="es-AR" sz="1600" dirty="0">
                <a:latin typeface="Cambria" panose="02040503050406030204" pitchFamily="18" charset="0"/>
              </a:rPr>
              <a:t>Agosto-Septiembre 2024</a:t>
            </a:r>
            <a:endParaRPr lang="es-ES" sz="1600" dirty="0">
              <a:latin typeface="Cambria" panose="02040503050406030204" pitchFamily="18" charset="0"/>
            </a:endParaRPr>
          </a:p>
        </p:txBody>
      </p:sp>
      <p:pic>
        <p:nvPicPr>
          <p:cNvPr id="2" name="Picture 2" descr="Imagen Institucional - Facultad de Ciencias Sociales">
            <a:extLst>
              <a:ext uri="{FF2B5EF4-FFF2-40B4-BE49-F238E27FC236}">
                <a16:creationId xmlns:a16="http://schemas.microsoft.com/office/drawing/2014/main" id="{B3DA93D3-007A-5C69-72DE-FFC8B1C48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937"/>
            <a:ext cx="5438775" cy="141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09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10 CuadroTexto"/>
          <p:cNvSpPr txBox="1"/>
          <p:nvPr/>
        </p:nvSpPr>
        <p:spPr>
          <a:xfrm>
            <a:off x="729539" y="1628800"/>
            <a:ext cx="816363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sz="2400" b="1" dirty="0">
              <a:solidFill>
                <a:schemeClr val="accent4"/>
              </a:solidFill>
              <a:latin typeface="Cambria" panose="02040503050406030204" pitchFamily="18" charset="0"/>
            </a:endParaRPr>
          </a:p>
          <a:p>
            <a:r>
              <a:rPr lang="es-AR" b="1" dirty="0">
                <a:solidFill>
                  <a:schemeClr val="accent4"/>
                </a:solidFill>
                <a:latin typeface="Cambria" panose="02040503050406030204" pitchFamily="18" charset="0"/>
              </a:rPr>
              <a:t>Unidad 2. La medición de la desigualdad de ingresos</a:t>
            </a:r>
          </a:p>
          <a:p>
            <a:endParaRPr lang="es-AR" sz="2400" b="1" dirty="0">
              <a:solidFill>
                <a:schemeClr val="accent4"/>
              </a:solidFill>
              <a:latin typeface="Cambria" panose="02040503050406030204" pitchFamily="18" charset="0"/>
            </a:endParaRPr>
          </a:p>
          <a:p>
            <a:pPr algn="just"/>
            <a:r>
              <a:rPr lang="es-AR" sz="2400" b="1" dirty="0">
                <a:latin typeface="Cambria" panose="02040503050406030204" pitchFamily="18" charset="0"/>
              </a:rPr>
              <a:t>Clase 5: La desigualdad de ingresos: la conceptualización y la medición</a:t>
            </a:r>
          </a:p>
        </p:txBody>
      </p:sp>
      <p:sp>
        <p:nvSpPr>
          <p:cNvPr id="4" name="AutoShape 2" descr="Resultado de imagen para logo twit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6" name="AutoShape 4" descr="Resultado de imagen para logo twitter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7" name="AutoShape 6" descr="Resultado de imagen para logo twitter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488914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10 CuadroTexto"/>
          <p:cNvSpPr txBox="1"/>
          <p:nvPr/>
        </p:nvSpPr>
        <p:spPr>
          <a:xfrm>
            <a:off x="750121" y="2413831"/>
            <a:ext cx="81636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sz="3200" b="1" dirty="0">
              <a:solidFill>
                <a:schemeClr val="accent4"/>
              </a:solidFill>
              <a:latin typeface="Cambria" panose="02040503050406030204" pitchFamily="18" charset="0"/>
            </a:endParaRPr>
          </a:p>
          <a:p>
            <a:pPr algn="just"/>
            <a:r>
              <a:rPr lang="es-AR" sz="3200" b="1" dirty="0">
                <a:latin typeface="Cambria" panose="02040503050406030204" pitchFamily="18" charset="0"/>
              </a:rPr>
              <a:t>Ejercicios de aplicación</a:t>
            </a:r>
          </a:p>
        </p:txBody>
      </p:sp>
      <p:sp>
        <p:nvSpPr>
          <p:cNvPr id="4" name="AutoShape 2" descr="Resultado de imagen para logo twit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6" name="AutoShape 4" descr="Resultado de imagen para logo twitter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7" name="AutoShape 6" descr="Resultado de imagen para logo twitter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703763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10 CuadroTexto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El análisis de la distribución del ingreso</a:t>
            </a:r>
          </a:p>
        </p:txBody>
      </p:sp>
      <p:sp>
        <p:nvSpPr>
          <p:cNvPr id="19" name="18 Rectángulo redondeado"/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20" name="19 Conector recto"/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2" descr="Resultado de imagen para logo twit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6" name="AutoShape 4" descr="Resultado de imagen para logo twitter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7" name="AutoShape 6" descr="Resultado de imagen para logo twitter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15" name="14 Rectángulo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2" name="11 CuadroTexto"/>
          <p:cNvSpPr txBox="1"/>
          <p:nvPr/>
        </p:nvSpPr>
        <p:spPr>
          <a:xfrm>
            <a:off x="297432" y="1231234"/>
            <a:ext cx="85957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s-AR" dirty="0">
                <a:latin typeface="+mj-lt"/>
              </a:rPr>
              <a:t>Vamos a ver tres formas de analizar la desigualdad en la distribución del ingreso: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s-AR" dirty="0">
              <a:latin typeface="+mj-lt"/>
            </a:endParaRP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s-AR" dirty="0">
                <a:latin typeface="+mj-lt"/>
              </a:rPr>
              <a:t>Aproximación estadística básica: medidas de tendencia central, medidas de posición y coeficiente de variabilidad.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endParaRPr lang="es-AR" dirty="0">
              <a:latin typeface="+mj-lt"/>
            </a:endParaRP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s-AR" dirty="0">
                <a:latin typeface="+mj-lt"/>
              </a:rPr>
              <a:t>Aproximación gráfica a la distribución: histogramas y función de densidad.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endParaRPr lang="es-AR" dirty="0">
              <a:latin typeface="+mj-lt"/>
            </a:endParaRP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s-AR" dirty="0">
                <a:latin typeface="+mj-lt"/>
              </a:rPr>
              <a:t>Indicadores sintéticos: el coeficiente de Gini. </a:t>
            </a:r>
          </a:p>
        </p:txBody>
      </p:sp>
    </p:spTree>
    <p:extLst>
      <p:ext uri="{BB962C8B-B14F-4D97-AF65-F5344CB8AC3E}">
        <p14:creationId xmlns:p14="http://schemas.microsoft.com/office/powerpoint/2010/main" val="2565786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10 CuadroTexto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Ejercicio de aplicación</a:t>
            </a:r>
          </a:p>
        </p:txBody>
      </p:sp>
      <p:sp>
        <p:nvSpPr>
          <p:cNvPr id="19" name="18 Rectángulo redondeado"/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20" name="19 Conector recto"/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2" descr="Resultado de imagen para logo twit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6" name="AutoShape 4" descr="Resultado de imagen para logo twitter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7" name="AutoShape 6" descr="Resultado de imagen para logo twitter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15" name="14 Rectángulo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2" name="11 CuadroTexto"/>
          <p:cNvSpPr txBox="1"/>
          <p:nvPr/>
        </p:nvSpPr>
        <p:spPr>
          <a:xfrm>
            <a:off x="297432" y="1231234"/>
            <a:ext cx="85957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b="1" dirty="0">
                <a:latin typeface="+mj-lt"/>
              </a:rPr>
              <a:t>1) Obtener las medidas de tendencia central, posición y dispersión vistas en clase para el Ingreso per cápita familiar (</a:t>
            </a:r>
            <a:r>
              <a:rPr lang="es-AR" b="1" i="1" dirty="0">
                <a:latin typeface="+mj-lt"/>
              </a:rPr>
              <a:t>IPCF)</a:t>
            </a:r>
          </a:p>
          <a:p>
            <a:pPr algn="just"/>
            <a:endParaRPr lang="es-AR" b="1" dirty="0">
              <a:latin typeface="+mj-lt"/>
            </a:endParaRPr>
          </a:p>
          <a:p>
            <a:pPr algn="just"/>
            <a:r>
              <a:rPr lang="es-AR" dirty="0">
                <a:latin typeface="+mj-lt"/>
              </a:rPr>
              <a:t>Paso 1: PONDERAR LA BASE POR PONDIH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202DAB2-73C1-1E71-20B5-836B9BAE8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8" y="2648364"/>
            <a:ext cx="5872800" cy="2295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933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10 CuadroTexto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Ejercicio de aplicación</a:t>
            </a:r>
          </a:p>
        </p:txBody>
      </p:sp>
      <p:sp>
        <p:nvSpPr>
          <p:cNvPr id="19" name="18 Rectángulo redondeado"/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20" name="19 Conector recto"/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2" descr="Resultado de imagen para logo twit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6" name="AutoShape 4" descr="Resultado de imagen para logo twitter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7" name="AutoShape 6" descr="Resultado de imagen para logo twitter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15" name="14 Rectángulo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2" name="11 CuadroTexto"/>
          <p:cNvSpPr txBox="1"/>
          <p:nvPr/>
        </p:nvSpPr>
        <p:spPr>
          <a:xfrm>
            <a:off x="297432" y="1231234"/>
            <a:ext cx="85957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b="1" dirty="0">
                <a:latin typeface="+mj-lt"/>
              </a:rPr>
              <a:t>1) Obtener las medidas de tendencia central, posición y dispersión vistas en clase para el Ingreso per cápita familiar (</a:t>
            </a:r>
            <a:r>
              <a:rPr lang="es-AR" b="1" i="1" dirty="0">
                <a:latin typeface="+mj-lt"/>
              </a:rPr>
              <a:t>IPCF)</a:t>
            </a:r>
          </a:p>
          <a:p>
            <a:pPr algn="just"/>
            <a:endParaRPr lang="es-AR" b="1" dirty="0">
              <a:latin typeface="+mj-lt"/>
            </a:endParaRPr>
          </a:p>
          <a:p>
            <a:pPr algn="just"/>
            <a:r>
              <a:rPr lang="es-AR" dirty="0">
                <a:latin typeface="+mj-lt"/>
              </a:rPr>
              <a:t>Paso 2: ANALIZAR LA DISTRIBUCIÓN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95E3469-BB58-82D9-2749-00C9E22165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63" r="61050" b="31875"/>
          <a:stretch/>
        </p:blipFill>
        <p:spPr>
          <a:xfrm>
            <a:off x="420420" y="2380904"/>
            <a:ext cx="2889834" cy="4261323"/>
          </a:xfrm>
          <a:prstGeom prst="rect">
            <a:avLst/>
          </a:prstGeo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9F292740-76F4-8CBE-38B3-D6B9EC9FCA94}"/>
              </a:ext>
            </a:extLst>
          </p:cNvPr>
          <p:cNvSpPr/>
          <p:nvPr/>
        </p:nvSpPr>
        <p:spPr>
          <a:xfrm>
            <a:off x="2123728" y="2767987"/>
            <a:ext cx="864096" cy="203304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297EA3F-DE69-5F73-A818-2A1A808E33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6811"/>
          <a:stretch/>
        </p:blipFill>
        <p:spPr>
          <a:xfrm>
            <a:off x="3747788" y="2391993"/>
            <a:ext cx="4825059" cy="1037008"/>
          </a:xfrm>
          <a:prstGeom prst="rect">
            <a:avLst/>
          </a:prstGeom>
        </p:spPr>
      </p:pic>
      <p:sp>
        <p:nvSpPr>
          <p:cNvPr id="14" name="Elipse 13">
            <a:extLst>
              <a:ext uri="{FF2B5EF4-FFF2-40B4-BE49-F238E27FC236}">
                <a16:creationId xmlns:a16="http://schemas.microsoft.com/office/drawing/2014/main" id="{B10000FE-54D1-CBF9-C007-4AB3D0F652F8}"/>
              </a:ext>
            </a:extLst>
          </p:cNvPr>
          <p:cNvSpPr/>
          <p:nvPr/>
        </p:nvSpPr>
        <p:spPr>
          <a:xfrm>
            <a:off x="5796136" y="2707193"/>
            <a:ext cx="864096" cy="203304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4C936ABE-9C43-0E81-B575-DF428FCF41AF}"/>
              </a:ext>
            </a:extLst>
          </p:cNvPr>
          <p:cNvCxnSpPr>
            <a:cxnSpLocks/>
            <a:stCxn id="9" idx="6"/>
          </p:cNvCxnSpPr>
          <p:nvPr/>
        </p:nvCxnSpPr>
        <p:spPr>
          <a:xfrm flipV="1">
            <a:off x="2987824" y="2808845"/>
            <a:ext cx="2808312" cy="6079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0012DB2A-EE65-95D8-59FC-2E49A05A1A39}"/>
              </a:ext>
            </a:extLst>
          </p:cNvPr>
          <p:cNvSpPr/>
          <p:nvPr/>
        </p:nvSpPr>
        <p:spPr>
          <a:xfrm>
            <a:off x="7668344" y="2635591"/>
            <a:ext cx="864096" cy="203304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48831BCD-77F8-DEF6-B2D8-BA0EEBE86FF8}"/>
              </a:ext>
            </a:extLst>
          </p:cNvPr>
          <p:cNvCxnSpPr>
            <a:cxnSpLocks/>
            <a:stCxn id="21" idx="4"/>
            <a:endCxn id="27" idx="0"/>
          </p:cNvCxnSpPr>
          <p:nvPr/>
        </p:nvCxnSpPr>
        <p:spPr>
          <a:xfrm flipH="1">
            <a:off x="5948484" y="2838895"/>
            <a:ext cx="2151908" cy="107331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7" name="Imagen 26">
            <a:extLst>
              <a:ext uri="{FF2B5EF4-FFF2-40B4-BE49-F238E27FC236}">
                <a16:creationId xmlns:a16="http://schemas.microsoft.com/office/drawing/2014/main" id="{BDFF2897-73FF-44B2-BDF1-524E02C5BF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6507" y="3912205"/>
            <a:ext cx="3903953" cy="2612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898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10 CuadroTexto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Ejercicio de aplicación</a:t>
            </a:r>
          </a:p>
        </p:txBody>
      </p:sp>
      <p:sp>
        <p:nvSpPr>
          <p:cNvPr id="19" name="18 Rectángulo redondeado"/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20" name="19 Conector recto"/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2" descr="Resultado de imagen para logo twit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6" name="AutoShape 4" descr="Resultado de imagen para logo twitter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7" name="AutoShape 6" descr="Resultado de imagen para logo twitter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15" name="14 Rectángulo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8ED97B2-E55B-32BC-A449-4E0FD4999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144" y="2710628"/>
            <a:ext cx="2952750" cy="177165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E8696E30-72B8-0C3A-9AD7-F767939156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108" y="2718319"/>
            <a:ext cx="3048000" cy="2857500"/>
          </a:xfrm>
          <a:prstGeom prst="rect">
            <a:avLst/>
          </a:prstGeom>
        </p:spPr>
      </p:pic>
      <p:sp>
        <p:nvSpPr>
          <p:cNvPr id="21" name="11 CuadroTexto">
            <a:extLst>
              <a:ext uri="{FF2B5EF4-FFF2-40B4-BE49-F238E27FC236}">
                <a16:creationId xmlns:a16="http://schemas.microsoft.com/office/drawing/2014/main" id="{0639B32F-30D2-58D5-4C2B-403FBFE4454B}"/>
              </a:ext>
            </a:extLst>
          </p:cNvPr>
          <p:cNvSpPr txBox="1"/>
          <p:nvPr/>
        </p:nvSpPr>
        <p:spPr>
          <a:xfrm>
            <a:off x="181665" y="5870087"/>
            <a:ext cx="2755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1200" dirty="0">
                <a:latin typeface="+mj-lt"/>
              </a:rPr>
              <a:t>Resultados ponderados por PONDIH</a:t>
            </a:r>
          </a:p>
        </p:txBody>
      </p:sp>
      <p:sp>
        <p:nvSpPr>
          <p:cNvPr id="5" name="11 CuadroTexto">
            <a:extLst>
              <a:ext uri="{FF2B5EF4-FFF2-40B4-BE49-F238E27FC236}">
                <a16:creationId xmlns:a16="http://schemas.microsoft.com/office/drawing/2014/main" id="{FF9F65AA-ACBC-2B93-219B-2B0ADA49EF6A}"/>
              </a:ext>
            </a:extLst>
          </p:cNvPr>
          <p:cNvSpPr txBox="1"/>
          <p:nvPr/>
        </p:nvSpPr>
        <p:spPr>
          <a:xfrm>
            <a:off x="297432" y="1231234"/>
            <a:ext cx="85957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b="1" dirty="0">
                <a:latin typeface="+mj-lt"/>
              </a:rPr>
              <a:t>1) Obtener las medidas de tendencia central, posición y dispersión vistas en clase para el Ingreso per cápita familiar (</a:t>
            </a:r>
            <a:r>
              <a:rPr lang="es-AR" b="1" i="1" dirty="0">
                <a:latin typeface="+mj-lt"/>
              </a:rPr>
              <a:t>IPCF)</a:t>
            </a:r>
          </a:p>
          <a:p>
            <a:pPr algn="just"/>
            <a:endParaRPr lang="es-AR" b="1" dirty="0">
              <a:latin typeface="+mj-lt"/>
            </a:endParaRPr>
          </a:p>
          <a:p>
            <a:pPr algn="just"/>
            <a:r>
              <a:rPr lang="es-AR" dirty="0">
                <a:latin typeface="+mj-lt"/>
              </a:rPr>
              <a:t>Paso 3: FORMULAR UNA LECTURA INTEGRADA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1340079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10 CuadroTexto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Ejercicio de aplicación</a:t>
            </a:r>
          </a:p>
        </p:txBody>
      </p:sp>
      <p:sp>
        <p:nvSpPr>
          <p:cNvPr id="19" name="18 Rectángulo redondeado"/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20" name="19 Conector recto"/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2" descr="Resultado de imagen para logo twit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6" name="AutoShape 4" descr="Resultado de imagen para logo twitter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7" name="AutoShape 6" descr="Resultado de imagen para logo twitter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15" name="14 Rectángulo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2" name="11 CuadroTexto"/>
          <p:cNvSpPr txBox="1"/>
          <p:nvPr/>
        </p:nvSpPr>
        <p:spPr>
          <a:xfrm>
            <a:off x="297432" y="1231234"/>
            <a:ext cx="859574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b="1" dirty="0"/>
              <a:t>2) Comparar los promedios de IPCF según el nivel educativo del jefe de hogar</a:t>
            </a:r>
          </a:p>
          <a:p>
            <a:pPr algn="just"/>
            <a:endParaRPr lang="es-AR" b="1" i="1" dirty="0"/>
          </a:p>
          <a:p>
            <a:pPr algn="just"/>
            <a:r>
              <a:rPr lang="es-AR" dirty="0"/>
              <a:t>Paso 1: FORMULAR UNA HIPÓTESIS DE LECTURA DE LOS DATOS QUE RELACIONEN NIVEL EDUCATIVO (</a:t>
            </a:r>
            <a:r>
              <a:rPr lang="es-AR" i="1" dirty="0" err="1"/>
              <a:t>h_educajefe</a:t>
            </a:r>
            <a:r>
              <a:rPr lang="es-AR" i="1" dirty="0"/>
              <a:t>)</a:t>
            </a:r>
            <a:r>
              <a:rPr lang="es-AR" dirty="0"/>
              <a:t> CON EL INGRESO PER CÁPITA FAMILIAR (</a:t>
            </a:r>
            <a:r>
              <a:rPr lang="es-AR" i="1" dirty="0"/>
              <a:t>IPCF)</a:t>
            </a:r>
            <a:r>
              <a:rPr lang="es-AR" dirty="0"/>
              <a:t>.</a:t>
            </a:r>
          </a:p>
          <a:p>
            <a:pPr algn="just"/>
            <a:endParaRPr lang="es-AR" dirty="0"/>
          </a:p>
          <a:p>
            <a:pPr algn="just"/>
            <a:r>
              <a:rPr lang="es-AR" dirty="0"/>
              <a:t>Paso 2: FILTRAR A LAS PERSONAS QUE VIVEN EN HOGARES CON JEFES CON SECUNDARIA INCOMPLETA. REPETIR LA OPERACIÓN PARA PERSONAS EN HOGARES CON JEFES CON UNIVERSITARIO COMPLETO. </a:t>
            </a:r>
          </a:p>
          <a:p>
            <a:pPr algn="just"/>
            <a:endParaRPr lang="es-AR" b="1" i="1" dirty="0"/>
          </a:p>
        </p:txBody>
      </p:sp>
    </p:spTree>
    <p:extLst>
      <p:ext uri="{BB962C8B-B14F-4D97-AF65-F5344CB8AC3E}">
        <p14:creationId xmlns:p14="http://schemas.microsoft.com/office/powerpoint/2010/main" val="200674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n 22">
            <a:extLst>
              <a:ext uri="{FF2B5EF4-FFF2-40B4-BE49-F238E27FC236}">
                <a16:creationId xmlns:a16="http://schemas.microsoft.com/office/drawing/2014/main" id="{53DA099C-746A-5E4B-49B8-592D6A77EA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1090"/>
          <a:stretch/>
        </p:blipFill>
        <p:spPr>
          <a:xfrm>
            <a:off x="3635896" y="1765447"/>
            <a:ext cx="3763888" cy="1250962"/>
          </a:xfrm>
          <a:prstGeom prst="rect">
            <a:avLst/>
          </a:prstGeom>
        </p:spPr>
      </p:pic>
      <p:sp>
        <p:nvSpPr>
          <p:cNvPr id="3" name="2 Rectángulo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10 CuadroTexto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Ejercicio de aplicación</a:t>
            </a:r>
          </a:p>
        </p:txBody>
      </p:sp>
      <p:sp>
        <p:nvSpPr>
          <p:cNvPr id="19" name="18 Rectángulo redondeado"/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20" name="19 Conector recto"/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2" descr="Resultado de imagen para logo twit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6" name="AutoShape 4" descr="Resultado de imagen para logo twitter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7" name="AutoShape 6" descr="Resultado de imagen para logo twitter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15" name="14 Rectángulo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2" name="11 CuadroTexto"/>
          <p:cNvSpPr txBox="1"/>
          <p:nvPr/>
        </p:nvSpPr>
        <p:spPr>
          <a:xfrm>
            <a:off x="297432" y="1231234"/>
            <a:ext cx="8595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b="1" dirty="0"/>
              <a:t>2) Comparar los promedios de IPCF según el nivel educativo del jefe de hogar</a:t>
            </a:r>
          </a:p>
          <a:p>
            <a:pPr algn="just"/>
            <a:endParaRPr lang="es-AR" b="1" i="1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48FF975-9741-FA63-AF7F-E222AF0152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9687" b="31800"/>
          <a:stretch/>
        </p:blipFill>
        <p:spPr>
          <a:xfrm>
            <a:off x="363141" y="1813485"/>
            <a:ext cx="2771800" cy="3507845"/>
          </a:xfrm>
          <a:prstGeom prst="rect">
            <a:avLst/>
          </a:prstGeom>
        </p:spPr>
      </p:pic>
      <p:sp>
        <p:nvSpPr>
          <p:cNvPr id="10" name="Elipse 9">
            <a:extLst>
              <a:ext uri="{FF2B5EF4-FFF2-40B4-BE49-F238E27FC236}">
                <a16:creationId xmlns:a16="http://schemas.microsoft.com/office/drawing/2014/main" id="{EAB97F7E-F388-B604-25D4-4F28969494A5}"/>
              </a:ext>
            </a:extLst>
          </p:cNvPr>
          <p:cNvSpPr/>
          <p:nvPr/>
        </p:nvSpPr>
        <p:spPr>
          <a:xfrm>
            <a:off x="1020760" y="4849287"/>
            <a:ext cx="936104" cy="20640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F9F2D8A5-1E81-3D13-6F61-26BC546F77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8057" y="3435311"/>
            <a:ext cx="5220072" cy="3001034"/>
          </a:xfrm>
          <a:prstGeom prst="rect">
            <a:avLst/>
          </a:prstGeom>
        </p:spPr>
      </p:pic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A325C40C-160C-9F49-83EA-369F99CDDA1D}"/>
              </a:ext>
            </a:extLst>
          </p:cNvPr>
          <p:cNvCxnSpPr>
            <a:cxnSpLocks/>
          </p:cNvCxnSpPr>
          <p:nvPr/>
        </p:nvCxnSpPr>
        <p:spPr>
          <a:xfrm flipV="1">
            <a:off x="1956864" y="2541102"/>
            <a:ext cx="2983382" cy="240988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Elipse 23">
            <a:extLst>
              <a:ext uri="{FF2B5EF4-FFF2-40B4-BE49-F238E27FC236}">
                <a16:creationId xmlns:a16="http://schemas.microsoft.com/office/drawing/2014/main" id="{DB110DCB-67D8-7C38-9F9D-E421B927C9EE}"/>
              </a:ext>
            </a:extLst>
          </p:cNvPr>
          <p:cNvSpPr/>
          <p:nvPr/>
        </p:nvSpPr>
        <p:spPr>
          <a:xfrm>
            <a:off x="4595303" y="2334701"/>
            <a:ext cx="936104" cy="20640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489E0EA0-8EF2-007C-96DB-54C41D7D2A7C}"/>
              </a:ext>
            </a:extLst>
          </p:cNvPr>
          <p:cNvCxnSpPr>
            <a:cxnSpLocks/>
          </p:cNvCxnSpPr>
          <p:nvPr/>
        </p:nvCxnSpPr>
        <p:spPr>
          <a:xfrm>
            <a:off x="5063355" y="2554143"/>
            <a:ext cx="157826" cy="117206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7339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10 CuadroTexto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Ejercicio de aplicación</a:t>
            </a:r>
          </a:p>
        </p:txBody>
      </p:sp>
      <p:sp>
        <p:nvSpPr>
          <p:cNvPr id="19" name="18 Rectángulo redondeado"/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20" name="19 Conector recto"/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2" descr="Resultado de imagen para logo twit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6" name="AutoShape 4" descr="Resultado de imagen para logo twitter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7" name="AutoShape 6" descr="Resultado de imagen para logo twitter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15" name="14 Rectángulo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2" name="11 CuadroTexto"/>
          <p:cNvSpPr txBox="1"/>
          <p:nvPr/>
        </p:nvSpPr>
        <p:spPr>
          <a:xfrm>
            <a:off x="297432" y="1231234"/>
            <a:ext cx="859574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b="1" dirty="0"/>
              <a:t>2) Comparar los promedios de IPCF según el nivel educativo del jefe de hogar</a:t>
            </a:r>
          </a:p>
          <a:p>
            <a:pPr algn="just"/>
            <a:endParaRPr lang="es-AR" b="1" i="1" dirty="0"/>
          </a:p>
          <a:p>
            <a:pPr algn="just"/>
            <a:r>
              <a:rPr lang="es-AR" dirty="0"/>
              <a:t>Paso 3: </a:t>
            </a:r>
            <a:r>
              <a:rPr lang="es-AR" dirty="0">
                <a:latin typeface="+mj-lt"/>
              </a:rPr>
              <a:t>ANALIZAR LA DISTRIBUCIÓN (IGUAL QUE HICIMOS EN EL EJERCICIO 1). FORMULAR UNA LECTURA INTEGRADA</a:t>
            </a:r>
            <a:endParaRPr lang="es-AR" dirty="0"/>
          </a:p>
          <a:p>
            <a:pPr algn="just"/>
            <a:endParaRPr lang="es-AR" b="1" i="1" dirty="0"/>
          </a:p>
          <a:p>
            <a:pPr algn="just"/>
            <a:endParaRPr lang="es-AR" b="1" i="1" dirty="0"/>
          </a:p>
          <a:p>
            <a:pPr algn="just"/>
            <a:endParaRPr lang="es-AR" b="1" i="1" dirty="0"/>
          </a:p>
          <a:p>
            <a:pPr algn="just"/>
            <a:endParaRPr lang="es-AR" b="1" i="1" dirty="0"/>
          </a:p>
          <a:p>
            <a:pPr algn="just"/>
            <a:endParaRPr lang="es-AR" b="1" i="1" dirty="0"/>
          </a:p>
          <a:p>
            <a:pPr algn="just"/>
            <a:endParaRPr lang="es-AR" b="1" i="1" dirty="0"/>
          </a:p>
          <a:p>
            <a:pPr algn="just"/>
            <a:endParaRPr lang="es-AR" b="1" i="1" dirty="0"/>
          </a:p>
          <a:p>
            <a:pPr algn="just"/>
            <a:endParaRPr lang="es-AR" b="1" i="1" dirty="0"/>
          </a:p>
          <a:p>
            <a:pPr algn="just"/>
            <a:endParaRPr lang="es-AR" b="1" i="1" dirty="0"/>
          </a:p>
          <a:p>
            <a:pPr algn="just"/>
            <a:endParaRPr lang="es-AR" b="1" i="1" dirty="0"/>
          </a:p>
          <a:p>
            <a:pPr algn="just"/>
            <a:r>
              <a:rPr lang="es-AR" dirty="0"/>
              <a:t>Paso 4: ¿CUÁL ES LA DISTRIBUCIÓN MÁS HETEROGÉNEA? CALCULAR EL COEFICIENTE DE VARIACIÓN</a:t>
            </a:r>
          </a:p>
        </p:txBody>
      </p:sp>
      <p:sp>
        <p:nvSpPr>
          <p:cNvPr id="21" name="11 CuadroTexto">
            <a:extLst>
              <a:ext uri="{FF2B5EF4-FFF2-40B4-BE49-F238E27FC236}">
                <a16:creationId xmlns:a16="http://schemas.microsoft.com/office/drawing/2014/main" id="{0639B32F-30D2-58D5-4C2B-403FBFE4454B}"/>
              </a:ext>
            </a:extLst>
          </p:cNvPr>
          <p:cNvSpPr txBox="1"/>
          <p:nvPr/>
        </p:nvSpPr>
        <p:spPr>
          <a:xfrm>
            <a:off x="277261" y="4520153"/>
            <a:ext cx="2755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1200" dirty="0">
                <a:latin typeface="+mj-lt"/>
              </a:rPr>
              <a:t>Resultados ponderados por PONDIH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03E414B-58E8-6062-2C7B-CE4F5AE4C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7701" y="2697887"/>
            <a:ext cx="3048000" cy="1809750"/>
          </a:xfrm>
          <a:prstGeom prst="rect">
            <a:avLst/>
          </a:prstGeom>
        </p:spPr>
      </p:pic>
      <p:sp>
        <p:nvSpPr>
          <p:cNvPr id="13" name="11 CuadroTexto">
            <a:extLst>
              <a:ext uri="{FF2B5EF4-FFF2-40B4-BE49-F238E27FC236}">
                <a16:creationId xmlns:a16="http://schemas.microsoft.com/office/drawing/2014/main" id="{6878F402-47D1-EBD7-B27B-3029CDDEF0A3}"/>
              </a:ext>
            </a:extLst>
          </p:cNvPr>
          <p:cNvSpPr txBox="1"/>
          <p:nvPr/>
        </p:nvSpPr>
        <p:spPr>
          <a:xfrm>
            <a:off x="1383696" y="2420888"/>
            <a:ext cx="2755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1200" dirty="0">
                <a:solidFill>
                  <a:srgbClr val="FF0000"/>
                </a:solidFill>
                <a:latin typeface="+mj-lt"/>
              </a:rPr>
              <a:t>Hasta secundaria incompleta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83615EFB-3B08-70A0-ACC3-A7A7761F2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1740" y="2716220"/>
            <a:ext cx="3048000" cy="1809750"/>
          </a:xfrm>
          <a:prstGeom prst="rect">
            <a:avLst/>
          </a:prstGeom>
        </p:spPr>
      </p:pic>
      <p:sp>
        <p:nvSpPr>
          <p:cNvPr id="23" name="11 CuadroTexto">
            <a:extLst>
              <a:ext uri="{FF2B5EF4-FFF2-40B4-BE49-F238E27FC236}">
                <a16:creationId xmlns:a16="http://schemas.microsoft.com/office/drawing/2014/main" id="{F573C577-FB1F-5AB8-33CE-DC34D1F7134F}"/>
              </a:ext>
            </a:extLst>
          </p:cNvPr>
          <p:cNvSpPr txBox="1"/>
          <p:nvPr/>
        </p:nvSpPr>
        <p:spPr>
          <a:xfrm>
            <a:off x="5148064" y="2462730"/>
            <a:ext cx="2755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1200" dirty="0">
                <a:solidFill>
                  <a:srgbClr val="FF0000"/>
                </a:solidFill>
                <a:latin typeface="+mj-lt"/>
              </a:rPr>
              <a:t>Universitario completo y más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ACDAE3C0-11B8-89D4-824E-9EC76E31EEC4}"/>
                  </a:ext>
                </a:extLst>
              </p:cNvPr>
              <p:cNvSpPr txBox="1"/>
              <p:nvPr/>
            </p:nvSpPr>
            <p:spPr>
              <a:xfrm>
                <a:off x="755576" y="5624438"/>
                <a:ext cx="2592288" cy="5666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1800" b="0" i="1" smtClean="0">
                          <a:latin typeface="Cambria Math" panose="02040503050406030204" pitchFamily="18" charset="0"/>
                        </a:rPr>
                        <m:t>𝐶𝑉</m:t>
                      </m:r>
                      <m:r>
                        <a:rPr lang="es-AR" sz="18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acc>
                            <m:accPr>
                              <m:chr m:val="̅"/>
                              <m:ctrlPr>
                                <a:rPr lang="es-AR" altLang="es-AR" sz="1800" b="1" i="1" dirty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accPr>
                            <m:e>
                              <m:r>
                                <a:rPr lang="es-AR" altLang="es-AR" sz="1800" b="1" i="1" dirty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Calibri" panose="020F0502020204030204" pitchFamily="34" charset="0"/>
                                </a:rPr>
                                <m:t>𝒙</m:t>
                              </m:r>
                            </m:e>
                          </m:acc>
                        </m:den>
                      </m:f>
                      <m:r>
                        <a:rPr lang="el-G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A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s-AR" sz="1800" dirty="0"/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ACDAE3C0-11B8-89D4-824E-9EC76E31E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5624438"/>
                <a:ext cx="2592288" cy="5666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195CCA2A-E23F-0AE6-6FAA-ABC18C5BF694}"/>
                  </a:ext>
                </a:extLst>
              </p:cNvPr>
              <p:cNvSpPr txBox="1"/>
              <p:nvPr/>
            </p:nvSpPr>
            <p:spPr>
              <a:xfrm>
                <a:off x="2776841" y="5624438"/>
                <a:ext cx="2592288" cy="612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1800" b="0" i="1" smtClean="0">
                          <a:latin typeface="Cambria Math" panose="02040503050406030204" pitchFamily="18" charset="0"/>
                        </a:rPr>
                        <m:t>𝐶𝑉</m:t>
                      </m:r>
                      <m:r>
                        <a:rPr lang="es-AR" sz="18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1800" b="0" i="1" smtClean="0">
                              <a:latin typeface="Cambria Math" panose="02040503050406030204" pitchFamily="18" charset="0"/>
                            </a:rPr>
                            <m:t>80124</m:t>
                          </m:r>
                        </m:num>
                        <m:den>
                          <m:r>
                            <a:rPr lang="es-AR" altLang="es-AR" sz="1800" b="0" i="1" dirty="0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libri" panose="020F0502020204030204" pitchFamily="34" charset="0"/>
                            </a:rPr>
                            <m:t>103831</m:t>
                          </m:r>
                        </m:den>
                      </m:f>
                      <m:r>
                        <a:rPr lang="el-G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A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s-AR" sz="1800" dirty="0"/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195CCA2A-E23F-0AE6-6FAA-ABC18C5BF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6841" y="5624438"/>
                <a:ext cx="2592288" cy="6127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B0CF5192-4E10-1772-511E-6E83E05276F1}"/>
                  </a:ext>
                </a:extLst>
              </p:cNvPr>
              <p:cNvSpPr txBox="1"/>
              <p:nvPr/>
            </p:nvSpPr>
            <p:spPr>
              <a:xfrm>
                <a:off x="5558914" y="5589240"/>
                <a:ext cx="2592288" cy="612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1800" b="0" i="1" smtClean="0">
                          <a:latin typeface="Cambria Math" panose="02040503050406030204" pitchFamily="18" charset="0"/>
                        </a:rPr>
                        <m:t>𝐶𝑉</m:t>
                      </m:r>
                      <m:r>
                        <a:rPr lang="es-AR" sz="18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1800" b="0" i="1" smtClean="0">
                              <a:latin typeface="Cambria Math" panose="02040503050406030204" pitchFamily="18" charset="0"/>
                            </a:rPr>
                            <m:t>258296</m:t>
                          </m:r>
                        </m:num>
                        <m:den>
                          <m:r>
                            <a:rPr lang="es-AR" sz="1800" b="0" i="1" smtClean="0">
                              <a:latin typeface="Cambria Math" panose="02040503050406030204" pitchFamily="18" charset="0"/>
                            </a:rPr>
                            <m:t>271356</m:t>
                          </m:r>
                        </m:den>
                      </m:f>
                      <m:r>
                        <a:rPr lang="el-G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A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s-AR" sz="1800" dirty="0"/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B0CF5192-4E10-1772-511E-6E83E05276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8914" y="5589240"/>
                <a:ext cx="2592288" cy="612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B9F54BA5-C580-D1F7-442B-D0395290C459}"/>
                  </a:ext>
                </a:extLst>
              </p:cNvPr>
              <p:cNvSpPr txBox="1"/>
              <p:nvPr/>
            </p:nvSpPr>
            <p:spPr>
              <a:xfrm>
                <a:off x="2745019" y="6356111"/>
                <a:ext cx="2592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1800" b="0" i="1" smtClean="0">
                          <a:latin typeface="Cambria Math" panose="02040503050406030204" pitchFamily="18" charset="0"/>
                        </a:rPr>
                        <m:t>𝐶𝑉</m:t>
                      </m:r>
                      <m:r>
                        <a:rPr lang="es-AR" sz="18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1800" b="0" i="1" smtClean="0">
                          <a:latin typeface="Cambria Math" panose="02040503050406030204" pitchFamily="18" charset="0"/>
                        </a:rPr>
                        <m:t>77%</m:t>
                      </m:r>
                    </m:oMath>
                  </m:oMathPara>
                </a14:m>
                <a:endParaRPr lang="es-AR" sz="1800" dirty="0"/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B9F54BA5-C580-D1F7-442B-D0395290C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5019" y="6356111"/>
                <a:ext cx="259228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0C0572D9-F439-06B8-6051-97FB848ADE80}"/>
                  </a:ext>
                </a:extLst>
              </p:cNvPr>
              <p:cNvSpPr txBox="1"/>
              <p:nvPr/>
            </p:nvSpPr>
            <p:spPr>
              <a:xfrm>
                <a:off x="5145911" y="6352570"/>
                <a:ext cx="2592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1800" b="0" i="1" smtClean="0">
                          <a:latin typeface="Cambria Math" panose="02040503050406030204" pitchFamily="18" charset="0"/>
                        </a:rPr>
                        <m:t>𝐶𝑉</m:t>
                      </m:r>
                      <m:r>
                        <a:rPr lang="es-AR" sz="18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1800" b="0" i="1" smtClean="0">
                          <a:latin typeface="Cambria Math" panose="02040503050406030204" pitchFamily="18" charset="0"/>
                        </a:rPr>
                        <m:t>95%</m:t>
                      </m:r>
                    </m:oMath>
                  </m:oMathPara>
                </a14:m>
                <a:endParaRPr lang="es-AR" sz="1800" dirty="0"/>
              </a:p>
            </p:txBody>
          </p:sp>
        </mc:Choice>
        <mc:Fallback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0C0572D9-F439-06B8-6051-97FB848AD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5911" y="6352570"/>
                <a:ext cx="259228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5270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10 CuadroTexto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Ejercicio de aplicación</a:t>
            </a:r>
          </a:p>
        </p:txBody>
      </p:sp>
      <p:sp>
        <p:nvSpPr>
          <p:cNvPr id="19" name="18 Rectángulo redondeado"/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20" name="19 Conector recto"/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2" descr="Resultado de imagen para logo twit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6" name="AutoShape 4" descr="Resultado de imagen para logo twitter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7" name="AutoShape 6" descr="Resultado de imagen para logo twitter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15" name="14 Rectángulo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2" name="11 CuadroTexto"/>
          <p:cNvSpPr txBox="1"/>
          <p:nvPr/>
        </p:nvSpPr>
        <p:spPr>
          <a:xfrm>
            <a:off x="297432" y="1231234"/>
            <a:ext cx="85957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b="1" dirty="0"/>
              <a:t>3) Analizar visualmente la distribución del ingreso per cápita familiar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s-AR" dirty="0">
              <a:latin typeface="+mj-lt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s-AR" dirty="0">
              <a:latin typeface="+mj-l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F6CA32F-86F5-8096-0844-1E5940DD14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3387" b="56277"/>
          <a:stretch/>
        </p:blipFill>
        <p:spPr>
          <a:xfrm>
            <a:off x="307975" y="1656199"/>
            <a:ext cx="3347864" cy="22489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B8D6D60E-4414-721C-FDD7-2554BCCAC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9832" y="2662088"/>
            <a:ext cx="6084168" cy="3908689"/>
          </a:xfrm>
          <a:prstGeom prst="rect">
            <a:avLst/>
          </a:prstGeom>
        </p:spPr>
      </p:pic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5B7FD94A-8E36-51D9-34C3-3622E4F62F4C}"/>
              </a:ext>
            </a:extLst>
          </p:cNvPr>
          <p:cNvCxnSpPr>
            <a:cxnSpLocks/>
          </p:cNvCxnSpPr>
          <p:nvPr/>
        </p:nvCxnSpPr>
        <p:spPr>
          <a:xfrm>
            <a:off x="3059832" y="1988840"/>
            <a:ext cx="360040" cy="38164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Elipse 22">
            <a:extLst>
              <a:ext uri="{FF2B5EF4-FFF2-40B4-BE49-F238E27FC236}">
                <a16:creationId xmlns:a16="http://schemas.microsoft.com/office/drawing/2014/main" id="{E4BC784B-DC36-595A-029A-EFFCA269304D}"/>
              </a:ext>
            </a:extLst>
          </p:cNvPr>
          <p:cNvSpPr/>
          <p:nvPr/>
        </p:nvSpPr>
        <p:spPr>
          <a:xfrm>
            <a:off x="4788024" y="5056800"/>
            <a:ext cx="648072" cy="63377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5B952247-4DB8-713D-5A53-CFD22DBA9C94}"/>
              </a:ext>
            </a:extLst>
          </p:cNvPr>
          <p:cNvSpPr txBox="1"/>
          <p:nvPr/>
        </p:nvSpPr>
        <p:spPr>
          <a:xfrm>
            <a:off x="5724130" y="4872378"/>
            <a:ext cx="1728192" cy="738664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AR" sz="1400" dirty="0">
                <a:solidFill>
                  <a:srgbClr val="C00000"/>
                </a:solidFill>
              </a:rPr>
              <a:t>1) Arrastrar la figura hasta el área en blanco</a:t>
            </a: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72D5C536-94A7-41AE-3F9E-79E177184747}"/>
              </a:ext>
            </a:extLst>
          </p:cNvPr>
          <p:cNvCxnSpPr>
            <a:cxnSpLocks/>
          </p:cNvCxnSpPr>
          <p:nvPr/>
        </p:nvCxnSpPr>
        <p:spPr>
          <a:xfrm flipV="1">
            <a:off x="5112510" y="4308484"/>
            <a:ext cx="107562" cy="73534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E2179D0F-40C0-5877-60E5-F3AC28E4B6BD}"/>
              </a:ext>
            </a:extLst>
          </p:cNvPr>
          <p:cNvSpPr txBox="1"/>
          <p:nvPr/>
        </p:nvSpPr>
        <p:spPr>
          <a:xfrm>
            <a:off x="3521105" y="3026536"/>
            <a:ext cx="1728192" cy="738664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AR" sz="1400" dirty="0">
                <a:solidFill>
                  <a:srgbClr val="C00000"/>
                </a:solidFill>
              </a:rPr>
              <a:t>2) Arrastrar la variable </a:t>
            </a:r>
            <a:r>
              <a:rPr lang="es-AR" sz="1400" i="1" dirty="0">
                <a:solidFill>
                  <a:srgbClr val="C00000"/>
                </a:solidFill>
              </a:rPr>
              <a:t>IPCF hasta “Eje x”</a:t>
            </a:r>
            <a:endParaRPr lang="es-AR" sz="1400" dirty="0">
              <a:solidFill>
                <a:srgbClr val="C00000"/>
              </a:solidFill>
            </a:endParaRP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A20645D6-F89F-58F2-DCFA-B2E601E35D33}"/>
              </a:ext>
            </a:extLst>
          </p:cNvPr>
          <p:cNvCxnSpPr>
            <a:cxnSpLocks/>
          </p:cNvCxnSpPr>
          <p:nvPr/>
        </p:nvCxnSpPr>
        <p:spPr>
          <a:xfrm>
            <a:off x="3601618" y="3796673"/>
            <a:ext cx="993685" cy="6908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3935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10 CuadroTexto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Ejercicio de aplicación</a:t>
            </a:r>
          </a:p>
        </p:txBody>
      </p:sp>
      <p:sp>
        <p:nvSpPr>
          <p:cNvPr id="19" name="18 Rectángulo redondeado"/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20" name="19 Conector recto"/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2" descr="Resultado de imagen para logo twit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6" name="AutoShape 4" descr="Resultado de imagen para logo twitter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7" name="AutoShape 6" descr="Resultado de imagen para logo twitter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15" name="14 Rectángulo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2" name="11 CuadroTexto"/>
          <p:cNvSpPr txBox="1"/>
          <p:nvPr/>
        </p:nvSpPr>
        <p:spPr>
          <a:xfrm>
            <a:off x="297432" y="1231234"/>
            <a:ext cx="85957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b="1" dirty="0"/>
              <a:t>3) Analizar visualmente la distribución del ingreso per cápita familiar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s-AR" dirty="0">
              <a:latin typeface="+mj-lt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s-AR" dirty="0">
              <a:latin typeface="+mj-lt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F69B747-178C-66B4-949F-0292C94C2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682" y="1746593"/>
            <a:ext cx="8745242" cy="4313085"/>
          </a:xfrm>
          <a:prstGeom prst="rect">
            <a:avLst/>
          </a:prstGeo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27B4874D-C378-9E28-348A-8F2D0A9069F2}"/>
              </a:ext>
            </a:extLst>
          </p:cNvPr>
          <p:cNvSpPr/>
          <p:nvPr/>
        </p:nvSpPr>
        <p:spPr>
          <a:xfrm>
            <a:off x="3991611" y="3086166"/>
            <a:ext cx="1512168" cy="36004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1B5D8654-998A-41CE-1CB0-9F81151351D1}"/>
              </a:ext>
            </a:extLst>
          </p:cNvPr>
          <p:cNvSpPr/>
          <p:nvPr/>
        </p:nvSpPr>
        <p:spPr>
          <a:xfrm>
            <a:off x="3991611" y="4999412"/>
            <a:ext cx="1512168" cy="36004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5EC5C17C-540A-9B01-CA80-7624DACA15BD}"/>
              </a:ext>
            </a:extLst>
          </p:cNvPr>
          <p:cNvSpPr/>
          <p:nvPr/>
        </p:nvSpPr>
        <p:spPr>
          <a:xfrm>
            <a:off x="6732240" y="3266186"/>
            <a:ext cx="1800200" cy="36004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83983DF5-09C9-E561-AA0B-A111F4A49B26}"/>
              </a:ext>
            </a:extLst>
          </p:cNvPr>
          <p:cNvSpPr/>
          <p:nvPr/>
        </p:nvSpPr>
        <p:spPr>
          <a:xfrm>
            <a:off x="2123728" y="4437112"/>
            <a:ext cx="648072" cy="63377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749185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10 CuadroTexto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El análisis de la distribución del ingreso</a:t>
            </a:r>
          </a:p>
        </p:txBody>
      </p:sp>
      <p:sp>
        <p:nvSpPr>
          <p:cNvPr id="19" name="18 Rectángulo redondeado"/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20" name="19 Conector recto"/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2" descr="Resultado de imagen para logo twit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6" name="AutoShape 4" descr="Resultado de imagen para logo twitter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7" name="AutoShape 6" descr="Resultado de imagen para logo twitter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15" name="14 Rectángulo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2" name="11 CuadroTexto"/>
          <p:cNvSpPr txBox="1"/>
          <p:nvPr/>
        </p:nvSpPr>
        <p:spPr>
          <a:xfrm>
            <a:off x="297432" y="1231234"/>
            <a:ext cx="85957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b="1" dirty="0"/>
              <a:t>3) Analizar visualmente la distribución del ingreso per cápita familiar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s-AR" dirty="0">
              <a:latin typeface="+mj-lt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s-AR" dirty="0">
              <a:latin typeface="+mj-l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2F3C784-D726-A2C6-88EE-C9587E6A3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1727207"/>
            <a:ext cx="7716280" cy="455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52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10 CuadroTexto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Ejercicio de aplicación</a:t>
            </a:r>
          </a:p>
        </p:txBody>
      </p:sp>
      <p:sp>
        <p:nvSpPr>
          <p:cNvPr id="19" name="18 Rectángulo redondeado"/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20" name="19 Conector recto"/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2" descr="Resultado de imagen para logo twit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6" name="AutoShape 4" descr="Resultado de imagen para logo twitter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7" name="AutoShape 6" descr="Resultado de imagen para logo twitter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15" name="14 Rectángulo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2" name="11 CuadroTexto"/>
          <p:cNvSpPr txBox="1"/>
          <p:nvPr/>
        </p:nvSpPr>
        <p:spPr>
          <a:xfrm>
            <a:off x="297432" y="1231234"/>
            <a:ext cx="85957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b="1" dirty="0"/>
              <a:t>3) Analizar visualmente la distribución del ingreso per cápita familiar</a:t>
            </a:r>
          </a:p>
          <a:p>
            <a:pPr algn="just"/>
            <a:endParaRPr lang="es-AR" b="1" dirty="0"/>
          </a:p>
          <a:p>
            <a:pPr algn="just"/>
            <a:r>
              <a:rPr lang="es-AR" dirty="0"/>
              <a:t>COMPARAR DOS GRUPOS SEGÚN NIVEL EDUCATIVO DEL JEFE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s-AR" dirty="0">
              <a:latin typeface="+mj-lt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s-AR" dirty="0">
              <a:latin typeface="+mj-lt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273C19E-D68D-32FF-E76D-4AFDF4FC3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26" y="3229969"/>
            <a:ext cx="3899316" cy="2301236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E5AFE152-8EAA-5B6F-7DBC-DE4C112C9B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0942" y="3139199"/>
            <a:ext cx="4360607" cy="2573473"/>
          </a:xfrm>
          <a:prstGeom prst="rect">
            <a:avLst/>
          </a:prstGeom>
        </p:spPr>
      </p:pic>
      <p:sp>
        <p:nvSpPr>
          <p:cNvPr id="18" name="11 CuadroTexto">
            <a:extLst>
              <a:ext uri="{FF2B5EF4-FFF2-40B4-BE49-F238E27FC236}">
                <a16:creationId xmlns:a16="http://schemas.microsoft.com/office/drawing/2014/main" id="{9842BC1E-6096-9A16-BB30-025DE8230CD9}"/>
              </a:ext>
            </a:extLst>
          </p:cNvPr>
          <p:cNvSpPr txBox="1"/>
          <p:nvPr/>
        </p:nvSpPr>
        <p:spPr>
          <a:xfrm>
            <a:off x="1210078" y="2489981"/>
            <a:ext cx="2755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1200" dirty="0">
                <a:solidFill>
                  <a:srgbClr val="FF0000"/>
                </a:solidFill>
                <a:latin typeface="+mj-lt"/>
              </a:rPr>
              <a:t>Hasta secundaria incompleta</a:t>
            </a:r>
          </a:p>
        </p:txBody>
      </p:sp>
      <p:sp>
        <p:nvSpPr>
          <p:cNvPr id="21" name="11 CuadroTexto">
            <a:extLst>
              <a:ext uri="{FF2B5EF4-FFF2-40B4-BE49-F238E27FC236}">
                <a16:creationId xmlns:a16="http://schemas.microsoft.com/office/drawing/2014/main" id="{B235B7F7-0BCE-38CB-A2A5-CCB9E77B61E6}"/>
              </a:ext>
            </a:extLst>
          </p:cNvPr>
          <p:cNvSpPr txBox="1"/>
          <p:nvPr/>
        </p:nvSpPr>
        <p:spPr>
          <a:xfrm>
            <a:off x="4974446" y="2531823"/>
            <a:ext cx="2755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1200" dirty="0">
                <a:solidFill>
                  <a:srgbClr val="FF0000"/>
                </a:solidFill>
                <a:latin typeface="+mj-lt"/>
              </a:rPr>
              <a:t>Universitario completo y más</a:t>
            </a:r>
          </a:p>
        </p:txBody>
      </p:sp>
    </p:spTree>
    <p:extLst>
      <p:ext uri="{BB962C8B-B14F-4D97-AF65-F5344CB8AC3E}">
        <p14:creationId xmlns:p14="http://schemas.microsoft.com/office/powerpoint/2010/main" val="3420203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10 CuadroTexto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Ejercicio de aplicación</a:t>
            </a:r>
          </a:p>
        </p:txBody>
      </p:sp>
      <p:sp>
        <p:nvSpPr>
          <p:cNvPr id="19" name="18 Rectángulo redondeado"/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20" name="19 Conector recto"/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2" descr="Resultado de imagen para logo twit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6" name="AutoShape 4" descr="Resultado de imagen para logo twitter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7" name="AutoShape 6" descr="Resultado de imagen para logo twitter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15" name="14 Rectángulo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2" name="11 CuadroTexto"/>
          <p:cNvSpPr txBox="1"/>
          <p:nvPr/>
        </p:nvSpPr>
        <p:spPr>
          <a:xfrm>
            <a:off x="297432" y="1231234"/>
            <a:ext cx="859574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b="1" dirty="0"/>
              <a:t>4) Construir deciles de ingreso per cápita familiar</a:t>
            </a:r>
          </a:p>
          <a:p>
            <a:pPr algn="just"/>
            <a:endParaRPr lang="es-AR" b="1" dirty="0"/>
          </a:p>
          <a:p>
            <a:pPr algn="just"/>
            <a:r>
              <a:rPr lang="es-AR" dirty="0"/>
              <a:t>PASO 1: REMOVER FILTROS</a:t>
            </a:r>
          </a:p>
          <a:p>
            <a:pPr algn="just"/>
            <a:endParaRPr lang="es-AR" dirty="0"/>
          </a:p>
          <a:p>
            <a:pPr algn="just"/>
            <a:r>
              <a:rPr lang="es-AR" dirty="0"/>
              <a:t>PASO 2: USAR LA FUNCIÓN RANK CASOS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s-AR" dirty="0">
              <a:latin typeface="+mj-lt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s-AR" dirty="0">
              <a:latin typeface="+mj-l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B29B73C-9C88-7550-9C4C-0B7E259576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4175" b="47314"/>
          <a:stretch/>
        </p:blipFill>
        <p:spPr>
          <a:xfrm>
            <a:off x="709767" y="2797750"/>
            <a:ext cx="4113704" cy="3402980"/>
          </a:xfrm>
          <a:prstGeom prst="rect">
            <a:avLst/>
          </a:prstGeo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9CC2105A-1EA3-4BCF-83F1-A3DCC7A0F0BF}"/>
              </a:ext>
            </a:extLst>
          </p:cNvPr>
          <p:cNvSpPr/>
          <p:nvPr/>
        </p:nvSpPr>
        <p:spPr>
          <a:xfrm>
            <a:off x="1835696" y="4605919"/>
            <a:ext cx="1512168" cy="36004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0001764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10 CuadroTexto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Ejercicio de aplicación</a:t>
            </a:r>
          </a:p>
        </p:txBody>
      </p:sp>
      <p:sp>
        <p:nvSpPr>
          <p:cNvPr id="19" name="18 Rectángulo redondeado"/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20" name="19 Conector recto"/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2" descr="Resultado de imagen para logo twit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6" name="AutoShape 4" descr="Resultado de imagen para logo twitter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7" name="AutoShape 6" descr="Resultado de imagen para logo twitter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15" name="14 Rectángulo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2" name="11 CuadroTexto"/>
          <p:cNvSpPr txBox="1"/>
          <p:nvPr/>
        </p:nvSpPr>
        <p:spPr>
          <a:xfrm>
            <a:off x="297432" y="1231234"/>
            <a:ext cx="859574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b="1" dirty="0"/>
              <a:t>4) Construir deciles de ingreso per cápita familiar</a:t>
            </a:r>
          </a:p>
          <a:p>
            <a:pPr algn="just"/>
            <a:endParaRPr lang="es-AR" b="1" dirty="0"/>
          </a:p>
          <a:p>
            <a:pPr algn="just"/>
            <a:r>
              <a:rPr lang="es-AR" dirty="0"/>
              <a:t>PASO 1: REMOVER FILTROS</a:t>
            </a:r>
          </a:p>
          <a:p>
            <a:pPr algn="just"/>
            <a:endParaRPr lang="es-AR" dirty="0"/>
          </a:p>
          <a:p>
            <a:pPr algn="just"/>
            <a:r>
              <a:rPr lang="es-AR" dirty="0"/>
              <a:t>PASO 2: USAR LA FUNCIÓN RANK CASOS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s-AR" dirty="0">
              <a:latin typeface="+mj-lt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s-AR" dirty="0">
              <a:latin typeface="+mj-lt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3143A44-D88E-0B87-1FAA-CB4FF7E7E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817" y="3080721"/>
            <a:ext cx="7611392" cy="2927866"/>
          </a:xfrm>
          <a:prstGeom prst="rect">
            <a:avLst/>
          </a:prstGeom>
        </p:spPr>
      </p:pic>
      <p:sp>
        <p:nvSpPr>
          <p:cNvPr id="10" name="Elipse 9">
            <a:extLst>
              <a:ext uri="{FF2B5EF4-FFF2-40B4-BE49-F238E27FC236}">
                <a16:creationId xmlns:a16="http://schemas.microsoft.com/office/drawing/2014/main" id="{955E0871-F1AF-33E4-9754-DF1B0EEAF9FE}"/>
              </a:ext>
            </a:extLst>
          </p:cNvPr>
          <p:cNvSpPr/>
          <p:nvPr/>
        </p:nvSpPr>
        <p:spPr>
          <a:xfrm>
            <a:off x="2915816" y="3385620"/>
            <a:ext cx="576064" cy="20982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68FA8D36-D0DA-7211-2EEE-69E15848CDE0}"/>
              </a:ext>
            </a:extLst>
          </p:cNvPr>
          <p:cNvSpPr/>
          <p:nvPr/>
        </p:nvSpPr>
        <p:spPr>
          <a:xfrm>
            <a:off x="4860032" y="3325840"/>
            <a:ext cx="576064" cy="20982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57D537B0-2D18-2B20-FDD7-94DA57444432}"/>
              </a:ext>
            </a:extLst>
          </p:cNvPr>
          <p:cNvCxnSpPr>
            <a:cxnSpLocks/>
          </p:cNvCxnSpPr>
          <p:nvPr/>
        </p:nvCxnSpPr>
        <p:spPr>
          <a:xfrm>
            <a:off x="5377125" y="3500365"/>
            <a:ext cx="993685" cy="82885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4755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10 CuadroTexto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Ejercicios de aplicación</a:t>
            </a:r>
          </a:p>
        </p:txBody>
      </p:sp>
      <p:sp>
        <p:nvSpPr>
          <p:cNvPr id="19" name="18 Rectángulo redondeado"/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20" name="19 Conector recto"/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2" descr="Resultado de imagen para logo twit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6" name="AutoShape 4" descr="Resultado de imagen para logo twitter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7" name="AutoShape 6" descr="Resultado de imagen para logo twitter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15" name="14 Rectángulo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2" name="11 CuadroTexto"/>
          <p:cNvSpPr txBox="1"/>
          <p:nvPr/>
        </p:nvSpPr>
        <p:spPr>
          <a:xfrm>
            <a:off x="297432" y="1231234"/>
            <a:ext cx="85957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b="1" dirty="0"/>
              <a:t>4) Construir deciles de ingreso per cápita familiar</a:t>
            </a:r>
          </a:p>
          <a:p>
            <a:pPr algn="just"/>
            <a:endParaRPr lang="es-AR" b="1" dirty="0"/>
          </a:p>
          <a:p>
            <a:pPr algn="just"/>
            <a:r>
              <a:rPr lang="es-AR" dirty="0"/>
              <a:t>PASO 3: COMPARAR LA SUMA DEL INGRESO DE CADA DECIL (% PARTICIPACIÓN)</a:t>
            </a:r>
          </a:p>
        </p:txBody>
      </p:sp>
      <p:sp>
        <p:nvSpPr>
          <p:cNvPr id="21" name="11 CuadroTexto">
            <a:extLst>
              <a:ext uri="{FF2B5EF4-FFF2-40B4-BE49-F238E27FC236}">
                <a16:creationId xmlns:a16="http://schemas.microsoft.com/office/drawing/2014/main" id="{0639B32F-30D2-58D5-4C2B-403FBFE4454B}"/>
              </a:ext>
            </a:extLst>
          </p:cNvPr>
          <p:cNvSpPr txBox="1"/>
          <p:nvPr/>
        </p:nvSpPr>
        <p:spPr>
          <a:xfrm>
            <a:off x="745500" y="4290628"/>
            <a:ext cx="2755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1200" dirty="0">
                <a:latin typeface="+mj-lt"/>
              </a:rPr>
              <a:t>Resultados ponderados por PONDIH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A691F0B9-6CE3-9F2C-0DDC-A96C82217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082" y="2293049"/>
            <a:ext cx="7639050" cy="2076450"/>
          </a:xfrm>
          <a:prstGeom prst="rect">
            <a:avLst/>
          </a:prstGeom>
        </p:spPr>
      </p:pic>
      <p:sp>
        <p:nvSpPr>
          <p:cNvPr id="30" name="11 CuadroTexto">
            <a:extLst>
              <a:ext uri="{FF2B5EF4-FFF2-40B4-BE49-F238E27FC236}">
                <a16:creationId xmlns:a16="http://schemas.microsoft.com/office/drawing/2014/main" id="{BB050802-9D5F-301E-5EB9-1F294A784F99}"/>
              </a:ext>
            </a:extLst>
          </p:cNvPr>
          <p:cNvSpPr txBox="1"/>
          <p:nvPr/>
        </p:nvSpPr>
        <p:spPr>
          <a:xfrm>
            <a:off x="548548" y="4693007"/>
            <a:ext cx="53572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1200" b="1" i="1" dirty="0">
                <a:solidFill>
                  <a:schemeClr val="accent4"/>
                </a:solidFill>
                <a:latin typeface="+mj-lt"/>
              </a:rPr>
              <a:t>Brecha entre deciles extremos: </a:t>
            </a:r>
            <a:r>
              <a:rPr lang="es-AR" sz="1200" i="1" dirty="0">
                <a:solidFill>
                  <a:schemeClr val="accent4"/>
                </a:solidFill>
                <a:latin typeface="+mj-lt"/>
              </a:rPr>
              <a:t>% del ingreso que concentra el D10 y el D1</a:t>
            </a:r>
            <a:endParaRPr lang="es-AR" sz="1200" dirty="0">
              <a:solidFill>
                <a:srgbClr val="FF0000"/>
              </a:solidFill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7C4269AE-3DD9-6BFA-85E7-FA9C08274FBA}"/>
                  </a:ext>
                </a:extLst>
              </p:cNvPr>
              <p:cNvSpPr txBox="1"/>
              <p:nvPr/>
            </p:nvSpPr>
            <p:spPr>
              <a:xfrm>
                <a:off x="1704442" y="5029665"/>
                <a:ext cx="2592288" cy="6420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18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s-AR" sz="18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1800" b="0" i="1" smtClean="0">
                              <a:latin typeface="Cambria Math" panose="02040503050406030204" pitchFamily="18" charset="0"/>
                            </a:rPr>
                            <m:t>32,1</m:t>
                          </m:r>
                        </m:num>
                        <m:den>
                          <m:r>
                            <a:rPr lang="es-AR" sz="1800" b="0" i="1" smtClean="0">
                              <a:latin typeface="Cambria Math" panose="02040503050406030204" pitchFamily="18" charset="0"/>
                            </a:rPr>
                            <m:t>1,7</m:t>
                          </m:r>
                        </m:den>
                      </m:f>
                      <m:r>
                        <a:rPr lang="es-AR" altLang="es-AR" sz="1800" b="1" i="1" dirty="0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s-AR" altLang="es-AR" sz="1800" b="1" i="1" dirty="0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m:t>𝟏𝟖</m:t>
                      </m:r>
                      <m:r>
                        <a:rPr lang="es-AR" altLang="es-AR" sz="1800" b="1" i="1" dirty="0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m:t>,</m:t>
                      </m:r>
                      <m:r>
                        <a:rPr lang="es-AR" altLang="es-AR" sz="1800" b="1" i="1" dirty="0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m:t>𝟐</m:t>
                      </m:r>
                    </m:oMath>
                  </m:oMathPara>
                </a14:m>
                <a:endParaRPr lang="es-AR" sz="1800" dirty="0"/>
              </a:p>
            </p:txBody>
          </p:sp>
        </mc:Choice>
        <mc:Fallback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7C4269AE-3DD9-6BFA-85E7-FA9C08274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4442" y="5029665"/>
                <a:ext cx="2592288" cy="6420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11 CuadroTexto">
            <a:extLst>
              <a:ext uri="{FF2B5EF4-FFF2-40B4-BE49-F238E27FC236}">
                <a16:creationId xmlns:a16="http://schemas.microsoft.com/office/drawing/2014/main" id="{7ED7170B-93DB-31EA-C309-8F81389A0876}"/>
              </a:ext>
            </a:extLst>
          </p:cNvPr>
          <p:cNvSpPr txBox="1"/>
          <p:nvPr/>
        </p:nvSpPr>
        <p:spPr>
          <a:xfrm>
            <a:off x="508634" y="5797080"/>
            <a:ext cx="53572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1200" b="1" i="1" dirty="0">
                <a:solidFill>
                  <a:schemeClr val="accent4"/>
                </a:solidFill>
                <a:latin typeface="+mj-lt"/>
              </a:rPr>
              <a:t>Ratio de Palma: </a:t>
            </a:r>
            <a:r>
              <a:rPr lang="es-AR" sz="1200" i="1" dirty="0">
                <a:solidFill>
                  <a:schemeClr val="accent4"/>
                </a:solidFill>
                <a:latin typeface="+mj-lt"/>
              </a:rPr>
              <a:t>% que concentra el D10 vs los D1 a 4</a:t>
            </a:r>
            <a:endParaRPr lang="es-AR" sz="1200" dirty="0">
              <a:solidFill>
                <a:srgbClr val="FF0000"/>
              </a:solidFill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884582A3-37BA-8832-2355-68D3616525D0}"/>
                  </a:ext>
                </a:extLst>
              </p:cNvPr>
              <p:cNvSpPr txBox="1"/>
              <p:nvPr/>
            </p:nvSpPr>
            <p:spPr>
              <a:xfrm>
                <a:off x="1704442" y="6210343"/>
                <a:ext cx="2592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1800" b="0" i="1" smtClean="0">
                          <a:latin typeface="Cambria Math" panose="02040503050406030204" pitchFamily="18" charset="0"/>
                        </a:rPr>
                        <m:t>𝑅𝑃</m:t>
                      </m:r>
                      <m:r>
                        <a:rPr lang="es-AR" sz="18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altLang="es-AR" sz="1800" b="1" i="1" dirty="0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m:t>𝟐</m:t>
                      </m:r>
                      <m:r>
                        <a:rPr lang="es-AR" altLang="es-AR" sz="1800" b="1" i="1" dirty="0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m:t>,</m:t>
                      </m:r>
                      <m:r>
                        <a:rPr lang="es-AR" altLang="es-AR" sz="1800" b="1" i="1" dirty="0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m:t>𝟖</m:t>
                      </m:r>
                    </m:oMath>
                  </m:oMathPara>
                </a14:m>
                <a:endParaRPr lang="es-AR" sz="1800" dirty="0"/>
              </a:p>
            </p:txBody>
          </p:sp>
        </mc:Choice>
        <mc:Fallback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884582A3-37BA-8832-2355-68D361652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4442" y="6210343"/>
                <a:ext cx="259228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lipse 1">
            <a:extLst>
              <a:ext uri="{FF2B5EF4-FFF2-40B4-BE49-F238E27FC236}">
                <a16:creationId xmlns:a16="http://schemas.microsoft.com/office/drawing/2014/main" id="{6A923E00-136C-A1E4-1FC2-6C079CDBFF99}"/>
              </a:ext>
            </a:extLst>
          </p:cNvPr>
          <p:cNvSpPr/>
          <p:nvPr/>
        </p:nvSpPr>
        <p:spPr>
          <a:xfrm>
            <a:off x="712378" y="2329836"/>
            <a:ext cx="958942" cy="926033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6703073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7587</TotalTime>
  <Words>634</Words>
  <Application>Microsoft Office PowerPoint</Application>
  <PresentationFormat>Presentación en pantalla (4:3)</PresentationFormat>
  <Paragraphs>116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Arial</vt:lpstr>
      <vt:lpstr>Calibri</vt:lpstr>
      <vt:lpstr>Cambria</vt:lpstr>
      <vt:lpstr>Cambria Math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Santiago Poy</dc:creator>
  <cp:lastModifiedBy>usuario</cp:lastModifiedBy>
  <cp:revision>335</cp:revision>
  <dcterms:created xsi:type="dcterms:W3CDTF">2018-06-06T19:52:13Z</dcterms:created>
  <dcterms:modified xsi:type="dcterms:W3CDTF">2024-09-06T17:29:11Z</dcterms:modified>
</cp:coreProperties>
</file>