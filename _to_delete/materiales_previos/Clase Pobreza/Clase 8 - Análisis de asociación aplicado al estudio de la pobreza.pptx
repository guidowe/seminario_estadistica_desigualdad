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78" r:id="rId2"/>
    <p:sldId id="391" r:id="rId3"/>
    <p:sldId id="494" r:id="rId4"/>
    <p:sldId id="443" r:id="rId5"/>
    <p:sldId id="444" r:id="rId6"/>
    <p:sldId id="453" r:id="rId7"/>
    <p:sldId id="457" r:id="rId8"/>
    <p:sldId id="446" r:id="rId9"/>
    <p:sldId id="448" r:id="rId10"/>
    <p:sldId id="449" r:id="rId11"/>
    <p:sldId id="450" r:id="rId12"/>
    <p:sldId id="476" r:id="rId13"/>
    <p:sldId id="545" r:id="rId14"/>
    <p:sldId id="506" r:id="rId15"/>
    <p:sldId id="539" r:id="rId16"/>
    <p:sldId id="540" r:id="rId17"/>
    <p:sldId id="542" r:id="rId18"/>
    <p:sldId id="324" r:id="rId19"/>
    <p:sldId id="477" r:id="rId20"/>
    <p:sldId id="541" r:id="rId21"/>
    <p:sldId id="543" r:id="rId22"/>
    <p:sldId id="535" r:id="rId23"/>
    <p:sldId id="544" r:id="rId24"/>
    <p:sldId id="536" r:id="rId25"/>
    <p:sldId id="537" r:id="rId26"/>
    <p:sldId id="538" r:id="rId27"/>
    <p:sldId id="546" r:id="rId28"/>
    <p:sldId id="547" r:id="rId29"/>
    <p:sldId id="552" r:id="rId30"/>
    <p:sldId id="485" r:id="rId31"/>
    <p:sldId id="486" r:id="rId32"/>
    <p:sldId id="548" r:id="rId33"/>
    <p:sldId id="553" r:id="rId34"/>
    <p:sldId id="549" r:id="rId35"/>
    <p:sldId id="550" r:id="rId36"/>
    <p:sldId id="551" r:id="rId37"/>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2835" userDrawn="1">
          <p15:clr>
            <a:srgbClr val="A4A3A4"/>
          </p15:clr>
        </p15:guide>
        <p15:guide id="3" pos="521">
          <p15:clr>
            <a:srgbClr val="A4A3A4"/>
          </p15:clr>
        </p15:guide>
        <p15:guide id="4" orient="horz" pos="2251" userDrawn="1">
          <p15:clr>
            <a:srgbClr val="A4A3A4"/>
          </p15:clr>
        </p15:guide>
        <p15:guide id="5" orient="horz" pos="482" userDrawn="1">
          <p15:clr>
            <a:srgbClr val="A4A3A4"/>
          </p15:clr>
        </p15:guide>
        <p15:guide id="6" orient="horz" pos="210">
          <p15:clr>
            <a:srgbClr val="A4A3A4"/>
          </p15:clr>
        </p15:guide>
        <p15:guide id="7" pos="158">
          <p15:clr>
            <a:srgbClr val="A4A3A4"/>
          </p15:clr>
        </p15:guide>
        <p15:guide id="8" pos="5602">
          <p15:clr>
            <a:srgbClr val="A4A3A4"/>
          </p15:clr>
        </p15:guide>
        <p15:guide id="9" pos="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9F9A"/>
    <a:srgbClr val="2A8A85"/>
    <a:srgbClr val="CAE8E7"/>
    <a:srgbClr val="EFF7F7"/>
    <a:srgbClr val="DDEFEF"/>
    <a:srgbClr val="3DC3BD"/>
    <a:srgbClr val="737373"/>
    <a:srgbClr val="22706C"/>
    <a:srgbClr val="565656"/>
    <a:srgbClr val="F4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704" autoAdjust="0"/>
  </p:normalViewPr>
  <p:slideViewPr>
    <p:cSldViewPr>
      <p:cViewPr>
        <p:scale>
          <a:sx n="125" d="100"/>
          <a:sy n="125" d="100"/>
        </p:scale>
        <p:origin x="1290" y="-282"/>
      </p:cViewPr>
      <p:guideLst>
        <p:guide orient="horz" pos="2205"/>
        <p:guide pos="2835"/>
        <p:guide pos="521"/>
        <p:guide orient="horz" pos="2251"/>
        <p:guide orient="horz" pos="482"/>
        <p:guide orient="horz" pos="210"/>
        <p:guide pos="158"/>
        <p:guide pos="5602"/>
        <p:guide pos="24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26535-4EDE-46AE-846D-10CF575EF3AC}" type="datetimeFigureOut">
              <a:rPr lang="es-AR" smtClean="0"/>
              <a:t>29/9/2024</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6145D8-ED58-44A9-BC65-988CF3BEDD8C}" type="slidenum">
              <a:rPr lang="es-AR" smtClean="0"/>
              <a:t>‹Nº›</a:t>
            </a:fld>
            <a:endParaRPr lang="es-AR"/>
          </a:p>
        </p:txBody>
      </p:sp>
    </p:spTree>
    <p:extLst>
      <p:ext uri="{BB962C8B-B14F-4D97-AF65-F5344CB8AC3E}">
        <p14:creationId xmlns:p14="http://schemas.microsoft.com/office/powerpoint/2010/main" val="394972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1</a:t>
            </a:fld>
            <a:endParaRPr lang="es-AR" dirty="0"/>
          </a:p>
        </p:txBody>
      </p:sp>
    </p:spTree>
    <p:extLst>
      <p:ext uri="{BB962C8B-B14F-4D97-AF65-F5344CB8AC3E}">
        <p14:creationId xmlns:p14="http://schemas.microsoft.com/office/powerpoint/2010/main" val="1120975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A76145D8-ED58-44A9-BC65-988CF3BEDD8C}" type="slidenum">
              <a:rPr lang="es-AR" smtClean="0"/>
              <a:t>2</a:t>
            </a:fld>
            <a:endParaRPr lang="es-AR" dirty="0"/>
          </a:p>
        </p:txBody>
      </p:sp>
    </p:spTree>
    <p:extLst>
      <p:ext uri="{BB962C8B-B14F-4D97-AF65-F5344CB8AC3E}">
        <p14:creationId xmlns:p14="http://schemas.microsoft.com/office/powerpoint/2010/main" val="193863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4</a:t>
            </a:fld>
            <a:endParaRPr lang="es-MX" altLang="es-AR"/>
          </a:p>
        </p:txBody>
      </p:sp>
    </p:spTree>
    <p:extLst>
      <p:ext uri="{BB962C8B-B14F-4D97-AF65-F5344CB8AC3E}">
        <p14:creationId xmlns:p14="http://schemas.microsoft.com/office/powerpoint/2010/main" val="3688211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5</a:t>
            </a:fld>
            <a:endParaRPr lang="es-MX" altLang="es-AR"/>
          </a:p>
        </p:txBody>
      </p:sp>
    </p:spTree>
    <p:extLst>
      <p:ext uri="{BB962C8B-B14F-4D97-AF65-F5344CB8AC3E}">
        <p14:creationId xmlns:p14="http://schemas.microsoft.com/office/powerpoint/2010/main" val="377627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6</a:t>
            </a:fld>
            <a:endParaRPr lang="es-MX" altLang="es-AR"/>
          </a:p>
        </p:txBody>
      </p:sp>
    </p:spTree>
    <p:extLst>
      <p:ext uri="{BB962C8B-B14F-4D97-AF65-F5344CB8AC3E}">
        <p14:creationId xmlns:p14="http://schemas.microsoft.com/office/powerpoint/2010/main" val="2491618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59153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8</a:t>
            </a:fld>
            <a:endParaRPr lang="es-MX" altLang="es-AR"/>
          </a:p>
        </p:txBody>
      </p:sp>
    </p:spTree>
    <p:extLst>
      <p:ext uri="{BB962C8B-B14F-4D97-AF65-F5344CB8AC3E}">
        <p14:creationId xmlns:p14="http://schemas.microsoft.com/office/powerpoint/2010/main" val="1428917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9</a:t>
            </a:fld>
            <a:endParaRPr lang="es-MX" altLang="es-AR"/>
          </a:p>
        </p:txBody>
      </p:sp>
    </p:spTree>
    <p:extLst>
      <p:ext uri="{BB962C8B-B14F-4D97-AF65-F5344CB8AC3E}">
        <p14:creationId xmlns:p14="http://schemas.microsoft.com/office/powerpoint/2010/main" val="3855948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10</a:t>
            </a:fld>
            <a:endParaRPr lang="es-MX" altLang="es-AR"/>
          </a:p>
        </p:txBody>
      </p:sp>
    </p:spTree>
    <p:extLst>
      <p:ext uri="{BB962C8B-B14F-4D97-AF65-F5344CB8AC3E}">
        <p14:creationId xmlns:p14="http://schemas.microsoft.com/office/powerpoint/2010/main" val="2465719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11</a:t>
            </a:fld>
            <a:endParaRPr lang="es-MX" altLang="es-AR"/>
          </a:p>
        </p:txBody>
      </p:sp>
    </p:spTree>
    <p:extLst>
      <p:ext uri="{BB962C8B-B14F-4D97-AF65-F5344CB8AC3E}">
        <p14:creationId xmlns:p14="http://schemas.microsoft.com/office/powerpoint/2010/main" val="675721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3283626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14</a:t>
            </a:fld>
            <a:endParaRPr lang="es-MX" altLang="es-AR"/>
          </a:p>
        </p:txBody>
      </p:sp>
    </p:spTree>
    <p:extLst>
      <p:ext uri="{BB962C8B-B14F-4D97-AF65-F5344CB8AC3E}">
        <p14:creationId xmlns:p14="http://schemas.microsoft.com/office/powerpoint/2010/main" val="976589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15</a:t>
            </a:fld>
            <a:endParaRPr lang="es-MX" altLang="es-AR"/>
          </a:p>
        </p:txBody>
      </p:sp>
    </p:spTree>
    <p:extLst>
      <p:ext uri="{BB962C8B-B14F-4D97-AF65-F5344CB8AC3E}">
        <p14:creationId xmlns:p14="http://schemas.microsoft.com/office/powerpoint/2010/main" val="2672978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16</a:t>
            </a:fld>
            <a:endParaRPr lang="es-MX" altLang="es-AR"/>
          </a:p>
        </p:txBody>
      </p:sp>
    </p:spTree>
    <p:extLst>
      <p:ext uri="{BB962C8B-B14F-4D97-AF65-F5344CB8AC3E}">
        <p14:creationId xmlns:p14="http://schemas.microsoft.com/office/powerpoint/2010/main" val="838496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17</a:t>
            </a:fld>
            <a:endParaRPr lang="es-MX" altLang="es-AR"/>
          </a:p>
        </p:txBody>
      </p:sp>
    </p:spTree>
    <p:extLst>
      <p:ext uri="{BB962C8B-B14F-4D97-AF65-F5344CB8AC3E}">
        <p14:creationId xmlns:p14="http://schemas.microsoft.com/office/powerpoint/2010/main" val="1734589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20</a:t>
            </a:fld>
            <a:endParaRPr lang="es-MX" altLang="es-AR"/>
          </a:p>
        </p:txBody>
      </p:sp>
    </p:spTree>
    <p:extLst>
      <p:ext uri="{BB962C8B-B14F-4D97-AF65-F5344CB8AC3E}">
        <p14:creationId xmlns:p14="http://schemas.microsoft.com/office/powerpoint/2010/main" val="1260243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21</a:t>
            </a:fld>
            <a:endParaRPr lang="es-MX" altLang="es-AR"/>
          </a:p>
        </p:txBody>
      </p:sp>
    </p:spTree>
    <p:extLst>
      <p:ext uri="{BB962C8B-B14F-4D97-AF65-F5344CB8AC3E}">
        <p14:creationId xmlns:p14="http://schemas.microsoft.com/office/powerpoint/2010/main" val="2187790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22</a:t>
            </a:fld>
            <a:endParaRPr lang="es-MX" altLang="es-AR"/>
          </a:p>
        </p:txBody>
      </p:sp>
    </p:spTree>
    <p:extLst>
      <p:ext uri="{BB962C8B-B14F-4D97-AF65-F5344CB8AC3E}">
        <p14:creationId xmlns:p14="http://schemas.microsoft.com/office/powerpoint/2010/main" val="1891225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23</a:t>
            </a:fld>
            <a:endParaRPr lang="es-MX" altLang="es-AR"/>
          </a:p>
        </p:txBody>
      </p:sp>
    </p:spTree>
    <p:extLst>
      <p:ext uri="{BB962C8B-B14F-4D97-AF65-F5344CB8AC3E}">
        <p14:creationId xmlns:p14="http://schemas.microsoft.com/office/powerpoint/2010/main" val="656863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24</a:t>
            </a:fld>
            <a:endParaRPr lang="es-MX" altLang="es-AR"/>
          </a:p>
        </p:txBody>
      </p:sp>
    </p:spTree>
    <p:extLst>
      <p:ext uri="{BB962C8B-B14F-4D97-AF65-F5344CB8AC3E}">
        <p14:creationId xmlns:p14="http://schemas.microsoft.com/office/powerpoint/2010/main" val="3650758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25</a:t>
            </a:fld>
            <a:endParaRPr lang="es-MX" altLang="es-AR"/>
          </a:p>
        </p:txBody>
      </p:sp>
    </p:spTree>
    <p:extLst>
      <p:ext uri="{BB962C8B-B14F-4D97-AF65-F5344CB8AC3E}">
        <p14:creationId xmlns:p14="http://schemas.microsoft.com/office/powerpoint/2010/main" val="1408849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26</a:t>
            </a:fld>
            <a:endParaRPr lang="es-MX" altLang="es-AR"/>
          </a:p>
        </p:txBody>
      </p:sp>
    </p:spTree>
    <p:extLst>
      <p:ext uri="{BB962C8B-B14F-4D97-AF65-F5344CB8AC3E}">
        <p14:creationId xmlns:p14="http://schemas.microsoft.com/office/powerpoint/2010/main" val="443109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28</a:t>
            </a:fld>
            <a:endParaRPr lang="es-MX" altLang="es-AR"/>
          </a:p>
        </p:txBody>
      </p:sp>
    </p:spTree>
    <p:extLst>
      <p:ext uri="{BB962C8B-B14F-4D97-AF65-F5344CB8AC3E}">
        <p14:creationId xmlns:p14="http://schemas.microsoft.com/office/powerpoint/2010/main" val="3657554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29</a:t>
            </a:fld>
            <a:endParaRPr lang="es-MX" altLang="es-AR"/>
          </a:p>
        </p:txBody>
      </p:sp>
    </p:spTree>
    <p:extLst>
      <p:ext uri="{BB962C8B-B14F-4D97-AF65-F5344CB8AC3E}">
        <p14:creationId xmlns:p14="http://schemas.microsoft.com/office/powerpoint/2010/main" val="527023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15738266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7" name="6 Marcador de pie de página"/>
          <p:cNvSpPr>
            <a:spLocks noGrp="1"/>
          </p:cNvSpPr>
          <p:nvPr>
            <p:ph type="ftr" sz="quarter" idx="10"/>
          </p:nvPr>
        </p:nvSpPr>
        <p:spPr/>
        <p:txBody>
          <a:bodyPr/>
          <a:lstStyle/>
          <a:p>
            <a:pPr>
              <a:defRPr/>
            </a:pPr>
            <a:r>
              <a:rPr lang="es-AR"/>
              <a:t>Unidad 1 - Introducción a la estadística y entorno SPSS - Docente: Santiago Poy</a:t>
            </a:r>
            <a:endParaRPr lang="es-MX"/>
          </a:p>
        </p:txBody>
      </p:sp>
    </p:spTree>
    <p:extLst>
      <p:ext uri="{BB962C8B-B14F-4D97-AF65-F5344CB8AC3E}">
        <p14:creationId xmlns:p14="http://schemas.microsoft.com/office/powerpoint/2010/main" val="2876570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32</a:t>
            </a:fld>
            <a:endParaRPr lang="es-MX" altLang="es-AR"/>
          </a:p>
        </p:txBody>
      </p:sp>
    </p:spTree>
    <p:extLst>
      <p:ext uri="{BB962C8B-B14F-4D97-AF65-F5344CB8AC3E}">
        <p14:creationId xmlns:p14="http://schemas.microsoft.com/office/powerpoint/2010/main" val="39475000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33</a:t>
            </a:fld>
            <a:endParaRPr lang="es-MX" altLang="es-AR"/>
          </a:p>
        </p:txBody>
      </p:sp>
    </p:spTree>
    <p:extLst>
      <p:ext uri="{BB962C8B-B14F-4D97-AF65-F5344CB8AC3E}">
        <p14:creationId xmlns:p14="http://schemas.microsoft.com/office/powerpoint/2010/main" val="30627146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34</a:t>
            </a:fld>
            <a:endParaRPr lang="es-MX" altLang="es-AR"/>
          </a:p>
        </p:txBody>
      </p:sp>
    </p:spTree>
    <p:extLst>
      <p:ext uri="{BB962C8B-B14F-4D97-AF65-F5344CB8AC3E}">
        <p14:creationId xmlns:p14="http://schemas.microsoft.com/office/powerpoint/2010/main" val="1367059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35</a:t>
            </a:fld>
            <a:endParaRPr lang="es-MX" altLang="es-AR"/>
          </a:p>
        </p:txBody>
      </p:sp>
    </p:spTree>
    <p:extLst>
      <p:ext uri="{BB962C8B-B14F-4D97-AF65-F5344CB8AC3E}">
        <p14:creationId xmlns:p14="http://schemas.microsoft.com/office/powerpoint/2010/main" val="2036071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558E5057-86B3-4CC0-9AD5-95A2DAE7D160}" type="slidenum">
              <a:rPr lang="es-MX" altLang="es-AR" smtClean="0"/>
              <a:pPr/>
              <a:t>36</a:t>
            </a:fld>
            <a:endParaRPr lang="es-MX" altLang="es-AR"/>
          </a:p>
        </p:txBody>
      </p:sp>
    </p:spTree>
    <p:extLst>
      <p:ext uri="{BB962C8B-B14F-4D97-AF65-F5344CB8AC3E}">
        <p14:creationId xmlns:p14="http://schemas.microsoft.com/office/powerpoint/2010/main" val="2750004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AR"/>
          </a:p>
        </p:txBody>
      </p:sp>
      <p:sp>
        <p:nvSpPr>
          <p:cNvPr id="4" name="3 Marcador de fecha"/>
          <p:cNvSpPr>
            <a:spLocks noGrp="1"/>
          </p:cNvSpPr>
          <p:nvPr>
            <p:ph type="dt" sz="half" idx="10"/>
          </p:nvPr>
        </p:nvSpPr>
        <p:spPr/>
        <p:txBody>
          <a:bodyPr/>
          <a:lstStyle/>
          <a:p>
            <a:fld id="{30A94F0A-27A0-4BC8-96DF-D3D95F3434E5}" type="datetime1">
              <a:rPr lang="es-AR" smtClean="0"/>
              <a:t>29/9/2024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66071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B72D5A0D-784F-49F2-83AC-868962BD57AA}" type="datetime1">
              <a:rPr lang="es-AR" smtClean="0"/>
              <a:t>29/9/2024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78557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30685D93-CCB6-4AA2-9A06-B691E4A94039}" type="datetime1">
              <a:rPr lang="es-AR" smtClean="0"/>
              <a:t>29/9/2024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9815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fecha"/>
          <p:cNvSpPr>
            <a:spLocks noGrp="1"/>
          </p:cNvSpPr>
          <p:nvPr>
            <p:ph type="dt" sz="half" idx="10"/>
          </p:nvPr>
        </p:nvSpPr>
        <p:spPr/>
        <p:txBody>
          <a:bodyPr/>
          <a:lstStyle/>
          <a:p>
            <a:fld id="{34A891F9-CB0F-4879-B678-E3140E49A5AB}" type="datetime1">
              <a:rPr lang="es-AR" smtClean="0"/>
              <a:t>29/9/2024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10933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6 Marcador de fecha"/>
          <p:cNvSpPr>
            <a:spLocks noGrp="1"/>
          </p:cNvSpPr>
          <p:nvPr>
            <p:ph type="dt" sz="half" idx="10"/>
          </p:nvPr>
        </p:nvSpPr>
        <p:spPr/>
        <p:txBody>
          <a:bodyPr/>
          <a:lstStyle/>
          <a:p>
            <a:fld id="{C6697B4B-8FC8-4ED2-A7B7-30B7B546CB7C}" type="datetime1">
              <a:rPr lang="es-AR" smtClean="0"/>
              <a:t>29/9/2024</a:t>
            </a:fld>
            <a:endParaRPr lang="es-AR"/>
          </a:p>
        </p:txBody>
      </p:sp>
      <p:sp>
        <p:nvSpPr>
          <p:cNvPr id="8" name="7 Marcador de pie de página"/>
          <p:cNvSpPr>
            <a:spLocks noGrp="1"/>
          </p:cNvSpPr>
          <p:nvPr>
            <p:ph type="ftr" sz="quarter" idx="11"/>
          </p:nvPr>
        </p:nvSpPr>
        <p:spPr/>
        <p:txBody>
          <a:bodyPr/>
          <a:lstStyle/>
          <a:p>
            <a:r>
              <a:rPr lang="es-AR"/>
              <a:t>Curso SPSS / ODSA-UCA</a:t>
            </a:r>
          </a:p>
        </p:txBody>
      </p:sp>
      <p:sp>
        <p:nvSpPr>
          <p:cNvPr id="9" name="8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88077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fecha"/>
          <p:cNvSpPr>
            <a:spLocks noGrp="1"/>
          </p:cNvSpPr>
          <p:nvPr>
            <p:ph type="dt" sz="half" idx="10"/>
          </p:nvPr>
        </p:nvSpPr>
        <p:spPr/>
        <p:txBody>
          <a:bodyPr/>
          <a:lstStyle/>
          <a:p>
            <a:fld id="{4E9A48A6-89ED-45E3-8DC8-69DD7242770A}" type="datetime1">
              <a:rPr lang="es-AR" smtClean="0"/>
              <a:t>29/9/2024</a:t>
            </a:fld>
            <a:endParaRPr lang="es-AR"/>
          </a:p>
        </p:txBody>
      </p:sp>
      <p:sp>
        <p:nvSpPr>
          <p:cNvPr id="4" name="3 Marcador de pie de página"/>
          <p:cNvSpPr>
            <a:spLocks noGrp="1"/>
          </p:cNvSpPr>
          <p:nvPr>
            <p:ph type="ftr" sz="quarter" idx="11"/>
          </p:nvPr>
        </p:nvSpPr>
        <p:spPr/>
        <p:txBody>
          <a:bodyPr/>
          <a:lstStyle/>
          <a:p>
            <a:r>
              <a:rPr lang="es-AR"/>
              <a:t>Curso SPSS / ODSA-UCA</a:t>
            </a:r>
          </a:p>
        </p:txBody>
      </p:sp>
      <p:sp>
        <p:nvSpPr>
          <p:cNvPr id="5" name="4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3320559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FAC46B7-96E1-4D69-97A5-BA2B575DCD5B}" type="datetime1">
              <a:rPr lang="es-AR" smtClean="0"/>
              <a:t>29/9/2024</a:t>
            </a:fld>
            <a:endParaRPr lang="es-AR"/>
          </a:p>
        </p:txBody>
      </p:sp>
      <p:sp>
        <p:nvSpPr>
          <p:cNvPr id="3" name="2 Marcador de pie de página"/>
          <p:cNvSpPr>
            <a:spLocks noGrp="1"/>
          </p:cNvSpPr>
          <p:nvPr>
            <p:ph type="ftr" sz="quarter" idx="11"/>
          </p:nvPr>
        </p:nvSpPr>
        <p:spPr/>
        <p:txBody>
          <a:bodyPr/>
          <a:lstStyle/>
          <a:p>
            <a:r>
              <a:rPr lang="es-AR"/>
              <a:t>Curso SPSS / ODSA-UCA</a:t>
            </a:r>
          </a:p>
        </p:txBody>
      </p:sp>
      <p:sp>
        <p:nvSpPr>
          <p:cNvPr id="4" name="3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20053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C37C0133-B3AE-415F-AD7D-09671FB6B581}" type="datetime1">
              <a:rPr lang="es-AR" smtClean="0"/>
              <a:t>29/9/2024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48927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FB310E0-D14B-4604-84DC-1535BBF9C4BF}" type="datetime1">
              <a:rPr lang="es-AR" smtClean="0"/>
              <a:t>29/9/2024</a:t>
            </a:fld>
            <a:endParaRPr lang="es-AR"/>
          </a:p>
        </p:txBody>
      </p:sp>
      <p:sp>
        <p:nvSpPr>
          <p:cNvPr id="6" name="5 Marcador de pie de página"/>
          <p:cNvSpPr>
            <a:spLocks noGrp="1"/>
          </p:cNvSpPr>
          <p:nvPr>
            <p:ph type="ftr" sz="quarter" idx="11"/>
          </p:nvPr>
        </p:nvSpPr>
        <p:spPr/>
        <p:txBody>
          <a:bodyPr/>
          <a:lstStyle/>
          <a:p>
            <a:r>
              <a:rPr lang="es-AR"/>
              <a:t>Curso SPSS / ODSA-UCA</a:t>
            </a:r>
          </a:p>
        </p:txBody>
      </p:sp>
      <p:sp>
        <p:nvSpPr>
          <p:cNvPr id="7" name="6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20956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0909CC5D-9AA7-445A-80D8-6FCD964E68D7}" type="datetime1">
              <a:rPr lang="es-AR" smtClean="0"/>
              <a:t>29/9/2024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618306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10"/>
          </p:nvPr>
        </p:nvSpPr>
        <p:spPr/>
        <p:txBody>
          <a:bodyPr/>
          <a:lstStyle/>
          <a:p>
            <a:fld id="{13CEEFF5-E6F6-49FF-AEE7-0991FC29FF6F}" type="datetime1">
              <a:rPr lang="es-AR" smtClean="0"/>
              <a:t>29/9/2024</a:t>
            </a:fld>
            <a:endParaRPr lang="es-AR"/>
          </a:p>
        </p:txBody>
      </p:sp>
      <p:sp>
        <p:nvSpPr>
          <p:cNvPr id="5" name="4 Marcador de pie de página"/>
          <p:cNvSpPr>
            <a:spLocks noGrp="1"/>
          </p:cNvSpPr>
          <p:nvPr>
            <p:ph type="ftr" sz="quarter" idx="11"/>
          </p:nvPr>
        </p:nvSpPr>
        <p:spPr/>
        <p:txBody>
          <a:bodyPr/>
          <a:lstStyle/>
          <a:p>
            <a:r>
              <a:rPr lang="es-AR"/>
              <a:t>Curso SPSS / ODSA-UCA</a:t>
            </a:r>
          </a:p>
        </p:txBody>
      </p:sp>
      <p:sp>
        <p:nvSpPr>
          <p:cNvPr id="6" name="5 Marcador de número de diapositiva"/>
          <p:cNvSpPr>
            <a:spLocks noGrp="1"/>
          </p:cNvSpPr>
          <p:nvPr>
            <p:ph type="sldNum" sz="quarter" idx="12"/>
          </p:nvPr>
        </p:nvSpPr>
        <p:spPr/>
        <p:txBody>
          <a:bodyPr/>
          <a:lstStyle/>
          <a:p>
            <a:fld id="{80092C5D-0833-432E-A649-4B28246F9627}" type="slidenum">
              <a:rPr lang="es-AR" smtClean="0"/>
              <a:t>‹Nº›</a:t>
            </a:fld>
            <a:endParaRPr lang="es-AR"/>
          </a:p>
        </p:txBody>
      </p:sp>
    </p:spTree>
    <p:extLst>
      <p:ext uri="{BB962C8B-B14F-4D97-AF65-F5344CB8AC3E}">
        <p14:creationId xmlns:p14="http://schemas.microsoft.com/office/powerpoint/2010/main" val="10356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CBB71-18DF-4B96-AB10-74B37F964650}" type="datetime1">
              <a:rPr lang="es-AR" smtClean="0"/>
              <a:t>29/9/2024</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a:t>Curso SPSS / ODSA-UCA</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92C5D-0833-432E-A649-4B28246F9627}" type="slidenum">
              <a:rPr lang="es-AR" smtClean="0"/>
              <a:t>‹Nº›</a:t>
            </a:fld>
            <a:endParaRPr lang="es-AR"/>
          </a:p>
        </p:txBody>
      </p:sp>
    </p:spTree>
    <p:extLst>
      <p:ext uri="{BB962C8B-B14F-4D97-AF65-F5344CB8AC3E}">
        <p14:creationId xmlns:p14="http://schemas.microsoft.com/office/powerpoint/2010/main" val="3208577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150.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55017" y="1941826"/>
            <a:ext cx="8163636" cy="1154162"/>
          </a:xfrm>
          <a:prstGeom prst="rect">
            <a:avLst/>
          </a:prstGeom>
          <a:noFill/>
        </p:spPr>
        <p:txBody>
          <a:bodyPr wrap="square" rtlCol="0">
            <a:spAutoFit/>
          </a:bodyPr>
          <a:lstStyle/>
          <a:p>
            <a:r>
              <a:rPr lang="es-AR" sz="2100" b="1" i="1" dirty="0">
                <a:latin typeface="Cambria" panose="02040503050406030204" pitchFamily="18" charset="0"/>
              </a:rPr>
              <a:t>Seminario Doctorado</a:t>
            </a:r>
          </a:p>
          <a:p>
            <a:r>
              <a:rPr lang="es-AR" sz="2400" b="1" dirty="0">
                <a:solidFill>
                  <a:schemeClr val="accent4"/>
                </a:solidFill>
                <a:latin typeface="Cambria" panose="02040503050406030204" pitchFamily="18" charset="0"/>
              </a:rPr>
              <a:t>Aplicaciones metodológicas cuantitativas al estudio de la desigualdad, la estructura social y la pobreza</a:t>
            </a:r>
          </a:p>
        </p:txBody>
      </p:sp>
      <p:sp>
        <p:nvSpPr>
          <p:cNvPr id="19" name="18 Rectángulo redondeado"/>
          <p:cNvSpPr/>
          <p:nvPr/>
        </p:nvSpPr>
        <p:spPr>
          <a:xfrm>
            <a:off x="803692" y="3335675"/>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20" name="19 Conector recto"/>
          <p:cNvCxnSpPr/>
          <p:nvPr/>
        </p:nvCxnSpPr>
        <p:spPr>
          <a:xfrm flipV="1">
            <a:off x="1674820" y="3429000"/>
            <a:ext cx="7027056"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25" name="24 CuadroTexto"/>
          <p:cNvSpPr txBox="1"/>
          <p:nvPr/>
        </p:nvSpPr>
        <p:spPr>
          <a:xfrm>
            <a:off x="5539986" y="3668688"/>
            <a:ext cx="3240360" cy="1077218"/>
          </a:xfrm>
          <a:prstGeom prst="rect">
            <a:avLst/>
          </a:prstGeom>
          <a:noFill/>
        </p:spPr>
        <p:txBody>
          <a:bodyPr wrap="square" rtlCol="0">
            <a:spAutoFit/>
          </a:bodyPr>
          <a:lstStyle/>
          <a:p>
            <a:pPr algn="r"/>
            <a:r>
              <a:rPr lang="es-AR" sz="1600" dirty="0">
                <a:latin typeface="Cambria" panose="02040503050406030204" pitchFamily="18" charset="0"/>
              </a:rPr>
              <a:t>Santiago Poy</a:t>
            </a:r>
          </a:p>
          <a:p>
            <a:pPr algn="r"/>
            <a:r>
              <a:rPr lang="es-AR" sz="1600" dirty="0">
                <a:latin typeface="Cambria" panose="02040503050406030204" pitchFamily="18" charset="0"/>
              </a:rPr>
              <a:t>Jésica Lorena Pla</a:t>
            </a:r>
          </a:p>
          <a:p>
            <a:pPr algn="r"/>
            <a:endParaRPr lang="es-AR" sz="1600" dirty="0">
              <a:latin typeface="Cambria" panose="02040503050406030204" pitchFamily="18" charset="0"/>
            </a:endParaRPr>
          </a:p>
          <a:p>
            <a:pPr algn="r"/>
            <a:r>
              <a:rPr lang="es-AR" sz="1600" dirty="0">
                <a:latin typeface="Cambria" panose="02040503050406030204" pitchFamily="18" charset="0"/>
              </a:rPr>
              <a:t>Agosto-Septiembre 2024</a:t>
            </a:r>
            <a:endParaRPr lang="es-ES" sz="1600" dirty="0">
              <a:latin typeface="Cambria" panose="02040503050406030204" pitchFamily="18" charset="0"/>
            </a:endParaRPr>
          </a:p>
        </p:txBody>
      </p:sp>
      <p:pic>
        <p:nvPicPr>
          <p:cNvPr id="2" name="Picture 2" descr="Imagen Institucional - Facultad de Ciencias Sociales">
            <a:extLst>
              <a:ext uri="{FF2B5EF4-FFF2-40B4-BE49-F238E27FC236}">
                <a16:creationId xmlns:a16="http://schemas.microsoft.com/office/drawing/2014/main" id="{B3DA93D3-007A-5C69-72DE-FFC8B1C48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37"/>
            <a:ext cx="5438775" cy="141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09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10 CuadroTexto"/>
          <p:cNvSpPr txBox="1"/>
          <p:nvPr/>
        </p:nvSpPr>
        <p:spPr>
          <a:xfrm>
            <a:off x="729539" y="1628800"/>
            <a:ext cx="8163636" cy="2123658"/>
          </a:xfrm>
          <a:prstGeom prst="rect">
            <a:avLst/>
          </a:prstGeom>
          <a:noFill/>
        </p:spPr>
        <p:txBody>
          <a:bodyPr wrap="square" rtlCol="0">
            <a:spAutoFit/>
          </a:bodyPr>
          <a:lstStyle/>
          <a:p>
            <a:endParaRPr lang="es-AR" sz="2400" b="1" dirty="0">
              <a:solidFill>
                <a:schemeClr val="accent4"/>
              </a:solidFill>
              <a:latin typeface="Cambria" panose="02040503050406030204" pitchFamily="18" charset="0"/>
            </a:endParaRPr>
          </a:p>
          <a:p>
            <a:r>
              <a:rPr lang="es-AR" b="1" dirty="0">
                <a:solidFill>
                  <a:schemeClr val="accent4"/>
                </a:solidFill>
                <a:latin typeface="Cambria" panose="02040503050406030204" pitchFamily="18" charset="0"/>
              </a:rPr>
              <a:t>Unidad 3. La medición de la pobreza: medidas unidimensionales y multidimensionales</a:t>
            </a:r>
          </a:p>
          <a:p>
            <a:endParaRPr lang="es-AR" sz="2400" b="1" dirty="0">
              <a:solidFill>
                <a:schemeClr val="accent4"/>
              </a:solidFill>
              <a:latin typeface="Cambria" panose="02040503050406030204" pitchFamily="18" charset="0"/>
            </a:endParaRPr>
          </a:p>
          <a:p>
            <a:pPr algn="just"/>
            <a:r>
              <a:rPr lang="es-AR" sz="2400" b="1" dirty="0">
                <a:latin typeface="Cambria" panose="02040503050406030204" pitchFamily="18" charset="0"/>
              </a:rPr>
              <a:t>Clase 8: Análisis de asociación aplicado al estudio de la pobreza.</a:t>
            </a:r>
          </a:p>
        </p:txBody>
      </p:sp>
      <p:sp>
        <p:nvSpPr>
          <p:cNvPr id="4" name="AutoShape 2" descr="Resultado de imagen para logo twit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6" name="AutoShape 4" descr="Resultado de imagen para logo twitt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
        <p:nvSpPr>
          <p:cNvPr id="7" name="AutoShape 6" descr="Resultado de imagen para logo twitte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AR" dirty="0"/>
          </a:p>
        </p:txBody>
      </p:sp>
    </p:spTree>
    <p:extLst>
      <p:ext uri="{BB962C8B-B14F-4D97-AF65-F5344CB8AC3E}">
        <p14:creationId xmlns:p14="http://schemas.microsoft.com/office/powerpoint/2010/main" val="148891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5"/>
          <p:cNvSpPr txBox="1">
            <a:spLocks noChangeArrowheads="1"/>
          </p:cNvSpPr>
          <p:nvPr/>
        </p:nvSpPr>
        <p:spPr bwMode="auto">
          <a:xfrm>
            <a:off x="506412" y="3105834"/>
            <a:ext cx="8131175" cy="646331"/>
          </a:xfrm>
          <a:prstGeom prst="rect">
            <a:avLst/>
          </a:prstGeom>
          <a:solidFill>
            <a:schemeClr val="bg1"/>
          </a:solidFill>
          <a:ln>
            <a:noFill/>
          </a:ln>
          <a:effec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100000"/>
              </a:spcBef>
              <a:buClrTx/>
              <a:buSzTx/>
              <a:buFontTx/>
              <a:buNone/>
            </a:pPr>
            <a:r>
              <a:rPr lang="es-AR" altLang="es-AR" sz="3600" b="1" dirty="0"/>
              <a:t>PARTE 1</a:t>
            </a:r>
            <a:endParaRPr lang="es-AR" altLang="es-AR" sz="2800" b="1" dirty="0"/>
          </a:p>
        </p:txBody>
      </p:sp>
    </p:spTree>
    <p:extLst>
      <p:ext uri="{BB962C8B-B14F-4D97-AF65-F5344CB8AC3E}">
        <p14:creationId xmlns:p14="http://schemas.microsoft.com/office/powerpoint/2010/main" val="3423673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50826" y="1140346"/>
            <a:ext cx="864234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ES" altLang="es-AR" dirty="0">
                <a:latin typeface="Cambria" panose="02040503050406030204" pitchFamily="18" charset="0"/>
                <a:ea typeface="Cambria" panose="02040503050406030204" pitchFamily="18" charset="0"/>
              </a:rPr>
              <a:t>“Cuando establecemos una clasificación cruzada de dos variables, nuestro interés se centra (…) en el conocimiento de la forma en que se distribuye la variable dependiente para las diferentes categorías de la variable independiente o causal. La forma en que se relacionan dos variables se denomina </a:t>
            </a:r>
            <a:r>
              <a:rPr lang="es-ES" altLang="es-AR" b="1" dirty="0">
                <a:latin typeface="Cambria" panose="02040503050406030204" pitchFamily="18" charset="0"/>
                <a:ea typeface="Cambria" panose="02040503050406030204" pitchFamily="18" charset="0"/>
              </a:rPr>
              <a:t>asociación entre dos variables</a:t>
            </a:r>
            <a:r>
              <a:rPr lang="es-ES" altLang="es-AR" dirty="0">
                <a:latin typeface="Cambria" panose="02040503050406030204" pitchFamily="18" charset="0"/>
                <a:ea typeface="Cambria" panose="02040503050406030204" pitchFamily="18" charset="0"/>
              </a:rPr>
              <a:t>” (García Ferrando, p. 217)</a:t>
            </a:r>
            <a:endParaRPr lang="es-AR" altLang="es-AR" b="1" dirty="0">
              <a:latin typeface="Cambria" panose="02040503050406030204" pitchFamily="18" charset="0"/>
              <a:ea typeface="Cambria" panose="02040503050406030204" pitchFamily="18" charset="0"/>
            </a:endParaRPr>
          </a:p>
        </p:txBody>
      </p:sp>
      <p:sp>
        <p:nvSpPr>
          <p:cNvPr id="5" name="Rectangle 4"/>
          <p:cNvSpPr>
            <a:spLocks noChangeArrowheads="1"/>
          </p:cNvSpPr>
          <p:nvPr/>
        </p:nvSpPr>
        <p:spPr bwMode="auto">
          <a:xfrm>
            <a:off x="250825" y="2809165"/>
            <a:ext cx="86423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ES" altLang="es-AR" dirty="0">
                <a:latin typeface="Cambria" panose="02040503050406030204" pitchFamily="18" charset="0"/>
                <a:ea typeface="Cambria" panose="02040503050406030204" pitchFamily="18" charset="0"/>
              </a:rPr>
              <a:t>Se puede caracterizar la relación entre dos variables mediante el estudio de las siguientes características:</a:t>
            </a:r>
          </a:p>
          <a:p>
            <a:pPr marL="342900" indent="-342900" algn="just" eaLnBrk="1" hangingPunct="1">
              <a:buFont typeface="+mj-lt"/>
              <a:buAutoNum type="arabicPeriod"/>
            </a:pPr>
            <a:endParaRPr lang="es-ES" altLang="es-AR"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a:solidFill>
                  <a:srgbClr val="2A8A85"/>
                </a:solidFill>
                <a:latin typeface="Cambria" panose="02040503050406030204" pitchFamily="18" charset="0"/>
                <a:ea typeface="Cambria" panose="02040503050406030204" pitchFamily="18" charset="0"/>
              </a:rPr>
              <a:t>Existencia:</a:t>
            </a:r>
            <a:r>
              <a:rPr lang="es-ES" altLang="es-AR" b="1" i="1" dirty="0">
                <a:latin typeface="Cambria" panose="02040503050406030204" pitchFamily="18" charset="0"/>
                <a:ea typeface="Cambria" panose="02040503050406030204" pitchFamily="18" charset="0"/>
              </a:rPr>
              <a:t> </a:t>
            </a:r>
            <a:r>
              <a:rPr lang="es-ES" altLang="es-AR" i="1" dirty="0">
                <a:latin typeface="Cambria" panose="02040503050406030204" pitchFamily="18" charset="0"/>
                <a:ea typeface="Cambria" panose="02040503050406030204" pitchFamily="18" charset="0"/>
              </a:rPr>
              <a:t>¿hay asociación o hay </a:t>
            </a:r>
            <a:r>
              <a:rPr lang="es-ES" altLang="es-AR" b="1" i="1" dirty="0">
                <a:solidFill>
                  <a:srgbClr val="2A8A85"/>
                </a:solidFill>
                <a:latin typeface="Cambria" panose="02040503050406030204" pitchFamily="18" charset="0"/>
                <a:ea typeface="Cambria" panose="02040503050406030204" pitchFamily="18" charset="0"/>
              </a:rPr>
              <a:t>independencia</a:t>
            </a:r>
            <a:r>
              <a:rPr lang="es-ES" altLang="es-AR" i="1" dirty="0">
                <a:latin typeface="Cambria" panose="02040503050406030204" pitchFamily="18" charset="0"/>
                <a:ea typeface="Cambria" panose="02040503050406030204" pitchFamily="18" charset="0"/>
              </a:rPr>
              <a:t> estadística?</a:t>
            </a: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a:solidFill>
                  <a:srgbClr val="2A8A85"/>
                </a:solidFill>
                <a:latin typeface="Cambria" panose="02040503050406030204" pitchFamily="18" charset="0"/>
                <a:ea typeface="Cambria" panose="02040503050406030204" pitchFamily="18" charset="0"/>
              </a:rPr>
              <a:t>Fuerza:</a:t>
            </a:r>
            <a:r>
              <a:rPr lang="es-ES" altLang="es-AR" b="1" i="1" dirty="0">
                <a:latin typeface="Cambria" panose="02040503050406030204" pitchFamily="18" charset="0"/>
                <a:ea typeface="Cambria" panose="02040503050406030204" pitchFamily="18" charset="0"/>
              </a:rPr>
              <a:t> </a:t>
            </a:r>
            <a:r>
              <a:rPr lang="es-ES" altLang="es-AR" i="1" dirty="0">
                <a:latin typeface="Cambria" panose="02040503050406030204" pitchFamily="18" charset="0"/>
                <a:ea typeface="Cambria" panose="02040503050406030204" pitchFamily="18" charset="0"/>
              </a:rPr>
              <a:t>¿la asociación es fuerte o es débil?</a:t>
            </a: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a:solidFill>
                  <a:srgbClr val="2A8A85"/>
                </a:solidFill>
                <a:latin typeface="Cambria" panose="02040503050406030204" pitchFamily="18" charset="0"/>
                <a:ea typeface="Cambria" panose="02040503050406030204" pitchFamily="18" charset="0"/>
              </a:rPr>
              <a:t>Dirección:</a:t>
            </a:r>
            <a:r>
              <a:rPr lang="es-ES" altLang="es-AR" b="1" dirty="0">
                <a:latin typeface="Cambria" panose="02040503050406030204" pitchFamily="18" charset="0"/>
                <a:ea typeface="Cambria" panose="02040503050406030204" pitchFamily="18" charset="0"/>
              </a:rPr>
              <a:t> </a:t>
            </a:r>
            <a:r>
              <a:rPr lang="es-ES" altLang="es-AR" i="1" dirty="0">
                <a:latin typeface="Cambria" panose="02040503050406030204" pitchFamily="18" charset="0"/>
                <a:ea typeface="Cambria" panose="02040503050406030204" pitchFamily="18" charset="0"/>
              </a:rPr>
              <a:t>¿la asociación es positiva o negativa?</a:t>
            </a:r>
          </a:p>
          <a:p>
            <a:pPr marL="966787" indent="-342900" eaLnBrk="1" hangingPunct="1">
              <a:buFont typeface="+mj-lt"/>
              <a:buAutoNum type="arabicPeriod"/>
            </a:pPr>
            <a:endParaRPr lang="es-ES" altLang="es-AR" b="1" dirty="0">
              <a:latin typeface="Cambria" panose="02040503050406030204" pitchFamily="18" charset="0"/>
              <a:ea typeface="Cambria" panose="02040503050406030204" pitchFamily="18" charset="0"/>
            </a:endParaRPr>
          </a:p>
          <a:p>
            <a:pPr marL="966787" indent="-342900" eaLnBrk="1" hangingPunct="1">
              <a:buFont typeface="+mj-lt"/>
              <a:buAutoNum type="arabicPeriod"/>
            </a:pPr>
            <a:r>
              <a:rPr lang="es-ES" altLang="es-AR" b="1" i="1" dirty="0">
                <a:solidFill>
                  <a:srgbClr val="2A8A85"/>
                </a:solidFill>
                <a:latin typeface="Cambria" panose="02040503050406030204" pitchFamily="18" charset="0"/>
                <a:ea typeface="Cambria" panose="02040503050406030204" pitchFamily="18" charset="0"/>
              </a:rPr>
              <a:t>Naturaleza:</a:t>
            </a:r>
            <a:r>
              <a:rPr lang="es-ES" altLang="es-AR" b="1" dirty="0">
                <a:latin typeface="Cambria" panose="02040503050406030204" pitchFamily="18" charset="0"/>
                <a:ea typeface="Cambria" panose="02040503050406030204" pitchFamily="18" charset="0"/>
              </a:rPr>
              <a:t> </a:t>
            </a:r>
            <a:r>
              <a:rPr lang="es-ES" altLang="es-AR" i="1" dirty="0">
                <a:latin typeface="Cambria" panose="02040503050406030204" pitchFamily="18" charset="0"/>
                <a:ea typeface="Cambria" panose="02040503050406030204" pitchFamily="18" charset="0"/>
              </a:rPr>
              <a:t>¿la asociación es lineal, </a:t>
            </a:r>
            <a:r>
              <a:rPr lang="es-ES" altLang="es-AR" i="1" dirty="0" err="1">
                <a:latin typeface="Cambria" panose="02040503050406030204" pitchFamily="18" charset="0"/>
                <a:ea typeface="Cambria" panose="02040503050406030204" pitchFamily="18" charset="0"/>
              </a:rPr>
              <a:t>curvilineal</a:t>
            </a:r>
            <a:r>
              <a:rPr lang="es-ES" altLang="es-AR" i="1" dirty="0">
                <a:latin typeface="Cambria" panose="02040503050406030204" pitchFamily="18" charset="0"/>
                <a:ea typeface="Cambria" panose="02040503050406030204" pitchFamily="18" charset="0"/>
              </a:rPr>
              <a:t> o </a:t>
            </a:r>
            <a:r>
              <a:rPr lang="es-ES" altLang="es-AR" i="1" dirty="0" err="1">
                <a:latin typeface="Cambria" panose="02040503050406030204" pitchFamily="18" charset="0"/>
                <a:ea typeface="Cambria" panose="02040503050406030204" pitchFamily="18" charset="0"/>
              </a:rPr>
              <a:t>rinconal</a:t>
            </a:r>
            <a:r>
              <a:rPr lang="es-ES" altLang="es-AR" i="1" dirty="0">
                <a:latin typeface="Cambria" panose="02040503050406030204" pitchFamily="18" charset="0"/>
                <a:ea typeface="Cambria" panose="02040503050406030204" pitchFamily="18" charset="0"/>
              </a:rPr>
              <a:t>?</a:t>
            </a:r>
            <a:endParaRPr lang="es-AR" altLang="es-AR" i="1" dirty="0">
              <a:latin typeface="Cambria" panose="02040503050406030204" pitchFamily="18" charset="0"/>
              <a:ea typeface="Cambria" panose="02040503050406030204" pitchFamily="18" charset="0"/>
            </a:endParaRP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Asociación entre variables: concepto</a:t>
            </a:r>
          </a:p>
        </p:txBody>
      </p:sp>
    </p:spTree>
    <p:extLst>
      <p:ext uri="{BB962C8B-B14F-4D97-AF65-F5344CB8AC3E}">
        <p14:creationId xmlns:p14="http://schemas.microsoft.com/office/powerpoint/2010/main" val="1975767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50825" y="1052736"/>
            <a:ext cx="86423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Hablamos de </a:t>
            </a:r>
            <a:r>
              <a:rPr lang="es-AR" altLang="es-AR" b="1" i="1" dirty="0">
                <a:solidFill>
                  <a:srgbClr val="2A8A85"/>
                </a:solidFill>
                <a:latin typeface="Cambria" panose="02040503050406030204" pitchFamily="18" charset="0"/>
                <a:ea typeface="Cambria" panose="02040503050406030204" pitchFamily="18" charset="0"/>
              </a:rPr>
              <a:t>existencia</a:t>
            </a:r>
            <a:r>
              <a:rPr lang="es-AR" altLang="es-AR" dirty="0">
                <a:latin typeface="Cambria" panose="02040503050406030204" pitchFamily="18" charset="0"/>
                <a:ea typeface="Cambria" panose="02040503050406030204" pitchFamily="18" charset="0"/>
              </a:rPr>
              <a:t> de asociación cuando la distribución de una variable difiere de algún modo entre las diversas categorías de la segunda variable. Su determinación requiere de la estimación de los porcentajes en la forma apropiada (por columna).</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asociación se manifiesta en que las distribuciones porcentuales condicionales difieren en mayor o menor grado entre sí. Si no ocurre, hay </a:t>
            </a:r>
            <a:r>
              <a:rPr lang="es-AR" altLang="es-AR" b="1" i="1" dirty="0">
                <a:solidFill>
                  <a:srgbClr val="2A8A85"/>
                </a:solidFill>
                <a:latin typeface="Cambria" panose="02040503050406030204" pitchFamily="18" charset="0"/>
                <a:ea typeface="Cambria" panose="02040503050406030204" pitchFamily="18" charset="0"/>
              </a:rPr>
              <a:t>independencia estadística.</a:t>
            </a:r>
            <a:endParaRPr lang="es-AR" altLang="es-AR" dirty="0">
              <a:solidFill>
                <a:srgbClr val="2A8A85"/>
              </a:solidFill>
              <a:latin typeface="Cambria" panose="02040503050406030204" pitchFamily="18" charset="0"/>
              <a:ea typeface="Cambria" panose="02040503050406030204" pitchFamily="18" charset="0"/>
            </a:endParaRPr>
          </a:p>
        </p:txBody>
      </p:sp>
      <p:graphicFrame>
        <p:nvGraphicFramePr>
          <p:cNvPr id="8" name="Group 46"/>
          <p:cNvGraphicFramePr>
            <a:graphicFrameLocks noGrp="1"/>
          </p:cNvGraphicFramePr>
          <p:nvPr>
            <p:extLst>
              <p:ext uri="{D42A27DB-BD31-4B8C-83A1-F6EECF244321}">
                <p14:modId xmlns:p14="http://schemas.microsoft.com/office/powerpoint/2010/main" val="1632584350"/>
              </p:ext>
            </p:extLst>
          </p:nvPr>
        </p:nvGraphicFramePr>
        <p:xfrm>
          <a:off x="252212" y="3789040"/>
          <a:ext cx="4074259" cy="2586965"/>
        </p:xfrm>
        <a:graphic>
          <a:graphicData uri="http://schemas.openxmlformats.org/drawingml/2006/table">
            <a:tbl>
              <a:tblPr/>
              <a:tblGrid>
                <a:gridCol w="1944593">
                  <a:extLst>
                    <a:ext uri="{9D8B030D-6E8A-4147-A177-3AD203B41FA5}">
                      <a16:colId xmlns:a16="http://schemas.microsoft.com/office/drawing/2014/main" val="20000"/>
                    </a:ext>
                  </a:extLst>
                </a:gridCol>
                <a:gridCol w="1048740">
                  <a:extLst>
                    <a:ext uri="{9D8B030D-6E8A-4147-A177-3AD203B41FA5}">
                      <a16:colId xmlns:a16="http://schemas.microsoft.com/office/drawing/2014/main" val="20002"/>
                    </a:ext>
                  </a:extLst>
                </a:gridCol>
                <a:gridCol w="1080926">
                  <a:extLst>
                    <a:ext uri="{9D8B030D-6E8A-4147-A177-3AD203B41FA5}">
                      <a16:colId xmlns:a16="http://schemas.microsoft.com/office/drawing/2014/main" val="20003"/>
                    </a:ext>
                  </a:extLst>
                </a:gridCol>
              </a:tblGrid>
              <a:tr h="688153">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 según clase social.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ocupada. En porcentajes.</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sz="1600" dirty="0"/>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Clase social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extLst>
                  <a:ext uri="{0D108BD9-81ED-4DB2-BD59-A6C34878D82A}">
                    <a16:rowId xmlns:a16="http://schemas.microsoft.com/office/drawing/2014/main" val="10002"/>
                  </a:ext>
                </a:extLst>
              </a:tr>
              <a:tr h="211694">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Media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Trabajadora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 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77,4%</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51,0%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22,6%</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49,0%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2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2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8"/>
                  </a:ext>
                </a:extLst>
              </a:tr>
            </a:tbl>
          </a:graphicData>
        </a:graphic>
      </p:graphicFrame>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2 Rectángulo"/>
          <p:cNvSpPr/>
          <p:nvPr/>
        </p:nvSpPr>
        <p:spPr>
          <a:xfrm>
            <a:off x="0" y="667917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Análisis de asociación: 1) existencia</a:t>
            </a:r>
          </a:p>
        </p:txBody>
      </p:sp>
      <p:sp>
        <p:nvSpPr>
          <p:cNvPr id="2" name="Rectángulo 1"/>
          <p:cNvSpPr/>
          <p:nvPr/>
        </p:nvSpPr>
        <p:spPr>
          <a:xfrm>
            <a:off x="1395796" y="3420368"/>
            <a:ext cx="1787092" cy="338554"/>
          </a:xfrm>
          <a:prstGeom prst="rect">
            <a:avLst/>
          </a:prstGeom>
          <a:solidFill>
            <a:schemeClr val="accent1">
              <a:lumMod val="20000"/>
              <a:lumOff val="80000"/>
            </a:schemeClr>
          </a:solidFill>
        </p:spPr>
        <p:txBody>
          <a:bodyPr wrap="none">
            <a:spAutoFit/>
          </a:bodyPr>
          <a:lstStyle/>
          <a:p>
            <a:pPr algn="just"/>
            <a:r>
              <a:rPr lang="es-ES" altLang="es-AR" sz="1600" b="1" dirty="0">
                <a:latin typeface="Cambria" panose="02040503050406030204" pitchFamily="18" charset="0"/>
                <a:ea typeface="Cambria" panose="02040503050406030204" pitchFamily="18" charset="0"/>
              </a:rPr>
              <a:t>HAY ASOCIACIÓN</a:t>
            </a:r>
          </a:p>
        </p:txBody>
      </p:sp>
      <p:sp>
        <p:nvSpPr>
          <p:cNvPr id="15" name="Rectángulo 14"/>
          <p:cNvSpPr/>
          <p:nvPr/>
        </p:nvSpPr>
        <p:spPr>
          <a:xfrm>
            <a:off x="5940152" y="3405739"/>
            <a:ext cx="2114105" cy="338554"/>
          </a:xfrm>
          <a:prstGeom prst="rect">
            <a:avLst/>
          </a:prstGeom>
          <a:solidFill>
            <a:schemeClr val="accent1">
              <a:lumMod val="20000"/>
              <a:lumOff val="80000"/>
            </a:schemeClr>
          </a:solidFill>
        </p:spPr>
        <p:txBody>
          <a:bodyPr wrap="none">
            <a:spAutoFit/>
          </a:bodyPr>
          <a:lstStyle/>
          <a:p>
            <a:pPr algn="just"/>
            <a:r>
              <a:rPr lang="es-ES" altLang="es-AR" sz="1600" b="1" dirty="0">
                <a:latin typeface="Cambria" panose="02040503050406030204" pitchFamily="18" charset="0"/>
                <a:ea typeface="Cambria" panose="02040503050406030204" pitchFamily="18" charset="0"/>
              </a:rPr>
              <a:t>NO HAY ASOCIACIÓN</a:t>
            </a:r>
          </a:p>
        </p:txBody>
      </p:sp>
      <p:graphicFrame>
        <p:nvGraphicFramePr>
          <p:cNvPr id="3" name="Group 46">
            <a:extLst>
              <a:ext uri="{FF2B5EF4-FFF2-40B4-BE49-F238E27FC236}">
                <a16:creationId xmlns:a16="http://schemas.microsoft.com/office/drawing/2014/main" id="{03E32B8F-C596-91FC-4E97-5465226E74BA}"/>
              </a:ext>
            </a:extLst>
          </p:cNvPr>
          <p:cNvGraphicFramePr>
            <a:graphicFrameLocks noGrp="1"/>
          </p:cNvGraphicFramePr>
          <p:nvPr>
            <p:extLst>
              <p:ext uri="{D42A27DB-BD31-4B8C-83A1-F6EECF244321}">
                <p14:modId xmlns:p14="http://schemas.microsoft.com/office/powerpoint/2010/main" val="266041759"/>
              </p:ext>
            </p:extLst>
          </p:nvPr>
        </p:nvGraphicFramePr>
        <p:xfrm>
          <a:off x="4644008" y="3778739"/>
          <a:ext cx="4074259" cy="2586965"/>
        </p:xfrm>
        <a:graphic>
          <a:graphicData uri="http://schemas.openxmlformats.org/drawingml/2006/table">
            <a:tbl>
              <a:tblPr/>
              <a:tblGrid>
                <a:gridCol w="1944593">
                  <a:extLst>
                    <a:ext uri="{9D8B030D-6E8A-4147-A177-3AD203B41FA5}">
                      <a16:colId xmlns:a16="http://schemas.microsoft.com/office/drawing/2014/main" val="20000"/>
                    </a:ext>
                  </a:extLst>
                </a:gridCol>
                <a:gridCol w="1048740">
                  <a:extLst>
                    <a:ext uri="{9D8B030D-6E8A-4147-A177-3AD203B41FA5}">
                      <a16:colId xmlns:a16="http://schemas.microsoft.com/office/drawing/2014/main" val="20002"/>
                    </a:ext>
                  </a:extLst>
                </a:gridCol>
                <a:gridCol w="1080926">
                  <a:extLst>
                    <a:ext uri="{9D8B030D-6E8A-4147-A177-3AD203B41FA5}">
                      <a16:colId xmlns:a16="http://schemas.microsoft.com/office/drawing/2014/main" val="20003"/>
                    </a:ext>
                  </a:extLst>
                </a:gridCol>
              </a:tblGrid>
              <a:tr h="688153">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 según clase social.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ocupada. En porcentajes.</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sz="1600" dirty="0"/>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Clase social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extLst>
                  <a:ext uri="{0D108BD9-81ED-4DB2-BD59-A6C34878D82A}">
                    <a16:rowId xmlns:a16="http://schemas.microsoft.com/office/drawing/2014/main" val="10002"/>
                  </a:ext>
                </a:extLst>
              </a:tr>
              <a:tr h="211694">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Media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Trabajadora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 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64,7%</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64,7</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35,3%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35,3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2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2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61750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4"/>
              <p:cNvSpPr>
                <a:spLocks noChangeArrowheads="1"/>
              </p:cNvSpPr>
              <p:nvPr/>
            </p:nvSpPr>
            <p:spPr bwMode="auto">
              <a:xfrm>
                <a:off x="250825" y="1052736"/>
                <a:ext cx="8642350" cy="5361532"/>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lectura de los porcentajes es una forma intuitiva de evaluar la existencia de asociación. Sin embargo, no nos informa si es </a:t>
                </a:r>
                <a:r>
                  <a:rPr lang="es-AR" altLang="es-AR" i="1" dirty="0">
                    <a:latin typeface="Cambria" panose="02040503050406030204" pitchFamily="18" charset="0"/>
                    <a:ea typeface="Cambria" panose="02040503050406030204" pitchFamily="18" charset="0"/>
                  </a:rPr>
                  <a:t>significativa</a:t>
                </a:r>
                <a:r>
                  <a:rPr lang="es-AR" altLang="es-AR" dirty="0">
                    <a:latin typeface="Cambria" panose="02040503050406030204" pitchFamily="18" charset="0"/>
                    <a:ea typeface="Cambria" panose="02040503050406030204" pitchFamily="18" charset="0"/>
                  </a:rPr>
                  <a:t> desde el punto de vista estadístico.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Al trabajar con datos de una muestra, nos interesa saber si la asociación observada existe en la población estudiada o se debe al azar (es decir, al hecho de haber tomado una muestra y no otra).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Debemos acompañar la lectura de porcentajes con una </a:t>
                </a:r>
                <a:r>
                  <a:rPr lang="es-AR" altLang="es-AR" b="1" i="1" dirty="0">
                    <a:solidFill>
                      <a:srgbClr val="2A8A85"/>
                    </a:solidFill>
                    <a:latin typeface="Cambria" panose="02040503050406030204" pitchFamily="18" charset="0"/>
                    <a:ea typeface="Cambria" panose="02040503050406030204" pitchFamily="18" charset="0"/>
                  </a:rPr>
                  <a:t>prueba de hipótesis </a:t>
                </a:r>
                <a:r>
                  <a:rPr lang="es-AR" altLang="es-AR" dirty="0">
                    <a:latin typeface="Cambria" panose="02040503050406030204" pitchFamily="18" charset="0"/>
                    <a:ea typeface="Cambria" panose="02040503050406030204" pitchFamily="18" charset="0"/>
                  </a:rPr>
                  <a:t>de independencia estadística mediante el test de </a:t>
                </a:r>
                <a:r>
                  <a:rPr lang="es-AR" altLang="es-AR" b="1" i="1" dirty="0">
                    <a:solidFill>
                      <a:srgbClr val="2A8A85"/>
                    </a:solidFill>
                    <a:latin typeface="Cambria" panose="02040503050406030204" pitchFamily="18" charset="0"/>
                    <a:ea typeface="Cambria" panose="02040503050406030204" pitchFamily="18" charset="0"/>
                  </a:rPr>
                  <a:t>chi-cuadrado (</a:t>
                </a:r>
                <a14:m>
                  <m:oMath xmlns:m="http://schemas.openxmlformats.org/officeDocument/2006/math">
                    <m:sSup>
                      <m:sSupPr>
                        <m:ctrlPr>
                          <a:rPr lang="es-AR" altLang="es-AR" b="1" i="1">
                            <a:solidFill>
                              <a:srgbClr val="2A8A85"/>
                            </a:solidFill>
                            <a:latin typeface="Cambria Math" panose="02040503050406030204" pitchFamily="18" charset="0"/>
                            <a:ea typeface="Cambria" panose="02040503050406030204" pitchFamily="18" charset="0"/>
                          </a:rPr>
                        </m:ctrlPr>
                      </m:sSupPr>
                      <m:e>
                        <m:r>
                          <a:rPr lang="es-AR" altLang="es-AR" b="1" i="1">
                            <a:solidFill>
                              <a:srgbClr val="2A8A85"/>
                            </a:solidFill>
                            <a:latin typeface="Cambria Math" panose="02040503050406030204" pitchFamily="18" charset="0"/>
                            <a:ea typeface="Cambria Math" panose="02040503050406030204" pitchFamily="18" charset="0"/>
                          </a:rPr>
                          <m:t>𝝌</m:t>
                        </m:r>
                      </m:e>
                      <m:sup>
                        <m:r>
                          <a:rPr lang="es-AR" altLang="es-AR" b="1" i="1">
                            <a:solidFill>
                              <a:srgbClr val="2A8A85"/>
                            </a:solidFill>
                            <a:latin typeface="Cambria Math" panose="02040503050406030204" pitchFamily="18" charset="0"/>
                            <a:ea typeface="Cambria" panose="02040503050406030204" pitchFamily="18" charset="0"/>
                          </a:rPr>
                          <m:t>𝟐</m:t>
                        </m:r>
                      </m:sup>
                    </m:sSup>
                  </m:oMath>
                </a14:m>
                <a:r>
                  <a:rPr lang="es-AR" altLang="es-AR" b="1" i="1" dirty="0">
                    <a:solidFill>
                      <a:srgbClr val="2A8A85"/>
                    </a:solidFill>
                    <a:latin typeface="Cambria" panose="02040503050406030204" pitchFamily="18" charset="0"/>
                    <a:ea typeface="Cambria" panose="02040503050406030204" pitchFamily="18" charset="0"/>
                  </a:rPr>
                  <a:t>)</a:t>
                </a:r>
                <a:r>
                  <a:rPr lang="es-AR" altLang="es-AR" dirty="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prueba de </a:t>
                </a:r>
                <a14:m>
                  <m:oMath xmlns:m="http://schemas.openxmlformats.org/officeDocument/2006/math">
                    <m:sSup>
                      <m:sSupPr>
                        <m:ctrlPr>
                          <a:rPr lang="es-AR" altLang="es-AR" i="1" smtClean="0">
                            <a:solidFill>
                              <a:schemeClr val="tx1"/>
                            </a:solidFill>
                            <a:latin typeface="Cambria Math" panose="02040503050406030204" pitchFamily="18" charset="0"/>
                            <a:ea typeface="Cambria" panose="02040503050406030204" pitchFamily="18" charset="0"/>
                          </a:rPr>
                        </m:ctrlPr>
                      </m:sSupPr>
                      <m:e>
                        <m:r>
                          <a:rPr lang="es-AR" altLang="es-AR" b="0" i="1">
                            <a:solidFill>
                              <a:schemeClr val="tx1"/>
                            </a:solidFill>
                            <a:latin typeface="Cambria Math" panose="02040503050406030204" pitchFamily="18" charset="0"/>
                            <a:ea typeface="Cambria Math" panose="02040503050406030204" pitchFamily="18" charset="0"/>
                          </a:rPr>
                          <m:t>𝜒</m:t>
                        </m:r>
                      </m:e>
                      <m:sup>
                        <m:r>
                          <a:rPr lang="es-AR" altLang="es-AR" b="0" i="1">
                            <a:solidFill>
                              <a:schemeClr val="tx1"/>
                            </a:solidFill>
                            <a:latin typeface="Cambria Math" panose="02040503050406030204" pitchFamily="18" charset="0"/>
                            <a:ea typeface="Cambria" panose="02040503050406030204" pitchFamily="18" charset="0"/>
                          </a:rPr>
                          <m:t>2</m:t>
                        </m:r>
                      </m:sup>
                    </m:sSup>
                  </m:oMath>
                </a14:m>
                <a:r>
                  <a:rPr lang="es-AR" altLang="es-AR" dirty="0">
                    <a:solidFill>
                      <a:schemeClr val="tx1"/>
                    </a:solidFill>
                    <a:latin typeface="Cambria" panose="02040503050406030204" pitchFamily="18" charset="0"/>
                    <a:ea typeface="Cambria" panose="02040503050406030204" pitchFamily="18" charset="0"/>
                  </a:rPr>
                  <a:t>compara la </a:t>
                </a:r>
                <a:r>
                  <a:rPr lang="es-AR" altLang="es-AR" b="1" i="1" dirty="0">
                    <a:solidFill>
                      <a:srgbClr val="2A8A85"/>
                    </a:solidFill>
                    <a:latin typeface="Cambria" panose="02040503050406030204" pitchFamily="18" charset="0"/>
                    <a:ea typeface="Cambria" panose="02040503050406030204" pitchFamily="18" charset="0"/>
                  </a:rPr>
                  <a:t>distribución observada </a:t>
                </a:r>
                <a:r>
                  <a:rPr lang="es-AR" altLang="es-AR" dirty="0">
                    <a:solidFill>
                      <a:schemeClr val="tx1"/>
                    </a:solidFill>
                    <a:latin typeface="Cambria" panose="02040503050406030204" pitchFamily="18" charset="0"/>
                    <a:ea typeface="Cambria" panose="02040503050406030204" pitchFamily="18" charset="0"/>
                  </a:rPr>
                  <a:t>de X e Y con la </a:t>
                </a:r>
                <a:r>
                  <a:rPr lang="es-AR" altLang="es-AR" b="1" i="1" dirty="0">
                    <a:solidFill>
                      <a:srgbClr val="2A8A85"/>
                    </a:solidFill>
                    <a:latin typeface="Cambria" panose="02040503050406030204" pitchFamily="18" charset="0"/>
                    <a:ea typeface="Cambria" panose="02040503050406030204" pitchFamily="18" charset="0"/>
                  </a:rPr>
                  <a:t>distribución esperada</a:t>
                </a:r>
                <a:r>
                  <a:rPr lang="es-AR" altLang="es-AR" dirty="0">
                    <a:solidFill>
                      <a:srgbClr val="2A8A85"/>
                    </a:solidFill>
                    <a:latin typeface="Cambria" panose="02040503050406030204" pitchFamily="18" charset="0"/>
                    <a:ea typeface="Cambria" panose="02040503050406030204" pitchFamily="18" charset="0"/>
                  </a:rPr>
                  <a:t> </a:t>
                </a:r>
                <a:r>
                  <a:rPr lang="es-AR" altLang="es-AR" dirty="0">
                    <a:solidFill>
                      <a:schemeClr val="tx1"/>
                    </a:solidFill>
                    <a:latin typeface="Cambria" panose="02040503050406030204" pitchFamily="18" charset="0"/>
                    <a:ea typeface="Cambria" panose="02040503050406030204" pitchFamily="18" charset="0"/>
                  </a:rPr>
                  <a:t>en caso de que no hubiera asociación (bajo el supuesto de </a:t>
                </a:r>
                <a:r>
                  <a:rPr lang="es-AR" altLang="es-AR" b="1" i="1" dirty="0">
                    <a:solidFill>
                      <a:srgbClr val="2A8A85"/>
                    </a:solidFill>
                    <a:latin typeface="Cambria" panose="02040503050406030204" pitchFamily="18" charset="0"/>
                    <a:ea typeface="Cambria" panose="02040503050406030204" pitchFamily="18" charset="0"/>
                  </a:rPr>
                  <a:t>independencia</a:t>
                </a:r>
                <a:r>
                  <a:rPr lang="es-AR" altLang="es-AR" b="1" i="1" dirty="0">
                    <a:solidFill>
                      <a:schemeClr val="tx1"/>
                    </a:solidFill>
                    <a:latin typeface="Cambria" panose="02040503050406030204" pitchFamily="18" charset="0"/>
                    <a:ea typeface="Cambria" panose="02040503050406030204" pitchFamily="18" charset="0"/>
                  </a:rPr>
                  <a:t> </a:t>
                </a:r>
                <a:r>
                  <a:rPr lang="es-AR" altLang="es-AR" dirty="0">
                    <a:solidFill>
                      <a:schemeClr val="tx1"/>
                    </a:solidFill>
                    <a:latin typeface="Cambria" panose="02040503050406030204" pitchFamily="18" charset="0"/>
                    <a:ea typeface="Cambria" panose="02040503050406030204" pitchFamily="18" charset="0"/>
                  </a:rPr>
                  <a:t>estadística).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solidFill>
                      <a:schemeClr val="tx1"/>
                    </a:solidFill>
                    <a:latin typeface="Cambria" panose="02040503050406030204" pitchFamily="18" charset="0"/>
                    <a:ea typeface="Cambria" panose="02040503050406030204" pitchFamily="18" charset="0"/>
                  </a:rPr>
                  <a:t>Es fácil imaginarse cómo sería la tabla de contingencia en caso de qu</a:t>
                </a:r>
                <a:r>
                  <a:rPr lang="es-AR" altLang="es-AR" dirty="0">
                    <a:latin typeface="Cambria" panose="02040503050406030204" pitchFamily="18" charset="0"/>
                    <a:ea typeface="Cambria" panose="02040503050406030204" pitchFamily="18" charset="0"/>
                  </a:rPr>
                  <a:t>e no hubiera asociación: la variable dependiente no cambiaría en las distintas columnas de la variable independiente.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mc:Choice>
        <mc:Fallback xmlns="">
          <p:sp>
            <p:nvSpPr>
              <p:cNvPr id="4" name="Rectangle 4"/>
              <p:cNvSpPr>
                <a:spLocks noRot="1" noChangeAspect="1" noMove="1" noResize="1" noEditPoints="1" noAdjustHandles="1" noChangeArrowheads="1" noChangeShapeType="1" noTextEdit="1"/>
              </p:cNvSpPr>
              <p:nvPr/>
            </p:nvSpPr>
            <p:spPr bwMode="auto">
              <a:xfrm>
                <a:off x="250825" y="1052736"/>
                <a:ext cx="8642350" cy="5361532"/>
              </a:xfrm>
              <a:prstGeom prst="rect">
                <a:avLst/>
              </a:prstGeom>
              <a:blipFill>
                <a:blip r:embed="rId3"/>
                <a:stretch>
                  <a:fillRect l="-423" t="-796" r="-6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p:sp>
        <p:nvSpPr>
          <p:cNvPr id="10"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1" name="2 Rectángulo"/>
          <p:cNvSpPr/>
          <p:nvPr/>
        </p:nvSpPr>
        <p:spPr>
          <a:xfrm>
            <a:off x="0" y="667917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3"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Análisis de asociación: 1) existencia</a:t>
            </a:r>
          </a:p>
        </p:txBody>
      </p:sp>
    </p:spTree>
    <p:extLst>
      <p:ext uri="{BB962C8B-B14F-4D97-AF65-F5344CB8AC3E}">
        <p14:creationId xmlns:p14="http://schemas.microsoft.com/office/powerpoint/2010/main" val="121678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CF4F3F7-196D-4216-B45B-D16B0F3ED4B0}"/>
              </a:ext>
            </a:extLst>
          </p:cNvPr>
          <p:cNvPicPr>
            <a:picLocks noChangeAspect="1"/>
          </p:cNvPicPr>
          <p:nvPr/>
        </p:nvPicPr>
        <p:blipFill>
          <a:blip r:embed="rId3"/>
          <a:stretch>
            <a:fillRect/>
          </a:stretch>
        </p:blipFill>
        <p:spPr>
          <a:xfrm>
            <a:off x="1187624" y="3269417"/>
            <a:ext cx="5857875" cy="3000375"/>
          </a:xfrm>
          <a:prstGeom prst="rect">
            <a:avLst/>
          </a:prstGeom>
        </p:spPr>
      </p:pic>
      <mc:AlternateContent xmlns:mc="http://schemas.openxmlformats.org/markup-compatibility/2006" xmlns:a14="http://schemas.microsoft.com/office/drawing/2010/main">
        <mc:Choice Requires="a14">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Prueba de independencia estadística </a:t>
                </a:r>
                <a14:m>
                  <m:oMath xmlns:m="http://schemas.openxmlformats.org/officeDocument/2006/math">
                    <m:sSup>
                      <m:sSupPr>
                        <m:ctrlP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 </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mc:Choice>
        <mc:Fallback xmlns="">
          <p:sp>
            <p:nvSpPr>
              <p:cNvPr id="6146" name="Rectangle 2">
                <a:extLst>
                  <a:ext uri="{FF2B5EF4-FFF2-40B4-BE49-F238E27FC236}">
                    <a16:creationId xmlns:a16="http://schemas.microsoft.com/office/drawing/2014/main" id="{4F2485E4-3C6C-4A1D-B5F1-AA7F2AB7B061}"/>
                  </a:ext>
                </a:extLst>
              </p:cNvPr>
              <p:cNvSpPr>
                <a:spLocks noGrp="1" noRot="1" noChangeAspect="1" noMove="1" noResize="1" noEditPoints="1" noAdjustHandles="1" noChangeArrowheads="1" noChangeShapeType="1" noTextEdit="1"/>
              </p:cNvSpPr>
              <p:nvPr>
                <p:ph type="title" idx="4294967295"/>
              </p:nvPr>
            </p:nvSpPr>
            <p:spPr>
              <a:xfrm>
                <a:off x="0" y="230994"/>
                <a:ext cx="9324528" cy="630907"/>
              </a:xfrm>
              <a:blipFill>
                <a:blip r:embed="rId4"/>
                <a:stretch>
                  <a:fillRect l="-1307" t="-971" b="-18447"/>
                </a:stretch>
              </a:blipFill>
            </p:spPr>
            <p:txBody>
              <a:bodyPr/>
              <a:lstStyle/>
              <a:p>
                <a:r>
                  <a:rPr lang="es-AR">
                    <a:noFill/>
                  </a:rPr>
                  <a:t> </a:t>
                </a:r>
              </a:p>
            </p:txBody>
          </p:sp>
        </mc:Fallback>
      </mc:AlternateContent>
      <p:sp>
        <p:nvSpPr>
          <p:cNvPr id="27" name="Text Box 46"/>
          <p:cNvSpPr txBox="1">
            <a:spLocks noChangeArrowheads="1"/>
          </p:cNvSpPr>
          <p:nvPr/>
        </p:nvSpPr>
        <p:spPr bwMode="auto">
          <a:xfrm>
            <a:off x="5544470" y="1454473"/>
            <a:ext cx="2702080" cy="1361911"/>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Interpretamos la significación del coeficiente:</a:t>
            </a:r>
          </a:p>
          <a:p>
            <a:pPr algn="ctr">
              <a:spcBef>
                <a:spcPct val="50000"/>
              </a:spcBef>
            </a:pPr>
            <a:r>
              <a:rPr lang="es-ES" altLang="es-AR" sz="1500" b="1" dirty="0">
                <a:latin typeface="Cambria" panose="02040503050406030204" pitchFamily="18" charset="0"/>
                <a:ea typeface="Cambria" panose="02040503050406030204" pitchFamily="18" charset="0"/>
              </a:rPr>
              <a:t>Si </a:t>
            </a:r>
            <a:r>
              <a:rPr lang="es-ES" altLang="es-AR" sz="1500" b="1" i="1" dirty="0">
                <a:latin typeface="Cambria" panose="02040503050406030204" pitchFamily="18" charset="0"/>
                <a:ea typeface="Cambria" panose="02040503050406030204" pitchFamily="18" charset="0"/>
              </a:rPr>
              <a:t>p&lt;0,05 </a:t>
            </a:r>
            <a:r>
              <a:rPr lang="es-ES" altLang="es-AR" sz="1500" b="1" i="1" dirty="0">
                <a:latin typeface="Cambria" panose="02040503050406030204" pitchFamily="18" charset="0"/>
                <a:ea typeface="Cambria" panose="02040503050406030204" pitchFamily="18" charset="0"/>
                <a:sym typeface="Wingdings" panose="05000000000000000000" pitchFamily="2" charset="2"/>
              </a:rPr>
              <a:t> rechazamos hipótesis nula de no asociación</a:t>
            </a:r>
            <a:r>
              <a:rPr lang="es-ES" altLang="es-AR" sz="1500" b="1" dirty="0">
                <a:latin typeface="Cambria" panose="02040503050406030204" pitchFamily="18" charset="0"/>
                <a:ea typeface="Cambria" panose="02040503050406030204" pitchFamily="18" charset="0"/>
              </a:rPr>
              <a:t> </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21" name="Text Box 46"/>
          <p:cNvSpPr txBox="1">
            <a:spLocks noChangeArrowheads="1"/>
          </p:cNvSpPr>
          <p:nvPr/>
        </p:nvSpPr>
        <p:spPr bwMode="auto">
          <a:xfrm>
            <a:off x="4210865" y="3961911"/>
            <a:ext cx="937922" cy="338182"/>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p:cNvCxnSpPr>
          <p:nvPr/>
        </p:nvCxnSpPr>
        <p:spPr bwMode="auto">
          <a:xfrm rot="5400000">
            <a:off x="4901644" y="3063528"/>
            <a:ext cx="1285653" cy="791365"/>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8" name="Text Box 46"/>
          <p:cNvSpPr txBox="1">
            <a:spLocks noChangeArrowheads="1"/>
          </p:cNvSpPr>
          <p:nvPr/>
        </p:nvSpPr>
        <p:spPr bwMode="auto">
          <a:xfrm>
            <a:off x="2842390" y="3874821"/>
            <a:ext cx="721497" cy="454432"/>
          </a:xfrm>
          <a:prstGeom prst="ellipse">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pic>
        <p:nvPicPr>
          <p:cNvPr id="4" name="Imagen 3">
            <a:extLst>
              <a:ext uri="{FF2B5EF4-FFF2-40B4-BE49-F238E27FC236}">
                <a16:creationId xmlns:a16="http://schemas.microsoft.com/office/drawing/2014/main" id="{421CC6A1-15AE-1C75-5293-43196EA49446}"/>
              </a:ext>
            </a:extLst>
          </p:cNvPr>
          <p:cNvPicPr>
            <a:picLocks noChangeAspect="1"/>
          </p:cNvPicPr>
          <p:nvPr/>
        </p:nvPicPr>
        <p:blipFill>
          <a:blip r:embed="rId5"/>
          <a:stretch>
            <a:fillRect/>
          </a:stretch>
        </p:blipFill>
        <p:spPr>
          <a:xfrm>
            <a:off x="264696" y="968615"/>
            <a:ext cx="4884091" cy="1908457"/>
          </a:xfrm>
          <a:prstGeom prst="rect">
            <a:avLst/>
          </a:prstGeom>
        </p:spPr>
      </p:pic>
    </p:spTree>
    <p:extLst>
      <p:ext uri="{BB962C8B-B14F-4D97-AF65-F5344CB8AC3E}">
        <p14:creationId xmlns:p14="http://schemas.microsoft.com/office/powerpoint/2010/main" val="1876941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52779" y="1052736"/>
            <a:ext cx="874039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El análisis de asociación entre variables se interesa también por la </a:t>
            </a:r>
            <a:r>
              <a:rPr lang="es-AR" altLang="es-AR" b="1" i="1" dirty="0">
                <a:solidFill>
                  <a:srgbClr val="2A8A85"/>
                </a:solidFill>
                <a:latin typeface="Cambria" panose="02040503050406030204" pitchFamily="18" charset="0"/>
                <a:ea typeface="Cambria" panose="02040503050406030204" pitchFamily="18" charset="0"/>
              </a:rPr>
              <a:t>intensidad</a:t>
            </a:r>
            <a:r>
              <a:rPr lang="es-AR" altLang="es-AR" dirty="0">
                <a:latin typeface="Cambria" panose="02040503050406030204" pitchFamily="18" charset="0"/>
                <a:ea typeface="Cambria" panose="02040503050406030204" pitchFamily="18" charset="0"/>
              </a:rPr>
              <a:t> o fuerza con la que dichas variables se relacionan.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Si la diferencia porcentual es alta no es lo mismo que si es baja. Ello nos da una idea de la fuerza con que las variables están asociadas.</a:t>
            </a:r>
          </a:p>
        </p:txBody>
      </p:sp>
      <p:sp>
        <p:nvSpPr>
          <p:cNvPr id="10" name="Rectangle 4">
            <a:extLst>
              <a:ext uri="{FF2B5EF4-FFF2-40B4-BE49-F238E27FC236}">
                <a16:creationId xmlns:a16="http://schemas.microsoft.com/office/drawing/2014/main" id="{8CA37703-E28F-4CBD-ACCB-8FA0ED32229C}"/>
              </a:ext>
            </a:extLst>
          </p:cNvPr>
          <p:cNvSpPr>
            <a:spLocks noChangeArrowheads="1"/>
          </p:cNvSpPr>
          <p:nvPr/>
        </p:nvSpPr>
        <p:spPr bwMode="auto">
          <a:xfrm>
            <a:off x="1121953" y="5105314"/>
            <a:ext cx="3024336" cy="369332"/>
          </a:xfrm>
          <a:prstGeom prst="rect">
            <a:avLst/>
          </a:prstGeom>
          <a:solidFill>
            <a:srgbClr val="FFC00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77,4 – 51,0= </a:t>
            </a:r>
            <a:r>
              <a:rPr lang="es-AR" b="1" dirty="0">
                <a:latin typeface="Cambria" panose="02040503050406030204" pitchFamily="18" charset="0"/>
                <a:ea typeface="Cambria" panose="02040503050406030204" pitchFamily="18" charset="0"/>
              </a:rPr>
              <a:t>± 26,4pp.  </a:t>
            </a:r>
            <a:endParaRPr lang="es-AR" altLang="es-AR" b="1" dirty="0">
              <a:latin typeface="Cambria" panose="02040503050406030204" pitchFamily="18" charset="0"/>
              <a:ea typeface="Cambria" panose="02040503050406030204" pitchFamily="18" charset="0"/>
            </a:endParaRPr>
          </a:p>
        </p:txBody>
      </p:sp>
      <p:sp>
        <p:nvSpPr>
          <p:cNvPr id="11"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2"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endParaRPr>
          </a:p>
        </p:txBody>
      </p:sp>
      <p:sp>
        <p:nvSpPr>
          <p:cNvPr id="13"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14"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Análisis de asociación: 2) fuerza</a:t>
            </a:r>
          </a:p>
        </p:txBody>
      </p:sp>
      <p:sp>
        <p:nvSpPr>
          <p:cNvPr id="17" name="Rectangle 4">
            <a:extLst>
              <a:ext uri="{FF2B5EF4-FFF2-40B4-BE49-F238E27FC236}">
                <a16:creationId xmlns:a16="http://schemas.microsoft.com/office/drawing/2014/main" id="{8CA37703-E28F-4CBD-ACCB-8FA0ED32229C}"/>
              </a:ext>
            </a:extLst>
          </p:cNvPr>
          <p:cNvSpPr>
            <a:spLocks noChangeArrowheads="1"/>
          </p:cNvSpPr>
          <p:nvPr/>
        </p:nvSpPr>
        <p:spPr bwMode="auto">
          <a:xfrm>
            <a:off x="5297421" y="5111476"/>
            <a:ext cx="3024336" cy="369332"/>
          </a:xfrm>
          <a:prstGeom prst="rect">
            <a:avLst/>
          </a:prstGeom>
          <a:solidFill>
            <a:srgbClr val="FFC00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r>
              <a:rPr lang="el-GR" b="1" dirty="0">
                <a:latin typeface="Cambria" panose="02040503050406030204" pitchFamily="18" charset="0"/>
                <a:ea typeface="Cambria" panose="02040503050406030204" pitchFamily="18" charset="0"/>
              </a:rPr>
              <a:t>ε </a:t>
            </a:r>
            <a:r>
              <a:rPr lang="es-AR" b="1" dirty="0">
                <a:latin typeface="Cambria" panose="02040503050406030204" pitchFamily="18" charset="0"/>
                <a:ea typeface="Cambria" panose="02040503050406030204" pitchFamily="18" charset="0"/>
              </a:rPr>
              <a:t> </a:t>
            </a:r>
            <a:r>
              <a:rPr lang="es-AR" dirty="0">
                <a:latin typeface="Cambria" panose="02040503050406030204" pitchFamily="18" charset="0"/>
                <a:ea typeface="Cambria" panose="02040503050406030204" pitchFamily="18" charset="0"/>
              </a:rPr>
              <a:t>= 90,4 – 51,0= </a:t>
            </a:r>
            <a:r>
              <a:rPr lang="es-AR" b="1" dirty="0">
                <a:latin typeface="Cambria" panose="02040503050406030204" pitchFamily="18" charset="0"/>
                <a:ea typeface="Cambria" panose="02040503050406030204" pitchFamily="18" charset="0"/>
              </a:rPr>
              <a:t>±  39,4 </a:t>
            </a:r>
            <a:r>
              <a:rPr lang="es-AR" b="1" dirty="0" err="1">
                <a:latin typeface="Cambria" panose="02040503050406030204" pitchFamily="18" charset="0"/>
                <a:ea typeface="Cambria" panose="02040503050406030204" pitchFamily="18" charset="0"/>
              </a:rPr>
              <a:t>pp</a:t>
            </a:r>
            <a:endParaRPr lang="es-AR" altLang="es-AR" b="1" dirty="0">
              <a:latin typeface="Cambria" panose="02040503050406030204" pitchFamily="18" charset="0"/>
              <a:ea typeface="Cambria" panose="02040503050406030204" pitchFamily="18" charset="0"/>
            </a:endParaRPr>
          </a:p>
        </p:txBody>
      </p:sp>
      <p:sp>
        <p:nvSpPr>
          <p:cNvPr id="18" name="Rectangle 4">
            <a:extLst>
              <a:ext uri="{FF2B5EF4-FFF2-40B4-BE49-F238E27FC236}">
                <a16:creationId xmlns:a16="http://schemas.microsoft.com/office/drawing/2014/main" id="{8CA37703-E28F-4CBD-ACCB-8FA0ED32229C}"/>
              </a:ext>
            </a:extLst>
          </p:cNvPr>
          <p:cNvSpPr>
            <a:spLocks noChangeArrowheads="1"/>
          </p:cNvSpPr>
          <p:nvPr/>
        </p:nvSpPr>
        <p:spPr bwMode="auto">
          <a:xfrm>
            <a:off x="152779" y="5665747"/>
            <a:ext cx="87586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dirty="0">
                <a:latin typeface="Cambria" panose="02040503050406030204" pitchFamily="18" charset="0"/>
                <a:ea typeface="Cambria" panose="02040503050406030204" pitchFamily="18" charset="0"/>
              </a:rPr>
              <a:t>Nuestra hipótesis es más fuerte en el cuadro derecho, justamente porque la diferencia porcentual es mayor</a:t>
            </a:r>
            <a:endParaRPr lang="es-AR" altLang="es-AR" dirty="0">
              <a:latin typeface="Cambria" panose="02040503050406030204" pitchFamily="18" charset="0"/>
              <a:ea typeface="Cambria" panose="02040503050406030204" pitchFamily="18" charset="0"/>
            </a:endParaRPr>
          </a:p>
        </p:txBody>
      </p:sp>
      <p:graphicFrame>
        <p:nvGraphicFramePr>
          <p:cNvPr id="2" name="Group 46">
            <a:extLst>
              <a:ext uri="{FF2B5EF4-FFF2-40B4-BE49-F238E27FC236}">
                <a16:creationId xmlns:a16="http://schemas.microsoft.com/office/drawing/2014/main" id="{88D6D4F8-5318-82D7-1CA5-8E653BF00E02}"/>
              </a:ext>
            </a:extLst>
          </p:cNvPr>
          <p:cNvGraphicFramePr>
            <a:graphicFrameLocks noGrp="1"/>
          </p:cNvGraphicFramePr>
          <p:nvPr>
            <p:extLst>
              <p:ext uri="{D42A27DB-BD31-4B8C-83A1-F6EECF244321}">
                <p14:modId xmlns:p14="http://schemas.microsoft.com/office/powerpoint/2010/main" val="3549624573"/>
              </p:ext>
            </p:extLst>
          </p:nvPr>
        </p:nvGraphicFramePr>
        <p:xfrm>
          <a:off x="469678" y="2502305"/>
          <a:ext cx="4074259" cy="2586965"/>
        </p:xfrm>
        <a:graphic>
          <a:graphicData uri="http://schemas.openxmlformats.org/drawingml/2006/table">
            <a:tbl>
              <a:tblPr/>
              <a:tblGrid>
                <a:gridCol w="1944593">
                  <a:extLst>
                    <a:ext uri="{9D8B030D-6E8A-4147-A177-3AD203B41FA5}">
                      <a16:colId xmlns:a16="http://schemas.microsoft.com/office/drawing/2014/main" val="20000"/>
                    </a:ext>
                  </a:extLst>
                </a:gridCol>
                <a:gridCol w="1048740">
                  <a:extLst>
                    <a:ext uri="{9D8B030D-6E8A-4147-A177-3AD203B41FA5}">
                      <a16:colId xmlns:a16="http://schemas.microsoft.com/office/drawing/2014/main" val="20002"/>
                    </a:ext>
                  </a:extLst>
                </a:gridCol>
                <a:gridCol w="1080926">
                  <a:extLst>
                    <a:ext uri="{9D8B030D-6E8A-4147-A177-3AD203B41FA5}">
                      <a16:colId xmlns:a16="http://schemas.microsoft.com/office/drawing/2014/main" val="20003"/>
                    </a:ext>
                  </a:extLst>
                </a:gridCol>
              </a:tblGrid>
              <a:tr h="688153">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 según clase social.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ocupada. En porcentajes.</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sz="1600" dirty="0"/>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Clase social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extLst>
                  <a:ext uri="{0D108BD9-81ED-4DB2-BD59-A6C34878D82A}">
                    <a16:rowId xmlns:a16="http://schemas.microsoft.com/office/drawing/2014/main" val="10002"/>
                  </a:ext>
                </a:extLst>
              </a:tr>
              <a:tr h="211694">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Media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Trabajadora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 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77,4%</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51,0%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22,6%</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49,0%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2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2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8"/>
                  </a:ext>
                </a:extLst>
              </a:tr>
            </a:tbl>
          </a:graphicData>
        </a:graphic>
      </p:graphicFrame>
      <p:graphicFrame>
        <p:nvGraphicFramePr>
          <p:cNvPr id="3" name="Group 46">
            <a:extLst>
              <a:ext uri="{FF2B5EF4-FFF2-40B4-BE49-F238E27FC236}">
                <a16:creationId xmlns:a16="http://schemas.microsoft.com/office/drawing/2014/main" id="{4A15E445-B6FD-DF76-271C-5F0AF26F9DE6}"/>
              </a:ext>
            </a:extLst>
          </p:cNvPr>
          <p:cNvGraphicFramePr>
            <a:graphicFrameLocks noGrp="1"/>
          </p:cNvGraphicFramePr>
          <p:nvPr>
            <p:extLst>
              <p:ext uri="{D42A27DB-BD31-4B8C-83A1-F6EECF244321}">
                <p14:modId xmlns:p14="http://schemas.microsoft.com/office/powerpoint/2010/main" val="4033169463"/>
              </p:ext>
            </p:extLst>
          </p:nvPr>
        </p:nvGraphicFramePr>
        <p:xfrm>
          <a:off x="4681426" y="2499847"/>
          <a:ext cx="4074259" cy="2586965"/>
        </p:xfrm>
        <a:graphic>
          <a:graphicData uri="http://schemas.openxmlformats.org/drawingml/2006/table">
            <a:tbl>
              <a:tblPr/>
              <a:tblGrid>
                <a:gridCol w="1944593">
                  <a:extLst>
                    <a:ext uri="{9D8B030D-6E8A-4147-A177-3AD203B41FA5}">
                      <a16:colId xmlns:a16="http://schemas.microsoft.com/office/drawing/2014/main" val="20000"/>
                    </a:ext>
                  </a:extLst>
                </a:gridCol>
                <a:gridCol w="1048740">
                  <a:extLst>
                    <a:ext uri="{9D8B030D-6E8A-4147-A177-3AD203B41FA5}">
                      <a16:colId xmlns:a16="http://schemas.microsoft.com/office/drawing/2014/main" val="20002"/>
                    </a:ext>
                  </a:extLst>
                </a:gridCol>
                <a:gridCol w="1080926">
                  <a:extLst>
                    <a:ext uri="{9D8B030D-6E8A-4147-A177-3AD203B41FA5}">
                      <a16:colId xmlns:a16="http://schemas.microsoft.com/office/drawing/2014/main" val="20003"/>
                    </a:ext>
                  </a:extLst>
                </a:gridCol>
              </a:tblGrid>
              <a:tr h="688153">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defRPr/>
                      </a:pP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Cuadro 1.</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a:t>
                      </a:r>
                      <a:r>
                        <a:rPr kumimoji="0" lang="es-ES" sz="1400" b="1"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 según clase social. </a:t>
                      </a: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Población ocupada. En porcentajes. </a:t>
                      </a:r>
                      <a:r>
                        <a:rPr kumimoji="0" lang="es-ES" sz="1400" b="0" i="0" u="none" strike="noStrike" cap="none" normalizeH="0" baseline="0" dirty="0">
                          <a:ln>
                            <a:noFill/>
                          </a:ln>
                          <a:solidFill>
                            <a:schemeClr val="accent4"/>
                          </a:solidFill>
                          <a:effectLst/>
                          <a:latin typeface="Calibri" pitchFamily="34" charset="0"/>
                          <a:ea typeface="Times New Roman" pitchFamily="18" charset="0"/>
                          <a:cs typeface="Calibri" pitchFamily="34" charset="0"/>
                        </a:rPr>
                        <a:t>FICTICIA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0"/>
                  </a:ext>
                </a:extLst>
              </a:tr>
              <a:tr h="27815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dirty="0">
                        <a:ln>
                          <a:noFill/>
                        </a:ln>
                        <a:solidFill>
                          <a:schemeClr val="tx1"/>
                        </a:solidFill>
                        <a:effectLst/>
                        <a:latin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endParaRPr lang="es-AR" sz="1600" dirty="0"/>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2154">
                <a:tc rowSpan="2">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Condición de pobreza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Clase social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s-AR"/>
                    </a:p>
                  </a:txBody>
                  <a:tcPr/>
                </a:tc>
                <a:extLst>
                  <a:ext uri="{0D108BD9-81ED-4DB2-BD59-A6C34878D82A}">
                    <a16:rowId xmlns:a16="http://schemas.microsoft.com/office/drawing/2014/main" val="10002"/>
                  </a:ext>
                </a:extLst>
              </a:tr>
              <a:tr h="211694">
                <a:tc vMerge="1">
                  <a:txBody>
                    <a:bodyPr/>
                    <a:lstStyle/>
                    <a:p>
                      <a:endParaRPr lang="es-ES"/>
                    </a:p>
                  </a:txBody>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Media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Trabajadora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No 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90,4%</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51,0%</a:t>
                      </a:r>
                    </a:p>
                  </a:txBody>
                  <a:tcPr marL="9525" marR="9525" marT="9525" marB="0">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Pobre</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9,6%</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49,0%</a:t>
                      </a:r>
                    </a:p>
                  </a:txBody>
                  <a:tcPr marL="9525" marR="9525" marT="9525" marB="0">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379">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s-ES" sz="14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Total</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algn="ctr" fontAlgn="t"/>
                      <a:r>
                        <a:rPr lang="es-AR" sz="1400" b="0" i="0" u="none" strike="noStrike" dirty="0">
                          <a:solidFill>
                            <a:srgbClr val="000000"/>
                          </a:solidFill>
                          <a:latin typeface="Calibri" pitchFamily="34" charset="0"/>
                        </a:rPr>
                        <a:t>100,0</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280412">
                <a:tc gridSpan="3">
                  <a:txBody>
                    <a:body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s-ES" sz="1200" b="0" i="1" u="sng" strike="noStrike" cap="none" normalizeH="0" baseline="0" dirty="0">
                          <a:ln>
                            <a:noFill/>
                          </a:ln>
                          <a:solidFill>
                            <a:srgbClr val="000000"/>
                          </a:solidFill>
                          <a:effectLst/>
                          <a:latin typeface="Calibri" pitchFamily="34" charset="0"/>
                          <a:ea typeface="Times New Roman" pitchFamily="18" charset="0"/>
                          <a:cs typeface="Calibri" pitchFamily="34" charset="0"/>
                        </a:rPr>
                        <a:t>Fuente:</a:t>
                      </a:r>
                      <a:r>
                        <a:rPr kumimoji="0" lang="es-ES" sz="1200" b="0" i="0" u="none" strike="noStrike" cap="none" normalizeH="0" baseline="0" dirty="0">
                          <a:ln>
                            <a:noFill/>
                          </a:ln>
                          <a:solidFill>
                            <a:srgbClr val="000000"/>
                          </a:solidFill>
                          <a:effectLst/>
                          <a:latin typeface="Calibri" pitchFamily="34" charset="0"/>
                          <a:ea typeface="Times New Roman" pitchFamily="18" charset="0"/>
                          <a:cs typeface="Calibri" pitchFamily="34" charset="0"/>
                        </a:rPr>
                        <a:t> Elaboración propia.</a:t>
                      </a:r>
                      <a:endPar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4483" marR="64483" marT="0" marB="0"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c hMerge="1">
                  <a:txBody>
                    <a:bodyPr/>
                    <a:lstStyle/>
                    <a:p>
                      <a:endParaRPr lang="es-ES"/>
                    </a:p>
                  </a:txBody>
                  <a:tcPr/>
                </a:tc>
                <a:tc hMerge="1">
                  <a:txBody>
                    <a:bodyPr/>
                    <a:lstStyle/>
                    <a:p>
                      <a:endParaRPr lang="es-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00446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84768"/>
            <a:ext cx="864234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idea de</a:t>
            </a:r>
            <a:r>
              <a:rPr lang="es-AR" altLang="es-AR" i="1" dirty="0">
                <a:solidFill>
                  <a:srgbClr val="2A8A85"/>
                </a:solidFill>
                <a:latin typeface="Cambria" panose="02040503050406030204" pitchFamily="18" charset="0"/>
                <a:ea typeface="Cambria" panose="02040503050406030204" pitchFamily="18" charset="0"/>
              </a:rPr>
              <a:t> </a:t>
            </a:r>
            <a:r>
              <a:rPr lang="es-AR" altLang="es-AR" b="1" i="1" dirty="0">
                <a:solidFill>
                  <a:srgbClr val="2A8A85"/>
                </a:solidFill>
                <a:latin typeface="Cambria" panose="02040503050406030204" pitchFamily="18" charset="0"/>
                <a:ea typeface="Cambria" panose="02040503050406030204" pitchFamily="18" charset="0"/>
              </a:rPr>
              <a:t>dirección</a:t>
            </a:r>
            <a:r>
              <a:rPr lang="es-AR" altLang="es-AR" i="1" dirty="0">
                <a:solidFill>
                  <a:srgbClr val="2A8A85"/>
                </a:solidFill>
                <a:latin typeface="Cambria" panose="02040503050406030204" pitchFamily="18" charset="0"/>
                <a:ea typeface="Cambria" panose="02040503050406030204" pitchFamily="18" charset="0"/>
              </a:rPr>
              <a:t> </a:t>
            </a:r>
            <a:r>
              <a:rPr lang="es-AR" altLang="es-AR" dirty="0">
                <a:latin typeface="Cambria" panose="02040503050406030204" pitchFamily="18" charset="0"/>
                <a:ea typeface="Cambria" panose="02040503050406030204" pitchFamily="18" charset="0"/>
              </a:rPr>
              <a:t>de la asociación sólo tiene sentido cuando las variables son, al menos, de nivel de medición ordinal.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Cuando los valores altos (bajos) de una variable varían con los niveles altos (bajos) de la otra variable, hablamos de una </a:t>
            </a:r>
            <a:r>
              <a:rPr lang="es-AR" altLang="es-AR" b="1" i="1" dirty="0">
                <a:solidFill>
                  <a:srgbClr val="2A8A85"/>
                </a:solidFill>
                <a:latin typeface="Cambria" panose="02040503050406030204" pitchFamily="18" charset="0"/>
                <a:ea typeface="Cambria" panose="02040503050406030204" pitchFamily="18" charset="0"/>
              </a:rPr>
              <a:t>asociación positiva</a:t>
            </a:r>
            <a:r>
              <a:rPr lang="es-AR" altLang="es-AR" dirty="0">
                <a:latin typeface="Cambria" panose="02040503050406030204" pitchFamily="18" charset="0"/>
                <a:ea typeface="Cambria" panose="02040503050406030204" pitchFamily="18" charset="0"/>
              </a:rPr>
              <a:t>. Cuando los valores altos (bajos) se corresponden con los valores bajos (altos) de la otra variable, nos referimos a una </a:t>
            </a:r>
            <a:r>
              <a:rPr lang="es-AR" altLang="es-AR" b="1" i="1" dirty="0">
                <a:solidFill>
                  <a:srgbClr val="2A8A85"/>
                </a:solidFill>
                <a:latin typeface="Cambria" panose="02040503050406030204" pitchFamily="18" charset="0"/>
                <a:ea typeface="Cambria" panose="02040503050406030204" pitchFamily="18" charset="0"/>
              </a:rPr>
              <a:t>asociación negativa (o inversa)</a:t>
            </a:r>
            <a:r>
              <a:rPr lang="es-AR" altLang="es-AR" dirty="0">
                <a:latin typeface="Cambria" panose="02040503050406030204" pitchFamily="18" charset="0"/>
                <a:ea typeface="Cambria" panose="02040503050406030204" pitchFamily="18" charset="0"/>
              </a:rPr>
              <a:t>. </a:t>
            </a:r>
            <a:endParaRPr lang="es-AR" altLang="es-AR"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En el ejemplo a continuación, vemos una relación positiva entre origen socioeconómico y destino socioeconómico.</a:t>
            </a:r>
          </a:p>
        </p:txBody>
      </p:sp>
      <p:graphicFrame>
        <p:nvGraphicFramePr>
          <p:cNvPr id="12" name="11 Tabla"/>
          <p:cNvGraphicFramePr>
            <a:graphicFrameLocks noGrp="1"/>
          </p:cNvGraphicFramePr>
          <p:nvPr/>
        </p:nvGraphicFramePr>
        <p:xfrm>
          <a:off x="827088" y="4018834"/>
          <a:ext cx="5078250" cy="2012778"/>
        </p:xfrm>
        <a:graphic>
          <a:graphicData uri="http://schemas.openxmlformats.org/drawingml/2006/table">
            <a:tbl>
              <a:tblPr/>
              <a:tblGrid>
                <a:gridCol w="1244669">
                  <a:extLst>
                    <a:ext uri="{9D8B030D-6E8A-4147-A177-3AD203B41FA5}">
                      <a16:colId xmlns:a16="http://schemas.microsoft.com/office/drawing/2014/main" val="20000"/>
                    </a:ext>
                  </a:extLst>
                </a:gridCol>
                <a:gridCol w="647228">
                  <a:extLst>
                    <a:ext uri="{9D8B030D-6E8A-4147-A177-3AD203B41FA5}">
                      <a16:colId xmlns:a16="http://schemas.microsoft.com/office/drawing/2014/main" val="20001"/>
                    </a:ext>
                  </a:extLst>
                </a:gridCol>
                <a:gridCol w="697014">
                  <a:extLst>
                    <a:ext uri="{9D8B030D-6E8A-4147-A177-3AD203B41FA5}">
                      <a16:colId xmlns:a16="http://schemas.microsoft.com/office/drawing/2014/main" val="20002"/>
                    </a:ext>
                  </a:extLst>
                </a:gridCol>
                <a:gridCol w="796588">
                  <a:extLst>
                    <a:ext uri="{9D8B030D-6E8A-4147-A177-3AD203B41FA5}">
                      <a16:colId xmlns:a16="http://schemas.microsoft.com/office/drawing/2014/main" val="2372811546"/>
                    </a:ext>
                  </a:extLst>
                </a:gridCol>
                <a:gridCol w="846375">
                  <a:extLst>
                    <a:ext uri="{9D8B030D-6E8A-4147-A177-3AD203B41FA5}">
                      <a16:colId xmlns:a16="http://schemas.microsoft.com/office/drawing/2014/main" val="20003"/>
                    </a:ext>
                  </a:extLst>
                </a:gridCol>
                <a:gridCol w="846376">
                  <a:extLst>
                    <a:ext uri="{9D8B030D-6E8A-4147-A177-3AD203B41FA5}">
                      <a16:colId xmlns:a16="http://schemas.microsoft.com/office/drawing/2014/main" val="20004"/>
                    </a:ext>
                  </a:extLst>
                </a:gridCol>
              </a:tblGrid>
              <a:tr h="288032">
                <a:tc rowSpan="2" gridSpan="2">
                  <a:txBody>
                    <a:bodyPr/>
                    <a:lstStyle/>
                    <a:p>
                      <a:pPr algn="ctr" fontAlgn="ctr"/>
                      <a:r>
                        <a:rPr lang="es-AR" sz="1800" b="0" i="0" u="none" strike="noStrike" dirty="0">
                          <a:solidFill>
                            <a:srgbClr val="000000"/>
                          </a:solidFill>
                          <a:latin typeface="Calibri" pitchFamily="34" charset="0"/>
                        </a:rPr>
                        <a:t>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s-AR"/>
                    </a:p>
                  </a:txBody>
                  <a:tcPr/>
                </a:tc>
                <a:tc gridSpan="3">
                  <a:txBody>
                    <a:bodyPr/>
                    <a:lstStyle/>
                    <a:p>
                      <a:pPr algn="ctr" fontAlgn="b"/>
                      <a:r>
                        <a:rPr lang="es-AR" sz="1800" b="1" i="0" u="none" strike="noStrike" dirty="0">
                          <a:solidFill>
                            <a:srgbClr val="000000"/>
                          </a:solidFill>
                          <a:latin typeface="Calibri" pitchFamily="34" charset="0"/>
                        </a:rPr>
                        <a:t>Origen socioeconómico (padre)</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s-AR"/>
                    </a:p>
                  </a:txBody>
                  <a:tcPr/>
                </a:tc>
                <a:tc hMerge="1">
                  <a:txBody>
                    <a:bodyPr/>
                    <a:lstStyle/>
                    <a:p>
                      <a:endParaRPr lang="es-AR"/>
                    </a:p>
                  </a:txBody>
                  <a:tcPr/>
                </a:tc>
                <a:tc rowSpan="2">
                  <a:txBody>
                    <a:bodyPr/>
                    <a:lstStyle/>
                    <a:p>
                      <a:pPr algn="ctr" fontAlgn="b"/>
                      <a:r>
                        <a:rPr lang="es-AR" sz="1800" b="0" i="0" u="none" strike="noStrike">
                          <a:solidFill>
                            <a:srgbClr val="000000"/>
                          </a:solidFill>
                          <a:latin typeface="Calibri" pitchFamily="34" charset="0"/>
                        </a:rPr>
                        <a:t>Total</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9233">
                <a:tc gridSpan="2" vMerge="1">
                  <a:txBody>
                    <a:bodyPr/>
                    <a:lstStyle/>
                    <a:p>
                      <a:endParaRPr lang="es-AR"/>
                    </a:p>
                  </a:txBody>
                  <a:tcPr/>
                </a:tc>
                <a:tc hMerge="1" vMerge="1">
                  <a:txBody>
                    <a:bodyPr/>
                    <a:lstStyle/>
                    <a:p>
                      <a:endParaRPr lang="es-AR"/>
                    </a:p>
                  </a:txBody>
                  <a:tcPr/>
                </a:tc>
                <a:tc>
                  <a:txBody>
                    <a:bodyPr/>
                    <a:lstStyle/>
                    <a:p>
                      <a:pPr algn="ctr" fontAlgn="b"/>
                      <a:r>
                        <a:rPr lang="es-AR" sz="1800" b="0" i="0" u="none" strike="noStrike" dirty="0">
                          <a:solidFill>
                            <a:srgbClr val="000000"/>
                          </a:solidFill>
                          <a:latin typeface="Calibri" pitchFamily="34" charset="0"/>
                        </a:rPr>
                        <a:t>Alto</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s-AR" sz="1800" b="0" i="0" u="none" strike="noStrike" dirty="0">
                          <a:solidFill>
                            <a:srgbClr val="000000"/>
                          </a:solidFill>
                          <a:latin typeface="Calibri" pitchFamily="34" charset="0"/>
                        </a:rPr>
                        <a:t>Medio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s-AR" sz="1800" b="0" i="0" u="none" strike="noStrike" dirty="0">
                          <a:solidFill>
                            <a:srgbClr val="000000"/>
                          </a:solidFill>
                          <a:latin typeface="Calibri" pitchFamily="34" charset="0"/>
                        </a:rPr>
                        <a:t>Bajo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s-AR"/>
                    </a:p>
                  </a:txBody>
                  <a:tcPr/>
                </a:tc>
                <a:extLst>
                  <a:ext uri="{0D108BD9-81ED-4DB2-BD59-A6C34878D82A}">
                    <a16:rowId xmlns:a16="http://schemas.microsoft.com/office/drawing/2014/main" val="10001"/>
                  </a:ext>
                </a:extLst>
              </a:tr>
              <a:tr h="246545">
                <a:tc rowSpan="3">
                  <a:txBody>
                    <a:bodyPr/>
                    <a:lstStyle/>
                    <a:p>
                      <a:pPr algn="l" fontAlgn="t"/>
                      <a:r>
                        <a:rPr lang="es-AR" sz="1800" b="1" i="0" u="none" strike="noStrike" dirty="0">
                          <a:solidFill>
                            <a:srgbClr val="000000"/>
                          </a:solidFill>
                          <a:latin typeface="Calibri" pitchFamily="34" charset="0"/>
                        </a:rPr>
                        <a:t>Destino socioeconómico (hijo)</a:t>
                      </a:r>
                    </a:p>
                  </a:txBody>
                  <a:tcPr marL="9525" marR="9525" marT="9525"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t"/>
                      <a:r>
                        <a:rPr lang="es-AR" sz="1800" b="0" i="0" u="none" strike="noStrike" dirty="0">
                          <a:solidFill>
                            <a:srgbClr val="000000"/>
                          </a:solidFill>
                          <a:latin typeface="Calibri" pitchFamily="34" charset="0"/>
                        </a:rPr>
                        <a:t>Alto</a:t>
                      </a:r>
                    </a:p>
                  </a:txBody>
                  <a:tcPr marL="9525" marR="9525" marT="9525"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63,4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25,5</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46545">
                <a:tc vMerge="1">
                  <a:txBody>
                    <a:bodyPr/>
                    <a:lstStyle/>
                    <a:p>
                      <a:endParaRPr lang="es-AR"/>
                    </a:p>
                  </a:txBody>
                  <a:tcPr/>
                </a:tc>
                <a:tc>
                  <a:txBody>
                    <a:bodyPr/>
                    <a:lstStyle/>
                    <a:p>
                      <a:pPr algn="l" fontAlgn="t"/>
                      <a:r>
                        <a:rPr lang="es-AR" sz="1800" b="0" i="0" u="none" strike="noStrike" dirty="0">
                          <a:solidFill>
                            <a:srgbClr val="000000"/>
                          </a:solidFill>
                          <a:latin typeface="Calibri" pitchFamily="34" charset="0"/>
                        </a:rPr>
                        <a:t>Medio</a:t>
                      </a:r>
                    </a:p>
                  </a:txBody>
                  <a:tcPr marL="9525" marR="9525" marT="9525"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23,6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43,4</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46545">
                <a:tc vMerge="1">
                  <a:txBody>
                    <a:bodyPr/>
                    <a:lstStyle/>
                    <a:p>
                      <a:endParaRPr lang="es-AR"/>
                    </a:p>
                  </a:txBody>
                  <a:tcPr/>
                </a:tc>
                <a:tc>
                  <a:txBody>
                    <a:bodyPr/>
                    <a:lstStyle/>
                    <a:p>
                      <a:pPr algn="l" fontAlgn="t"/>
                      <a:r>
                        <a:rPr lang="es-AR" sz="1800" b="0" i="0" u="none" strike="noStrike" dirty="0">
                          <a:solidFill>
                            <a:srgbClr val="000000"/>
                          </a:solidFill>
                          <a:latin typeface="Calibri" pitchFamily="34" charset="0"/>
                        </a:rPr>
                        <a:t>Bajo</a:t>
                      </a:r>
                    </a:p>
                  </a:txBody>
                  <a:tcPr marL="9525" marR="9525" marT="9525"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13,1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24,4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61,6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31,1</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258872">
                <a:tc gridSpan="2">
                  <a:txBody>
                    <a:bodyPr/>
                    <a:lstStyle/>
                    <a:p>
                      <a:pPr algn="l" fontAlgn="t"/>
                      <a:r>
                        <a:rPr lang="es-AR" sz="1800" b="0" i="0" u="none" strike="noStrike" dirty="0">
                          <a:solidFill>
                            <a:srgbClr val="000000"/>
                          </a:solidFill>
                          <a:latin typeface="Calibri" pitchFamily="34" charset="0"/>
                        </a:rPr>
                        <a:t>Total</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hMerge="1">
                  <a:txBody>
                    <a:bodyPr/>
                    <a:lstStyle/>
                    <a:p>
                      <a:endParaRPr lang="es-AR"/>
                    </a:p>
                  </a:txBody>
                  <a:tcPr/>
                </a:tc>
                <a:tc>
                  <a:txBody>
                    <a:bodyPr/>
                    <a:lstStyle/>
                    <a:p>
                      <a:pPr algn="ctr" fontAlgn="b"/>
                      <a:r>
                        <a:rPr lang="es-AR" sz="1600" b="0" i="0" u="none" strike="noStrike">
                          <a:solidFill>
                            <a:srgbClr val="000000"/>
                          </a:solidFill>
                          <a:effectLst/>
                          <a:latin typeface="Calibri" panose="020F0502020204030204" pitchFamily="34" charset="0"/>
                          <a:cs typeface="Calibri" panose="020F0502020204030204" pitchFamily="34" charset="0"/>
                        </a:rPr>
                        <a:t>100,0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fontAlgn="b"/>
                      <a:r>
                        <a:rPr lang="es-AR" sz="1600" b="0" i="0" u="none" strike="noStrike" dirty="0">
                          <a:solidFill>
                            <a:srgbClr val="000000"/>
                          </a:solidFill>
                          <a:effectLst/>
                          <a:latin typeface="Calibri" panose="020F0502020204030204" pitchFamily="34" charset="0"/>
                          <a:cs typeface="Calibri" panose="020F0502020204030204" pitchFamily="34" charset="0"/>
                        </a:rPr>
                        <a:t>100,0</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Text Box 46"/>
          <p:cNvSpPr txBox="1">
            <a:spLocks noChangeArrowheads="1"/>
          </p:cNvSpPr>
          <p:nvPr/>
        </p:nvSpPr>
        <p:spPr bwMode="auto">
          <a:xfrm>
            <a:off x="2916238" y="6073487"/>
            <a:ext cx="1584325" cy="553998"/>
          </a:xfrm>
          <a:prstGeom prst="rect">
            <a:avLst/>
          </a:prstGeom>
          <a:solidFill>
            <a:srgbClr val="CAE8E7"/>
          </a:solidFill>
          <a:ln w="9525" algn="ctr">
            <a:solidFill>
              <a:srgbClr val="000000"/>
            </a:solidFill>
            <a:miter lim="800000"/>
            <a:headEnd/>
            <a:tailEnd/>
          </a:ln>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ASOCIACIÓN POSITIVA</a:t>
            </a: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Análisis de asociación: 3) dirección</a:t>
            </a:r>
          </a:p>
        </p:txBody>
      </p:sp>
      <p:sp>
        <p:nvSpPr>
          <p:cNvPr id="16" name="Rectangle 4"/>
          <p:cNvSpPr>
            <a:spLocks noChangeArrowheads="1"/>
          </p:cNvSpPr>
          <p:nvPr/>
        </p:nvSpPr>
        <p:spPr bwMode="auto">
          <a:xfrm>
            <a:off x="5907182" y="3913926"/>
            <a:ext cx="298599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En una asociación positiva, los porcentajes altos se ubican en la </a:t>
            </a:r>
            <a:r>
              <a:rPr lang="es-AR" altLang="es-AR" b="1" i="1" dirty="0">
                <a:solidFill>
                  <a:srgbClr val="2A8A85"/>
                </a:solidFill>
                <a:latin typeface="Cambria" panose="02040503050406030204" pitchFamily="18" charset="0"/>
                <a:ea typeface="Cambria" panose="02040503050406030204" pitchFamily="18" charset="0"/>
              </a:rPr>
              <a:t>diagonal principal</a:t>
            </a:r>
            <a:r>
              <a:rPr lang="es-AR" altLang="es-AR" dirty="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En una asociación negativa, los porcentajes altos se ubican en la </a:t>
            </a:r>
            <a:r>
              <a:rPr lang="es-AR" altLang="es-AR" b="1" i="1" dirty="0">
                <a:solidFill>
                  <a:srgbClr val="2A8A85"/>
                </a:solidFill>
                <a:latin typeface="Cambria" panose="02040503050406030204" pitchFamily="18" charset="0"/>
                <a:ea typeface="Cambria" panose="02040503050406030204" pitchFamily="18" charset="0"/>
              </a:rPr>
              <a:t>diagonal secundaria.</a:t>
            </a:r>
          </a:p>
        </p:txBody>
      </p:sp>
      <p:sp>
        <p:nvSpPr>
          <p:cNvPr id="2" name="Elipse 1"/>
          <p:cNvSpPr/>
          <p:nvPr/>
        </p:nvSpPr>
        <p:spPr>
          <a:xfrm rot="1225456">
            <a:off x="2531192" y="5128569"/>
            <a:ext cx="2696866" cy="437919"/>
          </a:xfrm>
          <a:prstGeom prst="ellipse">
            <a:avLst/>
          </a:prstGeom>
          <a:solidFill>
            <a:schemeClr val="bg1">
              <a:lumMod val="85000"/>
              <a:alpha val="27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31009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126485"/>
            <a:ext cx="864234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a:t>
            </a:r>
            <a:r>
              <a:rPr lang="es-AR" altLang="es-AR" b="1" i="1" dirty="0">
                <a:solidFill>
                  <a:srgbClr val="2A8A85"/>
                </a:solidFill>
                <a:latin typeface="Cambria" panose="02040503050406030204" pitchFamily="18" charset="0"/>
                <a:ea typeface="Cambria" panose="02040503050406030204" pitchFamily="18" charset="0"/>
              </a:rPr>
              <a:t>naturaleza</a:t>
            </a:r>
            <a:r>
              <a:rPr lang="es-AR" altLang="es-AR" dirty="0">
                <a:latin typeface="Cambria" panose="02040503050406030204" pitchFamily="18" charset="0"/>
                <a:ea typeface="Cambria" panose="02040503050406030204" pitchFamily="18" charset="0"/>
              </a:rPr>
              <a:t> de la asociación se refiere a la forma en que se distribuyen los datos en la tabla. Para evaluar la naturaleza tenemos que ver cómo cambian los porcentajes de una categoría a otra de la variable. </a:t>
            </a: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Veamos los siguientes esquemas, donde las celdas sombreadas representan </a:t>
            </a:r>
            <a:r>
              <a:rPr lang="es-AR" altLang="es-AR" i="1" dirty="0">
                <a:latin typeface="Cambria" panose="02040503050406030204" pitchFamily="18" charset="0"/>
                <a:ea typeface="Cambria" panose="02040503050406030204" pitchFamily="18" charset="0"/>
              </a:rPr>
              <a:t>aquellas en las que esperamos encontrar porcentajes elevados.</a:t>
            </a:r>
            <a:endParaRPr lang="es-AR" altLang="es-AR" b="1" dirty="0">
              <a:latin typeface="Cambria" panose="02040503050406030204" pitchFamily="18" charset="0"/>
              <a:ea typeface="Cambria" panose="02040503050406030204" pitchFamily="18" charset="0"/>
            </a:endParaRP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7"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Análisis de asociación: 4) naturaleza</a:t>
            </a:r>
          </a:p>
        </p:txBody>
      </p:sp>
      <p:graphicFrame>
        <p:nvGraphicFramePr>
          <p:cNvPr id="2" name="Tabla 1"/>
          <p:cNvGraphicFramePr>
            <a:graphicFrameLocks noGrp="1"/>
          </p:cNvGraphicFramePr>
          <p:nvPr/>
        </p:nvGraphicFramePr>
        <p:xfrm>
          <a:off x="701406" y="3077623"/>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2168769715"/>
                  </a:ext>
                </a:extLst>
              </a:tr>
            </a:tbl>
          </a:graphicData>
        </a:graphic>
      </p:graphicFrame>
      <p:graphicFrame>
        <p:nvGraphicFramePr>
          <p:cNvPr id="22" name="Tabla 21"/>
          <p:cNvGraphicFramePr>
            <a:graphicFrameLocks noGrp="1"/>
          </p:cNvGraphicFramePr>
          <p:nvPr/>
        </p:nvGraphicFramePr>
        <p:xfrm>
          <a:off x="3431024" y="3077623"/>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8769715"/>
                  </a:ext>
                </a:extLst>
              </a:tr>
            </a:tbl>
          </a:graphicData>
        </a:graphic>
      </p:graphicFrame>
      <p:graphicFrame>
        <p:nvGraphicFramePr>
          <p:cNvPr id="23" name="Tabla 22"/>
          <p:cNvGraphicFramePr>
            <a:graphicFrameLocks noGrp="1"/>
          </p:cNvGraphicFramePr>
          <p:nvPr/>
        </p:nvGraphicFramePr>
        <p:xfrm>
          <a:off x="6160642" y="3089835"/>
          <a:ext cx="2183904" cy="1112520"/>
        </p:xfrm>
        <a:graphic>
          <a:graphicData uri="http://schemas.openxmlformats.org/drawingml/2006/table">
            <a:tbl>
              <a:tblPr firstRow="1" bandRow="1">
                <a:tableStyleId>{5C22544A-7EE6-4342-B048-85BDC9FD1C3A}</a:tableStyleId>
              </a:tblPr>
              <a:tblGrid>
                <a:gridCol w="727968">
                  <a:extLst>
                    <a:ext uri="{9D8B030D-6E8A-4147-A177-3AD203B41FA5}">
                      <a16:colId xmlns:a16="http://schemas.microsoft.com/office/drawing/2014/main" val="3602027445"/>
                    </a:ext>
                  </a:extLst>
                </a:gridCol>
                <a:gridCol w="727968">
                  <a:extLst>
                    <a:ext uri="{9D8B030D-6E8A-4147-A177-3AD203B41FA5}">
                      <a16:colId xmlns:a16="http://schemas.microsoft.com/office/drawing/2014/main" val="835530059"/>
                    </a:ext>
                  </a:extLst>
                </a:gridCol>
                <a:gridCol w="727968">
                  <a:extLst>
                    <a:ext uri="{9D8B030D-6E8A-4147-A177-3AD203B41FA5}">
                      <a16:colId xmlns:a16="http://schemas.microsoft.com/office/drawing/2014/main" val="2351497110"/>
                    </a:ext>
                  </a:extLst>
                </a:gridCol>
              </a:tblGrid>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0599059"/>
                  </a:ext>
                </a:extLst>
              </a:tr>
              <a:tr h="370840">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588180"/>
                  </a:ext>
                </a:extLst>
              </a:tr>
              <a:tr h="370840">
                <a:tc>
                  <a:txBody>
                    <a:bodyPr/>
                    <a:lstStyle/>
                    <a:p>
                      <a:endParaRPr lang="es-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s-A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8A85"/>
                    </a:solidFill>
                  </a:tcPr>
                </a:tc>
                <a:extLst>
                  <a:ext uri="{0D108BD9-81ED-4DB2-BD59-A6C34878D82A}">
                    <a16:rowId xmlns:a16="http://schemas.microsoft.com/office/drawing/2014/main" val="2168769715"/>
                  </a:ext>
                </a:extLst>
              </a:tr>
            </a:tbl>
          </a:graphicData>
        </a:graphic>
      </p:graphicFrame>
      <p:sp>
        <p:nvSpPr>
          <p:cNvPr id="24" name="Rectangle 4">
            <a:extLst>
              <a:ext uri="{FF2B5EF4-FFF2-40B4-BE49-F238E27FC236}">
                <a16:creationId xmlns:a16="http://schemas.microsoft.com/office/drawing/2014/main" id="{8CA37703-E28F-4CBD-ACCB-8FA0ED32229C}"/>
              </a:ext>
            </a:extLst>
          </p:cNvPr>
          <p:cNvSpPr>
            <a:spLocks noChangeArrowheads="1"/>
          </p:cNvSpPr>
          <p:nvPr/>
        </p:nvSpPr>
        <p:spPr bwMode="auto">
          <a:xfrm>
            <a:off x="701406" y="4336661"/>
            <a:ext cx="2183904" cy="338554"/>
          </a:xfrm>
          <a:prstGeom prst="rect">
            <a:avLst/>
          </a:prstGeom>
          <a:solidFill>
            <a:srgbClr val="FFC00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a:latin typeface="Cambria" panose="02040503050406030204" pitchFamily="18" charset="0"/>
                <a:ea typeface="Cambria" panose="02040503050406030204" pitchFamily="18" charset="0"/>
              </a:rPr>
              <a:t>Relación lineal</a:t>
            </a:r>
            <a:endParaRPr lang="es-AR" altLang="es-AR" sz="1600" b="1" dirty="0">
              <a:latin typeface="Cambria" panose="02040503050406030204" pitchFamily="18" charset="0"/>
              <a:ea typeface="Cambria" panose="02040503050406030204" pitchFamily="18" charset="0"/>
            </a:endParaRPr>
          </a:p>
        </p:txBody>
      </p:sp>
      <p:sp>
        <p:nvSpPr>
          <p:cNvPr id="25" name="Rectangle 4">
            <a:extLst>
              <a:ext uri="{FF2B5EF4-FFF2-40B4-BE49-F238E27FC236}">
                <a16:creationId xmlns:a16="http://schemas.microsoft.com/office/drawing/2014/main" id="{8CA37703-E28F-4CBD-ACCB-8FA0ED32229C}"/>
              </a:ext>
            </a:extLst>
          </p:cNvPr>
          <p:cNvSpPr>
            <a:spLocks noChangeArrowheads="1"/>
          </p:cNvSpPr>
          <p:nvPr/>
        </p:nvSpPr>
        <p:spPr bwMode="auto">
          <a:xfrm>
            <a:off x="3431024" y="4345789"/>
            <a:ext cx="2183904" cy="338554"/>
          </a:xfrm>
          <a:prstGeom prst="rect">
            <a:avLst/>
          </a:prstGeom>
          <a:solidFill>
            <a:srgbClr val="FFC00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a:latin typeface="Cambria" panose="02040503050406030204" pitchFamily="18" charset="0"/>
                <a:ea typeface="Cambria" panose="02040503050406030204" pitchFamily="18" charset="0"/>
              </a:rPr>
              <a:t>Relación </a:t>
            </a:r>
            <a:r>
              <a:rPr lang="es-AR" sz="1600" b="1" dirty="0" err="1">
                <a:latin typeface="Cambria" panose="02040503050406030204" pitchFamily="18" charset="0"/>
                <a:ea typeface="Cambria" panose="02040503050406030204" pitchFamily="18" charset="0"/>
              </a:rPr>
              <a:t>curvilineal</a:t>
            </a:r>
            <a:endParaRPr lang="es-AR" altLang="es-AR" sz="1600" b="1" dirty="0">
              <a:latin typeface="Cambria" panose="02040503050406030204" pitchFamily="18" charset="0"/>
              <a:ea typeface="Cambria" panose="02040503050406030204" pitchFamily="18" charset="0"/>
            </a:endParaRPr>
          </a:p>
        </p:txBody>
      </p:sp>
      <p:sp>
        <p:nvSpPr>
          <p:cNvPr id="26" name="Rectangle 4">
            <a:extLst>
              <a:ext uri="{FF2B5EF4-FFF2-40B4-BE49-F238E27FC236}">
                <a16:creationId xmlns:a16="http://schemas.microsoft.com/office/drawing/2014/main" id="{8CA37703-E28F-4CBD-ACCB-8FA0ED32229C}"/>
              </a:ext>
            </a:extLst>
          </p:cNvPr>
          <p:cNvSpPr>
            <a:spLocks noChangeArrowheads="1"/>
          </p:cNvSpPr>
          <p:nvPr/>
        </p:nvSpPr>
        <p:spPr bwMode="auto">
          <a:xfrm>
            <a:off x="6160642" y="4345789"/>
            <a:ext cx="2183904" cy="338554"/>
          </a:xfrm>
          <a:prstGeom prst="rect">
            <a:avLst/>
          </a:prstGeom>
          <a:solidFill>
            <a:srgbClr val="FFC000"/>
          </a:solidFill>
          <a:ln>
            <a:noFill/>
          </a:ln>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ctr" eaLnBrk="1" hangingPunct="1"/>
            <a:r>
              <a:rPr lang="es-AR" sz="1600" b="1" dirty="0">
                <a:latin typeface="Cambria" panose="02040503050406030204" pitchFamily="18" charset="0"/>
                <a:ea typeface="Cambria" panose="02040503050406030204" pitchFamily="18" charset="0"/>
              </a:rPr>
              <a:t>Relación </a:t>
            </a:r>
            <a:r>
              <a:rPr lang="es-AR" sz="1600" b="1" dirty="0" err="1">
                <a:latin typeface="Cambria" panose="02040503050406030204" pitchFamily="18" charset="0"/>
                <a:ea typeface="Cambria" panose="02040503050406030204" pitchFamily="18" charset="0"/>
              </a:rPr>
              <a:t>rinconal</a:t>
            </a:r>
            <a:endParaRPr lang="es-AR" altLang="es-AR" sz="1600" b="1" dirty="0">
              <a:latin typeface="Cambria" panose="02040503050406030204" pitchFamily="18" charset="0"/>
              <a:ea typeface="Cambria" panose="02040503050406030204" pitchFamily="18" charset="0"/>
            </a:endParaRPr>
          </a:p>
        </p:txBody>
      </p:sp>
      <p:sp>
        <p:nvSpPr>
          <p:cNvPr id="28" name="Rectangle 4"/>
          <p:cNvSpPr>
            <a:spLocks noChangeArrowheads="1"/>
          </p:cNvSpPr>
          <p:nvPr/>
        </p:nvSpPr>
        <p:spPr bwMode="auto">
          <a:xfrm>
            <a:off x="409327" y="4839989"/>
            <a:ext cx="848384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“A mayor nivel socioeconómico, mayor nivel de bienestar subjetivo” (lineal)</a:t>
            </a:r>
            <a:endParaRPr lang="es-AR" altLang="es-AR" b="1"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“Las personas que realizan trabajos de calificación media tienen más chances de ser reemplazados por robots que los de calificación baja o alta” (</a:t>
            </a:r>
            <a:r>
              <a:rPr lang="es-AR" altLang="es-AR" dirty="0" err="1">
                <a:latin typeface="Cambria" panose="02040503050406030204" pitchFamily="18" charset="0"/>
                <a:ea typeface="Cambria" panose="02040503050406030204" pitchFamily="18" charset="0"/>
              </a:rPr>
              <a:t>curvilineal</a:t>
            </a:r>
            <a:r>
              <a:rPr lang="es-AR" altLang="es-AR" dirty="0">
                <a:latin typeface="Cambria" panose="02040503050406030204" pitchFamily="18" charset="0"/>
                <a:ea typeface="Cambria" panose="02040503050406030204" pitchFamily="18" charset="0"/>
              </a:rPr>
              <a:t>)</a:t>
            </a: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“Las personas de bajo nivel socioeconómico tienen propensión a experimentar alto déficit en la realización de ejercicio físico” (</a:t>
            </a:r>
            <a:r>
              <a:rPr lang="es-AR" altLang="es-AR" dirty="0" err="1">
                <a:latin typeface="Cambria" panose="02040503050406030204" pitchFamily="18" charset="0"/>
                <a:ea typeface="Cambria" panose="02040503050406030204" pitchFamily="18" charset="0"/>
              </a:rPr>
              <a:t>rinconal</a:t>
            </a:r>
            <a:r>
              <a:rPr lang="es-AR" altLang="es-AR"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025424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468313" y="1052736"/>
            <a:ext cx="82073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solidFill>
                  <a:schemeClr val="bg1"/>
                </a:solidFill>
                <a:latin typeface="Calibri" panose="020F0502020204030204" pitchFamily="34" charset="0"/>
              </a:rPr>
              <a:t>Distintos coeficientes estandarizados según el tamaño de la tabla y el nivel de medición de las variables</a:t>
            </a:r>
          </a:p>
        </p:txBody>
      </p:sp>
      <p:sp>
        <p:nvSpPr>
          <p:cNvPr id="6"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7"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9"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10 CuadroTexto"/>
              <p:cNvSpPr txBox="1"/>
              <p:nvPr/>
            </p:nvSpPr>
            <p:spPr>
              <a:xfrm>
                <a:off x="152779" y="298748"/>
                <a:ext cx="8740395" cy="470000"/>
              </a:xfrm>
              <a:prstGeom prst="rect">
                <a:avLst/>
              </a:prstGeom>
              <a:noFill/>
            </p:spPr>
            <p:txBody>
              <a:bodyPr wrap="square" rtlCol="0">
                <a:spAutoFit/>
              </a:bodyPr>
              <a:lstStyle/>
              <a:p>
                <a:r>
                  <a:rPr lang="es-AR" sz="2400" dirty="0">
                    <a:latin typeface="Cambria" panose="02040503050406030204" pitchFamily="18" charset="0"/>
                  </a:rPr>
                  <a:t>Medidas de asociación global: coeficientes basados en </a:t>
                </a:r>
                <a14:m>
                  <m:oMath xmlns:m="http://schemas.openxmlformats.org/officeDocument/2006/math">
                    <m:sSup>
                      <m:sSupPr>
                        <m:ctrlPr>
                          <a:rPr lang="es-AR" altLang="es-AR" sz="2400"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𝜒</m:t>
                        </m:r>
                      </m:e>
                      <m:sup>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2</m:t>
                        </m:r>
                      </m:sup>
                    </m:sSup>
                  </m:oMath>
                </a14:m>
                <a:r>
                  <a:rPr lang="es-AR" sz="2400" dirty="0">
                    <a:solidFill>
                      <a:schemeClr val="tx1"/>
                    </a:solidFill>
                    <a:latin typeface="Cambria" panose="02040503050406030204" pitchFamily="18" charset="0"/>
                  </a:rPr>
                  <a:t> </a:t>
                </a:r>
              </a:p>
            </p:txBody>
          </p:sp>
        </mc:Choice>
        <mc:Fallback xmlns="">
          <p:sp>
            <p:nvSpPr>
              <p:cNvPr id="10" name="10 CuadroTexto"/>
              <p:cNvSpPr txBox="1">
                <a:spLocks noRot="1" noChangeAspect="1" noMove="1" noResize="1" noEditPoints="1" noAdjustHandles="1" noChangeArrowheads="1" noChangeShapeType="1" noTextEdit="1"/>
              </p:cNvSpPr>
              <p:nvPr/>
            </p:nvSpPr>
            <p:spPr>
              <a:xfrm>
                <a:off x="152779" y="298748"/>
                <a:ext cx="8740395" cy="470000"/>
              </a:xfrm>
              <a:prstGeom prst="rect">
                <a:avLst/>
              </a:prstGeom>
              <a:blipFill>
                <a:blip r:embed="rId3"/>
                <a:stretch>
                  <a:fillRect l="-1046" t="-10390" b="-2727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Rectangle 4"/>
              <p:cNvSpPr>
                <a:spLocks noChangeArrowheads="1"/>
              </p:cNvSpPr>
              <p:nvPr/>
            </p:nvSpPr>
            <p:spPr bwMode="auto">
              <a:xfrm>
                <a:off x="152779" y="1093010"/>
                <a:ext cx="8740396" cy="5589415"/>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El coeficiente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dirty="0">
                    <a:latin typeface="Cambria" panose="02040503050406030204" pitchFamily="18" charset="0"/>
                    <a:ea typeface="Cambria" panose="02040503050406030204" pitchFamily="18" charset="0"/>
                  </a:rPr>
                  <a:t> no está “estandarizado”: como pudimos comprobar, cuando el </a:t>
                </a:r>
                <a:r>
                  <a:rPr lang="es-AR" altLang="es-AR" i="1" dirty="0">
                    <a:latin typeface="Cambria" panose="02040503050406030204" pitchFamily="18" charset="0"/>
                    <a:ea typeface="Cambria" panose="02040503050406030204" pitchFamily="18" charset="0"/>
                  </a:rPr>
                  <a:t>n</a:t>
                </a:r>
                <a:r>
                  <a:rPr lang="es-AR" altLang="es-AR" dirty="0">
                    <a:latin typeface="Cambria" panose="02040503050406030204" pitchFamily="18" charset="0"/>
                    <a:ea typeface="Cambria" panose="02040503050406030204" pitchFamily="18" charset="0"/>
                  </a:rPr>
                  <a:t> de la tabla es más grande, el valor de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dirty="0">
                    <a:latin typeface="Cambria" panose="02040503050406030204" pitchFamily="18" charset="0"/>
                    <a:ea typeface="Cambria" panose="02040503050406030204" pitchFamily="18" charset="0"/>
                  </a:rPr>
                  <a:t> cambia sustantivamente. Esto hace que no podamos comparar la asociación entre dos tablas de contingencia de distinto </a:t>
                </a:r>
                <a:r>
                  <a:rPr lang="es-AR" altLang="es-AR" i="1" dirty="0">
                    <a:latin typeface="Cambria" panose="02040503050406030204" pitchFamily="18" charset="0"/>
                    <a:ea typeface="Cambria" panose="02040503050406030204" pitchFamily="18" charset="0"/>
                  </a:rPr>
                  <a:t>n. </a:t>
                </a:r>
                <a:r>
                  <a:rPr lang="es-AR" altLang="es-AR" dirty="0">
                    <a:latin typeface="Cambria" panose="02040503050406030204" pitchFamily="18" charset="0"/>
                    <a:ea typeface="Cambria" panose="02040503050406030204" pitchFamily="18" charset="0"/>
                  </a:rPr>
                  <a:t>Distintos coeficientes basados en </a:t>
                </a:r>
                <a14:m>
                  <m:oMath xmlns:m="http://schemas.openxmlformats.org/officeDocument/2006/math">
                    <m:sSup>
                      <m:sSupPr>
                        <m:ctrlPr>
                          <a:rPr lang="es-AR" altLang="es-AR" b="1"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b="1" i="1">
                            <a:solidFill>
                              <a:schemeClr val="tx1"/>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i="1" dirty="0">
                    <a:latin typeface="Cambria" panose="02040503050406030204" pitchFamily="18" charset="0"/>
                    <a:ea typeface="Cambria" panose="02040503050406030204" pitchFamily="18" charset="0"/>
                  </a:rPr>
                  <a:t> </a:t>
                </a:r>
                <a:r>
                  <a:rPr lang="es-AR" altLang="es-AR" dirty="0">
                    <a:latin typeface="Cambria" panose="02040503050406030204" pitchFamily="18" charset="0"/>
                    <a:ea typeface="Cambria" panose="02040503050406030204" pitchFamily="18" charset="0"/>
                  </a:rPr>
                  <a:t>tratan de subsanar este punto. </a:t>
                </a:r>
                <a:endParaRPr lang="es-AR" altLang="es-AR"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Para tablas de contingencia de 2x2 (dos variables con dos categorías cada una), el coeficiente de asociación más habitual es </a:t>
                </a:r>
                <a:r>
                  <a:rPr lang="es-AR" altLang="es-AR" b="1" i="1" dirty="0">
                    <a:solidFill>
                      <a:srgbClr val="2A8A85"/>
                    </a:solidFill>
                    <a:latin typeface="Cambria" panose="02040503050406030204" pitchFamily="18" charset="0"/>
                    <a:ea typeface="Cambria" panose="02040503050406030204" pitchFamily="18" charset="0"/>
                  </a:rPr>
                  <a:t>Phi</a:t>
                </a:r>
                <a:r>
                  <a:rPr lang="es-AR" altLang="es-AR" dirty="0">
                    <a:latin typeface="Cambria" panose="02040503050406030204" pitchFamily="18" charset="0"/>
                    <a:ea typeface="Cambria" panose="02040503050406030204" pitchFamily="18" charset="0"/>
                  </a:rPr>
                  <a:t>: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Cuando la tabla tiene más de 2x2, utilizaremos el coeficiente </a:t>
                </a:r>
                <a:r>
                  <a:rPr lang="es-AR" altLang="es-AR" b="1" i="1" dirty="0">
                    <a:solidFill>
                      <a:srgbClr val="2A8A85"/>
                    </a:solidFill>
                    <a:latin typeface="Cambria" panose="02040503050406030204" pitchFamily="18" charset="0"/>
                    <a:ea typeface="Cambria" panose="02040503050406030204" pitchFamily="18" charset="0"/>
                  </a:rPr>
                  <a:t>V de </a:t>
                </a:r>
                <a:r>
                  <a:rPr lang="es-AR" altLang="es-AR" b="1" i="1" dirty="0" err="1">
                    <a:solidFill>
                      <a:srgbClr val="2A8A85"/>
                    </a:solidFill>
                    <a:latin typeface="Cambria" panose="02040503050406030204" pitchFamily="18" charset="0"/>
                    <a:ea typeface="Cambria" panose="02040503050406030204" pitchFamily="18" charset="0"/>
                  </a:rPr>
                  <a:t>Cramer</a:t>
                </a:r>
                <a:r>
                  <a:rPr lang="es-AR" altLang="es-AR" dirty="0">
                    <a:latin typeface="Cambria" panose="02040503050406030204" pitchFamily="18" charset="0"/>
                    <a:ea typeface="Cambria" panose="02040503050406030204" pitchFamily="18" charset="0"/>
                  </a:rPr>
                  <a:t>. Este coeficiente casi nunca alcanza un valor de 1 y, de hecho, valores de 0,3 pueden considerarse muy aceptables (López-Roldán y </a:t>
                </a:r>
                <a:r>
                  <a:rPr lang="es-AR" altLang="es-AR" dirty="0" err="1">
                    <a:latin typeface="Cambria" panose="02040503050406030204" pitchFamily="18" charset="0"/>
                    <a:ea typeface="Cambria" panose="02040503050406030204" pitchFamily="18" charset="0"/>
                  </a:rPr>
                  <a:t>Fachelli</a:t>
                </a:r>
                <a:r>
                  <a:rPr lang="es-AR" altLang="es-AR" dirty="0">
                    <a:latin typeface="Cambria" panose="02040503050406030204" pitchFamily="18" charset="0"/>
                    <a:ea typeface="Cambria" panose="02040503050406030204" pitchFamily="18" charset="0"/>
                  </a:rPr>
                  <a:t>, 2016).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lvl="1" indent="0" algn="just" eaLnBrk="1" hangingPunct="1"/>
                <a:endParaRPr lang="es-AR" altLang="es-AR" dirty="0">
                  <a:latin typeface="Cambria" panose="02040503050406030204" pitchFamily="18" charset="0"/>
                  <a:ea typeface="Cambria" panose="02040503050406030204" pitchFamily="18" charset="0"/>
                </a:endParaRPr>
              </a:p>
              <a:p>
                <a:pPr lvl="1" indent="0" algn="just" eaLnBrk="1" hangingPunct="1"/>
                <a:endParaRPr lang="es-AR" altLang="es-AR" dirty="0">
                  <a:latin typeface="Cambria" panose="02040503050406030204" pitchFamily="18" charset="0"/>
                  <a:ea typeface="Cambria" panose="02040503050406030204" pitchFamily="18" charset="0"/>
                </a:endParaRPr>
              </a:p>
              <a:p>
                <a:pPr lvl="1" indent="0" algn="ctr" eaLnBrk="1" hangingPunct="1"/>
                <a:r>
                  <a:rPr lang="es-AR" altLang="es-AR" sz="1400" dirty="0">
                    <a:latin typeface="Cambria" panose="02040503050406030204" pitchFamily="18" charset="0"/>
                    <a:ea typeface="Cambria" panose="02040503050406030204" pitchFamily="18" charset="0"/>
                  </a:rPr>
                  <a:t>Donde </a:t>
                </a:r>
                <a:r>
                  <a:rPr lang="es-AR" altLang="es-AR" sz="1400" i="1" dirty="0">
                    <a:latin typeface="Cambria" panose="02040503050406030204" pitchFamily="18" charset="0"/>
                    <a:ea typeface="Cambria" panose="02040503050406030204" pitchFamily="18" charset="0"/>
                  </a:rPr>
                  <a:t>n</a:t>
                </a:r>
                <a:r>
                  <a:rPr lang="es-AR" altLang="es-AR" sz="1400" dirty="0">
                    <a:latin typeface="Cambria" panose="02040503050406030204" pitchFamily="18" charset="0"/>
                    <a:ea typeface="Cambria" panose="02040503050406030204" pitchFamily="18" charset="0"/>
                  </a:rPr>
                  <a:t> es el tamaño de la muestra y </a:t>
                </a:r>
                <a:r>
                  <a:rPr lang="es-AR" altLang="es-AR" sz="1400" i="1" dirty="0">
                    <a:latin typeface="Cambria" panose="02040503050406030204" pitchFamily="18" charset="0"/>
                    <a:ea typeface="Cambria" panose="02040503050406030204" pitchFamily="18" charset="0"/>
                  </a:rPr>
                  <a:t>k</a:t>
                </a:r>
                <a:r>
                  <a:rPr lang="es-AR" altLang="es-AR" sz="1400" dirty="0">
                    <a:latin typeface="Cambria" panose="02040503050406030204" pitchFamily="18" charset="0"/>
                    <a:ea typeface="Cambria" panose="02040503050406030204" pitchFamily="18" charset="0"/>
                  </a:rPr>
                  <a:t> es el valor más pequeño entre filas o columnas en la tabla de contingencia. Cuando la tabla es de 2x2, </a:t>
                </a:r>
                <a:r>
                  <a:rPr lang="es-AR" altLang="es-AR" sz="1400" b="1" dirty="0">
                    <a:latin typeface="Cambria" panose="02040503050406030204" pitchFamily="18" charset="0"/>
                    <a:ea typeface="Cambria" panose="02040503050406030204" pitchFamily="18" charset="0"/>
                  </a:rPr>
                  <a:t>V=</a:t>
                </a:r>
                <a:r>
                  <a:rPr lang="es-AR" sz="1400" b="1" dirty="0">
                    <a:ea typeface="Cambria Math" panose="02040503050406030204" pitchFamily="18" charset="0"/>
                  </a:rPr>
                  <a:t> </a:t>
                </a:r>
                <a14:m>
                  <m:oMath xmlns:m="http://schemas.openxmlformats.org/officeDocument/2006/math">
                    <m:r>
                      <a:rPr lang="es-AR" sz="1400" b="1" i="1" smtClean="0">
                        <a:latin typeface="Cambria Math" panose="02040503050406030204" pitchFamily="18" charset="0"/>
                        <a:ea typeface="Cambria Math" panose="02040503050406030204" pitchFamily="18" charset="0"/>
                      </a:rPr>
                      <m:t>𝝓</m:t>
                    </m:r>
                  </m:oMath>
                </a14:m>
                <a:r>
                  <a:rPr lang="es-AR" altLang="es-AR" sz="1400" b="1" dirty="0">
                    <a:latin typeface="Cambria" panose="02040503050406030204" pitchFamily="18" charset="0"/>
                    <a:ea typeface="Cambria" panose="02040503050406030204" pitchFamily="18" charset="0"/>
                  </a:rPr>
                  <a:t>,</a:t>
                </a:r>
                <a:r>
                  <a:rPr lang="es-AR" altLang="es-AR" sz="1400" dirty="0">
                    <a:latin typeface="Cambria" panose="02040503050406030204" pitchFamily="18" charset="0"/>
                    <a:ea typeface="Cambria" panose="02040503050406030204" pitchFamily="18" charset="0"/>
                  </a:rPr>
                  <a:t> dado que </a:t>
                </a:r>
                <a:r>
                  <a:rPr lang="es-AR" altLang="es-AR" sz="1400" i="1" dirty="0">
                    <a:latin typeface="Cambria" panose="02040503050406030204" pitchFamily="18" charset="0"/>
                    <a:ea typeface="Cambria" panose="02040503050406030204" pitchFamily="18" charset="0"/>
                  </a:rPr>
                  <a:t>k=2</a:t>
                </a:r>
                <a:endParaRPr lang="es-AR" altLang="es-AR" sz="1400"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p:txBody>
          </p:sp>
        </mc:Choice>
        <mc:Fallback xmlns="">
          <p:sp>
            <p:nvSpPr>
              <p:cNvPr id="12" name="Rectangle 4"/>
              <p:cNvSpPr>
                <a:spLocks noRot="1" noChangeAspect="1" noMove="1" noResize="1" noEditPoints="1" noAdjustHandles="1" noChangeArrowheads="1" noChangeShapeType="1" noTextEdit="1"/>
              </p:cNvSpPr>
              <p:nvPr/>
            </p:nvSpPr>
            <p:spPr bwMode="auto">
              <a:xfrm>
                <a:off x="152779" y="1093010"/>
                <a:ext cx="8740396" cy="5589415"/>
              </a:xfrm>
              <a:prstGeom prst="rect">
                <a:avLst/>
              </a:prstGeom>
              <a:blipFill>
                <a:blip r:embed="rId4"/>
                <a:stretch>
                  <a:fillRect l="-418" t="-436" r="-6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5" name="CuadroTexto 4"/>
              <p:cNvSpPr txBox="1"/>
              <p:nvPr/>
            </p:nvSpPr>
            <p:spPr>
              <a:xfrm>
                <a:off x="3480493" y="4795179"/>
                <a:ext cx="1332352" cy="636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rPr>
                        <m:t>𝑉</m:t>
                      </m:r>
                      <m:r>
                        <a:rPr lang="es-AR" sz="1400" b="0" i="1" smtClean="0">
                          <a:latin typeface="Cambria Math" panose="02040503050406030204" pitchFamily="18" charset="0"/>
                        </a:rPr>
                        <m:t>=</m:t>
                      </m:r>
                      <m:rad>
                        <m:radPr>
                          <m:degHide m:val="on"/>
                          <m:ctrlPr>
                            <a:rPr lang="es-AR" sz="1400" b="0" i="1" smtClean="0">
                              <a:latin typeface="Cambria Math" panose="02040503050406030204" pitchFamily="18" charset="0"/>
                            </a:rPr>
                          </m:ctrlPr>
                        </m:radPr>
                        <m:deg/>
                        <m:e>
                          <m:f>
                            <m:fPr>
                              <m:ctrlPr>
                                <a:rPr lang="es-AR" sz="1400" i="1">
                                  <a:latin typeface="Cambria Math" panose="02040503050406030204" pitchFamily="18" charset="0"/>
                                </a:rPr>
                              </m:ctrlPr>
                            </m:fPr>
                            <m:num>
                              <m:sSup>
                                <m:sSupPr>
                                  <m:ctrlPr>
                                    <a:rPr lang="es-AR" altLang="es-AR" sz="1400" i="1">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num>
                            <m:den>
                              <m:r>
                                <a:rPr lang="es-AR" sz="1400" i="1">
                                  <a:latin typeface="Cambria Math" panose="02040503050406030204" pitchFamily="18" charset="0"/>
                                </a:rPr>
                                <m:t>𝑛</m:t>
                              </m:r>
                              <m:r>
                                <a:rPr lang="es-AR" sz="1400" i="1">
                                  <a:latin typeface="Cambria Math" panose="02040503050406030204" pitchFamily="18" charset="0"/>
                                  <a:ea typeface="Cambria Math" panose="02040503050406030204" pitchFamily="18" charset="0"/>
                                </a:rPr>
                                <m:t>∙(</m:t>
                              </m:r>
                              <m:r>
                                <a:rPr lang="es-AR" sz="1400" i="1">
                                  <a:latin typeface="Cambria Math" panose="02040503050406030204" pitchFamily="18" charset="0"/>
                                  <a:ea typeface="Cambria Math" panose="02040503050406030204" pitchFamily="18" charset="0"/>
                                </a:rPr>
                                <m:t>𝑘</m:t>
                              </m:r>
                              <m:r>
                                <a:rPr lang="es-AR" sz="1400" i="1">
                                  <a:latin typeface="Cambria Math" panose="02040503050406030204" pitchFamily="18" charset="0"/>
                                  <a:ea typeface="Cambria Math" panose="02040503050406030204" pitchFamily="18" charset="0"/>
                                </a:rPr>
                                <m:t>−1)</m:t>
                              </m:r>
                            </m:den>
                          </m:f>
                        </m:e>
                      </m:rad>
                    </m:oMath>
                  </m:oMathPara>
                </a14:m>
                <a:endParaRPr lang="es-AR" sz="1400" i="1" dirty="0">
                  <a:latin typeface="Cambria Math" panose="02040503050406030204" pitchFamily="18" charset="0"/>
                  <a:ea typeface="Cambria Math" panose="02040503050406030204" pitchFamily="18" charset="0"/>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3480493" y="4795179"/>
                <a:ext cx="1332352" cy="63652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p:cNvSpPr txBox="1"/>
              <p:nvPr/>
            </p:nvSpPr>
            <p:spPr>
              <a:xfrm>
                <a:off x="3491880" y="3164280"/>
                <a:ext cx="1224136" cy="636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ea typeface="Cambria Math" panose="02040503050406030204" pitchFamily="18" charset="0"/>
                        </a:rPr>
                        <m:t>𝜙</m:t>
                      </m:r>
                      <m:r>
                        <a:rPr lang="es-AR" sz="1400" b="0" i="1" smtClean="0">
                          <a:latin typeface="Cambria Math" panose="02040503050406030204" pitchFamily="18" charset="0"/>
                        </a:rPr>
                        <m:t>=</m:t>
                      </m:r>
                      <m:rad>
                        <m:radPr>
                          <m:degHide m:val="on"/>
                          <m:ctrlPr>
                            <a:rPr lang="es-AR" sz="1400" b="0" i="1" smtClean="0">
                              <a:latin typeface="Cambria Math" panose="02040503050406030204" pitchFamily="18" charset="0"/>
                            </a:rPr>
                          </m:ctrlPr>
                        </m:radPr>
                        <m:deg/>
                        <m:e>
                          <m:f>
                            <m:fPr>
                              <m:ctrlPr>
                                <a:rPr lang="es-AR" sz="1400" i="1">
                                  <a:latin typeface="Cambria Math" panose="02040503050406030204" pitchFamily="18" charset="0"/>
                                </a:rPr>
                              </m:ctrlPr>
                            </m:fPr>
                            <m:num>
                              <m:sSup>
                                <m:sSupPr>
                                  <m:ctrlPr>
                                    <a:rPr lang="es-AR" altLang="es-AR" sz="1400" i="1">
                                      <a:latin typeface="Cambria Math" panose="02040503050406030204" pitchFamily="18" charset="0"/>
                                      <a:ea typeface="Cambria" panose="02040503050406030204" pitchFamily="18" charset="0"/>
                                    </a:rPr>
                                  </m:ctrlPr>
                                </m:sSupPr>
                                <m:e>
                                  <m:r>
                                    <a:rPr lang="es-AR" altLang="es-AR" sz="1400" i="1">
                                      <a:latin typeface="Cambria Math" panose="02040503050406030204" pitchFamily="18" charset="0"/>
                                      <a:ea typeface="Cambria Math" panose="02040503050406030204" pitchFamily="18" charset="0"/>
                                    </a:rPr>
                                    <m:t>𝜒</m:t>
                                  </m:r>
                                </m:e>
                                <m:sup>
                                  <m:r>
                                    <a:rPr lang="es-AR" altLang="es-AR" sz="1400" i="1">
                                      <a:latin typeface="Cambria Math" panose="02040503050406030204" pitchFamily="18" charset="0"/>
                                      <a:ea typeface="Cambria" panose="02040503050406030204" pitchFamily="18" charset="0"/>
                                    </a:rPr>
                                    <m:t>2</m:t>
                                  </m:r>
                                </m:sup>
                              </m:sSup>
                            </m:num>
                            <m:den>
                              <m:r>
                                <a:rPr lang="es-AR" sz="1400" i="1">
                                  <a:latin typeface="Cambria Math" panose="02040503050406030204" pitchFamily="18" charset="0"/>
                                </a:rPr>
                                <m:t>𝑛</m:t>
                              </m:r>
                            </m:den>
                          </m:f>
                        </m:e>
                      </m:rad>
                    </m:oMath>
                  </m:oMathPara>
                </a14:m>
                <a:endParaRPr lang="es-AR" sz="1400" dirty="0"/>
              </a:p>
            </p:txBody>
          </p:sp>
        </mc:Choice>
        <mc:Fallback xmlns="">
          <p:sp>
            <p:nvSpPr>
              <p:cNvPr id="11" name="CuadroTexto 10"/>
              <p:cNvSpPr txBox="1">
                <a:spLocks noRot="1" noChangeAspect="1" noMove="1" noResize="1" noEditPoints="1" noAdjustHandles="1" noChangeArrowheads="1" noChangeShapeType="1" noTextEdit="1"/>
              </p:cNvSpPr>
              <p:nvPr/>
            </p:nvSpPr>
            <p:spPr>
              <a:xfrm>
                <a:off x="3491880" y="3164280"/>
                <a:ext cx="1224136" cy="636521"/>
              </a:xfrm>
              <a:prstGeom prst="rect">
                <a:avLst/>
              </a:prstGeom>
              <a:blipFill>
                <a:blip r:embed="rId6"/>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502966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52DAE6B-9333-5B94-0765-FC59543AB049}"/>
              </a:ext>
            </a:extLst>
          </p:cNvPr>
          <p:cNvPicPr>
            <a:picLocks noChangeAspect="1"/>
          </p:cNvPicPr>
          <p:nvPr/>
        </p:nvPicPr>
        <p:blipFill>
          <a:blip r:embed="rId3"/>
          <a:stretch>
            <a:fillRect/>
          </a:stretch>
        </p:blipFill>
        <p:spPr>
          <a:xfrm>
            <a:off x="610298" y="3263765"/>
            <a:ext cx="4475498" cy="2292328"/>
          </a:xfrm>
          <a:prstGeom prst="rect">
            <a:avLst/>
          </a:prstGeom>
        </p:spPr>
      </p:pic>
      <p:pic>
        <p:nvPicPr>
          <p:cNvPr id="2" name="Imagen 1">
            <a:extLst>
              <a:ext uri="{FF2B5EF4-FFF2-40B4-BE49-F238E27FC236}">
                <a16:creationId xmlns:a16="http://schemas.microsoft.com/office/drawing/2014/main" id="{14B51D10-B2A8-DC2C-648C-BC7BA351A424}"/>
              </a:ext>
            </a:extLst>
          </p:cNvPr>
          <p:cNvPicPr>
            <a:picLocks noChangeAspect="1"/>
          </p:cNvPicPr>
          <p:nvPr/>
        </p:nvPicPr>
        <p:blipFill>
          <a:blip r:embed="rId4"/>
          <a:stretch>
            <a:fillRect/>
          </a:stretch>
        </p:blipFill>
        <p:spPr>
          <a:xfrm>
            <a:off x="264696" y="968615"/>
            <a:ext cx="4884091" cy="1908457"/>
          </a:xfrm>
          <a:prstGeom prst="rect">
            <a:avLst/>
          </a:prstGeom>
        </p:spPr>
      </p:pic>
      <p:sp>
        <p:nvSpPr>
          <p:cNvPr id="27" name="Text Box 46"/>
          <p:cNvSpPr txBox="1">
            <a:spLocks noChangeArrowheads="1"/>
          </p:cNvSpPr>
          <p:nvPr/>
        </p:nvSpPr>
        <p:spPr bwMode="auto">
          <a:xfrm>
            <a:off x="5957104" y="1522905"/>
            <a:ext cx="2702080" cy="55399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Aplicando la fórmula tenemos que:</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cxnSp>
        <p:nvCxnSpPr>
          <p:cNvPr id="13" name="AutoShape 50"/>
          <p:cNvCxnSpPr>
            <a:cxnSpLocks noChangeShapeType="1"/>
            <a:stCxn id="19" idx="1"/>
            <a:endCxn id="18" idx="0"/>
          </p:cNvCxnSpPr>
          <p:nvPr/>
        </p:nvCxnSpPr>
        <p:spPr bwMode="auto">
          <a:xfrm rot="10800000" flipV="1">
            <a:off x="2155826" y="2463596"/>
            <a:ext cx="4073509" cy="1171791"/>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8" name="Text Box 46"/>
          <p:cNvSpPr txBox="1">
            <a:spLocks noChangeArrowheads="1"/>
          </p:cNvSpPr>
          <p:nvPr/>
        </p:nvSpPr>
        <p:spPr bwMode="auto">
          <a:xfrm>
            <a:off x="1835696" y="3635388"/>
            <a:ext cx="640258" cy="454432"/>
          </a:xfrm>
          <a:prstGeom prst="ellipse">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1" name="18 Rectángulo redondeado">
            <a:extLst>
              <a:ext uri="{FF2B5EF4-FFF2-40B4-BE49-F238E27FC236}">
                <a16:creationId xmlns:a16="http://schemas.microsoft.com/office/drawing/2014/main" id="{073B240E-394B-4D1D-8B81-D879A254904D}"/>
              </a:ext>
            </a:extLst>
          </p:cNvPr>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5" name="19 Conector recto">
            <a:extLst>
              <a:ext uri="{FF2B5EF4-FFF2-40B4-BE49-F238E27FC236}">
                <a16:creationId xmlns:a16="http://schemas.microsoft.com/office/drawing/2014/main" id="{05077631-EB02-4122-8E3F-9EBDF2852A25}"/>
              </a:ext>
            </a:extLst>
          </p:cNvPr>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10 CuadroTexto">
                <a:extLst>
                  <a:ext uri="{FF2B5EF4-FFF2-40B4-BE49-F238E27FC236}">
                    <a16:creationId xmlns:a16="http://schemas.microsoft.com/office/drawing/2014/main" id="{C56718D9-9B04-43B5-AF56-734B55FF96B9}"/>
                  </a:ext>
                </a:extLst>
              </p:cNvPr>
              <p:cNvSpPr txBox="1"/>
              <p:nvPr/>
            </p:nvSpPr>
            <p:spPr>
              <a:xfrm>
                <a:off x="152779" y="298748"/>
                <a:ext cx="8740395" cy="470000"/>
              </a:xfrm>
              <a:prstGeom prst="rect">
                <a:avLst/>
              </a:prstGeom>
              <a:noFill/>
            </p:spPr>
            <p:txBody>
              <a:bodyPr wrap="square" rtlCol="0">
                <a:spAutoFit/>
              </a:bodyPr>
              <a:lstStyle/>
              <a:p>
                <a:r>
                  <a:rPr lang="es-AR" sz="2400" dirty="0">
                    <a:latin typeface="Cambria" panose="02040503050406030204" pitchFamily="18" charset="0"/>
                  </a:rPr>
                  <a:t>Medidas de asociación global: coeficientes basados en </a:t>
                </a:r>
                <a14:m>
                  <m:oMath xmlns:m="http://schemas.openxmlformats.org/officeDocument/2006/math">
                    <m:sSup>
                      <m:sSupPr>
                        <m:ctrlPr>
                          <a:rPr lang="es-AR" altLang="es-AR" sz="2400" i="1" smtClean="0">
                            <a:solidFill>
                              <a:schemeClr val="tx1"/>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𝜒</m:t>
                        </m:r>
                      </m:e>
                      <m:sup>
                        <m:r>
                          <a:rPr lang="es-AR" altLang="es-AR" sz="2400" b="0" i="1">
                            <a:solidFill>
                              <a:schemeClr val="tx1"/>
                            </a:solidFill>
                            <a:latin typeface="Cambria Math" panose="02040503050406030204" pitchFamily="18" charset="0"/>
                            <a:ea typeface="Cambria" panose="02040503050406030204" pitchFamily="18" charset="0"/>
                            <a:cs typeface="Calibri" panose="020F0502020204030204" pitchFamily="34" charset="0"/>
                          </a:rPr>
                          <m:t>2</m:t>
                        </m:r>
                      </m:sup>
                    </m:sSup>
                  </m:oMath>
                </a14:m>
                <a:r>
                  <a:rPr lang="es-AR" sz="2400" dirty="0">
                    <a:solidFill>
                      <a:schemeClr val="tx1"/>
                    </a:solidFill>
                    <a:latin typeface="Cambria" panose="02040503050406030204" pitchFamily="18" charset="0"/>
                  </a:rPr>
                  <a:t> </a:t>
                </a:r>
              </a:p>
            </p:txBody>
          </p:sp>
        </mc:Choice>
        <mc:Fallback xmlns="">
          <p:sp>
            <p:nvSpPr>
              <p:cNvPr id="16" name="10 CuadroTexto">
                <a:extLst>
                  <a:ext uri="{FF2B5EF4-FFF2-40B4-BE49-F238E27FC236}">
                    <a16:creationId xmlns:a16="http://schemas.microsoft.com/office/drawing/2014/main" id="{C56718D9-9B04-43B5-AF56-734B55FF96B9}"/>
                  </a:ext>
                </a:extLst>
              </p:cNvPr>
              <p:cNvSpPr txBox="1">
                <a:spLocks noRot="1" noChangeAspect="1" noMove="1" noResize="1" noEditPoints="1" noAdjustHandles="1" noChangeArrowheads="1" noChangeShapeType="1" noTextEdit="1"/>
              </p:cNvSpPr>
              <p:nvPr/>
            </p:nvSpPr>
            <p:spPr>
              <a:xfrm>
                <a:off x="152779" y="298748"/>
                <a:ext cx="8740395" cy="470000"/>
              </a:xfrm>
              <a:prstGeom prst="rect">
                <a:avLst/>
              </a:prstGeom>
              <a:blipFill>
                <a:blip r:embed="rId5"/>
                <a:stretch>
                  <a:fillRect l="-1046" t="-10390" b="-2727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14BC5C2B-9251-474A-8E1B-FA8F91D4CBB6}"/>
                  </a:ext>
                </a:extLst>
              </p:cNvPr>
              <p:cNvSpPr txBox="1"/>
              <p:nvPr/>
            </p:nvSpPr>
            <p:spPr>
              <a:xfrm>
                <a:off x="6229334" y="2145336"/>
                <a:ext cx="2387192" cy="6365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AR" sz="1400" b="0" i="1" smtClean="0">
                          <a:latin typeface="Cambria Math" panose="02040503050406030204" pitchFamily="18" charset="0"/>
                        </a:rPr>
                        <m:t>𝑉</m:t>
                      </m:r>
                      <m:r>
                        <a:rPr lang="es-AR" sz="1400" b="0" i="1" smtClean="0">
                          <a:latin typeface="Cambria Math" panose="02040503050406030204" pitchFamily="18" charset="0"/>
                        </a:rPr>
                        <m:t>=</m:t>
                      </m:r>
                      <m:rad>
                        <m:radPr>
                          <m:degHide m:val="on"/>
                          <m:ctrlPr>
                            <a:rPr lang="es-AR" sz="1400" b="0" i="1" smtClean="0">
                              <a:latin typeface="Cambria Math" panose="02040503050406030204" pitchFamily="18" charset="0"/>
                            </a:rPr>
                          </m:ctrlPr>
                        </m:radPr>
                        <m:deg/>
                        <m:e>
                          <m:f>
                            <m:fPr>
                              <m:ctrlPr>
                                <a:rPr lang="es-AR" sz="1400" i="1">
                                  <a:latin typeface="Cambria Math" panose="02040503050406030204" pitchFamily="18" charset="0"/>
                                </a:rPr>
                              </m:ctrlPr>
                            </m:fPr>
                            <m:num>
                              <m:r>
                                <a:rPr lang="es-AR" altLang="es-AR" sz="1400" b="0" i="1" smtClean="0">
                                  <a:latin typeface="Cambria Math" panose="02040503050406030204" pitchFamily="18" charset="0"/>
                                  <a:ea typeface="Cambria" panose="02040503050406030204" pitchFamily="18" charset="0"/>
                                </a:rPr>
                                <m:t>1640,1</m:t>
                              </m:r>
                            </m:num>
                            <m:den>
                              <m:r>
                                <a:rPr lang="es-AR" sz="1400" b="0" i="1" smtClean="0">
                                  <a:latin typeface="Cambria Math" panose="02040503050406030204" pitchFamily="18" charset="0"/>
                                </a:rPr>
                                <m:t>21403</m:t>
                              </m:r>
                              <m:r>
                                <a:rPr lang="es-AR" sz="1400" i="1">
                                  <a:latin typeface="Cambria Math" panose="02040503050406030204" pitchFamily="18" charset="0"/>
                                  <a:ea typeface="Cambria Math" panose="02040503050406030204" pitchFamily="18" charset="0"/>
                                </a:rPr>
                                <m:t>∙(</m:t>
                              </m:r>
                              <m:r>
                                <a:rPr lang="es-AR" sz="1400" b="0" i="1" smtClean="0">
                                  <a:latin typeface="Cambria Math" panose="02040503050406030204" pitchFamily="18" charset="0"/>
                                  <a:ea typeface="Cambria Math" panose="02040503050406030204" pitchFamily="18" charset="0"/>
                                </a:rPr>
                                <m:t>2</m:t>
                              </m:r>
                              <m:r>
                                <a:rPr lang="es-AR" sz="1400" i="1">
                                  <a:latin typeface="Cambria Math" panose="02040503050406030204" pitchFamily="18" charset="0"/>
                                  <a:ea typeface="Cambria Math" panose="02040503050406030204" pitchFamily="18" charset="0"/>
                                </a:rPr>
                                <m:t>−1)</m:t>
                              </m:r>
                            </m:den>
                          </m:f>
                        </m:e>
                      </m:rad>
                      <m:r>
                        <a:rPr lang="es-AR" sz="1400" b="0" i="1" smtClean="0">
                          <a:latin typeface="Cambria Math" panose="02040503050406030204" pitchFamily="18" charset="0"/>
                          <a:ea typeface="Cambria Math" panose="02040503050406030204" pitchFamily="18" charset="0"/>
                        </a:rPr>
                        <m:t>=0,277</m:t>
                      </m:r>
                    </m:oMath>
                  </m:oMathPara>
                </a14:m>
                <a:endParaRPr lang="es-AR" sz="1400" i="1" dirty="0">
                  <a:latin typeface="Cambria Math" panose="02040503050406030204" pitchFamily="18" charset="0"/>
                  <a:ea typeface="Cambria Math" panose="02040503050406030204" pitchFamily="18" charset="0"/>
                </a:endParaRPr>
              </a:p>
            </p:txBody>
          </p:sp>
        </mc:Choice>
        <mc:Fallback xmlns="">
          <p:sp>
            <p:nvSpPr>
              <p:cNvPr id="19" name="CuadroTexto 18">
                <a:extLst>
                  <a:ext uri="{FF2B5EF4-FFF2-40B4-BE49-F238E27FC236}">
                    <a16:creationId xmlns:a16="http://schemas.microsoft.com/office/drawing/2014/main" id="{14BC5C2B-9251-474A-8E1B-FA8F91D4CBB6}"/>
                  </a:ext>
                </a:extLst>
              </p:cNvPr>
              <p:cNvSpPr txBox="1">
                <a:spLocks noRot="1" noChangeAspect="1" noMove="1" noResize="1" noEditPoints="1" noAdjustHandles="1" noChangeArrowheads="1" noChangeShapeType="1" noTextEdit="1"/>
              </p:cNvSpPr>
              <p:nvPr/>
            </p:nvSpPr>
            <p:spPr>
              <a:xfrm>
                <a:off x="6229334" y="2145336"/>
                <a:ext cx="2387192" cy="636521"/>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Box 46">
                <a:extLst>
                  <a:ext uri="{FF2B5EF4-FFF2-40B4-BE49-F238E27FC236}">
                    <a16:creationId xmlns:a16="http://schemas.microsoft.com/office/drawing/2014/main" id="{9CAA8BD8-915E-4402-A27A-38250C40AFD6}"/>
                  </a:ext>
                </a:extLst>
              </p:cNvPr>
              <p:cNvSpPr txBox="1">
                <a:spLocks noChangeArrowheads="1"/>
              </p:cNvSpPr>
              <p:nvPr/>
            </p:nvSpPr>
            <p:spPr bwMode="auto">
              <a:xfrm>
                <a:off x="5957104" y="2949720"/>
                <a:ext cx="2702080" cy="4616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200" b="1" dirty="0">
                    <a:latin typeface="Cambria" panose="02040503050406030204" pitchFamily="18" charset="0"/>
                    <a:ea typeface="Cambria" panose="02040503050406030204" pitchFamily="18" charset="0"/>
                  </a:rPr>
                  <a:t>Notar que </a:t>
                </a:r>
                <a14:m>
                  <m:oMath xmlns:m="http://schemas.openxmlformats.org/officeDocument/2006/math">
                    <m:r>
                      <a:rPr lang="es-AR" sz="1200" b="0" i="1" smtClean="0">
                        <a:latin typeface="Cambria Math" panose="02040503050406030204" pitchFamily="18" charset="0"/>
                        <a:ea typeface="Cambria Math" panose="02040503050406030204" pitchFamily="18" charset="0"/>
                      </a:rPr>
                      <m:t>𝜙</m:t>
                    </m:r>
                  </m:oMath>
                </a14:m>
                <a:r>
                  <a:rPr lang="es-ES" altLang="es-AR" sz="1200" b="1" dirty="0">
                    <a:latin typeface="Cambria" panose="02040503050406030204" pitchFamily="18" charset="0"/>
                    <a:ea typeface="Cambria" panose="02040503050406030204" pitchFamily="18" charset="0"/>
                  </a:rPr>
                  <a:t> arrojaría el mismo valor</a:t>
                </a:r>
              </a:p>
            </p:txBody>
          </p:sp>
        </mc:Choice>
        <mc:Fallback xmlns="">
          <p:sp>
            <p:nvSpPr>
              <p:cNvPr id="20" name="Text Box 46">
                <a:extLst>
                  <a:ext uri="{FF2B5EF4-FFF2-40B4-BE49-F238E27FC236}">
                    <a16:creationId xmlns:a16="http://schemas.microsoft.com/office/drawing/2014/main" id="{9CAA8BD8-915E-4402-A27A-38250C40AFD6}"/>
                  </a:ext>
                </a:extLst>
              </p:cNvPr>
              <p:cNvSpPr txBox="1">
                <a:spLocks noRot="1" noChangeAspect="1" noMove="1" noResize="1" noEditPoints="1" noAdjustHandles="1" noChangeArrowheads="1" noChangeShapeType="1" noTextEdit="1"/>
              </p:cNvSpPr>
              <p:nvPr/>
            </p:nvSpPr>
            <p:spPr bwMode="auto">
              <a:xfrm>
                <a:off x="5957104" y="2949720"/>
                <a:ext cx="2702080" cy="461665"/>
              </a:xfrm>
              <a:prstGeom prst="rect">
                <a:avLst/>
              </a:prstGeom>
              <a:blipFill>
                <a:blip r:embed="rId7"/>
                <a:stretch>
                  <a:fillRect b="-7692"/>
                </a:stretch>
              </a:blipFill>
              <a:ln w="9525" algn="ctr">
                <a:solidFill>
                  <a:schemeClr val="accent1"/>
                </a:solidFill>
                <a:miter lim="800000"/>
                <a:headEnd/>
                <a:tailEnd/>
              </a:ln>
            </p:spPr>
            <p:txBody>
              <a:bodyPr/>
              <a:lstStyle/>
              <a:p>
                <a:r>
                  <a:rPr lang="es-AR">
                    <a:noFill/>
                  </a:rPr>
                  <a:t> </a:t>
                </a:r>
              </a:p>
            </p:txBody>
          </p:sp>
        </mc:Fallback>
      </mc:AlternateContent>
      <p:pic>
        <p:nvPicPr>
          <p:cNvPr id="7" name="Imagen 6">
            <a:extLst>
              <a:ext uri="{FF2B5EF4-FFF2-40B4-BE49-F238E27FC236}">
                <a16:creationId xmlns:a16="http://schemas.microsoft.com/office/drawing/2014/main" id="{7CDF3D54-C456-AA20-5702-DDE48036E734}"/>
              </a:ext>
            </a:extLst>
          </p:cNvPr>
          <p:cNvPicPr>
            <a:picLocks noChangeAspect="1"/>
          </p:cNvPicPr>
          <p:nvPr/>
        </p:nvPicPr>
        <p:blipFill>
          <a:blip r:embed="rId8"/>
          <a:stretch>
            <a:fillRect/>
          </a:stretch>
        </p:blipFill>
        <p:spPr>
          <a:xfrm>
            <a:off x="5130800" y="4418248"/>
            <a:ext cx="3762375" cy="1257300"/>
          </a:xfrm>
          <a:prstGeom prst="rect">
            <a:avLst/>
          </a:prstGeom>
        </p:spPr>
      </p:pic>
    </p:spTree>
    <p:extLst>
      <p:ext uri="{BB962C8B-B14F-4D97-AF65-F5344CB8AC3E}">
        <p14:creationId xmlns:p14="http://schemas.microsoft.com/office/powerpoint/2010/main" val="1904233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5"/>
          <p:cNvSpPr txBox="1">
            <a:spLocks noChangeArrowheads="1"/>
          </p:cNvSpPr>
          <p:nvPr/>
        </p:nvSpPr>
        <p:spPr bwMode="auto">
          <a:xfrm>
            <a:off x="506412" y="3105834"/>
            <a:ext cx="8131175" cy="646331"/>
          </a:xfrm>
          <a:prstGeom prst="rect">
            <a:avLst/>
          </a:prstGeom>
          <a:solidFill>
            <a:schemeClr val="bg1"/>
          </a:solidFill>
          <a:ln>
            <a:noFill/>
          </a:ln>
          <a:effec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100000"/>
              </a:spcBef>
              <a:buClrTx/>
              <a:buSzTx/>
              <a:buFontTx/>
              <a:buNone/>
            </a:pPr>
            <a:r>
              <a:rPr lang="es-AR" altLang="es-AR" sz="3600" b="1" dirty="0"/>
              <a:t>PARTE 2</a:t>
            </a:r>
            <a:endParaRPr lang="es-AR" altLang="es-AR" sz="2800" b="1" dirty="0"/>
          </a:p>
        </p:txBody>
      </p:sp>
    </p:spTree>
    <p:extLst>
      <p:ext uri="{BB962C8B-B14F-4D97-AF65-F5344CB8AC3E}">
        <p14:creationId xmlns:p14="http://schemas.microsoft.com/office/powerpoint/2010/main" val="561604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468313" y="1126485"/>
            <a:ext cx="8424861"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Utilizamos análisis multivariado para estudiar los efectos de múltiples variables explicativas en una variable dependiente. </a:t>
            </a:r>
          </a:p>
          <a:p>
            <a:pPr marL="285750" indent="-285750" algn="just" eaLnBrk="1" hangingPunct="1">
              <a:buFont typeface="Wingdings" panose="05000000000000000000" pitchFamily="2" charset="2"/>
              <a:buChar char="ü"/>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Para demostrar una relación causal, se debe mostrar asociación entre variables, asegurando un orden temporal adecuado y eliminando explicaciones alternativas para la asociación.</a:t>
            </a:r>
          </a:p>
          <a:p>
            <a:pPr marL="285750" indent="-285750" algn="just" eaLnBrk="1" hangingPunct="1">
              <a:buFont typeface="Wingdings" panose="05000000000000000000" pitchFamily="2" charset="2"/>
              <a:buChar char="ü"/>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Wingdings" panose="05000000000000000000" pitchFamily="2" charset="2"/>
              <a:buChar char="ü"/>
            </a:pPr>
            <a:r>
              <a:rPr lang="es-AR" altLang="es-AR" dirty="0">
                <a:latin typeface="Cambria" panose="02040503050406030204" pitchFamily="18" charset="0"/>
                <a:ea typeface="Cambria" panose="02040503050406030204" pitchFamily="18" charset="0"/>
              </a:rPr>
              <a:t>Para considerar explicaciones alternativas en estudios observacionales, se introducen variables de control. Realizamos un control estadístico analizando asociaciones mientras mantenemos los valores de las variables de control esencialmente constantes. Esto nos ayuda a detectar:</a:t>
            </a:r>
          </a:p>
          <a:p>
            <a:pPr marL="285750" indent="-285750" algn="just" eaLnBrk="1" hangingPunct="1">
              <a:buFont typeface="Wingdings" panose="05000000000000000000" pitchFamily="2" charset="2"/>
              <a:buChar char="ü"/>
            </a:pPr>
            <a:endParaRPr lang="es-AR" altLang="es-AR" dirty="0">
              <a:latin typeface="Cambria" panose="02040503050406030204" pitchFamily="18" charset="0"/>
              <a:ea typeface="Cambria" panose="02040503050406030204" pitchFamily="18" charset="0"/>
            </a:endParaRPr>
          </a:p>
          <a:p>
            <a:pPr marL="1028700" lvl="1" algn="just" eaLnBrk="1" hangingPunct="1">
              <a:buFont typeface="Wingdings" panose="05000000000000000000" pitchFamily="2" charset="2"/>
              <a:buChar char="§"/>
            </a:pPr>
            <a:r>
              <a:rPr lang="es-AR" altLang="es-AR" b="1" dirty="0">
                <a:latin typeface="Cambria" panose="02040503050406030204" pitchFamily="18" charset="0"/>
                <a:ea typeface="Cambria" panose="02040503050406030204" pitchFamily="18" charset="0"/>
              </a:rPr>
              <a:t>Relaciones espurias</a:t>
            </a:r>
            <a:r>
              <a:rPr lang="es-AR" altLang="es-AR" dirty="0">
                <a:latin typeface="Cambria" panose="02040503050406030204" pitchFamily="18" charset="0"/>
                <a:ea typeface="Cambria" panose="02040503050406030204" pitchFamily="18" charset="0"/>
              </a:rPr>
              <a:t>, en los que T afecta conjuntamente tanto a Y como a X.</a:t>
            </a:r>
          </a:p>
          <a:p>
            <a:pPr marL="1028700" lvl="1" algn="just" eaLnBrk="1" hangingPunct="1">
              <a:buFont typeface="Wingdings" panose="05000000000000000000" pitchFamily="2" charset="2"/>
              <a:buChar char="§"/>
            </a:pPr>
            <a:r>
              <a:rPr lang="es-AR" altLang="es-AR" b="1" dirty="0">
                <a:latin typeface="Cambria" panose="02040503050406030204" pitchFamily="18" charset="0"/>
                <a:ea typeface="Cambria" panose="02040503050406030204" pitchFamily="18" charset="0"/>
              </a:rPr>
              <a:t>Relaciones en cadena</a:t>
            </a:r>
            <a:r>
              <a:rPr lang="es-AR" altLang="es-AR" dirty="0">
                <a:latin typeface="Cambria" panose="02040503050406030204" pitchFamily="18" charset="0"/>
                <a:ea typeface="Cambria" panose="02040503050406030204" pitchFamily="18" charset="0"/>
              </a:rPr>
              <a:t>, en las que T es una variable interviniente (también llamada variable mediadora), de modo que X afecta indirectamente a Y a través de sus efectos en T.</a:t>
            </a:r>
          </a:p>
          <a:p>
            <a:pPr marL="1028700" lvl="1" algn="just" eaLnBrk="1" hangingPunct="1">
              <a:buFont typeface="Wingdings" panose="05000000000000000000" pitchFamily="2" charset="2"/>
              <a:buChar char="§"/>
            </a:pPr>
            <a:r>
              <a:rPr lang="es-AR" altLang="es-AR" b="1" dirty="0">
                <a:latin typeface="Cambria" panose="02040503050406030204" pitchFamily="18" charset="0"/>
                <a:ea typeface="Cambria" panose="02040503050406030204" pitchFamily="18" charset="0"/>
              </a:rPr>
              <a:t>Interacción estadística</a:t>
            </a:r>
            <a:r>
              <a:rPr lang="es-AR" altLang="es-AR" dirty="0">
                <a:latin typeface="Cambria" panose="02040503050406030204" pitchFamily="18" charset="0"/>
                <a:ea typeface="Cambria" panose="02040503050406030204" pitchFamily="18" charset="0"/>
              </a:rPr>
              <a:t>, en la que el efecto de X en Y varía según el valor de T.</a:t>
            </a:r>
          </a:p>
        </p:txBody>
      </p:sp>
      <p:sp>
        <p:nvSpPr>
          <p:cNvPr id="9"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1"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2"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10 CuadroTexto"/>
          <p:cNvSpPr txBox="1"/>
          <p:nvPr/>
        </p:nvSpPr>
        <p:spPr>
          <a:xfrm>
            <a:off x="152779" y="298748"/>
            <a:ext cx="8740395" cy="461665"/>
          </a:xfrm>
          <a:prstGeom prst="rect">
            <a:avLst/>
          </a:prstGeom>
          <a:noFill/>
        </p:spPr>
        <p:txBody>
          <a:bodyPr wrap="square" rtlCol="0">
            <a:spAutoFit/>
          </a:bodyPr>
          <a:lstStyle/>
          <a:p>
            <a:r>
              <a:rPr lang="es-AR" sz="2400" dirty="0">
                <a:latin typeface="Cambria" panose="02040503050406030204" pitchFamily="18" charset="0"/>
              </a:rPr>
              <a:t>El análisis multivariado de tablas de contingencia</a:t>
            </a:r>
          </a:p>
        </p:txBody>
      </p:sp>
    </p:spTree>
    <p:extLst>
      <p:ext uri="{BB962C8B-B14F-4D97-AF65-F5344CB8AC3E}">
        <p14:creationId xmlns:p14="http://schemas.microsoft.com/office/powerpoint/2010/main" val="1235525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618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Hipótesis original: </a:t>
            </a:r>
          </a:p>
          <a:p>
            <a:pPr algn="just" eaLnBrk="1" hangingPunct="1"/>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El estudio de la actividad física desde una perspectiva sociológica indica que existen importantes desigualdades sociales en cuanto a la realización de actividad física (Ballesteros et al., 2017). A diferencia de las perspectivas provenientes, por ejemplo, de las ciencias del deporte, una mirada sociológica argumenta que las posibilidades de realizar actividad física están socialmente estructuradas.</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En este sentido, la </a:t>
            </a:r>
            <a:r>
              <a:rPr lang="es-AR" altLang="es-AR" b="1" dirty="0">
                <a:latin typeface="Cambria" panose="02040503050406030204" pitchFamily="18" charset="0"/>
                <a:ea typeface="Cambria" panose="02040503050406030204" pitchFamily="18" charset="0"/>
              </a:rPr>
              <a:t>hipótesis original</a:t>
            </a:r>
            <a:r>
              <a:rPr lang="es-AR" altLang="es-AR" dirty="0">
                <a:latin typeface="Cambria" panose="02040503050406030204" pitchFamily="18" charset="0"/>
                <a:ea typeface="Cambria" panose="02040503050406030204" pitchFamily="18" charset="0"/>
              </a:rPr>
              <a:t> es que existe una estrecha relación entre la clase social de las personas y la práctica de actividad física. Específicamente, se espera encontrar que las personas de clases sociales más altas tengan más chances de realizar actividad física deportiva que quienes pertenecen a las clases más bajas. </a:t>
            </a:r>
          </a:p>
          <a:p>
            <a:pPr algn="just" eaLnBrk="1" hangingPunct="1"/>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Identificación de las variables</a:t>
            </a: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Variable independiente: </a:t>
            </a:r>
            <a:r>
              <a:rPr lang="es-AR" altLang="es-AR" i="1" dirty="0">
                <a:latin typeface="Cambria" panose="02040503050406030204" pitchFamily="18" charset="0"/>
                <a:ea typeface="Cambria" panose="02040503050406030204" pitchFamily="18" charset="0"/>
              </a:rPr>
              <a:t>clase social (alta, media, baja)</a:t>
            </a:r>
          </a:p>
          <a:p>
            <a:pPr algn="just" eaLnBrk="1" hangingPunct="1"/>
            <a:r>
              <a:rPr lang="es-AR" altLang="es-AR" dirty="0">
                <a:latin typeface="Cambria" panose="02040503050406030204" pitchFamily="18" charset="0"/>
                <a:ea typeface="Cambria" panose="02040503050406030204" pitchFamily="18" charset="0"/>
              </a:rPr>
              <a:t>Variable dependiente: </a:t>
            </a:r>
            <a:r>
              <a:rPr lang="es-AR" altLang="es-AR" i="1" dirty="0">
                <a:latin typeface="Cambria" panose="02040503050406030204" pitchFamily="18" charset="0"/>
                <a:ea typeface="Cambria" panose="02040503050406030204" pitchFamily="18" charset="0"/>
              </a:rPr>
              <a:t>práctica de actividad física al menos una vez por semana (sí o no).</a:t>
            </a:r>
          </a:p>
          <a:p>
            <a:pPr algn="just" eaLnBrk="1" hangingPunct="1"/>
            <a:endParaRPr lang="es-AR" altLang="es-AR"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Unidad de análisis:</a:t>
            </a:r>
            <a:r>
              <a:rPr lang="es-AR" altLang="es-AR" dirty="0">
                <a:latin typeface="Cambria" panose="02040503050406030204" pitchFamily="18" charset="0"/>
                <a:ea typeface="Cambria" panose="02040503050406030204" pitchFamily="18" charset="0"/>
              </a:rPr>
              <a:t> población de 25 a 60 años.</a:t>
            </a:r>
            <a:endParaRPr lang="es-AR" altLang="es-AR" b="1" dirty="0">
              <a:latin typeface="Cambria" panose="02040503050406030204" pitchFamily="18" charset="0"/>
              <a:ea typeface="Cambria" panose="02040503050406030204" pitchFamily="18" charset="0"/>
            </a:endParaRPr>
          </a:p>
          <a:p>
            <a:pPr algn="just" eaLnBrk="1" hangingPunct="1"/>
            <a:endParaRPr lang="es-AR" altLang="es-AR" i="1" dirty="0">
              <a:latin typeface="Cambria" panose="02040503050406030204" pitchFamily="18" charset="0"/>
              <a:ea typeface="Cambria" panose="02040503050406030204" pitchFamily="18" charset="0"/>
            </a:endParaRPr>
          </a:p>
          <a:p>
            <a:pPr algn="just" eaLnBrk="1" hangingPunct="1"/>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 interacción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264531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descr="Tabla&#10;&#10;Descripción generada automáticamente">
            <a:extLst>
              <a:ext uri="{FF2B5EF4-FFF2-40B4-BE49-F238E27FC236}">
                <a16:creationId xmlns:a16="http://schemas.microsoft.com/office/drawing/2014/main" id="{C88D7CBF-A07A-417B-890B-595C7DE6D0B8}"/>
              </a:ext>
            </a:extLst>
          </p:cNvPr>
          <p:cNvPicPr>
            <a:picLocks noChangeAspect="1"/>
          </p:cNvPicPr>
          <p:nvPr/>
        </p:nvPicPr>
        <p:blipFill>
          <a:blip r:embed="rId3"/>
          <a:stretch>
            <a:fillRect/>
          </a:stretch>
        </p:blipFill>
        <p:spPr>
          <a:xfrm>
            <a:off x="539552" y="1366660"/>
            <a:ext cx="4848225" cy="1695450"/>
          </a:xfrm>
          <a:prstGeom prst="rect">
            <a:avLst/>
          </a:prstGeom>
        </p:spPr>
      </p:pic>
      <p:pic>
        <p:nvPicPr>
          <p:cNvPr id="5" name="Imagen 4" descr="Tabla&#10;&#10;Descripción generada automáticamente">
            <a:extLst>
              <a:ext uri="{FF2B5EF4-FFF2-40B4-BE49-F238E27FC236}">
                <a16:creationId xmlns:a16="http://schemas.microsoft.com/office/drawing/2014/main" id="{0370797F-1716-45B4-8BC7-3C44A0F9F6DD}"/>
              </a:ext>
            </a:extLst>
          </p:cNvPr>
          <p:cNvPicPr>
            <a:picLocks noChangeAspect="1"/>
          </p:cNvPicPr>
          <p:nvPr/>
        </p:nvPicPr>
        <p:blipFill>
          <a:blip r:embed="rId4"/>
          <a:stretch>
            <a:fillRect/>
          </a:stretch>
        </p:blipFill>
        <p:spPr>
          <a:xfrm>
            <a:off x="539552" y="3443390"/>
            <a:ext cx="3867150" cy="2314575"/>
          </a:xfrm>
          <a:prstGeom prst="rect">
            <a:avLst/>
          </a:prstGeom>
        </p:spPr>
      </p:pic>
      <p:pic>
        <p:nvPicPr>
          <p:cNvPr id="12" name="Imagen 11" descr="Tabla&#10;&#10;Descripción generada automáticamente">
            <a:extLst>
              <a:ext uri="{FF2B5EF4-FFF2-40B4-BE49-F238E27FC236}">
                <a16:creationId xmlns:a16="http://schemas.microsoft.com/office/drawing/2014/main" id="{D84622BB-BAAD-4367-A4F4-01B042DD3E6B}"/>
              </a:ext>
            </a:extLst>
          </p:cNvPr>
          <p:cNvPicPr>
            <a:picLocks noChangeAspect="1"/>
          </p:cNvPicPr>
          <p:nvPr/>
        </p:nvPicPr>
        <p:blipFill>
          <a:blip r:embed="rId5"/>
          <a:stretch>
            <a:fillRect/>
          </a:stretch>
        </p:blipFill>
        <p:spPr>
          <a:xfrm>
            <a:off x="4856308" y="3230531"/>
            <a:ext cx="3819525" cy="1323975"/>
          </a:xfrm>
          <a:prstGeom prst="rect">
            <a:avLst/>
          </a:prstGeom>
        </p:spPr>
      </p:pic>
      <p:sp>
        <p:nvSpPr>
          <p:cNvPr id="14" name="Text Box 46">
            <a:extLst>
              <a:ext uri="{FF2B5EF4-FFF2-40B4-BE49-F238E27FC236}">
                <a16:creationId xmlns:a16="http://schemas.microsoft.com/office/drawing/2014/main" id="{DD01DB02-D301-4F70-A9CC-8870081F3D54}"/>
              </a:ext>
            </a:extLst>
          </p:cNvPr>
          <p:cNvSpPr txBox="1">
            <a:spLocks noChangeArrowheads="1"/>
          </p:cNvSpPr>
          <p:nvPr/>
        </p:nvSpPr>
        <p:spPr bwMode="auto">
          <a:xfrm>
            <a:off x="7164288" y="4077072"/>
            <a:ext cx="504056" cy="18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5" name="Elipse 14">
            <a:extLst>
              <a:ext uri="{FF2B5EF4-FFF2-40B4-BE49-F238E27FC236}">
                <a16:creationId xmlns:a16="http://schemas.microsoft.com/office/drawing/2014/main" id="{E28A84AD-F8A3-4BCF-AFA4-184DA2175154}"/>
              </a:ext>
            </a:extLst>
          </p:cNvPr>
          <p:cNvSpPr/>
          <p:nvPr/>
        </p:nvSpPr>
        <p:spPr>
          <a:xfrm>
            <a:off x="4214602" y="2549403"/>
            <a:ext cx="384200" cy="2812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Elipse 17">
            <a:extLst>
              <a:ext uri="{FF2B5EF4-FFF2-40B4-BE49-F238E27FC236}">
                <a16:creationId xmlns:a16="http://schemas.microsoft.com/office/drawing/2014/main" id="{11859F97-5D4B-4DB3-BAA9-013629381AFD}"/>
              </a:ext>
            </a:extLst>
          </p:cNvPr>
          <p:cNvSpPr/>
          <p:nvPr/>
        </p:nvSpPr>
        <p:spPr>
          <a:xfrm>
            <a:off x="2953504" y="2553465"/>
            <a:ext cx="384200" cy="281288"/>
          </a:xfrm>
          <a:prstGeom prst="ellipse">
            <a:avLst/>
          </a:prstGeom>
          <a:noFill/>
          <a:ln>
            <a:solidFill>
              <a:srgbClr val="319F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79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Hipótesis alternativa: </a:t>
            </a:r>
          </a:p>
          <a:p>
            <a:pPr algn="just" eaLnBrk="1" hangingPunct="1"/>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Existen evidencias acerca de que las desigualdades sociales que intervienen en la práctica de la actividad física exceden a las desigualdades de clase social. Por consiguiente, se plantea como hipótesis que la relación entre clase social y realización de actividad física se altera al considerar el sexo de las personas. </a:t>
            </a:r>
          </a:p>
          <a:p>
            <a:pPr algn="just" eaLnBrk="1" hangingPunct="1"/>
            <a:endParaRPr lang="es-AR" altLang="es-AR"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Específicamente, se espera encontrar que la relación entre clase social y realización de actividad física se va a intensificar en el caso de las mujeres. </a:t>
            </a:r>
          </a:p>
          <a:p>
            <a:pPr algn="just" eaLnBrk="1" hangingPunct="1"/>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Identificación de las variables</a:t>
            </a: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Variable independiente: </a:t>
            </a:r>
            <a:r>
              <a:rPr lang="es-AR" altLang="es-AR" i="1" dirty="0">
                <a:latin typeface="Cambria" panose="02040503050406030204" pitchFamily="18" charset="0"/>
                <a:ea typeface="Cambria" panose="02040503050406030204" pitchFamily="18" charset="0"/>
              </a:rPr>
              <a:t>clase social (alta, media, baja)</a:t>
            </a:r>
          </a:p>
          <a:p>
            <a:pPr algn="just" eaLnBrk="1" hangingPunct="1"/>
            <a:r>
              <a:rPr lang="es-AR" altLang="es-AR" dirty="0">
                <a:latin typeface="Cambria" panose="02040503050406030204" pitchFamily="18" charset="0"/>
                <a:ea typeface="Cambria" panose="02040503050406030204" pitchFamily="18" charset="0"/>
              </a:rPr>
              <a:t>Variable dependiente: </a:t>
            </a:r>
            <a:r>
              <a:rPr lang="es-AR" altLang="es-AR" i="1" dirty="0">
                <a:latin typeface="Cambria" panose="02040503050406030204" pitchFamily="18" charset="0"/>
                <a:ea typeface="Cambria" panose="02040503050406030204" pitchFamily="18" charset="0"/>
              </a:rPr>
              <a:t>práctica de actividad física al menos una vez por semana (sí o no).</a:t>
            </a:r>
          </a:p>
          <a:p>
            <a:pPr algn="just" eaLnBrk="1" hangingPunct="1"/>
            <a:r>
              <a:rPr lang="es-AR" altLang="es-AR" dirty="0">
                <a:latin typeface="Cambria" panose="02040503050406030204" pitchFamily="18" charset="0"/>
                <a:ea typeface="Cambria" panose="02040503050406030204" pitchFamily="18" charset="0"/>
              </a:rPr>
              <a:t>Variable de control: </a:t>
            </a:r>
            <a:r>
              <a:rPr lang="es-AR" altLang="es-AR" i="1" dirty="0">
                <a:latin typeface="Cambria" panose="02040503050406030204" pitchFamily="18" charset="0"/>
                <a:ea typeface="Cambria" panose="02040503050406030204" pitchFamily="18" charset="0"/>
              </a:rPr>
              <a:t>sexo (varón, mujer).</a:t>
            </a:r>
          </a:p>
          <a:p>
            <a:pPr algn="just" eaLnBrk="1" hangingPunct="1"/>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778197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8 Rectángulo redondeado">
            <a:extLst>
              <a:ext uri="{FF2B5EF4-FFF2-40B4-BE49-F238E27FC236}">
                <a16:creationId xmlns:a16="http://schemas.microsoft.com/office/drawing/2014/main" id="{51AFDB97-3EA0-40D7-B7D6-177EAD018B3D}"/>
              </a:ext>
            </a:extLst>
          </p:cNvPr>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6" name="19 Conector recto">
            <a:extLst>
              <a:ext uri="{FF2B5EF4-FFF2-40B4-BE49-F238E27FC236}">
                <a16:creationId xmlns:a16="http://schemas.microsoft.com/office/drawing/2014/main" id="{A1BA0360-BD3A-4822-9646-81A30B5B2C89}"/>
              </a:ext>
            </a:extLst>
          </p:cNvPr>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AB57BD42-1BAC-4D7C-BBD6-65ED8B5D00B2}"/>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7" name="Rectangle 4">
            <a:extLst>
              <a:ext uri="{FF2B5EF4-FFF2-40B4-BE49-F238E27FC236}">
                <a16:creationId xmlns:a16="http://schemas.microsoft.com/office/drawing/2014/main" id="{5482507F-5BBE-47E0-B6A8-D7D3EAE1691A}"/>
              </a:ext>
            </a:extLst>
          </p:cNvPr>
          <p:cNvSpPr>
            <a:spLocks noChangeArrowheads="1"/>
          </p:cNvSpPr>
          <p:nvPr/>
        </p:nvSpPr>
        <p:spPr bwMode="auto">
          <a:xfrm>
            <a:off x="193130" y="1124494"/>
            <a:ext cx="86423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Debemos descomponer la relación original para los distintos valores de la variable de control.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Calculamos los cuadros </a:t>
            </a:r>
            <a:r>
              <a:rPr lang="es-AR" altLang="es-AR" b="1" dirty="0">
                <a:latin typeface="Cambria" panose="02040503050406030204" pitchFamily="18" charset="0"/>
                <a:ea typeface="Cambria" panose="02040503050406030204" pitchFamily="18" charset="0"/>
              </a:rPr>
              <a:t>parciales</a:t>
            </a:r>
            <a:r>
              <a:rPr lang="es-AR" altLang="es-AR" dirty="0">
                <a:latin typeface="Cambria" panose="02040503050406030204" pitchFamily="18" charset="0"/>
                <a:ea typeface="Cambria" panose="02040503050406030204" pitchFamily="18" charset="0"/>
              </a:rPr>
              <a:t> </a:t>
            </a:r>
            <a:r>
              <a:rPr lang="es-AR" altLang="es-AR" b="1" dirty="0">
                <a:latin typeface="Cambria" panose="02040503050406030204" pitchFamily="18" charset="0"/>
                <a:ea typeface="Cambria" panose="02040503050406030204" pitchFamily="18" charset="0"/>
              </a:rPr>
              <a:t>[XY, t] </a:t>
            </a:r>
            <a:r>
              <a:rPr lang="es-AR" altLang="es-AR" dirty="0">
                <a:latin typeface="Cambria" panose="02040503050406030204" pitchFamily="18" charset="0"/>
                <a:ea typeface="Cambria" panose="02040503050406030204" pitchFamily="18" charset="0"/>
              </a:rPr>
              <a:t>y </a:t>
            </a:r>
            <a:r>
              <a:rPr lang="es-AR" altLang="es-AR" b="1" dirty="0">
                <a:latin typeface="Cambria" panose="02040503050406030204" pitchFamily="18" charset="0"/>
                <a:ea typeface="Cambria" panose="02040503050406030204" pitchFamily="18" charset="0"/>
              </a:rPr>
              <a:t>[XY, t’]</a:t>
            </a:r>
          </a:p>
        </p:txBody>
      </p:sp>
      <p:pic>
        <p:nvPicPr>
          <p:cNvPr id="12" name="Imagen 11" descr="Tabla&#10;&#10;Descripción generada automáticamente">
            <a:extLst>
              <a:ext uri="{FF2B5EF4-FFF2-40B4-BE49-F238E27FC236}">
                <a16:creationId xmlns:a16="http://schemas.microsoft.com/office/drawing/2014/main" id="{F8DEAF66-745A-4EA4-9DD7-BAADC3707C68}"/>
              </a:ext>
            </a:extLst>
          </p:cNvPr>
          <p:cNvPicPr>
            <a:picLocks noChangeAspect="1"/>
          </p:cNvPicPr>
          <p:nvPr/>
        </p:nvPicPr>
        <p:blipFill rotWithShape="1">
          <a:blip r:embed="rId2"/>
          <a:srcRect b="22514"/>
          <a:stretch/>
        </p:blipFill>
        <p:spPr>
          <a:xfrm>
            <a:off x="504328" y="2665934"/>
            <a:ext cx="5138896" cy="2347242"/>
          </a:xfrm>
          <a:prstGeom prst="rect">
            <a:avLst/>
          </a:prstGeom>
        </p:spPr>
      </p:pic>
      <p:pic>
        <p:nvPicPr>
          <p:cNvPr id="14" name="Imagen 13" descr="Tabla&#10;&#10;Descripción generada automáticamente">
            <a:extLst>
              <a:ext uri="{FF2B5EF4-FFF2-40B4-BE49-F238E27FC236}">
                <a16:creationId xmlns:a16="http://schemas.microsoft.com/office/drawing/2014/main" id="{52C79162-E72E-4CD1-A311-BC2365576719}"/>
              </a:ext>
            </a:extLst>
          </p:cNvPr>
          <p:cNvPicPr>
            <a:picLocks noChangeAspect="1"/>
          </p:cNvPicPr>
          <p:nvPr/>
        </p:nvPicPr>
        <p:blipFill rotWithShape="1">
          <a:blip r:embed="rId3"/>
          <a:srcRect b="24821"/>
          <a:stretch/>
        </p:blipFill>
        <p:spPr>
          <a:xfrm>
            <a:off x="5544888" y="3030883"/>
            <a:ext cx="3599112" cy="1622254"/>
          </a:xfrm>
          <a:prstGeom prst="rect">
            <a:avLst/>
          </a:prstGeom>
        </p:spPr>
      </p:pic>
      <p:sp>
        <p:nvSpPr>
          <p:cNvPr id="15" name="Text Box 46">
            <a:extLst>
              <a:ext uri="{FF2B5EF4-FFF2-40B4-BE49-F238E27FC236}">
                <a16:creationId xmlns:a16="http://schemas.microsoft.com/office/drawing/2014/main" id="{871B3C92-59CD-4AA1-B3B9-CC6F5B466F94}"/>
              </a:ext>
            </a:extLst>
          </p:cNvPr>
          <p:cNvSpPr txBox="1">
            <a:spLocks noChangeArrowheads="1"/>
          </p:cNvSpPr>
          <p:nvPr/>
        </p:nvSpPr>
        <p:spPr bwMode="auto">
          <a:xfrm>
            <a:off x="7777136" y="3722087"/>
            <a:ext cx="504056" cy="18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6" name="Text Box 46">
            <a:extLst>
              <a:ext uri="{FF2B5EF4-FFF2-40B4-BE49-F238E27FC236}">
                <a16:creationId xmlns:a16="http://schemas.microsoft.com/office/drawing/2014/main" id="{FC895A51-4E16-4106-B458-82C04645CF30}"/>
              </a:ext>
            </a:extLst>
          </p:cNvPr>
          <p:cNvSpPr txBox="1">
            <a:spLocks noChangeArrowheads="1"/>
          </p:cNvSpPr>
          <p:nvPr/>
        </p:nvSpPr>
        <p:spPr bwMode="auto">
          <a:xfrm>
            <a:off x="7786761" y="4243838"/>
            <a:ext cx="504056" cy="180000"/>
          </a:xfrm>
          <a:prstGeom prst="rect">
            <a:avLst/>
          </a:prstGeom>
          <a:noFill/>
          <a:ln w="38100" algn="ctr">
            <a:solidFill>
              <a:srgbClr val="319F9A"/>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7" name="Text Box 46">
            <a:extLst>
              <a:ext uri="{FF2B5EF4-FFF2-40B4-BE49-F238E27FC236}">
                <a16:creationId xmlns:a16="http://schemas.microsoft.com/office/drawing/2014/main" id="{0331BEE3-E4E7-4398-992C-E79F4B7A4833}"/>
              </a:ext>
            </a:extLst>
          </p:cNvPr>
          <p:cNvSpPr txBox="1">
            <a:spLocks noChangeArrowheads="1"/>
          </p:cNvSpPr>
          <p:nvPr/>
        </p:nvSpPr>
        <p:spPr bwMode="auto">
          <a:xfrm>
            <a:off x="504328" y="3660962"/>
            <a:ext cx="504056" cy="18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8" name="Text Box 46">
            <a:extLst>
              <a:ext uri="{FF2B5EF4-FFF2-40B4-BE49-F238E27FC236}">
                <a16:creationId xmlns:a16="http://schemas.microsoft.com/office/drawing/2014/main" id="{74F86E7D-D529-4BCD-8D9E-35C6AC15286B}"/>
              </a:ext>
            </a:extLst>
          </p:cNvPr>
          <p:cNvSpPr txBox="1">
            <a:spLocks noChangeArrowheads="1"/>
          </p:cNvSpPr>
          <p:nvPr/>
        </p:nvSpPr>
        <p:spPr bwMode="auto">
          <a:xfrm>
            <a:off x="495254" y="4318659"/>
            <a:ext cx="504056" cy="180000"/>
          </a:xfrm>
          <a:prstGeom prst="rect">
            <a:avLst/>
          </a:prstGeom>
          <a:noFill/>
          <a:ln w="38100" algn="ctr">
            <a:solidFill>
              <a:srgbClr val="319F9A"/>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9" name="Elipse 18">
            <a:extLst>
              <a:ext uri="{FF2B5EF4-FFF2-40B4-BE49-F238E27FC236}">
                <a16:creationId xmlns:a16="http://schemas.microsoft.com/office/drawing/2014/main" id="{F904A992-532D-4B8E-97B9-19252E735389}"/>
              </a:ext>
            </a:extLst>
          </p:cNvPr>
          <p:cNvSpPr/>
          <p:nvPr/>
        </p:nvSpPr>
        <p:spPr>
          <a:xfrm>
            <a:off x="4407072" y="4498659"/>
            <a:ext cx="432048" cy="268857"/>
          </a:xfrm>
          <a:prstGeom prst="ellipse">
            <a:avLst/>
          </a:prstGeom>
          <a:noFill/>
          <a:ln>
            <a:solidFill>
              <a:srgbClr val="319F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Elipse 19">
            <a:extLst>
              <a:ext uri="{FF2B5EF4-FFF2-40B4-BE49-F238E27FC236}">
                <a16:creationId xmlns:a16="http://schemas.microsoft.com/office/drawing/2014/main" id="{1B830BA8-4055-44A7-AC59-A54AC6764708}"/>
              </a:ext>
            </a:extLst>
          </p:cNvPr>
          <p:cNvSpPr/>
          <p:nvPr/>
        </p:nvSpPr>
        <p:spPr>
          <a:xfrm>
            <a:off x="3194952" y="4514233"/>
            <a:ext cx="432048" cy="268857"/>
          </a:xfrm>
          <a:prstGeom prst="ellipse">
            <a:avLst/>
          </a:prstGeom>
          <a:noFill/>
          <a:ln>
            <a:solidFill>
              <a:srgbClr val="319F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1" name="Elipse 20">
            <a:extLst>
              <a:ext uri="{FF2B5EF4-FFF2-40B4-BE49-F238E27FC236}">
                <a16:creationId xmlns:a16="http://schemas.microsoft.com/office/drawing/2014/main" id="{D88BAD58-4668-428D-A7B3-0E0ADD00ECA9}"/>
              </a:ext>
            </a:extLst>
          </p:cNvPr>
          <p:cNvSpPr/>
          <p:nvPr/>
        </p:nvSpPr>
        <p:spPr>
          <a:xfrm>
            <a:off x="4408690" y="3840962"/>
            <a:ext cx="432048" cy="2688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Elipse 21">
            <a:extLst>
              <a:ext uri="{FF2B5EF4-FFF2-40B4-BE49-F238E27FC236}">
                <a16:creationId xmlns:a16="http://schemas.microsoft.com/office/drawing/2014/main" id="{A7195A3A-6B79-44D1-8666-33BC6FAC98F6}"/>
              </a:ext>
            </a:extLst>
          </p:cNvPr>
          <p:cNvSpPr/>
          <p:nvPr/>
        </p:nvSpPr>
        <p:spPr>
          <a:xfrm>
            <a:off x="3185327" y="3842177"/>
            <a:ext cx="432048" cy="2688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8 Rectángulo redondeado">
            <a:extLst>
              <a:ext uri="{FF2B5EF4-FFF2-40B4-BE49-F238E27FC236}">
                <a16:creationId xmlns:a16="http://schemas.microsoft.com/office/drawing/2014/main" id="{51AFDB97-3EA0-40D7-B7D6-177EAD018B3D}"/>
              </a:ext>
            </a:extLst>
          </p:cNvPr>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6" name="19 Conector recto">
            <a:extLst>
              <a:ext uri="{FF2B5EF4-FFF2-40B4-BE49-F238E27FC236}">
                <a16:creationId xmlns:a16="http://schemas.microsoft.com/office/drawing/2014/main" id="{A1BA0360-BD3A-4822-9646-81A30B5B2C89}"/>
              </a:ext>
            </a:extLst>
          </p:cNvPr>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2">
            <a:extLst>
              <a:ext uri="{FF2B5EF4-FFF2-40B4-BE49-F238E27FC236}">
                <a16:creationId xmlns:a16="http://schemas.microsoft.com/office/drawing/2014/main" id="{AB57BD42-1BAC-4D7C-BBD6-65ED8B5D00B2}"/>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17" name="Rectangle 4">
            <a:extLst>
              <a:ext uri="{FF2B5EF4-FFF2-40B4-BE49-F238E27FC236}">
                <a16:creationId xmlns:a16="http://schemas.microsoft.com/office/drawing/2014/main" id="{210BDBDE-5BC1-47CE-8BB1-3A44B871FA74}"/>
              </a:ext>
            </a:extLst>
          </p:cNvPr>
          <p:cNvSpPr>
            <a:spLocks noChangeArrowheads="1"/>
          </p:cNvSpPr>
          <p:nvPr/>
        </p:nvSpPr>
        <p:spPr bwMode="auto">
          <a:xfrm>
            <a:off x="254817" y="1139043"/>
            <a:ext cx="86423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Calculamos el primer marginal </a:t>
            </a:r>
            <a:r>
              <a:rPr lang="es-AR" altLang="es-AR" b="1" dirty="0">
                <a:latin typeface="Cambria" panose="02040503050406030204" pitchFamily="18" charset="0"/>
                <a:ea typeface="Cambria" panose="02040503050406030204" pitchFamily="18" charset="0"/>
              </a:rPr>
              <a:t>[TX]</a:t>
            </a:r>
          </a:p>
        </p:txBody>
      </p:sp>
      <p:sp>
        <p:nvSpPr>
          <p:cNvPr id="18" name="Rectangle 4">
            <a:extLst>
              <a:ext uri="{FF2B5EF4-FFF2-40B4-BE49-F238E27FC236}">
                <a16:creationId xmlns:a16="http://schemas.microsoft.com/office/drawing/2014/main" id="{44F22663-9105-4632-B75B-3FA54614FAB7}"/>
              </a:ext>
            </a:extLst>
          </p:cNvPr>
          <p:cNvSpPr>
            <a:spLocks noChangeArrowheads="1"/>
          </p:cNvSpPr>
          <p:nvPr/>
        </p:nvSpPr>
        <p:spPr bwMode="auto">
          <a:xfrm>
            <a:off x="306437" y="3402079"/>
            <a:ext cx="86423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Y el segundo marginal </a:t>
            </a:r>
            <a:r>
              <a:rPr lang="es-AR" altLang="es-AR" b="1" dirty="0">
                <a:latin typeface="Cambria" panose="02040503050406030204" pitchFamily="18" charset="0"/>
                <a:ea typeface="Cambria" panose="02040503050406030204" pitchFamily="18" charset="0"/>
              </a:rPr>
              <a:t>[TY]</a:t>
            </a:r>
          </a:p>
        </p:txBody>
      </p:sp>
      <p:pic>
        <p:nvPicPr>
          <p:cNvPr id="7" name="Imagen 6" descr="Tabla&#10;&#10;Descripción generada automáticamente">
            <a:extLst>
              <a:ext uri="{FF2B5EF4-FFF2-40B4-BE49-F238E27FC236}">
                <a16:creationId xmlns:a16="http://schemas.microsoft.com/office/drawing/2014/main" id="{2B4CB0CE-ACEB-4263-9AE4-3427B3387591}"/>
              </a:ext>
            </a:extLst>
          </p:cNvPr>
          <p:cNvPicPr>
            <a:picLocks noChangeAspect="1"/>
          </p:cNvPicPr>
          <p:nvPr/>
        </p:nvPicPr>
        <p:blipFill>
          <a:blip r:embed="rId2"/>
          <a:stretch>
            <a:fillRect/>
          </a:stretch>
        </p:blipFill>
        <p:spPr>
          <a:xfrm>
            <a:off x="712378" y="1456816"/>
            <a:ext cx="3790950" cy="1914525"/>
          </a:xfrm>
          <a:prstGeom prst="rect">
            <a:avLst/>
          </a:prstGeom>
        </p:spPr>
      </p:pic>
      <p:pic>
        <p:nvPicPr>
          <p:cNvPr id="15" name="Imagen 14" descr="Tabla&#10;&#10;Descripción generada automáticamente">
            <a:extLst>
              <a:ext uri="{FF2B5EF4-FFF2-40B4-BE49-F238E27FC236}">
                <a16:creationId xmlns:a16="http://schemas.microsoft.com/office/drawing/2014/main" id="{5A1260B4-D595-41C8-B4F6-5DC341D36659}"/>
              </a:ext>
            </a:extLst>
          </p:cNvPr>
          <p:cNvPicPr>
            <a:picLocks noChangeAspect="1"/>
          </p:cNvPicPr>
          <p:nvPr/>
        </p:nvPicPr>
        <p:blipFill>
          <a:blip r:embed="rId3"/>
          <a:stretch>
            <a:fillRect/>
          </a:stretch>
        </p:blipFill>
        <p:spPr>
          <a:xfrm>
            <a:off x="4733001" y="1899879"/>
            <a:ext cx="3819525" cy="1323975"/>
          </a:xfrm>
          <a:prstGeom prst="rect">
            <a:avLst/>
          </a:prstGeom>
        </p:spPr>
      </p:pic>
      <p:pic>
        <p:nvPicPr>
          <p:cNvPr id="30" name="Imagen 29" descr="Tabla&#10;&#10;Descripción generada automáticamente">
            <a:extLst>
              <a:ext uri="{FF2B5EF4-FFF2-40B4-BE49-F238E27FC236}">
                <a16:creationId xmlns:a16="http://schemas.microsoft.com/office/drawing/2014/main" id="{F63D1BD5-8C15-441D-B33B-206505C029A8}"/>
              </a:ext>
            </a:extLst>
          </p:cNvPr>
          <p:cNvPicPr>
            <a:picLocks noChangeAspect="1"/>
          </p:cNvPicPr>
          <p:nvPr/>
        </p:nvPicPr>
        <p:blipFill>
          <a:blip r:embed="rId4"/>
          <a:stretch>
            <a:fillRect/>
          </a:stretch>
        </p:blipFill>
        <p:spPr>
          <a:xfrm>
            <a:off x="575691" y="4046931"/>
            <a:ext cx="3963322" cy="1672026"/>
          </a:xfrm>
          <a:prstGeom prst="rect">
            <a:avLst/>
          </a:prstGeom>
        </p:spPr>
      </p:pic>
      <p:pic>
        <p:nvPicPr>
          <p:cNvPr id="32" name="Imagen 31" descr="Tabla&#10;&#10;Descripción generada automáticamente">
            <a:extLst>
              <a:ext uri="{FF2B5EF4-FFF2-40B4-BE49-F238E27FC236}">
                <a16:creationId xmlns:a16="http://schemas.microsoft.com/office/drawing/2014/main" id="{B52E4174-1A79-487A-9ACA-60B9F4B9C4B6}"/>
              </a:ext>
            </a:extLst>
          </p:cNvPr>
          <p:cNvPicPr>
            <a:picLocks noChangeAspect="1"/>
          </p:cNvPicPr>
          <p:nvPr/>
        </p:nvPicPr>
        <p:blipFill>
          <a:blip r:embed="rId5"/>
          <a:stretch>
            <a:fillRect/>
          </a:stretch>
        </p:blipFill>
        <p:spPr>
          <a:xfrm>
            <a:off x="4751211" y="4410754"/>
            <a:ext cx="3819525" cy="1323975"/>
          </a:xfrm>
          <a:prstGeom prst="rect">
            <a:avLst/>
          </a:prstGeom>
        </p:spPr>
      </p:pic>
      <p:sp>
        <p:nvSpPr>
          <p:cNvPr id="11" name="Text Box 46">
            <a:extLst>
              <a:ext uri="{FF2B5EF4-FFF2-40B4-BE49-F238E27FC236}">
                <a16:creationId xmlns:a16="http://schemas.microsoft.com/office/drawing/2014/main" id="{DFF51EC8-F1EA-4AD5-8CC5-0F4979891A88}"/>
              </a:ext>
            </a:extLst>
          </p:cNvPr>
          <p:cNvSpPr txBox="1">
            <a:spLocks noChangeArrowheads="1"/>
          </p:cNvSpPr>
          <p:nvPr/>
        </p:nvSpPr>
        <p:spPr bwMode="auto">
          <a:xfrm>
            <a:off x="7020272" y="2762736"/>
            <a:ext cx="504056" cy="18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2" name="Text Box 46">
            <a:extLst>
              <a:ext uri="{FF2B5EF4-FFF2-40B4-BE49-F238E27FC236}">
                <a16:creationId xmlns:a16="http://schemas.microsoft.com/office/drawing/2014/main" id="{D1885662-A40B-4190-8534-B41B628D6F0C}"/>
              </a:ext>
            </a:extLst>
          </p:cNvPr>
          <p:cNvSpPr txBox="1">
            <a:spLocks noChangeArrowheads="1"/>
          </p:cNvSpPr>
          <p:nvPr/>
        </p:nvSpPr>
        <p:spPr bwMode="auto">
          <a:xfrm>
            <a:off x="7020272" y="5271347"/>
            <a:ext cx="504056" cy="18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7788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9361" y="2931723"/>
            <a:ext cx="845175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relación entre clase social [X] y realización de actividad física [Y] se fortalece en uno de los parciales (sexo=mujeres). </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Equivale a establecer las condiciones bajo las cuales la relación se intensifica (interacción).</a:t>
            </a:r>
          </a:p>
        </p:txBody>
      </p:sp>
      <p:sp>
        <p:nvSpPr>
          <p:cNvPr id="13" name="Rectangle 4">
            <a:extLst>
              <a:ext uri="{FF2B5EF4-FFF2-40B4-BE49-F238E27FC236}">
                <a16:creationId xmlns:a16="http://schemas.microsoft.com/office/drawing/2014/main" id="{42DE4439-0A73-4A49-B647-1E3737D64D3E}"/>
              </a:ext>
            </a:extLst>
          </p:cNvPr>
          <p:cNvSpPr>
            <a:spLocks noChangeArrowheads="1"/>
          </p:cNvSpPr>
          <p:nvPr/>
        </p:nvSpPr>
        <p:spPr bwMode="auto">
          <a:xfrm>
            <a:off x="250825" y="1094275"/>
            <a:ext cx="8451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Analizamos los resultados obtenidos en los distintos cuadros:</a:t>
            </a:r>
          </a:p>
        </p:txBody>
      </p:sp>
      <p:sp>
        <p:nvSpPr>
          <p:cNvPr id="14" name="Text Box 6">
            <a:extLst>
              <a:ext uri="{FF2B5EF4-FFF2-40B4-BE49-F238E27FC236}">
                <a16:creationId xmlns:a16="http://schemas.microsoft.com/office/drawing/2014/main" id="{B359983E-40F1-4B5F-BFED-AD396160117A}"/>
              </a:ext>
            </a:extLst>
          </p:cNvPr>
          <p:cNvSpPr txBox="1">
            <a:spLocks noChangeArrowheads="1"/>
          </p:cNvSpPr>
          <p:nvPr/>
        </p:nvSpPr>
        <p:spPr bwMode="auto">
          <a:xfrm>
            <a:off x="959583" y="1660738"/>
            <a:ext cx="7559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spcBef>
                <a:spcPct val="50000"/>
              </a:spcBef>
            </a:pPr>
            <a:r>
              <a:rPr lang="es-ES" altLang="es-AR" b="1" dirty="0">
                <a:latin typeface="Cambria" panose="02040503050406030204" pitchFamily="18" charset="0"/>
                <a:ea typeface="Cambria" panose="02040503050406030204" pitchFamily="18" charset="0"/>
                <a:cs typeface="Calibri" panose="020F0502020204030204" pitchFamily="34" charset="0"/>
              </a:rPr>
              <a:t>[XY] = [XY, t]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[XY, t’]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[XT]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[TY]  </a:t>
            </a:r>
          </a:p>
        </p:txBody>
      </p:sp>
      <p:grpSp>
        <p:nvGrpSpPr>
          <p:cNvPr id="8" name="20 Grupo">
            <a:extLst>
              <a:ext uri="{FF2B5EF4-FFF2-40B4-BE49-F238E27FC236}">
                <a16:creationId xmlns:a16="http://schemas.microsoft.com/office/drawing/2014/main" id="{ED3F665F-C858-4A7E-ACAA-70F92549D388}"/>
              </a:ext>
            </a:extLst>
          </p:cNvPr>
          <p:cNvGrpSpPr>
            <a:grpSpLocks/>
          </p:cNvGrpSpPr>
          <p:nvPr/>
        </p:nvGrpSpPr>
        <p:grpSpPr bwMode="auto">
          <a:xfrm>
            <a:off x="2555776" y="4841011"/>
            <a:ext cx="4739414" cy="1431825"/>
            <a:chOff x="6071404" y="3161158"/>
            <a:chExt cx="1358589" cy="687682"/>
          </a:xfrm>
        </p:grpSpPr>
        <p:cxnSp>
          <p:nvCxnSpPr>
            <p:cNvPr id="9" name="21 Conector recto de flecha">
              <a:extLst>
                <a:ext uri="{FF2B5EF4-FFF2-40B4-BE49-F238E27FC236}">
                  <a16:creationId xmlns:a16="http://schemas.microsoft.com/office/drawing/2014/main" id="{54E0C466-2F71-4EB1-9825-13E1C008807E}"/>
                </a:ext>
              </a:extLst>
            </p:cNvPr>
            <p:cNvCxnSpPr>
              <a:cxnSpLocks noChangeShapeType="1"/>
            </p:cNvCxnSpPr>
            <p:nvPr/>
          </p:nvCxnSpPr>
          <p:spPr bwMode="auto">
            <a:xfrm>
              <a:off x="6245533" y="3420604"/>
              <a:ext cx="132963" cy="139188"/>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sp>
          <p:nvSpPr>
            <p:cNvPr id="10" name="Oval 7">
              <a:extLst>
                <a:ext uri="{FF2B5EF4-FFF2-40B4-BE49-F238E27FC236}">
                  <a16:creationId xmlns:a16="http://schemas.microsoft.com/office/drawing/2014/main" id="{C3404DAF-56D8-40A8-83D7-3A9483BE2064}"/>
                </a:ext>
              </a:extLst>
            </p:cNvPr>
            <p:cNvSpPr>
              <a:spLocks noChangeArrowheads="1"/>
            </p:cNvSpPr>
            <p:nvPr/>
          </p:nvSpPr>
          <p:spPr bwMode="auto">
            <a:xfrm>
              <a:off x="6423437" y="3559792"/>
              <a:ext cx="34825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Clase social</a:t>
              </a:r>
            </a:p>
          </p:txBody>
        </p:sp>
        <p:sp>
          <p:nvSpPr>
            <p:cNvPr id="16" name="Oval 7">
              <a:extLst>
                <a:ext uri="{FF2B5EF4-FFF2-40B4-BE49-F238E27FC236}">
                  <a16:creationId xmlns:a16="http://schemas.microsoft.com/office/drawing/2014/main" id="{0D6F1C17-8A55-48B6-B2E7-B14FD3B3A08C}"/>
                </a:ext>
              </a:extLst>
            </p:cNvPr>
            <p:cNvSpPr>
              <a:spLocks noChangeArrowheads="1"/>
            </p:cNvSpPr>
            <p:nvPr/>
          </p:nvSpPr>
          <p:spPr bwMode="auto">
            <a:xfrm>
              <a:off x="6071404" y="3161158"/>
              <a:ext cx="348258" cy="259446"/>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Sexo</a:t>
              </a:r>
            </a:p>
          </p:txBody>
        </p:sp>
        <p:sp>
          <p:nvSpPr>
            <p:cNvPr id="17" name="Oval 7">
              <a:extLst>
                <a:ext uri="{FF2B5EF4-FFF2-40B4-BE49-F238E27FC236}">
                  <a16:creationId xmlns:a16="http://schemas.microsoft.com/office/drawing/2014/main" id="{28332273-1AE7-423F-B8F7-7BEEF54B4A3B}"/>
                </a:ext>
              </a:extLst>
            </p:cNvPr>
            <p:cNvSpPr>
              <a:spLocks noChangeArrowheads="1"/>
            </p:cNvSpPr>
            <p:nvPr/>
          </p:nvSpPr>
          <p:spPr bwMode="auto">
            <a:xfrm>
              <a:off x="6997745" y="3559792"/>
              <a:ext cx="43224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Práctica de </a:t>
              </a:r>
            </a:p>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actividad física</a:t>
              </a:r>
              <a:endParaRPr lang="es-ES" altLang="es-AR" sz="1400" b="1" dirty="0">
                <a:solidFill>
                  <a:schemeClr val="bg1"/>
                </a:solidFill>
                <a:latin typeface="Cambria" panose="02040503050406030204" pitchFamily="18" charset="0"/>
                <a:ea typeface="Cambria" panose="02040503050406030204" pitchFamily="18" charset="0"/>
              </a:endParaRPr>
            </a:p>
          </p:txBody>
        </p:sp>
      </p:grpSp>
      <p:sp>
        <p:nvSpPr>
          <p:cNvPr id="1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21 Conector recto de flecha">
            <a:extLst>
              <a:ext uri="{FF2B5EF4-FFF2-40B4-BE49-F238E27FC236}">
                <a16:creationId xmlns:a16="http://schemas.microsoft.com/office/drawing/2014/main" id="{54E0C466-2F71-4EB1-9825-13E1C008807E}"/>
              </a:ext>
            </a:extLst>
          </p:cNvPr>
          <p:cNvCxnSpPr>
            <a:cxnSpLocks noChangeShapeType="1"/>
            <a:stCxn id="10" idx="3"/>
            <a:endCxn id="17" idx="1"/>
          </p:cNvCxnSpPr>
          <p:nvPr/>
        </p:nvCxnSpPr>
        <p:spPr bwMode="auto">
          <a:xfrm>
            <a:off x="4998729" y="5971922"/>
            <a:ext cx="788571" cy="0"/>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sp>
        <p:nvSpPr>
          <p:cNvPr id="24" name="Rectangle 2">
            <a:extLst>
              <a:ext uri="{FF2B5EF4-FFF2-40B4-BE49-F238E27FC236}">
                <a16:creationId xmlns:a16="http://schemas.microsoft.com/office/drawing/2014/main" id="{13E3F3B6-DFA7-455E-9CA1-BF4F9CD47911}"/>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1: interacción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6" name="Text Box 6">
            <a:extLst>
              <a:ext uri="{FF2B5EF4-FFF2-40B4-BE49-F238E27FC236}">
                <a16:creationId xmlns:a16="http://schemas.microsoft.com/office/drawing/2014/main" id="{F48E189E-3F70-4517-9DBF-A86A947AE9E3}"/>
              </a:ext>
            </a:extLst>
          </p:cNvPr>
          <p:cNvSpPr txBox="1">
            <a:spLocks noChangeArrowheads="1"/>
          </p:cNvSpPr>
          <p:nvPr/>
        </p:nvSpPr>
        <p:spPr bwMode="auto">
          <a:xfrm>
            <a:off x="809383" y="2173607"/>
            <a:ext cx="7559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spcBef>
                <a:spcPct val="50000"/>
              </a:spcBef>
            </a:pPr>
            <a:r>
              <a:rPr lang="es-ES" altLang="es-AR" b="1" dirty="0">
                <a:solidFill>
                  <a:srgbClr val="319F9A"/>
                </a:solidFill>
                <a:latin typeface="Cambria" panose="02040503050406030204" pitchFamily="18" charset="0"/>
                <a:ea typeface="Cambria" panose="02040503050406030204" pitchFamily="18" charset="0"/>
                <a:cs typeface="Calibri" panose="020F0502020204030204" pitchFamily="34" charset="0"/>
              </a:rPr>
              <a:t>V= </a:t>
            </a:r>
            <a:r>
              <a:rPr lang="es-ES" altLang="es-AR" b="1" dirty="0">
                <a:latin typeface="Cambria" panose="02040503050406030204" pitchFamily="18" charset="0"/>
                <a:ea typeface="Cambria" panose="02040503050406030204" pitchFamily="18" charset="0"/>
                <a:cs typeface="Calibri" panose="020F0502020204030204" pitchFamily="34" charset="0"/>
              </a:rPr>
              <a:t>0,198 = 0,163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a:t>
            </a:r>
            <a:r>
              <a:rPr lang="es-ES" altLang="es-AR" b="1" dirty="0">
                <a:highlight>
                  <a:srgbClr val="FFFF00"/>
                </a:highlight>
                <a:latin typeface="Cambria" panose="02040503050406030204" pitchFamily="18" charset="0"/>
                <a:ea typeface="Cambria" panose="02040503050406030204" pitchFamily="18" charset="0"/>
                <a:cs typeface="Calibri" panose="020F0502020204030204" pitchFamily="34" charset="0"/>
              </a:rPr>
              <a:t>0,258</a:t>
            </a:r>
            <a:r>
              <a:rPr lang="es-ES" altLang="es-AR" b="1" dirty="0">
                <a:latin typeface="Cambria" panose="02040503050406030204" pitchFamily="18" charset="0"/>
                <a:ea typeface="Cambria" panose="02040503050406030204" pitchFamily="18" charset="0"/>
                <a:cs typeface="Calibri" panose="020F0502020204030204" pitchFamily="34" charset="0"/>
              </a:rPr>
              <a:t>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a:t>
            </a:r>
            <a:r>
              <a:rPr lang="es-ES" altLang="es-AR" b="1" strike="sngStrike" dirty="0">
                <a:latin typeface="Cambria" panose="02040503050406030204" pitchFamily="18" charset="0"/>
                <a:ea typeface="Cambria" panose="02040503050406030204" pitchFamily="18" charset="0"/>
                <a:cs typeface="Calibri" panose="020F0502020204030204" pitchFamily="34" charset="0"/>
              </a:rPr>
              <a:t>0,085 </a:t>
            </a:r>
            <a:r>
              <a:rPr lang="es-MX" altLang="es-AR" sz="2000" b="1" strike="sngStrike" dirty="0">
                <a:latin typeface="Arial" pitchFamily="34" charset="0"/>
                <a:ea typeface="Arial Unicode MS" pitchFamily="34" charset="-128"/>
                <a:cs typeface="Arial Unicode MS" pitchFamily="34" charset="-128"/>
              </a:rPr>
              <a:t>⊗</a:t>
            </a:r>
            <a:r>
              <a:rPr lang="es-ES" altLang="es-AR" b="1" strike="sngStrike" dirty="0">
                <a:latin typeface="Cambria" panose="02040503050406030204" pitchFamily="18" charset="0"/>
                <a:ea typeface="Cambria" panose="02040503050406030204" pitchFamily="18" charset="0"/>
                <a:cs typeface="Calibri" panose="020F0502020204030204" pitchFamily="34" charset="0"/>
              </a:rPr>
              <a:t>  0,025</a:t>
            </a:r>
          </a:p>
        </p:txBody>
      </p:sp>
    </p:spTree>
    <p:extLst>
      <p:ext uri="{BB962C8B-B14F-4D97-AF65-F5344CB8AC3E}">
        <p14:creationId xmlns:p14="http://schemas.microsoft.com/office/powerpoint/2010/main" val="312291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Hipótesis original: </a:t>
            </a:r>
          </a:p>
          <a:p>
            <a:pPr algn="just" eaLnBrk="1" hangingPunct="1"/>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En el estudio de la desigualdad social suele analizarse la movilidad socio-ocupacional intergeneracional como una aproximación a la desigualdad de oportunidades. El supuesto es que una sociedad con mayor “igualdad de oportunidades” es aquella en la que el origen social incide menos en el destino social de las personas. </a:t>
            </a:r>
          </a:p>
          <a:p>
            <a:pPr algn="just" eaLnBrk="1" hangingPunct="1"/>
            <a:endParaRPr lang="es-AR" altLang="es-AR"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Planteamos como hipótesis: “Cuanto más alto (bajo) es el origen social de un individuo, más alta es la probabilidad de que alcance o permanezca en clases sociales superiores (inferiores)”.</a:t>
            </a:r>
          </a:p>
          <a:p>
            <a:pPr marL="285750" indent="-285750" algn="just" eaLnBrk="1" hangingPunct="1">
              <a:buFont typeface="Arial" panose="020B0604020202020204" pitchFamily="34" charset="0"/>
              <a:buChar char="•"/>
            </a:pPr>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Identificación de las variables</a:t>
            </a: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Variable independiente: </a:t>
            </a:r>
            <a:r>
              <a:rPr lang="es-AR" altLang="es-AR" i="1" dirty="0">
                <a:latin typeface="Cambria" panose="02040503050406030204" pitchFamily="18" charset="0"/>
                <a:ea typeface="Cambria" panose="02040503050406030204" pitchFamily="18" charset="0"/>
              </a:rPr>
              <a:t>clase social de origen (alta, media, baja)</a:t>
            </a:r>
          </a:p>
          <a:p>
            <a:pPr algn="just" eaLnBrk="1" hangingPunct="1"/>
            <a:r>
              <a:rPr lang="es-AR" altLang="es-AR" dirty="0">
                <a:latin typeface="Cambria" panose="02040503050406030204" pitchFamily="18" charset="0"/>
                <a:ea typeface="Cambria" panose="02040503050406030204" pitchFamily="18" charset="0"/>
              </a:rPr>
              <a:t>Variable dependiente: </a:t>
            </a:r>
            <a:r>
              <a:rPr lang="es-AR" altLang="es-AR" i="1" dirty="0">
                <a:latin typeface="Cambria" panose="02040503050406030204" pitchFamily="18" charset="0"/>
                <a:ea typeface="Cambria" panose="02040503050406030204" pitchFamily="18" charset="0"/>
              </a:rPr>
              <a:t>clase social actual (alta, media, baja).</a:t>
            </a:r>
          </a:p>
          <a:p>
            <a:pPr algn="just" eaLnBrk="1" hangingPunct="1"/>
            <a:endParaRPr lang="es-AR" altLang="es-AR" i="1"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Unidad de análisis:</a:t>
            </a:r>
            <a:r>
              <a:rPr lang="es-AR" altLang="es-AR" dirty="0">
                <a:latin typeface="Cambria" panose="02040503050406030204" pitchFamily="18" charset="0"/>
                <a:ea typeface="Cambria" panose="02040503050406030204" pitchFamily="18" charset="0"/>
              </a:rPr>
              <a:t> población de 25 a 60 años.</a:t>
            </a:r>
            <a:endParaRPr lang="es-AR" altLang="es-AR" b="1" dirty="0">
              <a:latin typeface="Cambria" panose="02040503050406030204" pitchFamily="18" charset="0"/>
              <a:ea typeface="Cambria" panose="02040503050406030204" pitchFamily="18" charset="0"/>
            </a:endParaRPr>
          </a:p>
          <a:p>
            <a:pPr algn="just" eaLnBrk="1" hangingPunct="1"/>
            <a:endParaRPr lang="es-AR" altLang="es-AR" i="1" dirty="0">
              <a:latin typeface="Cambria" panose="02040503050406030204" pitchFamily="18" charset="0"/>
              <a:ea typeface="Cambria" panose="02040503050406030204" pitchFamily="18" charset="0"/>
            </a:endParaRPr>
          </a:p>
          <a:p>
            <a:pPr algn="just" eaLnBrk="1" hangingPunct="1"/>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 relaciones en cadena</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404368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Analizamos la relación original </a:t>
            </a:r>
            <a:r>
              <a:rPr lang="es-AR" altLang="es-AR" b="1" dirty="0">
                <a:latin typeface="Cambria" panose="02040503050406030204" pitchFamily="18" charset="0"/>
                <a:ea typeface="Cambria" panose="02040503050406030204" pitchFamily="18" charset="0"/>
              </a:rPr>
              <a:t>[XY]</a:t>
            </a:r>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48987" y="921938"/>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14" name="Imagen 13" descr="Tabla&#10;&#10;Descripción generada automáticamente">
            <a:extLst>
              <a:ext uri="{FF2B5EF4-FFF2-40B4-BE49-F238E27FC236}">
                <a16:creationId xmlns:a16="http://schemas.microsoft.com/office/drawing/2014/main" id="{6E0A81D8-1E23-4E22-B2BC-714563BB49CC}"/>
              </a:ext>
            </a:extLst>
          </p:cNvPr>
          <p:cNvPicPr>
            <a:picLocks noChangeAspect="1"/>
          </p:cNvPicPr>
          <p:nvPr/>
        </p:nvPicPr>
        <p:blipFill>
          <a:blip r:embed="rId3"/>
          <a:stretch>
            <a:fillRect/>
          </a:stretch>
        </p:blipFill>
        <p:spPr>
          <a:xfrm>
            <a:off x="467544" y="1758375"/>
            <a:ext cx="5010150" cy="2076450"/>
          </a:xfrm>
          <a:prstGeom prst="rect">
            <a:avLst/>
          </a:prstGeom>
        </p:spPr>
      </p:pic>
      <p:pic>
        <p:nvPicPr>
          <p:cNvPr id="16" name="Imagen 15" descr="Tabla&#10;&#10;Descripción generada automáticamente">
            <a:extLst>
              <a:ext uri="{FF2B5EF4-FFF2-40B4-BE49-F238E27FC236}">
                <a16:creationId xmlns:a16="http://schemas.microsoft.com/office/drawing/2014/main" id="{4D7ECD47-7D86-48B5-AC7A-C35DED19ECB9}"/>
              </a:ext>
            </a:extLst>
          </p:cNvPr>
          <p:cNvPicPr>
            <a:picLocks noChangeAspect="1"/>
          </p:cNvPicPr>
          <p:nvPr/>
        </p:nvPicPr>
        <p:blipFill>
          <a:blip r:embed="rId4"/>
          <a:stretch>
            <a:fillRect/>
          </a:stretch>
        </p:blipFill>
        <p:spPr>
          <a:xfrm>
            <a:off x="467544" y="4015615"/>
            <a:ext cx="4847692" cy="1932635"/>
          </a:xfrm>
          <a:prstGeom prst="rect">
            <a:avLst/>
          </a:prstGeom>
        </p:spPr>
      </p:pic>
      <p:pic>
        <p:nvPicPr>
          <p:cNvPr id="18" name="Imagen 17" descr="Tabla&#10;&#10;Descripción generada automáticamente">
            <a:extLst>
              <a:ext uri="{FF2B5EF4-FFF2-40B4-BE49-F238E27FC236}">
                <a16:creationId xmlns:a16="http://schemas.microsoft.com/office/drawing/2014/main" id="{20F0DAB7-4B6C-46AA-8C06-5A3DC687D3B6}"/>
              </a:ext>
            </a:extLst>
          </p:cNvPr>
          <p:cNvPicPr>
            <a:picLocks noChangeAspect="1"/>
          </p:cNvPicPr>
          <p:nvPr/>
        </p:nvPicPr>
        <p:blipFill>
          <a:blip r:embed="rId5"/>
          <a:stretch>
            <a:fillRect/>
          </a:stretch>
        </p:blipFill>
        <p:spPr>
          <a:xfrm>
            <a:off x="5512203" y="2904269"/>
            <a:ext cx="3079153" cy="1842941"/>
          </a:xfrm>
          <a:prstGeom prst="rect">
            <a:avLst/>
          </a:prstGeom>
        </p:spPr>
      </p:pic>
      <p:sp>
        <p:nvSpPr>
          <p:cNvPr id="19" name="Text Box 46">
            <a:extLst>
              <a:ext uri="{FF2B5EF4-FFF2-40B4-BE49-F238E27FC236}">
                <a16:creationId xmlns:a16="http://schemas.microsoft.com/office/drawing/2014/main" id="{6C64D5D5-36C6-4985-A8A1-9177A301F055}"/>
              </a:ext>
            </a:extLst>
          </p:cNvPr>
          <p:cNvSpPr txBox="1">
            <a:spLocks noChangeArrowheads="1"/>
          </p:cNvSpPr>
          <p:nvPr/>
        </p:nvSpPr>
        <p:spPr bwMode="auto">
          <a:xfrm>
            <a:off x="2387334" y="4928092"/>
            <a:ext cx="504000" cy="36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2" name="Elipse 11">
            <a:extLst>
              <a:ext uri="{FF2B5EF4-FFF2-40B4-BE49-F238E27FC236}">
                <a16:creationId xmlns:a16="http://schemas.microsoft.com/office/drawing/2014/main" id="{0F3DE2A2-40B9-43DE-A06C-F4363DD20BEE}"/>
              </a:ext>
            </a:extLst>
          </p:cNvPr>
          <p:cNvSpPr/>
          <p:nvPr/>
        </p:nvSpPr>
        <p:spPr>
          <a:xfrm>
            <a:off x="3828855" y="2716374"/>
            <a:ext cx="390993" cy="288784"/>
          </a:xfrm>
          <a:prstGeom prst="ellipse">
            <a:avLst/>
          </a:prstGeom>
          <a:noFill/>
          <a:ln>
            <a:solidFill>
              <a:srgbClr val="319F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Elipse 14">
            <a:extLst>
              <a:ext uri="{FF2B5EF4-FFF2-40B4-BE49-F238E27FC236}">
                <a16:creationId xmlns:a16="http://schemas.microsoft.com/office/drawing/2014/main" id="{354F5F9C-6621-4B3C-A5EA-386D875B6229}"/>
              </a:ext>
            </a:extLst>
          </p:cNvPr>
          <p:cNvSpPr/>
          <p:nvPr/>
        </p:nvSpPr>
        <p:spPr>
          <a:xfrm>
            <a:off x="2483768" y="2705290"/>
            <a:ext cx="471206" cy="27856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Elipse 16">
            <a:extLst>
              <a:ext uri="{FF2B5EF4-FFF2-40B4-BE49-F238E27FC236}">
                <a16:creationId xmlns:a16="http://schemas.microsoft.com/office/drawing/2014/main" id="{DD07F8FE-1913-41B1-A0EA-CCF817EC0BEA}"/>
              </a:ext>
            </a:extLst>
          </p:cNvPr>
          <p:cNvSpPr/>
          <p:nvPr/>
        </p:nvSpPr>
        <p:spPr>
          <a:xfrm>
            <a:off x="2522926" y="3140480"/>
            <a:ext cx="432048" cy="268857"/>
          </a:xfrm>
          <a:prstGeom prst="ellipse">
            <a:avLst/>
          </a:prstGeom>
          <a:noFill/>
          <a:ln>
            <a:solidFill>
              <a:srgbClr val="319F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0" name="Elipse 19">
            <a:extLst>
              <a:ext uri="{FF2B5EF4-FFF2-40B4-BE49-F238E27FC236}">
                <a16:creationId xmlns:a16="http://schemas.microsoft.com/office/drawing/2014/main" id="{E12844F1-6CE7-45E4-90AD-0E157205C377}"/>
              </a:ext>
            </a:extLst>
          </p:cNvPr>
          <p:cNvSpPr/>
          <p:nvPr/>
        </p:nvSpPr>
        <p:spPr>
          <a:xfrm>
            <a:off x="3779912" y="3160143"/>
            <a:ext cx="432048" cy="26885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65017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2" grpId="0" animBg="1"/>
      <p:bldP spid="15" grpId="0" animBg="1"/>
      <p:bldP spid="17"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Hipótesis alternativa: </a:t>
            </a:r>
          </a:p>
          <a:p>
            <a:pPr algn="just" eaLnBrk="1" hangingPunct="1"/>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En el estudio de la desigualdad social, se señala que la relación entre origen y destino social no es directa. En particular, se indica que el nivel educativo de las personas es central para explicar el "logro" ocupacional individual.</a:t>
            </a:r>
          </a:p>
          <a:p>
            <a:pPr algn="just" eaLnBrk="1" hangingPunct="1"/>
            <a:endParaRPr lang="es-AR" altLang="es-AR"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Por consiguiente, se plantea como </a:t>
            </a:r>
            <a:r>
              <a:rPr lang="es-AR" altLang="es-AR" b="1" dirty="0">
                <a:latin typeface="Cambria" panose="02040503050406030204" pitchFamily="18" charset="0"/>
                <a:ea typeface="Cambria" panose="02040503050406030204" pitchFamily="18" charset="0"/>
              </a:rPr>
              <a:t>hipótesis alternativa </a:t>
            </a:r>
            <a:r>
              <a:rPr lang="es-AR" altLang="es-AR" dirty="0">
                <a:latin typeface="Cambria" panose="02040503050406030204" pitchFamily="18" charset="0"/>
                <a:ea typeface="Cambria" panose="02040503050406030204" pitchFamily="18" charset="0"/>
              </a:rPr>
              <a:t>que la mayor probabilidad de que las personas de las clases superiores de alcanzar destinos de clase superior se explica por sus chances de tener una mayor educación. </a:t>
            </a:r>
          </a:p>
          <a:p>
            <a:pPr algn="just" eaLnBrk="1" hangingPunct="1"/>
            <a:endParaRPr lang="es-AR" altLang="es-AR" dirty="0">
              <a:latin typeface="Cambria" panose="02040503050406030204" pitchFamily="18" charset="0"/>
              <a:ea typeface="Cambria" panose="02040503050406030204" pitchFamily="18" charset="0"/>
            </a:endParaRPr>
          </a:p>
          <a:p>
            <a:pPr marL="285750" indent="-285750" algn="just" eaLnBrk="1" hangingPunct="1">
              <a:buFont typeface="Arial" panose="020B0604020202020204" pitchFamily="34" charset="0"/>
              <a:buChar char="•"/>
            </a:pPr>
            <a:r>
              <a:rPr lang="es-AR" altLang="es-AR" b="1" dirty="0">
                <a:latin typeface="Cambria" panose="02040503050406030204" pitchFamily="18" charset="0"/>
                <a:ea typeface="Cambria" panose="02040503050406030204" pitchFamily="18" charset="0"/>
              </a:rPr>
              <a:t>Identificación de las variables</a:t>
            </a:r>
          </a:p>
          <a:p>
            <a:pPr marL="285750" indent="-285750" algn="just" eaLnBrk="1" hangingPunct="1">
              <a:buFont typeface="Arial" panose="020B0604020202020204" pitchFamily="34" charset="0"/>
              <a:buChar char="•"/>
            </a:pPr>
            <a:endParaRPr lang="es-AR" altLang="es-AR" b="1" dirty="0">
              <a:latin typeface="Cambria" panose="02040503050406030204" pitchFamily="18" charset="0"/>
              <a:ea typeface="Cambria" panose="02040503050406030204" pitchFamily="18" charset="0"/>
            </a:endParaRPr>
          </a:p>
          <a:p>
            <a:pPr algn="just" eaLnBrk="1" hangingPunct="1"/>
            <a:r>
              <a:rPr lang="es-AR" altLang="es-AR" dirty="0">
                <a:latin typeface="Cambria" panose="02040503050406030204" pitchFamily="18" charset="0"/>
                <a:ea typeface="Cambria" panose="02040503050406030204" pitchFamily="18" charset="0"/>
              </a:rPr>
              <a:t>Variable independiente: </a:t>
            </a:r>
            <a:r>
              <a:rPr lang="es-AR" altLang="es-AR" i="1" dirty="0">
                <a:latin typeface="Cambria" panose="02040503050406030204" pitchFamily="18" charset="0"/>
                <a:ea typeface="Cambria" panose="02040503050406030204" pitchFamily="18" charset="0"/>
              </a:rPr>
              <a:t>clase social (alta, media, baja)</a:t>
            </a:r>
          </a:p>
          <a:p>
            <a:pPr algn="just" eaLnBrk="1" hangingPunct="1"/>
            <a:r>
              <a:rPr lang="es-AR" altLang="es-AR" dirty="0">
                <a:latin typeface="Cambria" panose="02040503050406030204" pitchFamily="18" charset="0"/>
                <a:ea typeface="Cambria" panose="02040503050406030204" pitchFamily="18" charset="0"/>
              </a:rPr>
              <a:t>Variable dependiente: </a:t>
            </a:r>
            <a:r>
              <a:rPr lang="es-AR" altLang="es-AR" i="1" dirty="0">
                <a:latin typeface="Cambria" panose="02040503050406030204" pitchFamily="18" charset="0"/>
                <a:ea typeface="Cambria" panose="02040503050406030204" pitchFamily="18" charset="0"/>
              </a:rPr>
              <a:t>clase social actual (alta, media, baja).</a:t>
            </a:r>
          </a:p>
          <a:p>
            <a:pPr algn="just" eaLnBrk="1" hangingPunct="1"/>
            <a:r>
              <a:rPr lang="es-AR" altLang="es-AR" dirty="0">
                <a:latin typeface="Cambria" panose="02040503050406030204" pitchFamily="18" charset="0"/>
                <a:ea typeface="Cambria" panose="02040503050406030204" pitchFamily="18" charset="0"/>
              </a:rPr>
              <a:t>Variable de control: </a:t>
            </a:r>
            <a:r>
              <a:rPr lang="es-AR" altLang="es-AR" i="1" dirty="0">
                <a:latin typeface="Cambria" panose="02040503050406030204" pitchFamily="18" charset="0"/>
                <a:ea typeface="Cambria" panose="02040503050406030204" pitchFamily="18" charset="0"/>
              </a:rPr>
              <a:t>nivel educativo (alto, bajo).</a:t>
            </a:r>
          </a:p>
          <a:p>
            <a:pPr algn="just" eaLnBrk="1" hangingPunct="1"/>
            <a:endParaRPr lang="es-AR" altLang="es-AR" i="1" dirty="0">
              <a:latin typeface="Cambria" panose="02040503050406030204" pitchFamily="18" charset="0"/>
              <a:ea typeface="Cambria" panose="02040503050406030204" pitchFamily="18" charset="0"/>
            </a:endParaRPr>
          </a:p>
          <a:p>
            <a:pPr algn="just" eaLnBrk="1" hangingPunct="1"/>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10539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4"/>
          <p:cNvSpPr>
            <a:spLocks noChangeArrowheads="1"/>
          </p:cNvSpPr>
          <p:nvPr/>
        </p:nvSpPr>
        <p:spPr bwMode="auto">
          <a:xfrm>
            <a:off x="224289" y="1133244"/>
            <a:ext cx="86423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Calculamos los cuadros parciales </a:t>
            </a:r>
            <a:r>
              <a:rPr lang="es-AR" altLang="es-AR" b="1" dirty="0">
                <a:latin typeface="Cambria" panose="02040503050406030204" pitchFamily="18" charset="0"/>
                <a:ea typeface="Cambria" panose="02040503050406030204" pitchFamily="18" charset="0"/>
              </a:rPr>
              <a:t>[XY, t] </a:t>
            </a:r>
            <a:r>
              <a:rPr lang="es-AR" altLang="es-AR" dirty="0">
                <a:latin typeface="Cambria" panose="02040503050406030204" pitchFamily="18" charset="0"/>
                <a:ea typeface="Cambria" panose="02040503050406030204" pitchFamily="18" charset="0"/>
              </a:rPr>
              <a:t>y </a:t>
            </a:r>
            <a:r>
              <a:rPr lang="es-AR" altLang="es-AR" b="1" dirty="0">
                <a:latin typeface="Cambria" panose="02040503050406030204" pitchFamily="18" charset="0"/>
                <a:ea typeface="Cambria" panose="02040503050406030204" pitchFamily="18" charset="0"/>
              </a:rPr>
              <a:t>[XY, t’]</a:t>
            </a:r>
          </a:p>
        </p:txBody>
      </p:sp>
      <p:sp>
        <p:nvSpPr>
          <p:cNvPr id="14" name="Rectangle 2">
            <a:extLst>
              <a:ext uri="{FF2B5EF4-FFF2-40B4-BE49-F238E27FC236}">
                <a16:creationId xmlns:a16="http://schemas.microsoft.com/office/drawing/2014/main" id="{9EDA6172-569A-420C-AFF4-E91E8A657C90}"/>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5" name="Imagen 4" descr="Tabla&#10;&#10;Descripción generada automáticamente">
            <a:extLst>
              <a:ext uri="{FF2B5EF4-FFF2-40B4-BE49-F238E27FC236}">
                <a16:creationId xmlns:a16="http://schemas.microsoft.com/office/drawing/2014/main" id="{893FFC8F-E726-45CC-BB7A-2DE4D5501E75}"/>
              </a:ext>
            </a:extLst>
          </p:cNvPr>
          <p:cNvPicPr>
            <a:picLocks noChangeAspect="1"/>
          </p:cNvPicPr>
          <p:nvPr/>
        </p:nvPicPr>
        <p:blipFill rotWithShape="1">
          <a:blip r:embed="rId3"/>
          <a:srcRect b="27100"/>
          <a:stretch/>
        </p:blipFill>
        <p:spPr>
          <a:xfrm>
            <a:off x="446906" y="1557996"/>
            <a:ext cx="4842513" cy="2372649"/>
          </a:xfrm>
          <a:prstGeom prst="rect">
            <a:avLst/>
          </a:prstGeom>
        </p:spPr>
      </p:pic>
      <p:pic>
        <p:nvPicPr>
          <p:cNvPr id="15" name="Imagen 14" descr="Tabla&#10;&#10;Descripción generada automáticamente">
            <a:extLst>
              <a:ext uri="{FF2B5EF4-FFF2-40B4-BE49-F238E27FC236}">
                <a16:creationId xmlns:a16="http://schemas.microsoft.com/office/drawing/2014/main" id="{09D38E18-31D1-4D4F-A39C-A414176F5E86}"/>
              </a:ext>
            </a:extLst>
          </p:cNvPr>
          <p:cNvPicPr>
            <a:picLocks noChangeAspect="1"/>
          </p:cNvPicPr>
          <p:nvPr/>
        </p:nvPicPr>
        <p:blipFill rotWithShape="1">
          <a:blip r:embed="rId4"/>
          <a:srcRect t="1" b="31163"/>
          <a:stretch/>
        </p:blipFill>
        <p:spPr>
          <a:xfrm>
            <a:off x="441393" y="4149080"/>
            <a:ext cx="6278445" cy="2096100"/>
          </a:xfrm>
          <a:prstGeom prst="rect">
            <a:avLst/>
          </a:prstGeom>
        </p:spPr>
      </p:pic>
      <p:sp>
        <p:nvSpPr>
          <p:cNvPr id="16" name="Text Box 46">
            <a:extLst>
              <a:ext uri="{FF2B5EF4-FFF2-40B4-BE49-F238E27FC236}">
                <a16:creationId xmlns:a16="http://schemas.microsoft.com/office/drawing/2014/main" id="{868A3212-B639-495F-B096-08146D7F4DD5}"/>
              </a:ext>
            </a:extLst>
          </p:cNvPr>
          <p:cNvSpPr txBox="1">
            <a:spLocks noChangeArrowheads="1"/>
          </p:cNvSpPr>
          <p:nvPr/>
        </p:nvSpPr>
        <p:spPr bwMode="auto">
          <a:xfrm>
            <a:off x="3779912" y="5001716"/>
            <a:ext cx="504056" cy="36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7" name="Text Box 46">
            <a:extLst>
              <a:ext uri="{FF2B5EF4-FFF2-40B4-BE49-F238E27FC236}">
                <a16:creationId xmlns:a16="http://schemas.microsoft.com/office/drawing/2014/main" id="{E8FE9089-5B4E-4BF1-933A-ABF829BB3889}"/>
              </a:ext>
            </a:extLst>
          </p:cNvPr>
          <p:cNvSpPr txBox="1">
            <a:spLocks noChangeArrowheads="1"/>
          </p:cNvSpPr>
          <p:nvPr/>
        </p:nvSpPr>
        <p:spPr bwMode="auto">
          <a:xfrm>
            <a:off x="3779912" y="5708648"/>
            <a:ext cx="504056" cy="360000"/>
          </a:xfrm>
          <a:prstGeom prst="rect">
            <a:avLst/>
          </a:prstGeom>
          <a:noFill/>
          <a:ln w="38100" algn="ctr">
            <a:solidFill>
              <a:srgbClr val="319F9A"/>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2838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6423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Calculamos el primer marginal </a:t>
            </a:r>
            <a:r>
              <a:rPr lang="es-AR" altLang="es-AR" b="1" dirty="0">
                <a:latin typeface="Cambria" panose="02040503050406030204" pitchFamily="18" charset="0"/>
                <a:ea typeface="Cambria" panose="02040503050406030204" pitchFamily="18" charset="0"/>
              </a:rPr>
              <a:t>[XT]</a:t>
            </a: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 name="Rectangle 4"/>
          <p:cNvSpPr>
            <a:spLocks noChangeArrowheads="1"/>
          </p:cNvSpPr>
          <p:nvPr/>
        </p:nvSpPr>
        <p:spPr bwMode="auto">
          <a:xfrm>
            <a:off x="302445" y="3315772"/>
            <a:ext cx="86423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Y el segundo marginal </a:t>
            </a:r>
            <a:r>
              <a:rPr lang="es-AR" altLang="es-AR" b="1" dirty="0">
                <a:latin typeface="Cambria" panose="02040503050406030204" pitchFamily="18" charset="0"/>
                <a:ea typeface="Cambria" panose="02040503050406030204" pitchFamily="18" charset="0"/>
              </a:rPr>
              <a:t>[TY]</a:t>
            </a:r>
          </a:p>
        </p:txBody>
      </p:sp>
      <p:sp>
        <p:nvSpPr>
          <p:cNvPr id="17" name="Rectangle 2">
            <a:extLst>
              <a:ext uri="{FF2B5EF4-FFF2-40B4-BE49-F238E27FC236}">
                <a16:creationId xmlns:a16="http://schemas.microsoft.com/office/drawing/2014/main" id="{701978F5-0DCC-4CAF-AF73-0E06ED2330B2}"/>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descr="Tabla&#10;&#10;Descripción generada automáticamente">
            <a:extLst>
              <a:ext uri="{FF2B5EF4-FFF2-40B4-BE49-F238E27FC236}">
                <a16:creationId xmlns:a16="http://schemas.microsoft.com/office/drawing/2014/main" id="{17B1B1D7-B067-4082-9ED0-6F87A46F74B3}"/>
              </a:ext>
            </a:extLst>
          </p:cNvPr>
          <p:cNvPicPr>
            <a:picLocks noChangeAspect="1"/>
          </p:cNvPicPr>
          <p:nvPr/>
        </p:nvPicPr>
        <p:blipFill>
          <a:blip r:embed="rId3"/>
          <a:stretch>
            <a:fillRect/>
          </a:stretch>
        </p:blipFill>
        <p:spPr>
          <a:xfrm>
            <a:off x="539552" y="1434804"/>
            <a:ext cx="4248472" cy="1453425"/>
          </a:xfrm>
          <a:prstGeom prst="rect">
            <a:avLst/>
          </a:prstGeom>
        </p:spPr>
      </p:pic>
      <p:pic>
        <p:nvPicPr>
          <p:cNvPr id="5" name="Imagen 4" descr="Tabla&#10;&#10;Descripción generada automáticamente">
            <a:extLst>
              <a:ext uri="{FF2B5EF4-FFF2-40B4-BE49-F238E27FC236}">
                <a16:creationId xmlns:a16="http://schemas.microsoft.com/office/drawing/2014/main" id="{F2A9DD46-83C9-4D60-9508-D63559BCEC4D}"/>
              </a:ext>
            </a:extLst>
          </p:cNvPr>
          <p:cNvPicPr>
            <a:picLocks noChangeAspect="1"/>
          </p:cNvPicPr>
          <p:nvPr/>
        </p:nvPicPr>
        <p:blipFill>
          <a:blip r:embed="rId4"/>
          <a:stretch>
            <a:fillRect/>
          </a:stretch>
        </p:blipFill>
        <p:spPr>
          <a:xfrm>
            <a:off x="4841776" y="1670454"/>
            <a:ext cx="4040725" cy="1512717"/>
          </a:xfrm>
          <a:prstGeom prst="rect">
            <a:avLst/>
          </a:prstGeom>
        </p:spPr>
      </p:pic>
      <p:sp>
        <p:nvSpPr>
          <p:cNvPr id="18" name="Text Box 46">
            <a:extLst>
              <a:ext uri="{FF2B5EF4-FFF2-40B4-BE49-F238E27FC236}">
                <a16:creationId xmlns:a16="http://schemas.microsoft.com/office/drawing/2014/main" id="{F12C32F4-3CA4-4319-A395-F3D4FC95BBD1}"/>
              </a:ext>
            </a:extLst>
          </p:cNvPr>
          <p:cNvSpPr txBox="1">
            <a:spLocks noChangeArrowheads="1"/>
          </p:cNvSpPr>
          <p:nvPr/>
        </p:nvSpPr>
        <p:spPr bwMode="auto">
          <a:xfrm>
            <a:off x="6358082" y="2374196"/>
            <a:ext cx="504056" cy="36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pic>
        <p:nvPicPr>
          <p:cNvPr id="24" name="Imagen 23" descr="Tabla&#10;&#10;Descripción generada automáticamente">
            <a:extLst>
              <a:ext uri="{FF2B5EF4-FFF2-40B4-BE49-F238E27FC236}">
                <a16:creationId xmlns:a16="http://schemas.microsoft.com/office/drawing/2014/main" id="{B9E46BD7-C47B-4D38-9841-62EBD83814F4}"/>
              </a:ext>
            </a:extLst>
          </p:cNvPr>
          <p:cNvPicPr>
            <a:picLocks noChangeAspect="1"/>
          </p:cNvPicPr>
          <p:nvPr/>
        </p:nvPicPr>
        <p:blipFill>
          <a:blip r:embed="rId5"/>
          <a:stretch>
            <a:fillRect/>
          </a:stretch>
        </p:blipFill>
        <p:spPr>
          <a:xfrm>
            <a:off x="525425" y="3833446"/>
            <a:ext cx="4190733" cy="1745361"/>
          </a:xfrm>
          <a:prstGeom prst="rect">
            <a:avLst/>
          </a:prstGeom>
        </p:spPr>
      </p:pic>
      <p:pic>
        <p:nvPicPr>
          <p:cNvPr id="26" name="Imagen 25" descr="Tabla&#10;&#10;Descripción generada automáticamente">
            <a:extLst>
              <a:ext uri="{FF2B5EF4-FFF2-40B4-BE49-F238E27FC236}">
                <a16:creationId xmlns:a16="http://schemas.microsoft.com/office/drawing/2014/main" id="{7663B324-88BB-4FAB-9BFA-698FA7FF540F}"/>
              </a:ext>
            </a:extLst>
          </p:cNvPr>
          <p:cNvPicPr>
            <a:picLocks noChangeAspect="1"/>
          </p:cNvPicPr>
          <p:nvPr/>
        </p:nvPicPr>
        <p:blipFill>
          <a:blip r:embed="rId6"/>
          <a:stretch>
            <a:fillRect/>
          </a:stretch>
        </p:blipFill>
        <p:spPr>
          <a:xfrm>
            <a:off x="4724157" y="4231423"/>
            <a:ext cx="4254783" cy="1633149"/>
          </a:xfrm>
          <a:prstGeom prst="rect">
            <a:avLst/>
          </a:prstGeom>
        </p:spPr>
      </p:pic>
      <p:sp>
        <p:nvSpPr>
          <p:cNvPr id="27" name="Text Box 46">
            <a:extLst>
              <a:ext uri="{FF2B5EF4-FFF2-40B4-BE49-F238E27FC236}">
                <a16:creationId xmlns:a16="http://schemas.microsoft.com/office/drawing/2014/main" id="{A063C895-0084-4DAC-AB0D-2042A46737C9}"/>
              </a:ext>
            </a:extLst>
          </p:cNvPr>
          <p:cNvSpPr txBox="1">
            <a:spLocks noChangeArrowheads="1"/>
          </p:cNvSpPr>
          <p:nvPr/>
        </p:nvSpPr>
        <p:spPr bwMode="auto">
          <a:xfrm>
            <a:off x="6363033" y="5007546"/>
            <a:ext cx="504056" cy="360000"/>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13190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23653" y="2889537"/>
            <a:ext cx="845175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La relación más fuerte es la que se da entre X y T y entre T e Y, lo que implica un caso de </a:t>
            </a:r>
            <a:r>
              <a:rPr lang="es-AR" altLang="es-AR" b="1" i="1" dirty="0">
                <a:latin typeface="Cambria" panose="02040503050406030204" pitchFamily="18" charset="0"/>
                <a:ea typeface="Cambria" panose="02040503050406030204" pitchFamily="18" charset="0"/>
              </a:rPr>
              <a:t>interpretación</a:t>
            </a:r>
            <a:r>
              <a:rPr lang="es-AR" altLang="es-AR" dirty="0">
                <a:latin typeface="Cambria" panose="02040503050406030204" pitchFamily="18" charset="0"/>
                <a:ea typeface="Cambria" panose="02040503050406030204" pitchFamily="18" charset="0"/>
              </a:rPr>
              <a:t> o </a:t>
            </a:r>
            <a:r>
              <a:rPr lang="es-AR" altLang="es-AR" b="1" i="1" dirty="0">
                <a:latin typeface="Cambria" panose="02040503050406030204" pitchFamily="18" charset="0"/>
                <a:ea typeface="Cambria" panose="02040503050406030204" pitchFamily="18" charset="0"/>
              </a:rPr>
              <a:t>intermediación</a:t>
            </a:r>
            <a:r>
              <a:rPr lang="es-AR" altLang="es-AR" dirty="0">
                <a:latin typeface="Cambria" panose="02040503050406030204" pitchFamily="18" charset="0"/>
                <a:ea typeface="Cambria" panose="02040503050406030204" pitchFamily="18" charset="0"/>
              </a:rPr>
              <a:t>. X incide sobre Y a través del efecto que X produce en T. </a:t>
            </a:r>
          </a:p>
        </p:txBody>
      </p:sp>
      <p:sp>
        <p:nvSpPr>
          <p:cNvPr id="13" name="Rectangle 4">
            <a:extLst>
              <a:ext uri="{FF2B5EF4-FFF2-40B4-BE49-F238E27FC236}">
                <a16:creationId xmlns:a16="http://schemas.microsoft.com/office/drawing/2014/main" id="{42DE4439-0A73-4A49-B647-1E3737D64D3E}"/>
              </a:ext>
            </a:extLst>
          </p:cNvPr>
          <p:cNvSpPr>
            <a:spLocks noChangeArrowheads="1"/>
          </p:cNvSpPr>
          <p:nvPr/>
        </p:nvSpPr>
        <p:spPr bwMode="auto">
          <a:xfrm>
            <a:off x="250825" y="1094275"/>
            <a:ext cx="84517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285750" indent="-285750" algn="just" eaLnBrk="1" hangingPunct="1">
              <a:buFont typeface="Arial" panose="020B0604020202020204" pitchFamily="34" charset="0"/>
              <a:buChar char="•"/>
            </a:pPr>
            <a:r>
              <a:rPr lang="es-AR" altLang="es-AR" dirty="0">
                <a:latin typeface="Cambria" panose="02040503050406030204" pitchFamily="18" charset="0"/>
                <a:ea typeface="Cambria" panose="02040503050406030204" pitchFamily="18" charset="0"/>
              </a:rPr>
              <a:t>Analizamos los resultados obtenidos:</a:t>
            </a:r>
          </a:p>
        </p:txBody>
      </p:sp>
      <p:sp>
        <p:nvSpPr>
          <p:cNvPr id="14" name="Text Box 6">
            <a:extLst>
              <a:ext uri="{FF2B5EF4-FFF2-40B4-BE49-F238E27FC236}">
                <a16:creationId xmlns:a16="http://schemas.microsoft.com/office/drawing/2014/main" id="{B359983E-40F1-4B5F-BFED-AD396160117A}"/>
              </a:ext>
            </a:extLst>
          </p:cNvPr>
          <p:cNvSpPr txBox="1">
            <a:spLocks noChangeArrowheads="1"/>
          </p:cNvSpPr>
          <p:nvPr/>
        </p:nvSpPr>
        <p:spPr bwMode="auto">
          <a:xfrm>
            <a:off x="959583" y="1660738"/>
            <a:ext cx="75596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spcBef>
                <a:spcPct val="50000"/>
              </a:spcBef>
            </a:pPr>
            <a:r>
              <a:rPr lang="es-ES" altLang="es-AR" b="1" dirty="0">
                <a:latin typeface="Cambria" panose="02040503050406030204" pitchFamily="18" charset="0"/>
                <a:ea typeface="Cambria" panose="02040503050406030204" pitchFamily="18" charset="0"/>
                <a:cs typeface="Calibri" panose="020F0502020204030204" pitchFamily="34" charset="0"/>
              </a:rPr>
              <a:t>[XY] = [XY, t] </a:t>
            </a:r>
            <a:r>
              <a:rPr lang="es-MX" altLang="es-AR" sz="24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[XY, t’] </a:t>
            </a:r>
            <a:r>
              <a:rPr lang="es-MX" altLang="es-AR" sz="24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[XT] </a:t>
            </a:r>
            <a:r>
              <a:rPr lang="es-MX" altLang="es-AR" sz="24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[TY]  </a:t>
            </a:r>
          </a:p>
          <a:p>
            <a:pPr algn="ctr">
              <a:spcBef>
                <a:spcPct val="50000"/>
              </a:spcBef>
            </a:pPr>
            <a:r>
              <a:rPr lang="es-ES" altLang="es-AR" b="1" dirty="0">
                <a:latin typeface="Cambria" panose="02040503050406030204" pitchFamily="18" charset="0"/>
                <a:ea typeface="Cambria" panose="02040503050406030204" pitchFamily="18" charset="0"/>
                <a:cs typeface="Calibri" panose="020F0502020204030204" pitchFamily="34" charset="0"/>
              </a:rPr>
              <a:t> </a:t>
            </a:r>
          </a:p>
        </p:txBody>
      </p:sp>
      <p:grpSp>
        <p:nvGrpSpPr>
          <p:cNvPr id="8" name="20 Grupo">
            <a:extLst>
              <a:ext uri="{FF2B5EF4-FFF2-40B4-BE49-F238E27FC236}">
                <a16:creationId xmlns:a16="http://schemas.microsoft.com/office/drawing/2014/main" id="{ED3F665F-C858-4A7E-ACAA-70F92549D388}"/>
              </a:ext>
            </a:extLst>
          </p:cNvPr>
          <p:cNvGrpSpPr>
            <a:grpSpLocks/>
          </p:cNvGrpSpPr>
          <p:nvPr/>
        </p:nvGrpSpPr>
        <p:grpSpPr bwMode="auto">
          <a:xfrm>
            <a:off x="2024548" y="3982554"/>
            <a:ext cx="5233181" cy="614543"/>
            <a:chOff x="5974105" y="3258130"/>
            <a:chExt cx="1500131" cy="295155"/>
          </a:xfrm>
        </p:grpSpPr>
        <p:cxnSp>
          <p:nvCxnSpPr>
            <p:cNvPr id="9" name="21 Conector recto de flecha">
              <a:extLst>
                <a:ext uri="{FF2B5EF4-FFF2-40B4-BE49-F238E27FC236}">
                  <a16:creationId xmlns:a16="http://schemas.microsoft.com/office/drawing/2014/main" id="{54E0C466-2F71-4EB1-9825-13E1C008807E}"/>
                </a:ext>
              </a:extLst>
            </p:cNvPr>
            <p:cNvCxnSpPr>
              <a:cxnSpLocks noChangeShapeType="1"/>
            </p:cNvCxnSpPr>
            <p:nvPr/>
          </p:nvCxnSpPr>
          <p:spPr bwMode="auto">
            <a:xfrm>
              <a:off x="6352247" y="3402654"/>
              <a:ext cx="175123" cy="1687"/>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sp>
          <p:nvSpPr>
            <p:cNvPr id="10" name="Oval 7">
              <a:extLst>
                <a:ext uri="{FF2B5EF4-FFF2-40B4-BE49-F238E27FC236}">
                  <a16:creationId xmlns:a16="http://schemas.microsoft.com/office/drawing/2014/main" id="{C3404DAF-56D8-40A8-83D7-3A9483BE2064}"/>
                </a:ext>
              </a:extLst>
            </p:cNvPr>
            <p:cNvSpPr>
              <a:spLocks noChangeArrowheads="1"/>
            </p:cNvSpPr>
            <p:nvPr/>
          </p:nvSpPr>
          <p:spPr bwMode="auto">
            <a:xfrm>
              <a:off x="6527370" y="3264236"/>
              <a:ext cx="34825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Nivel</a:t>
              </a:r>
              <a:b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b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educativo</a:t>
              </a:r>
            </a:p>
          </p:txBody>
        </p:sp>
        <p:sp>
          <p:nvSpPr>
            <p:cNvPr id="16" name="Oval 7">
              <a:extLst>
                <a:ext uri="{FF2B5EF4-FFF2-40B4-BE49-F238E27FC236}">
                  <a16:creationId xmlns:a16="http://schemas.microsoft.com/office/drawing/2014/main" id="{0D6F1C17-8A55-48B6-B2E7-B14FD3B3A08C}"/>
                </a:ext>
              </a:extLst>
            </p:cNvPr>
            <p:cNvSpPr>
              <a:spLocks noChangeArrowheads="1"/>
            </p:cNvSpPr>
            <p:nvPr/>
          </p:nvSpPr>
          <p:spPr bwMode="auto">
            <a:xfrm>
              <a:off x="5974105" y="3264236"/>
              <a:ext cx="386905" cy="289049"/>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Origen social</a:t>
              </a:r>
            </a:p>
          </p:txBody>
        </p:sp>
        <p:sp>
          <p:nvSpPr>
            <p:cNvPr id="17" name="Oval 7">
              <a:extLst>
                <a:ext uri="{FF2B5EF4-FFF2-40B4-BE49-F238E27FC236}">
                  <a16:creationId xmlns:a16="http://schemas.microsoft.com/office/drawing/2014/main" id="{28332273-1AE7-423F-B8F7-7BEEF54B4A3B}"/>
                </a:ext>
              </a:extLst>
            </p:cNvPr>
            <p:cNvSpPr>
              <a:spLocks noChangeArrowheads="1"/>
            </p:cNvSpPr>
            <p:nvPr/>
          </p:nvSpPr>
          <p:spPr bwMode="auto">
            <a:xfrm>
              <a:off x="7041988" y="3258130"/>
              <a:ext cx="43224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Destino social</a:t>
              </a:r>
              <a:endParaRPr lang="es-ES" altLang="es-AR" sz="1400" b="1" dirty="0">
                <a:solidFill>
                  <a:schemeClr val="bg1"/>
                </a:solidFill>
                <a:latin typeface="Cambria" panose="02040503050406030204" pitchFamily="18" charset="0"/>
                <a:ea typeface="Cambria" panose="02040503050406030204" pitchFamily="18" charset="0"/>
              </a:endParaRPr>
            </a:p>
          </p:txBody>
        </p:sp>
      </p:grpSp>
      <p:sp>
        <p:nvSpPr>
          <p:cNvPr id="1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solidFill>
                <a:schemeClr val="tx1"/>
              </a:solidFill>
            </a:endParaRPr>
          </a:p>
        </p:txBody>
      </p:sp>
      <p:cxnSp>
        <p:nvCxnSpPr>
          <p:cNvPr id="2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21 Conector recto de flecha">
            <a:extLst>
              <a:ext uri="{FF2B5EF4-FFF2-40B4-BE49-F238E27FC236}">
                <a16:creationId xmlns:a16="http://schemas.microsoft.com/office/drawing/2014/main" id="{54E0C466-2F71-4EB1-9825-13E1C008807E}"/>
              </a:ext>
            </a:extLst>
          </p:cNvPr>
          <p:cNvCxnSpPr>
            <a:cxnSpLocks noChangeShapeType="1"/>
            <a:stCxn id="10" idx="3"/>
            <a:endCxn id="17" idx="1"/>
          </p:cNvCxnSpPr>
          <p:nvPr/>
        </p:nvCxnSpPr>
        <p:spPr bwMode="auto">
          <a:xfrm flipV="1">
            <a:off x="5169495" y="4283468"/>
            <a:ext cx="580344" cy="12713"/>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sp>
        <p:nvSpPr>
          <p:cNvPr id="24" name="Rectangle 2">
            <a:extLst>
              <a:ext uri="{FF2B5EF4-FFF2-40B4-BE49-F238E27FC236}">
                <a16:creationId xmlns:a16="http://schemas.microsoft.com/office/drawing/2014/main" id="{13E3F3B6-DFA7-455E-9CA1-BF4F9CD47911}"/>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Aplicación 2</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6" name="Text Box 6">
            <a:extLst>
              <a:ext uri="{FF2B5EF4-FFF2-40B4-BE49-F238E27FC236}">
                <a16:creationId xmlns:a16="http://schemas.microsoft.com/office/drawing/2014/main" id="{F48E189E-3F70-4517-9DBF-A86A947AE9E3}"/>
              </a:ext>
            </a:extLst>
          </p:cNvPr>
          <p:cNvSpPr txBox="1">
            <a:spLocks noChangeArrowheads="1"/>
          </p:cNvSpPr>
          <p:nvPr/>
        </p:nvSpPr>
        <p:spPr bwMode="auto">
          <a:xfrm>
            <a:off x="728614" y="2139321"/>
            <a:ext cx="7559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spcBef>
                <a:spcPct val="50000"/>
              </a:spcBef>
            </a:pPr>
            <a:r>
              <a:rPr lang="es-ES" altLang="es-AR" b="1" dirty="0">
                <a:solidFill>
                  <a:srgbClr val="319F9A"/>
                </a:solidFill>
                <a:latin typeface="Cambria" panose="02040503050406030204" pitchFamily="18" charset="0"/>
                <a:ea typeface="Cambria" panose="02040503050406030204" pitchFamily="18" charset="0"/>
                <a:cs typeface="Calibri" panose="020F0502020204030204" pitchFamily="34" charset="0"/>
              </a:rPr>
              <a:t>V= </a:t>
            </a:r>
            <a:r>
              <a:rPr lang="es-ES" altLang="es-AR" b="1" dirty="0">
                <a:latin typeface="Cambria" panose="02040503050406030204" pitchFamily="18" charset="0"/>
                <a:ea typeface="Cambria" panose="02040503050406030204" pitchFamily="18" charset="0"/>
                <a:cs typeface="Calibri" panose="020F0502020204030204" pitchFamily="34" charset="0"/>
              </a:rPr>
              <a:t>0,273 = 0,165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0,102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0,436 </a:t>
            </a:r>
            <a:r>
              <a:rPr lang="es-MX" altLang="es-AR" sz="2000" b="1" dirty="0">
                <a:latin typeface="Arial" pitchFamily="34" charset="0"/>
                <a:ea typeface="Arial Unicode MS" pitchFamily="34" charset="-128"/>
                <a:cs typeface="Arial Unicode MS" pitchFamily="34" charset="-128"/>
              </a:rPr>
              <a:t>⊗</a:t>
            </a:r>
            <a:r>
              <a:rPr lang="es-ES" altLang="es-AR" b="1" dirty="0">
                <a:latin typeface="Cambria" panose="02040503050406030204" pitchFamily="18" charset="0"/>
                <a:ea typeface="Cambria" panose="02040503050406030204" pitchFamily="18" charset="0"/>
                <a:cs typeface="Calibri" panose="020F0502020204030204" pitchFamily="34" charset="0"/>
              </a:rPr>
              <a:t>  0,575</a:t>
            </a:r>
          </a:p>
        </p:txBody>
      </p:sp>
    </p:spTree>
    <p:extLst>
      <p:ext uri="{BB962C8B-B14F-4D97-AF65-F5344CB8AC3E}">
        <p14:creationId xmlns:p14="http://schemas.microsoft.com/office/powerpoint/2010/main" val="2223759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5"/>
          <p:cNvSpPr txBox="1">
            <a:spLocks noChangeArrowheads="1"/>
          </p:cNvSpPr>
          <p:nvPr/>
        </p:nvSpPr>
        <p:spPr bwMode="auto">
          <a:xfrm>
            <a:off x="506412" y="3105834"/>
            <a:ext cx="8131175" cy="646331"/>
          </a:xfrm>
          <a:prstGeom prst="rect">
            <a:avLst/>
          </a:prstGeom>
          <a:solidFill>
            <a:schemeClr val="bg1"/>
          </a:solidFill>
          <a:ln>
            <a:noFill/>
          </a:ln>
          <a:effec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100000"/>
              </a:spcBef>
              <a:buClrTx/>
              <a:buSzTx/>
              <a:buFontTx/>
              <a:buNone/>
            </a:pPr>
            <a:r>
              <a:rPr lang="es-AR" altLang="es-AR" sz="3600" b="1" dirty="0"/>
              <a:t>EJERCICIO</a:t>
            </a:r>
            <a:endParaRPr lang="es-AR" altLang="es-AR" sz="2800" b="1" dirty="0"/>
          </a:p>
        </p:txBody>
      </p:sp>
    </p:spTree>
    <p:extLst>
      <p:ext uri="{BB962C8B-B14F-4D97-AF65-F5344CB8AC3E}">
        <p14:creationId xmlns:p14="http://schemas.microsoft.com/office/powerpoint/2010/main" val="1325351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250825" y="1052736"/>
            <a:ext cx="842486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342900" indent="-342900" algn="just" eaLnBrk="1" hangingPunct="1">
              <a:buAutoNum type="arabicParenR"/>
            </a:pPr>
            <a:r>
              <a:rPr lang="es-AR" altLang="es-AR" dirty="0">
                <a:latin typeface="Cambria" panose="02040503050406030204" pitchFamily="18" charset="0"/>
                <a:ea typeface="Cambria" panose="02040503050406030204" pitchFamily="18" charset="0"/>
              </a:rPr>
              <a:t>Formular una hipótesis que relacione la clase social (</a:t>
            </a:r>
            <a:r>
              <a:rPr lang="es-AR" altLang="es-AR" i="1" dirty="0">
                <a:latin typeface="Cambria" panose="02040503050406030204" pitchFamily="18" charset="0"/>
                <a:ea typeface="Cambria" panose="02040503050406030204" pitchFamily="18" charset="0"/>
              </a:rPr>
              <a:t>EGP_G_3)</a:t>
            </a:r>
            <a:r>
              <a:rPr lang="es-AR" altLang="es-AR" dirty="0">
                <a:latin typeface="Cambria" panose="02040503050406030204" pitchFamily="18" charset="0"/>
                <a:ea typeface="Cambria" panose="02040503050406030204" pitchFamily="18" charset="0"/>
              </a:rPr>
              <a:t> y la condición de pobreza entre personas ocupadas </a:t>
            </a:r>
            <a:r>
              <a:rPr lang="es-AR" altLang="es-AR" i="1" dirty="0">
                <a:latin typeface="Cambria" panose="02040503050406030204" pitchFamily="18" charset="0"/>
                <a:ea typeface="Cambria" panose="02040503050406030204" pitchFamily="18" charset="0"/>
              </a:rPr>
              <a:t>(</a:t>
            </a:r>
            <a:r>
              <a:rPr lang="es-AR" altLang="es-AR" i="1" dirty="0" err="1">
                <a:latin typeface="Cambria" panose="02040503050406030204" pitchFamily="18" charset="0"/>
                <a:ea typeface="Cambria" panose="02040503050406030204" pitchFamily="18" charset="0"/>
              </a:rPr>
              <a:t>h_pobreza_nm</a:t>
            </a:r>
            <a:r>
              <a:rPr lang="es-AR" altLang="es-AR" i="1" dirty="0">
                <a:latin typeface="Cambria" panose="02040503050406030204" pitchFamily="18" charset="0"/>
                <a:ea typeface="Cambria" panose="02040503050406030204" pitchFamily="18" charset="0"/>
              </a:rPr>
              <a:t>).</a:t>
            </a:r>
          </a:p>
          <a:p>
            <a:pPr marL="342900" indent="-342900" algn="just" eaLnBrk="1" hangingPunct="1">
              <a:buAutoNum type="arabicParenR"/>
            </a:pPr>
            <a:endParaRPr lang="es-AR" altLang="es-AR" i="1" dirty="0">
              <a:latin typeface="Cambria" panose="02040503050406030204" pitchFamily="18" charset="0"/>
              <a:ea typeface="Cambria" panose="02040503050406030204" pitchFamily="18" charset="0"/>
            </a:endParaRPr>
          </a:p>
          <a:p>
            <a:pPr marL="342900" indent="-342900" algn="just" eaLnBrk="1" hangingPunct="1">
              <a:buAutoNum type="arabicParenR"/>
            </a:pPr>
            <a:r>
              <a:rPr lang="es-AR" altLang="es-AR" dirty="0">
                <a:latin typeface="Cambria" panose="02040503050406030204" pitchFamily="18" charset="0"/>
                <a:ea typeface="Cambria" panose="02040503050406030204" pitchFamily="18" charset="0"/>
              </a:rPr>
              <a:t>Calcular coeficientes de asociación y realizar una lectura de la información.</a:t>
            </a:r>
          </a:p>
          <a:p>
            <a:pPr marL="342900" indent="-342900" algn="just" eaLnBrk="1" hangingPunct="1">
              <a:buAutoNum type="arabicParenR"/>
            </a:pPr>
            <a:endParaRPr lang="es-AR" altLang="es-AR" dirty="0">
              <a:latin typeface="Cambria" panose="02040503050406030204" pitchFamily="18" charset="0"/>
              <a:ea typeface="Cambria" panose="02040503050406030204" pitchFamily="18" charset="0"/>
            </a:endParaRPr>
          </a:p>
          <a:p>
            <a:pPr marL="342900" indent="-342900" algn="just" eaLnBrk="1" hangingPunct="1">
              <a:buAutoNum type="arabicParenR"/>
            </a:pPr>
            <a:r>
              <a:rPr lang="es-AR" altLang="es-AR" dirty="0">
                <a:latin typeface="Cambria" panose="02040503050406030204" pitchFamily="18" charset="0"/>
                <a:ea typeface="Cambria" panose="02040503050406030204" pitchFamily="18" charset="0"/>
              </a:rPr>
              <a:t>Introducir la informalidad laboral como variable de control (</a:t>
            </a:r>
            <a:r>
              <a:rPr lang="es-AR" altLang="es-AR" i="1" dirty="0">
                <a:latin typeface="Cambria" panose="02040503050406030204" pitchFamily="18" charset="0"/>
                <a:ea typeface="Cambria" panose="02040503050406030204" pitchFamily="18" charset="0"/>
              </a:rPr>
              <a:t>informalidad)</a:t>
            </a:r>
            <a:r>
              <a:rPr lang="es-AR" altLang="es-AR" dirty="0">
                <a:latin typeface="Cambria" panose="02040503050406030204" pitchFamily="18" charset="0"/>
                <a:ea typeface="Cambria" panose="02040503050406030204" pitchFamily="18" charset="0"/>
              </a:rPr>
              <a:t>. Elaborar los cuadros parciales y marginales.</a:t>
            </a:r>
          </a:p>
          <a:p>
            <a:pPr marL="342900" indent="-342900" algn="just" eaLnBrk="1" hangingPunct="1">
              <a:buAutoNum type="arabicParenR"/>
            </a:pPr>
            <a:endParaRPr lang="es-AR" altLang="es-AR" dirty="0">
              <a:latin typeface="Cambria" panose="02040503050406030204" pitchFamily="18" charset="0"/>
              <a:ea typeface="Cambria" panose="02040503050406030204" pitchFamily="18" charset="0"/>
            </a:endParaRPr>
          </a:p>
          <a:p>
            <a:pPr marL="342900" indent="-342900" algn="just" eaLnBrk="1" hangingPunct="1">
              <a:buAutoNum type="arabicParenR"/>
            </a:pPr>
            <a:r>
              <a:rPr lang="es-AR" altLang="es-AR" dirty="0">
                <a:latin typeface="Cambria" panose="02040503050406030204" pitchFamily="18" charset="0"/>
                <a:ea typeface="Cambria" panose="02040503050406030204" pitchFamily="18" charset="0"/>
              </a:rPr>
              <a:t>Concluir acerca de la relación entre clase social, informalidad y pobreza</a:t>
            </a:r>
            <a:r>
              <a:rPr lang="es-AR" altLang="es-AR">
                <a:latin typeface="Cambria" panose="02040503050406030204" pitchFamily="18" charset="0"/>
                <a:ea typeface="Cambria" panose="02040503050406030204" pitchFamily="18" charset="0"/>
              </a:rPr>
              <a:t>. </a:t>
            </a:r>
            <a:endParaRPr lang="es-AR" altLang="es-AR" dirty="0">
              <a:latin typeface="Cambria" panose="02040503050406030204" pitchFamily="18" charset="0"/>
              <a:ea typeface="Cambria" panose="02040503050406030204" pitchFamily="18" charset="0"/>
            </a:endParaRPr>
          </a:p>
        </p:txBody>
      </p:sp>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Ejercicio</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500248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Tablas cruzadas o de contingencia en SPSS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a:extLst>
              <a:ext uri="{FF2B5EF4-FFF2-40B4-BE49-F238E27FC236}">
                <a16:creationId xmlns:a16="http://schemas.microsoft.com/office/drawing/2014/main" id="{3CB62785-1B53-7A9A-5DFB-EC39E1091F18}"/>
              </a:ext>
            </a:extLst>
          </p:cNvPr>
          <p:cNvPicPr>
            <a:picLocks noChangeAspect="1"/>
          </p:cNvPicPr>
          <p:nvPr/>
        </p:nvPicPr>
        <p:blipFill>
          <a:blip r:embed="rId3"/>
          <a:srcRect t="-56" r="50781" b="29000"/>
          <a:stretch/>
        </p:blipFill>
        <p:spPr>
          <a:xfrm>
            <a:off x="395288" y="1033191"/>
            <a:ext cx="4500563" cy="3654759"/>
          </a:xfrm>
          <a:prstGeom prst="rect">
            <a:avLst/>
          </a:prstGeom>
        </p:spPr>
      </p:pic>
      <p:pic>
        <p:nvPicPr>
          <p:cNvPr id="5" name="Imagen 4">
            <a:extLst>
              <a:ext uri="{FF2B5EF4-FFF2-40B4-BE49-F238E27FC236}">
                <a16:creationId xmlns:a16="http://schemas.microsoft.com/office/drawing/2014/main" id="{E1589211-65F1-F379-026C-66ADDDB70723}"/>
              </a:ext>
            </a:extLst>
          </p:cNvPr>
          <p:cNvPicPr>
            <a:picLocks noChangeAspect="1"/>
          </p:cNvPicPr>
          <p:nvPr/>
        </p:nvPicPr>
        <p:blipFill>
          <a:blip r:embed="rId4"/>
          <a:stretch>
            <a:fillRect/>
          </a:stretch>
        </p:blipFill>
        <p:spPr>
          <a:xfrm>
            <a:off x="832991" y="2743044"/>
            <a:ext cx="5359896" cy="3202311"/>
          </a:xfrm>
          <a:prstGeom prst="rect">
            <a:avLst/>
          </a:prstGeom>
        </p:spPr>
      </p:pic>
      <p:sp>
        <p:nvSpPr>
          <p:cNvPr id="7" name="Text Box 46">
            <a:extLst>
              <a:ext uri="{FF2B5EF4-FFF2-40B4-BE49-F238E27FC236}">
                <a16:creationId xmlns:a16="http://schemas.microsoft.com/office/drawing/2014/main" id="{07881823-DAD9-649F-8477-A18E8630862A}"/>
              </a:ext>
            </a:extLst>
          </p:cNvPr>
          <p:cNvSpPr txBox="1">
            <a:spLocks noChangeArrowheads="1"/>
          </p:cNvSpPr>
          <p:nvPr/>
        </p:nvSpPr>
        <p:spPr bwMode="auto">
          <a:xfrm>
            <a:off x="2987824" y="1666499"/>
            <a:ext cx="792088" cy="250333"/>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sp>
        <p:nvSpPr>
          <p:cNvPr id="12" name="Text Box 46">
            <a:extLst>
              <a:ext uri="{FF2B5EF4-FFF2-40B4-BE49-F238E27FC236}">
                <a16:creationId xmlns:a16="http://schemas.microsoft.com/office/drawing/2014/main" id="{20907176-C091-E8BD-CE0F-028CF214C918}"/>
              </a:ext>
            </a:extLst>
          </p:cNvPr>
          <p:cNvSpPr txBox="1">
            <a:spLocks noChangeArrowheads="1"/>
          </p:cNvSpPr>
          <p:nvPr/>
        </p:nvSpPr>
        <p:spPr bwMode="auto">
          <a:xfrm>
            <a:off x="6371032" y="1627803"/>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Botón &gt; Casillas</a:t>
            </a:r>
          </a:p>
        </p:txBody>
      </p:sp>
      <p:cxnSp>
        <p:nvCxnSpPr>
          <p:cNvPr id="15" name="AutoShape 50">
            <a:extLst>
              <a:ext uri="{FF2B5EF4-FFF2-40B4-BE49-F238E27FC236}">
                <a16:creationId xmlns:a16="http://schemas.microsoft.com/office/drawing/2014/main" id="{6D58B95D-6FA1-55DC-33E0-5403CB78F9B3}"/>
              </a:ext>
            </a:extLst>
          </p:cNvPr>
          <p:cNvCxnSpPr>
            <a:cxnSpLocks noChangeShapeType="1"/>
          </p:cNvCxnSpPr>
          <p:nvPr/>
        </p:nvCxnSpPr>
        <p:spPr bwMode="auto">
          <a:xfrm rot="5400000">
            <a:off x="4741700" y="1550684"/>
            <a:ext cx="1546346" cy="1346194"/>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6" name="Text Box 46">
            <a:extLst>
              <a:ext uri="{FF2B5EF4-FFF2-40B4-BE49-F238E27FC236}">
                <a16:creationId xmlns:a16="http://schemas.microsoft.com/office/drawing/2014/main" id="{2DCF570A-13F2-3615-86B1-63D91A52B499}"/>
              </a:ext>
            </a:extLst>
          </p:cNvPr>
          <p:cNvSpPr txBox="1">
            <a:spLocks noChangeArrowheads="1"/>
          </p:cNvSpPr>
          <p:nvPr/>
        </p:nvSpPr>
        <p:spPr bwMode="auto">
          <a:xfrm>
            <a:off x="5276310" y="875643"/>
            <a:ext cx="2270031" cy="55399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Elegir las variables de filas y columnas</a:t>
            </a:r>
          </a:p>
        </p:txBody>
      </p:sp>
      <p:sp>
        <p:nvSpPr>
          <p:cNvPr id="17" name="Text Box 46">
            <a:extLst>
              <a:ext uri="{FF2B5EF4-FFF2-40B4-BE49-F238E27FC236}">
                <a16:creationId xmlns:a16="http://schemas.microsoft.com/office/drawing/2014/main" id="{EA8E7036-E2A1-E773-3108-249D3011B548}"/>
              </a:ext>
            </a:extLst>
          </p:cNvPr>
          <p:cNvSpPr txBox="1">
            <a:spLocks noChangeArrowheads="1"/>
          </p:cNvSpPr>
          <p:nvPr/>
        </p:nvSpPr>
        <p:spPr bwMode="auto">
          <a:xfrm>
            <a:off x="5415613" y="3175949"/>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8" name="AutoShape 50">
            <a:extLst>
              <a:ext uri="{FF2B5EF4-FFF2-40B4-BE49-F238E27FC236}">
                <a16:creationId xmlns:a16="http://schemas.microsoft.com/office/drawing/2014/main" id="{8B453924-10B4-B379-132A-7A3B92155200}"/>
              </a:ext>
            </a:extLst>
          </p:cNvPr>
          <p:cNvCxnSpPr>
            <a:cxnSpLocks noChangeShapeType="1"/>
            <a:stCxn id="12" idx="2"/>
            <a:endCxn id="17" idx="0"/>
          </p:cNvCxnSpPr>
          <p:nvPr/>
        </p:nvCxnSpPr>
        <p:spPr bwMode="auto">
          <a:xfrm rot="5400000">
            <a:off x="6163425" y="1617301"/>
            <a:ext cx="1224981" cy="1892315"/>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19" name="Imagen 18">
            <a:extLst>
              <a:ext uri="{FF2B5EF4-FFF2-40B4-BE49-F238E27FC236}">
                <a16:creationId xmlns:a16="http://schemas.microsoft.com/office/drawing/2014/main" id="{EF780DF1-89CA-0CAC-7314-121B2C2848D1}"/>
              </a:ext>
            </a:extLst>
          </p:cNvPr>
          <p:cNvPicPr>
            <a:picLocks noChangeAspect="1"/>
          </p:cNvPicPr>
          <p:nvPr/>
        </p:nvPicPr>
        <p:blipFill>
          <a:blip r:embed="rId5"/>
          <a:stretch>
            <a:fillRect/>
          </a:stretch>
        </p:blipFill>
        <p:spPr>
          <a:xfrm>
            <a:off x="6012160" y="3520468"/>
            <a:ext cx="2836622" cy="2355008"/>
          </a:xfrm>
          <a:prstGeom prst="rect">
            <a:avLst/>
          </a:prstGeom>
          <a:effectLst>
            <a:outerShdw blurRad="50800" dist="38100" dir="10800000" algn="r" rotWithShape="0">
              <a:prstClr val="black">
                <a:alpha val="40000"/>
              </a:prstClr>
            </a:outerShdw>
          </a:effectLst>
        </p:spPr>
      </p:pic>
    </p:spTree>
    <p:extLst>
      <p:ext uri="{BB962C8B-B14F-4D97-AF65-F5344CB8AC3E}">
        <p14:creationId xmlns:p14="http://schemas.microsoft.com/office/powerpoint/2010/main" val="1536349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3360688-8B53-9811-0335-F9EEFDFDB40F}"/>
              </a:ext>
            </a:extLst>
          </p:cNvPr>
          <p:cNvPicPr>
            <a:picLocks noChangeAspect="1"/>
          </p:cNvPicPr>
          <p:nvPr/>
        </p:nvPicPr>
        <p:blipFill>
          <a:blip r:embed="rId3"/>
          <a:stretch>
            <a:fillRect/>
          </a:stretch>
        </p:blipFill>
        <p:spPr>
          <a:xfrm>
            <a:off x="193759" y="1013961"/>
            <a:ext cx="5359896" cy="3202311"/>
          </a:xfrm>
          <a:prstGeom prst="rect">
            <a:avLst/>
          </a:prstGeom>
        </p:spPr>
      </p:pic>
      <mc:AlternateContent xmlns:mc="http://schemas.openxmlformats.org/markup-compatibility/2006" xmlns:a14="http://schemas.microsoft.com/office/drawing/2010/main">
        <mc:Choice Requires="a14">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Prueba de independencia estadística </a:t>
                </a:r>
                <a14:m>
                  <m:oMath xmlns:m="http://schemas.openxmlformats.org/officeDocument/2006/math">
                    <m:sSup>
                      <m:sSupPr>
                        <m:ctrlP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ctrlPr>
                      </m:sSupPr>
                      <m:e>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𝛘</m:t>
                        </m:r>
                      </m:e>
                      <m:sup>
                        <m:r>
                          <a:rPr lang="es-AR" altLang="es-AR" sz="2800" b="1" i="1">
                            <a:solidFill>
                              <a:schemeClr val="tx2"/>
                            </a:solidFill>
                            <a:latin typeface="Cambria Math" panose="02040503050406030204" pitchFamily="18" charset="0"/>
                            <a:ea typeface="Cambria" panose="02040503050406030204" pitchFamily="18" charset="0"/>
                            <a:cs typeface="Calibri" panose="020F0502020204030204" pitchFamily="34" charset="0"/>
                          </a:rPr>
                          <m:t>𝟐</m:t>
                        </m:r>
                      </m:sup>
                    </m:sSup>
                  </m:oMath>
                </a14:m>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 </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mc:Choice>
        <mc:Fallback xmlns="">
          <p:sp>
            <p:nvSpPr>
              <p:cNvPr id="6146" name="Rectangle 2">
                <a:extLst>
                  <a:ext uri="{FF2B5EF4-FFF2-40B4-BE49-F238E27FC236}">
                    <a16:creationId xmlns:a16="http://schemas.microsoft.com/office/drawing/2014/main" id="{4F2485E4-3C6C-4A1D-B5F1-AA7F2AB7B061}"/>
                  </a:ext>
                </a:extLst>
              </p:cNvPr>
              <p:cNvSpPr>
                <a:spLocks noGrp="1" noRot="1" noChangeAspect="1" noMove="1" noResize="1" noEditPoints="1" noAdjustHandles="1" noChangeArrowheads="1" noChangeShapeType="1" noTextEdit="1"/>
              </p:cNvSpPr>
              <p:nvPr>
                <p:ph type="title" idx="4294967295"/>
              </p:nvPr>
            </p:nvSpPr>
            <p:spPr>
              <a:xfrm>
                <a:off x="0" y="230994"/>
                <a:ext cx="9324528" cy="630907"/>
              </a:xfrm>
              <a:blipFill>
                <a:blip r:embed="rId4"/>
                <a:stretch>
                  <a:fillRect l="-1307" t="-971" b="-18447"/>
                </a:stretch>
              </a:blipFill>
            </p:spPr>
            <p:txBody>
              <a:bodyPr/>
              <a:lstStyle/>
              <a:p>
                <a:r>
                  <a:rPr lang="es-AR">
                    <a:noFill/>
                  </a:rPr>
                  <a:t> </a:t>
                </a:r>
              </a:p>
            </p:txBody>
          </p:sp>
        </mc:Fallback>
      </mc:AlternateContent>
      <p:sp>
        <p:nvSpPr>
          <p:cNvPr id="27" name="Text Box 46"/>
          <p:cNvSpPr txBox="1">
            <a:spLocks noChangeArrowheads="1"/>
          </p:cNvSpPr>
          <p:nvPr/>
        </p:nvSpPr>
        <p:spPr bwMode="auto">
          <a:xfrm>
            <a:off x="6046213" y="861901"/>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Botón &gt; Estadísticos</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7" name="Text Box 46"/>
          <p:cNvSpPr txBox="1">
            <a:spLocks noChangeArrowheads="1"/>
          </p:cNvSpPr>
          <p:nvPr/>
        </p:nvSpPr>
        <p:spPr bwMode="auto">
          <a:xfrm>
            <a:off x="1451863" y="3946280"/>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Seleccionamos la prueba</a:t>
            </a:r>
          </a:p>
        </p:txBody>
      </p:sp>
      <p:sp>
        <p:nvSpPr>
          <p:cNvPr id="22" name="Text Box 46"/>
          <p:cNvSpPr txBox="1">
            <a:spLocks noChangeArrowheads="1"/>
          </p:cNvSpPr>
          <p:nvPr/>
        </p:nvSpPr>
        <p:spPr bwMode="auto">
          <a:xfrm>
            <a:off x="4725368" y="1317570"/>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endCxn id="22" idx="3"/>
          </p:cNvCxnSpPr>
          <p:nvPr/>
        </p:nvCxnSpPr>
        <p:spPr bwMode="auto">
          <a:xfrm rot="10800000" flipV="1">
            <a:off x="5553655" y="1006203"/>
            <a:ext cx="492558" cy="472949"/>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6" name="Imagen 5"/>
          <p:cNvPicPr>
            <a:picLocks noChangeAspect="1"/>
          </p:cNvPicPr>
          <p:nvPr/>
        </p:nvPicPr>
        <p:blipFill>
          <a:blip r:embed="rId5"/>
          <a:stretch>
            <a:fillRect/>
          </a:stretch>
        </p:blipFill>
        <p:spPr>
          <a:xfrm>
            <a:off x="4350873" y="2142891"/>
            <a:ext cx="3184004" cy="3008614"/>
          </a:xfrm>
          <a:prstGeom prst="rect">
            <a:avLst/>
          </a:prstGeom>
        </p:spPr>
      </p:pic>
      <p:sp>
        <p:nvSpPr>
          <p:cNvPr id="21" name="Text Box 46"/>
          <p:cNvSpPr txBox="1">
            <a:spLocks noChangeArrowheads="1"/>
          </p:cNvSpPr>
          <p:nvPr/>
        </p:nvSpPr>
        <p:spPr bwMode="auto">
          <a:xfrm>
            <a:off x="4439076" y="2407053"/>
            <a:ext cx="950886" cy="338182"/>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9" name="AutoShape 50"/>
          <p:cNvCxnSpPr>
            <a:cxnSpLocks noChangeShapeType="1"/>
            <a:stCxn id="17" idx="0"/>
          </p:cNvCxnSpPr>
          <p:nvPr/>
        </p:nvCxnSpPr>
        <p:spPr bwMode="auto">
          <a:xfrm rot="5400000" flipH="1" flipV="1">
            <a:off x="2859959" y="2484282"/>
            <a:ext cx="1404942" cy="1519054"/>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13526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CCF1509-E7F9-C4A2-1628-915F3EE37218}"/>
              </a:ext>
            </a:extLst>
          </p:cNvPr>
          <p:cNvPicPr>
            <a:picLocks noChangeAspect="1"/>
          </p:cNvPicPr>
          <p:nvPr/>
        </p:nvPicPr>
        <p:blipFill>
          <a:blip r:embed="rId3"/>
          <a:stretch>
            <a:fillRect/>
          </a:stretch>
        </p:blipFill>
        <p:spPr>
          <a:xfrm>
            <a:off x="193759" y="1013961"/>
            <a:ext cx="5359896" cy="3202311"/>
          </a:xfrm>
          <a:prstGeom prst="rect">
            <a:avLst/>
          </a:prstGeom>
        </p:spPr>
      </p:pic>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0" y="230994"/>
            <a:ext cx="9324528" cy="630907"/>
          </a:xfrm>
        </p:spPr>
        <p:txBody>
          <a:bodyPr>
            <a:normAutofit/>
          </a:body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Coeficientes de asociación</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sp>
        <p:nvSpPr>
          <p:cNvPr id="27" name="Text Box 46"/>
          <p:cNvSpPr txBox="1">
            <a:spLocks noChangeArrowheads="1"/>
          </p:cNvSpPr>
          <p:nvPr/>
        </p:nvSpPr>
        <p:spPr bwMode="auto">
          <a:xfrm>
            <a:off x="5652120" y="953739"/>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Botón &gt; Estadísticos</a:t>
            </a:r>
          </a:p>
        </p:txBody>
      </p:sp>
      <p:sp>
        <p:nvSpPr>
          <p:cNvPr id="12"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4"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chemeClr val="tx1"/>
              </a:solidFill>
              <a:latin typeface="Cambria" panose="02040503050406030204" pitchFamily="18" charset="0"/>
              <a:ea typeface="Cambria" panose="02040503050406030204" pitchFamily="18" charset="0"/>
            </a:endParaRPr>
          </a:p>
        </p:txBody>
      </p:sp>
      <p:sp>
        <p:nvSpPr>
          <p:cNvPr id="17" name="Text Box 46"/>
          <p:cNvSpPr txBox="1">
            <a:spLocks noChangeArrowheads="1"/>
          </p:cNvSpPr>
          <p:nvPr/>
        </p:nvSpPr>
        <p:spPr bwMode="auto">
          <a:xfrm>
            <a:off x="1451863" y="3946280"/>
            <a:ext cx="2702080" cy="323165"/>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Seleccionamos el coeficiente</a:t>
            </a:r>
          </a:p>
        </p:txBody>
      </p:sp>
      <p:sp>
        <p:nvSpPr>
          <p:cNvPr id="22" name="Text Box 46"/>
          <p:cNvSpPr txBox="1">
            <a:spLocks noChangeArrowheads="1"/>
          </p:cNvSpPr>
          <p:nvPr/>
        </p:nvSpPr>
        <p:spPr bwMode="auto">
          <a:xfrm>
            <a:off x="4725368" y="1312919"/>
            <a:ext cx="828287" cy="323165"/>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3" name="AutoShape 50"/>
          <p:cNvCxnSpPr>
            <a:cxnSpLocks noChangeShapeType="1"/>
            <a:stCxn id="27" idx="2"/>
            <a:endCxn id="22" idx="3"/>
          </p:cNvCxnSpPr>
          <p:nvPr/>
        </p:nvCxnSpPr>
        <p:spPr bwMode="auto">
          <a:xfrm rot="5400000">
            <a:off x="6179609" y="650951"/>
            <a:ext cx="197598" cy="1449505"/>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pic>
        <p:nvPicPr>
          <p:cNvPr id="6" name="Imagen 5"/>
          <p:cNvPicPr>
            <a:picLocks noChangeAspect="1"/>
          </p:cNvPicPr>
          <p:nvPr/>
        </p:nvPicPr>
        <p:blipFill>
          <a:blip r:embed="rId4"/>
          <a:stretch>
            <a:fillRect/>
          </a:stretch>
        </p:blipFill>
        <p:spPr>
          <a:xfrm>
            <a:off x="4350873" y="2142891"/>
            <a:ext cx="3184004" cy="3008614"/>
          </a:xfrm>
          <a:prstGeom prst="rect">
            <a:avLst/>
          </a:prstGeom>
        </p:spPr>
      </p:pic>
      <p:sp>
        <p:nvSpPr>
          <p:cNvPr id="21" name="Text Box 46"/>
          <p:cNvSpPr txBox="1">
            <a:spLocks noChangeArrowheads="1"/>
          </p:cNvSpPr>
          <p:nvPr/>
        </p:nvSpPr>
        <p:spPr bwMode="auto">
          <a:xfrm>
            <a:off x="4449656" y="2821713"/>
            <a:ext cx="2066560" cy="664451"/>
          </a:xfrm>
          <a:prstGeom prst="rect">
            <a:avLst/>
          </a:prstGeom>
          <a:noFill/>
          <a:ln w="38100" algn="ctr">
            <a:solidFill>
              <a:srgbClr val="C00000"/>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9" name="AutoShape 50"/>
          <p:cNvCxnSpPr>
            <a:cxnSpLocks noChangeShapeType="1"/>
            <a:stCxn id="17" idx="0"/>
            <a:endCxn id="21" idx="1"/>
          </p:cNvCxnSpPr>
          <p:nvPr/>
        </p:nvCxnSpPr>
        <p:spPr bwMode="auto">
          <a:xfrm rot="5400000" flipH="1" flipV="1">
            <a:off x="3230109" y="2726734"/>
            <a:ext cx="792341" cy="1646753"/>
          </a:xfrm>
          <a:prstGeom prst="curvedConnector2">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71814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Ejercicio</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a:extLst>
              <a:ext uri="{FF2B5EF4-FFF2-40B4-BE49-F238E27FC236}">
                <a16:creationId xmlns:a16="http://schemas.microsoft.com/office/drawing/2014/main" id="{B22A90D6-09D8-AB9A-437B-1A4DAE38783F}"/>
              </a:ext>
            </a:extLst>
          </p:cNvPr>
          <p:cNvPicPr>
            <a:picLocks noChangeAspect="1"/>
          </p:cNvPicPr>
          <p:nvPr/>
        </p:nvPicPr>
        <p:blipFill>
          <a:blip r:embed="rId3"/>
          <a:stretch>
            <a:fillRect/>
          </a:stretch>
        </p:blipFill>
        <p:spPr>
          <a:xfrm>
            <a:off x="1763688" y="1371422"/>
            <a:ext cx="5781675" cy="3381375"/>
          </a:xfrm>
          <a:prstGeom prst="rect">
            <a:avLst/>
          </a:prstGeom>
        </p:spPr>
      </p:pic>
    </p:spTree>
    <p:extLst>
      <p:ext uri="{BB962C8B-B14F-4D97-AF65-F5344CB8AC3E}">
        <p14:creationId xmlns:p14="http://schemas.microsoft.com/office/powerpoint/2010/main" val="3083347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Tablas cruzadas o de contingencia en SPSS</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a:extLst>
              <a:ext uri="{FF2B5EF4-FFF2-40B4-BE49-F238E27FC236}">
                <a16:creationId xmlns:a16="http://schemas.microsoft.com/office/drawing/2014/main" id="{3CB62785-1B53-7A9A-5DFB-EC39E1091F18}"/>
              </a:ext>
            </a:extLst>
          </p:cNvPr>
          <p:cNvPicPr>
            <a:picLocks noChangeAspect="1"/>
          </p:cNvPicPr>
          <p:nvPr/>
        </p:nvPicPr>
        <p:blipFill>
          <a:blip r:embed="rId3"/>
          <a:srcRect t="-56" r="50781" b="29000"/>
          <a:stretch/>
        </p:blipFill>
        <p:spPr>
          <a:xfrm>
            <a:off x="395288" y="1033191"/>
            <a:ext cx="4500563" cy="3654759"/>
          </a:xfrm>
          <a:prstGeom prst="rect">
            <a:avLst/>
          </a:prstGeom>
        </p:spPr>
      </p:pic>
      <p:sp>
        <p:nvSpPr>
          <p:cNvPr id="7" name="Text Box 46">
            <a:extLst>
              <a:ext uri="{FF2B5EF4-FFF2-40B4-BE49-F238E27FC236}">
                <a16:creationId xmlns:a16="http://schemas.microsoft.com/office/drawing/2014/main" id="{07881823-DAD9-649F-8477-A18E8630862A}"/>
              </a:ext>
            </a:extLst>
          </p:cNvPr>
          <p:cNvSpPr txBox="1">
            <a:spLocks noChangeArrowheads="1"/>
          </p:cNvSpPr>
          <p:nvPr/>
        </p:nvSpPr>
        <p:spPr bwMode="auto">
          <a:xfrm>
            <a:off x="2987824" y="1666499"/>
            <a:ext cx="792088" cy="250333"/>
          </a:xfrm>
          <a:prstGeom prst="rect">
            <a:avLst/>
          </a:prstGeom>
          <a:noFill/>
          <a:ln w="38100" algn="ctr">
            <a:solidFill>
              <a:schemeClr val="accent2">
                <a:lumMod val="75000"/>
              </a:schemeClr>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endParaRPr lang="es-ES" altLang="es-AR" sz="1500" b="1" dirty="0">
              <a:latin typeface="Cambria" panose="02040503050406030204" pitchFamily="18" charset="0"/>
              <a:ea typeface="Cambria" panose="02040503050406030204" pitchFamily="18" charset="0"/>
            </a:endParaRPr>
          </a:p>
        </p:txBody>
      </p:sp>
      <p:cxnSp>
        <p:nvCxnSpPr>
          <p:cNvPr id="15" name="AutoShape 50">
            <a:extLst>
              <a:ext uri="{FF2B5EF4-FFF2-40B4-BE49-F238E27FC236}">
                <a16:creationId xmlns:a16="http://schemas.microsoft.com/office/drawing/2014/main" id="{6D58B95D-6FA1-55DC-33E0-5403CB78F9B3}"/>
              </a:ext>
            </a:extLst>
          </p:cNvPr>
          <p:cNvCxnSpPr>
            <a:cxnSpLocks noChangeShapeType="1"/>
          </p:cNvCxnSpPr>
          <p:nvPr/>
        </p:nvCxnSpPr>
        <p:spPr bwMode="auto">
          <a:xfrm rot="5400000">
            <a:off x="5629499" y="1889873"/>
            <a:ext cx="997738" cy="119207"/>
          </a:xfrm>
          <a:prstGeom prst="curvedConnector3">
            <a:avLst>
              <a:gd name="adj1" fmla="val 50000"/>
            </a:avLst>
          </a:prstGeom>
          <a:noFill/>
          <a:ln w="9525">
            <a:solidFill>
              <a:srgbClr val="C00000"/>
            </a:solidFill>
            <a:round/>
            <a:headEnd/>
            <a:tailEnd type="triangle" w="med" len="med"/>
          </a:ln>
          <a:extLst>
            <a:ext uri="{909E8E84-426E-40DD-AFC4-6F175D3DCCD1}">
              <a14:hiddenFill xmlns:a14="http://schemas.microsoft.com/office/drawing/2010/main">
                <a:noFill/>
              </a14:hiddenFill>
            </a:ext>
          </a:extLst>
        </p:spPr>
      </p:cxnSp>
      <p:sp>
        <p:nvSpPr>
          <p:cNvPr id="16" name="Text Box 46">
            <a:extLst>
              <a:ext uri="{FF2B5EF4-FFF2-40B4-BE49-F238E27FC236}">
                <a16:creationId xmlns:a16="http://schemas.microsoft.com/office/drawing/2014/main" id="{2DCF570A-13F2-3615-86B1-63D91A52B499}"/>
              </a:ext>
            </a:extLst>
          </p:cNvPr>
          <p:cNvSpPr txBox="1">
            <a:spLocks noChangeArrowheads="1"/>
          </p:cNvSpPr>
          <p:nvPr/>
        </p:nvSpPr>
        <p:spPr bwMode="auto">
          <a:xfrm>
            <a:off x="5276310" y="875643"/>
            <a:ext cx="2270031" cy="553998"/>
          </a:xfrm>
          <a:prstGeom prst="rect">
            <a:avLst/>
          </a:prstGeom>
          <a:solidFill>
            <a:srgbClr val="EFF7F7"/>
          </a:solidFill>
          <a:ln w="9525" algn="ctr">
            <a:solidFill>
              <a:schemeClr val="accent1"/>
            </a:solidFill>
            <a:miter lim="800000"/>
            <a:headEnd/>
            <a:tailEnd/>
          </a:ln>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spcBef>
                <a:spcPct val="50000"/>
              </a:spcBef>
            </a:pPr>
            <a:r>
              <a:rPr lang="es-ES" altLang="es-AR" sz="1500" b="1" dirty="0">
                <a:latin typeface="Cambria" panose="02040503050406030204" pitchFamily="18" charset="0"/>
                <a:ea typeface="Cambria" panose="02040503050406030204" pitchFamily="18" charset="0"/>
              </a:rPr>
              <a:t>Agregar la tercera variable como “capa”</a:t>
            </a:r>
          </a:p>
        </p:txBody>
      </p:sp>
      <p:pic>
        <p:nvPicPr>
          <p:cNvPr id="6" name="Imagen 5">
            <a:extLst>
              <a:ext uri="{FF2B5EF4-FFF2-40B4-BE49-F238E27FC236}">
                <a16:creationId xmlns:a16="http://schemas.microsoft.com/office/drawing/2014/main" id="{922BF7E6-A4EE-E6CB-51DC-9D3307DE0005}"/>
              </a:ext>
            </a:extLst>
          </p:cNvPr>
          <p:cNvPicPr>
            <a:picLocks noChangeAspect="1"/>
          </p:cNvPicPr>
          <p:nvPr/>
        </p:nvPicPr>
        <p:blipFill>
          <a:blip r:embed="rId4"/>
          <a:stretch>
            <a:fillRect/>
          </a:stretch>
        </p:blipFill>
        <p:spPr>
          <a:xfrm>
            <a:off x="3203848" y="2420888"/>
            <a:ext cx="5345609" cy="3192595"/>
          </a:xfrm>
          <a:prstGeom prst="rect">
            <a:avLst/>
          </a:prstGeom>
        </p:spPr>
      </p:pic>
    </p:spTree>
    <p:extLst>
      <p:ext uri="{BB962C8B-B14F-4D97-AF65-F5344CB8AC3E}">
        <p14:creationId xmlns:p14="http://schemas.microsoft.com/office/powerpoint/2010/main" val="1860959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Ejercicio</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4" name="Imagen 3">
            <a:extLst>
              <a:ext uri="{FF2B5EF4-FFF2-40B4-BE49-F238E27FC236}">
                <a16:creationId xmlns:a16="http://schemas.microsoft.com/office/drawing/2014/main" id="{5396C225-717A-5871-9F62-28E3EFE4DEBC}"/>
              </a:ext>
            </a:extLst>
          </p:cNvPr>
          <p:cNvPicPr>
            <a:picLocks noChangeAspect="1"/>
          </p:cNvPicPr>
          <p:nvPr/>
        </p:nvPicPr>
        <p:blipFill>
          <a:blip r:embed="rId3"/>
          <a:stretch>
            <a:fillRect/>
          </a:stretch>
        </p:blipFill>
        <p:spPr>
          <a:xfrm>
            <a:off x="712378" y="1052736"/>
            <a:ext cx="6163878" cy="5498651"/>
          </a:xfrm>
          <a:prstGeom prst="rect">
            <a:avLst/>
          </a:prstGeom>
        </p:spPr>
      </p:pic>
    </p:spTree>
    <p:extLst>
      <p:ext uri="{BB962C8B-B14F-4D97-AF65-F5344CB8AC3E}">
        <p14:creationId xmlns:p14="http://schemas.microsoft.com/office/powerpoint/2010/main" val="155503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Ejercicio</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3" name="Imagen 2">
            <a:extLst>
              <a:ext uri="{FF2B5EF4-FFF2-40B4-BE49-F238E27FC236}">
                <a16:creationId xmlns:a16="http://schemas.microsoft.com/office/drawing/2014/main" id="{29591CA4-9DA8-F031-D993-82C80377B435}"/>
              </a:ext>
            </a:extLst>
          </p:cNvPr>
          <p:cNvPicPr>
            <a:picLocks noChangeAspect="1"/>
          </p:cNvPicPr>
          <p:nvPr/>
        </p:nvPicPr>
        <p:blipFill>
          <a:blip r:embed="rId3"/>
          <a:stretch>
            <a:fillRect/>
          </a:stretch>
        </p:blipFill>
        <p:spPr>
          <a:xfrm>
            <a:off x="838103" y="1194204"/>
            <a:ext cx="6985024" cy="4022674"/>
          </a:xfrm>
          <a:prstGeom prst="rect">
            <a:avLst/>
          </a:prstGeom>
        </p:spPr>
      </p:pic>
    </p:spTree>
    <p:extLst>
      <p:ext uri="{BB962C8B-B14F-4D97-AF65-F5344CB8AC3E}">
        <p14:creationId xmlns:p14="http://schemas.microsoft.com/office/powerpoint/2010/main" val="2757935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4 Rectángulo"/>
          <p:cNvSpPr/>
          <p:nvPr/>
        </p:nvSpPr>
        <p:spPr>
          <a:xfrm>
            <a:off x="0" y="981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9" name="2 Rectángulo"/>
          <p:cNvSpPr/>
          <p:nvPr/>
        </p:nvSpPr>
        <p:spPr>
          <a:xfrm>
            <a:off x="0" y="6669360"/>
            <a:ext cx="9144000" cy="178830"/>
          </a:xfrm>
          <a:prstGeom prst="rect">
            <a:avLst/>
          </a:prstGeom>
          <a:solidFill>
            <a:schemeClr val="bg1">
              <a:lumMod val="65000"/>
            </a:schemeClr>
          </a:solidFill>
          <a:ln>
            <a:noFill/>
          </a:ln>
          <a:effectLst>
            <a:glow>
              <a:schemeClr val="bg1">
                <a:lumMod val="95000"/>
                <a:alpha val="40000"/>
              </a:schemeClr>
            </a:glow>
            <a:softEdge rad="254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10" name="18 Rectángulo redondeado"/>
          <p:cNvSpPr/>
          <p:nvPr/>
        </p:nvSpPr>
        <p:spPr>
          <a:xfrm>
            <a:off x="250825" y="849413"/>
            <a:ext cx="923106" cy="144015"/>
          </a:xfrm>
          <a:prstGeom prst="roundRect">
            <a:avLst/>
          </a:prstGeom>
          <a:solidFill>
            <a:schemeClr val="bg1">
              <a:lumMod val="6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cxnSp>
        <p:nvCxnSpPr>
          <p:cNvPr id="11" name="19 Conector recto"/>
          <p:cNvCxnSpPr/>
          <p:nvPr/>
        </p:nvCxnSpPr>
        <p:spPr>
          <a:xfrm flipV="1">
            <a:off x="1121953" y="922419"/>
            <a:ext cx="7771222" cy="1"/>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66643005-9CFD-4F9E-B703-4EA957728906}"/>
              </a:ext>
            </a:extLst>
          </p:cNvPr>
          <p:cNvSpPr txBox="1">
            <a:spLocks noChangeArrowheads="1"/>
          </p:cNvSpPr>
          <p:nvPr/>
        </p:nvSpPr>
        <p:spPr>
          <a:xfrm>
            <a:off x="179512" y="116632"/>
            <a:ext cx="9324528" cy="63090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s-AR"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rPr>
              <a:t>Ejercicio</a:t>
            </a:r>
            <a:endParaRPr lang="es-ES" altLang="es-AR" sz="2800" b="1" dirty="0">
              <a:solidFill>
                <a:schemeClr val="tx2"/>
              </a:solidFill>
              <a:latin typeface="Cambria" panose="02040503050406030204" pitchFamily="18" charset="0"/>
              <a:ea typeface="Cambria" panose="02040503050406030204" pitchFamily="18" charset="0"/>
              <a:cs typeface="Calibri" panose="020F0502020204030204" pitchFamily="34" charset="0"/>
            </a:endParaRPr>
          </a:p>
        </p:txBody>
      </p:sp>
      <p:pic>
        <p:nvPicPr>
          <p:cNvPr id="4" name="Imagen 3">
            <a:extLst>
              <a:ext uri="{FF2B5EF4-FFF2-40B4-BE49-F238E27FC236}">
                <a16:creationId xmlns:a16="http://schemas.microsoft.com/office/drawing/2014/main" id="{56EA5493-47D8-B02C-15D3-7CE0AE15581D}"/>
              </a:ext>
            </a:extLst>
          </p:cNvPr>
          <p:cNvPicPr>
            <a:picLocks noChangeAspect="1"/>
          </p:cNvPicPr>
          <p:nvPr/>
        </p:nvPicPr>
        <p:blipFill>
          <a:blip r:embed="rId3"/>
          <a:stretch>
            <a:fillRect/>
          </a:stretch>
        </p:blipFill>
        <p:spPr>
          <a:xfrm>
            <a:off x="899592" y="1168308"/>
            <a:ext cx="5400848" cy="4206637"/>
          </a:xfrm>
          <a:prstGeom prst="rect">
            <a:avLst/>
          </a:prstGeom>
        </p:spPr>
      </p:pic>
      <p:grpSp>
        <p:nvGrpSpPr>
          <p:cNvPr id="5" name="20 Grupo">
            <a:extLst>
              <a:ext uri="{FF2B5EF4-FFF2-40B4-BE49-F238E27FC236}">
                <a16:creationId xmlns:a16="http://schemas.microsoft.com/office/drawing/2014/main" id="{B3F0FE6A-E132-175F-91A3-56D1D7712316}"/>
              </a:ext>
            </a:extLst>
          </p:cNvPr>
          <p:cNvGrpSpPr>
            <a:grpSpLocks/>
          </p:cNvGrpSpPr>
          <p:nvPr/>
        </p:nvGrpSpPr>
        <p:grpSpPr bwMode="auto">
          <a:xfrm>
            <a:off x="1955409" y="5689692"/>
            <a:ext cx="5233181" cy="614543"/>
            <a:chOff x="5974105" y="3258130"/>
            <a:chExt cx="1500131" cy="295155"/>
          </a:xfrm>
        </p:grpSpPr>
        <p:cxnSp>
          <p:nvCxnSpPr>
            <p:cNvPr id="6" name="21 Conector recto de flecha">
              <a:extLst>
                <a:ext uri="{FF2B5EF4-FFF2-40B4-BE49-F238E27FC236}">
                  <a16:creationId xmlns:a16="http://schemas.microsoft.com/office/drawing/2014/main" id="{D9A8AB20-C52B-7FE8-ED41-CAA487F48777}"/>
                </a:ext>
              </a:extLst>
            </p:cNvPr>
            <p:cNvCxnSpPr>
              <a:cxnSpLocks noChangeShapeType="1"/>
            </p:cNvCxnSpPr>
            <p:nvPr/>
          </p:nvCxnSpPr>
          <p:spPr bwMode="auto">
            <a:xfrm>
              <a:off x="6352247" y="3402654"/>
              <a:ext cx="175123" cy="1687"/>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sp>
          <p:nvSpPr>
            <p:cNvPr id="7" name="Oval 7">
              <a:extLst>
                <a:ext uri="{FF2B5EF4-FFF2-40B4-BE49-F238E27FC236}">
                  <a16:creationId xmlns:a16="http://schemas.microsoft.com/office/drawing/2014/main" id="{49106D51-7420-4E74-D296-5BC645E002C4}"/>
                </a:ext>
              </a:extLst>
            </p:cNvPr>
            <p:cNvSpPr>
              <a:spLocks noChangeArrowheads="1"/>
            </p:cNvSpPr>
            <p:nvPr/>
          </p:nvSpPr>
          <p:spPr bwMode="auto">
            <a:xfrm>
              <a:off x="6527370" y="3264236"/>
              <a:ext cx="34825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Informalidad</a:t>
              </a:r>
            </a:p>
          </p:txBody>
        </p:sp>
        <p:sp>
          <p:nvSpPr>
            <p:cNvPr id="12" name="Oval 7">
              <a:extLst>
                <a:ext uri="{FF2B5EF4-FFF2-40B4-BE49-F238E27FC236}">
                  <a16:creationId xmlns:a16="http://schemas.microsoft.com/office/drawing/2014/main" id="{913B1902-E197-0AD9-B3D6-0BA15324BB92}"/>
                </a:ext>
              </a:extLst>
            </p:cNvPr>
            <p:cNvSpPr>
              <a:spLocks noChangeArrowheads="1"/>
            </p:cNvSpPr>
            <p:nvPr/>
          </p:nvSpPr>
          <p:spPr bwMode="auto">
            <a:xfrm>
              <a:off x="5974105" y="3264236"/>
              <a:ext cx="386905" cy="289049"/>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Clase social</a:t>
              </a:r>
            </a:p>
          </p:txBody>
        </p:sp>
        <p:sp>
          <p:nvSpPr>
            <p:cNvPr id="14" name="Oval 7">
              <a:extLst>
                <a:ext uri="{FF2B5EF4-FFF2-40B4-BE49-F238E27FC236}">
                  <a16:creationId xmlns:a16="http://schemas.microsoft.com/office/drawing/2014/main" id="{F528D759-9BAE-2A06-795A-534D60F0CD06}"/>
                </a:ext>
              </a:extLst>
            </p:cNvPr>
            <p:cNvSpPr>
              <a:spLocks noChangeArrowheads="1"/>
            </p:cNvSpPr>
            <p:nvPr/>
          </p:nvSpPr>
          <p:spPr bwMode="auto">
            <a:xfrm>
              <a:off x="7041988" y="3258130"/>
              <a:ext cx="432248" cy="289048"/>
            </a:xfrm>
            <a:prstGeom prst="rect">
              <a:avLst/>
            </a:prstGeom>
            <a:solidFill>
              <a:srgbClr val="006600"/>
            </a:solidFill>
            <a:ln w="9525" algn="ctr">
              <a:solidFill>
                <a:schemeClr val="bg1"/>
              </a:solidFill>
              <a:round/>
              <a:headEnd/>
              <a:tailEnd/>
            </a:ln>
          </p:spPr>
          <p:txBody>
            <a:bodyPr wrap="none" anchor="ct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a:r>
                <a:rPr lang="es-ES" altLang="es-AR" sz="1400" b="1" dirty="0">
                  <a:solidFill>
                    <a:schemeClr val="bg1"/>
                  </a:solidFill>
                  <a:latin typeface="Cambria" panose="02040503050406030204" pitchFamily="18" charset="0"/>
                  <a:ea typeface="Cambria" panose="02040503050406030204" pitchFamily="18" charset="0"/>
                  <a:cs typeface="Calibri" panose="020F0502020204030204" pitchFamily="34" charset="0"/>
                </a:rPr>
                <a:t>Pobreza</a:t>
              </a:r>
              <a:endParaRPr lang="es-ES" altLang="es-AR" sz="1400" b="1" dirty="0">
                <a:solidFill>
                  <a:schemeClr val="bg1"/>
                </a:solidFill>
                <a:latin typeface="Cambria" panose="02040503050406030204" pitchFamily="18" charset="0"/>
                <a:ea typeface="Cambria" panose="02040503050406030204" pitchFamily="18" charset="0"/>
              </a:endParaRPr>
            </a:p>
          </p:txBody>
        </p:sp>
      </p:grpSp>
      <p:cxnSp>
        <p:nvCxnSpPr>
          <p:cNvPr id="15" name="21 Conector recto de flecha">
            <a:extLst>
              <a:ext uri="{FF2B5EF4-FFF2-40B4-BE49-F238E27FC236}">
                <a16:creationId xmlns:a16="http://schemas.microsoft.com/office/drawing/2014/main" id="{5EAB938C-0DD7-446F-8C09-6D5AE7F4033A}"/>
              </a:ext>
            </a:extLst>
          </p:cNvPr>
          <p:cNvCxnSpPr>
            <a:cxnSpLocks noChangeShapeType="1"/>
          </p:cNvCxnSpPr>
          <p:nvPr/>
        </p:nvCxnSpPr>
        <p:spPr bwMode="auto">
          <a:xfrm flipV="1">
            <a:off x="5100356" y="5996962"/>
            <a:ext cx="580344" cy="12713"/>
          </a:xfrm>
          <a:prstGeom prst="straightConnector1">
            <a:avLst/>
          </a:prstGeom>
          <a:ln w="28575">
            <a:headEnd/>
            <a:tailEnd type="arrow" w="med" len="med"/>
          </a:ln>
        </p:spPr>
        <p:style>
          <a:lnRef idx="1">
            <a:schemeClr val="accent2"/>
          </a:lnRef>
          <a:fillRef idx="0">
            <a:schemeClr val="accent2"/>
          </a:fillRef>
          <a:effectRef idx="0">
            <a:schemeClr val="accent2"/>
          </a:effectRef>
          <a:fontRef idx="minor">
            <a:schemeClr val="tx1"/>
          </a:fontRef>
        </p:style>
      </p:cxnSp>
      <p:cxnSp>
        <p:nvCxnSpPr>
          <p:cNvPr id="20" name="Conector: curvado 19">
            <a:extLst>
              <a:ext uri="{FF2B5EF4-FFF2-40B4-BE49-F238E27FC236}">
                <a16:creationId xmlns:a16="http://schemas.microsoft.com/office/drawing/2014/main" id="{44E15A3B-D6F1-0205-B64A-D35EAA3DC5C0}"/>
              </a:ext>
            </a:extLst>
          </p:cNvPr>
          <p:cNvCxnSpPr>
            <a:stCxn id="12" idx="0"/>
            <a:endCxn id="14" idx="0"/>
          </p:cNvCxnSpPr>
          <p:nvPr/>
        </p:nvCxnSpPr>
        <p:spPr>
          <a:xfrm rot="5400000" flipH="1" flipV="1">
            <a:off x="4526099" y="3793859"/>
            <a:ext cx="12713" cy="3804380"/>
          </a:xfrm>
          <a:prstGeom prst="curvedConnector3">
            <a:avLst>
              <a:gd name="adj1" fmla="val 1898159"/>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4082611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6778</TotalTime>
  <Words>2473</Words>
  <Application>Microsoft Office PowerPoint</Application>
  <PresentationFormat>Presentación en pantalla (4:3)</PresentationFormat>
  <Paragraphs>327</Paragraphs>
  <Slides>36</Slides>
  <Notes>31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36</vt:i4>
      </vt:variant>
    </vt:vector>
  </HeadingPairs>
  <TitlesOfParts>
    <vt:vector size="42" baseType="lpstr">
      <vt:lpstr>Arial</vt:lpstr>
      <vt:lpstr>Calibri</vt:lpstr>
      <vt:lpstr>Cambria</vt:lpstr>
      <vt:lpstr>Cambria Math</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Prueba de independencia estadística χ^2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Prueba de independencia estadística χ^2 </vt:lpstr>
      <vt:lpstr>Coeficientes de asociación</vt:lpstr>
      <vt:lpstr>Presentación de PowerPoint</vt:lpstr>
      <vt:lpstr>Presentación de PowerPoint</vt:lpstr>
      <vt:lpstr>Presentación de PowerPoint</vt:lpstr>
      <vt:lpstr>Presentación de PowerPoint</vt:lpstr>
      <vt:lpstr>Presentación de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Santiago Poy</dc:creator>
  <cp:lastModifiedBy>usuario</cp:lastModifiedBy>
  <cp:revision>439</cp:revision>
  <dcterms:created xsi:type="dcterms:W3CDTF">2018-06-06T19:52:13Z</dcterms:created>
  <dcterms:modified xsi:type="dcterms:W3CDTF">2024-09-29T12:20:55Z</dcterms:modified>
</cp:coreProperties>
</file>